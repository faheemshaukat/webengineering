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notesMasterIdLst>
    <p:notesMasterId r:id="rId47"/>
  </p:notesMasterIdLst>
  <p:sldIdLst>
    <p:sldId id="256" r:id="rId3"/>
    <p:sldId id="280" r:id="rId4"/>
    <p:sldId id="281" r:id="rId5"/>
    <p:sldId id="282" r:id="rId6"/>
    <p:sldId id="283" r:id="rId7"/>
    <p:sldId id="284" r:id="rId8"/>
    <p:sldId id="285" r:id="rId9"/>
    <p:sldId id="286" r:id="rId10"/>
    <p:sldId id="287" r:id="rId11"/>
    <p:sldId id="288" r:id="rId12"/>
    <p:sldId id="289" r:id="rId13"/>
    <p:sldId id="258" r:id="rId14"/>
    <p:sldId id="290" r:id="rId15"/>
    <p:sldId id="291" r:id="rId16"/>
    <p:sldId id="292" r:id="rId17"/>
    <p:sldId id="293" r:id="rId18"/>
    <p:sldId id="294" r:id="rId19"/>
    <p:sldId id="295" r:id="rId20"/>
    <p:sldId id="296" r:id="rId21"/>
    <p:sldId id="297" r:id="rId22"/>
    <p:sldId id="298" r:id="rId23"/>
    <p:sldId id="299" r:id="rId24"/>
    <p:sldId id="259" r:id="rId25"/>
    <p:sldId id="270" r:id="rId26"/>
    <p:sldId id="271" r:id="rId27"/>
    <p:sldId id="272" r:id="rId28"/>
    <p:sldId id="273" r:id="rId29"/>
    <p:sldId id="274" r:id="rId30"/>
    <p:sldId id="275" r:id="rId31"/>
    <p:sldId id="276" r:id="rId32"/>
    <p:sldId id="277" r:id="rId33"/>
    <p:sldId id="278" r:id="rId34"/>
    <p:sldId id="279" r:id="rId35"/>
    <p:sldId id="260" r:id="rId36"/>
    <p:sldId id="261" r:id="rId37"/>
    <p:sldId id="257" r:id="rId38"/>
    <p:sldId id="262" r:id="rId39"/>
    <p:sldId id="263" r:id="rId40"/>
    <p:sldId id="264" r:id="rId41"/>
    <p:sldId id="265" r:id="rId42"/>
    <p:sldId id="266" r:id="rId43"/>
    <p:sldId id="267" r:id="rId44"/>
    <p:sldId id="268" r:id="rId45"/>
    <p:sldId id="26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115"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9E9CEC-3DBF-433C-8198-5D3BEE70C986}" type="datetimeFigureOut">
              <a:rPr lang="en-US" smtClean="0"/>
              <a:t>3/20/2026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6B8B9-5FF3-4BFD-8C54-7576F5AD3884}" type="slidenum">
              <a:rPr lang="en-US" smtClean="0"/>
              <a:t>‹#›</a:t>
            </a:fld>
            <a:endParaRPr lang="en-US"/>
          </a:p>
        </p:txBody>
      </p:sp>
    </p:spTree>
    <p:extLst>
      <p:ext uri="{BB962C8B-B14F-4D97-AF65-F5344CB8AC3E}">
        <p14:creationId xmlns:p14="http://schemas.microsoft.com/office/powerpoint/2010/main" val="49723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92D41-EFC4-A0E2-39F3-DA62E9F94E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977C76-1932-B7B0-11BB-26B7F3EAE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797995-131C-C146-40ED-CB0E31C0D0EB}"/>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5" name="Footer Placeholder 4">
            <a:extLst>
              <a:ext uri="{FF2B5EF4-FFF2-40B4-BE49-F238E27FC236}">
                <a16:creationId xmlns:a16="http://schemas.microsoft.com/office/drawing/2014/main" id="{217899B2-BB0C-1FD7-4B44-57DE2C507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C803F-0149-44DB-6541-C8266231140A}"/>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208120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77DF7-BA02-7643-04C7-CEC9524BA1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9E62D4-901C-FB0F-0026-7FA9361139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E4124E-6A34-EFB0-DCE1-2144EA696B67}"/>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5" name="Footer Placeholder 4">
            <a:extLst>
              <a:ext uri="{FF2B5EF4-FFF2-40B4-BE49-F238E27FC236}">
                <a16:creationId xmlns:a16="http://schemas.microsoft.com/office/drawing/2014/main" id="{20057BA4-4C03-2A2B-4BFF-BA06005ED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A39C1-BE8C-82AD-408C-60729C9178A9}"/>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1374207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7701C-E3FB-5D0D-FC7B-73ABDD83F0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8D643C-5DC7-2CB4-18BA-C70F7CE6A6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804F6E-208C-584E-392E-9333000DDB60}"/>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5" name="Footer Placeholder 4">
            <a:extLst>
              <a:ext uri="{FF2B5EF4-FFF2-40B4-BE49-F238E27FC236}">
                <a16:creationId xmlns:a16="http://schemas.microsoft.com/office/drawing/2014/main" id="{042C9AFF-0DF0-6920-60FB-294BC05700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341F45-015F-3518-6D61-522D19335749}"/>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3592147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2E1F2-4D26-C845-C6C3-BEAC653977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614084-3C1B-EF74-F77F-DAFC6DB1A8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D1974D-B7FC-FC34-FE00-24754AE5DB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568F9E-EBD1-B9A9-9942-4F0304B79742}"/>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6" name="Footer Placeholder 5">
            <a:extLst>
              <a:ext uri="{FF2B5EF4-FFF2-40B4-BE49-F238E27FC236}">
                <a16:creationId xmlns:a16="http://schemas.microsoft.com/office/drawing/2014/main" id="{10481AF7-F9C8-51B8-9934-7E6378C51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04B681-6982-C01D-8692-659F6F200D1A}"/>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3281846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370C-E5A8-EB8A-4241-7B49A0B060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456B67-5128-ABA5-5A9B-F082B77C3B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DF7E9-E270-973C-DBD7-6217EE6504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A2EC5A-4F3B-BCD3-7188-4F6FBADD4C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3F3F52-E536-B89C-18D3-F93F03A52A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4883D4-436A-9279-31DE-21BD735ED32F}"/>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8" name="Footer Placeholder 7">
            <a:extLst>
              <a:ext uri="{FF2B5EF4-FFF2-40B4-BE49-F238E27FC236}">
                <a16:creationId xmlns:a16="http://schemas.microsoft.com/office/drawing/2014/main" id="{2888751A-B5B0-8306-C0E6-E0DC48B2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9D0E41-E736-1193-9A1F-3FB396EB9CC5}"/>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115235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58EFE-9A2E-7FCB-B0BF-4DB8716399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CB6C46-B39E-5401-76CF-498E377B5F51}"/>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4" name="Footer Placeholder 3">
            <a:extLst>
              <a:ext uri="{FF2B5EF4-FFF2-40B4-BE49-F238E27FC236}">
                <a16:creationId xmlns:a16="http://schemas.microsoft.com/office/drawing/2014/main" id="{546DEE37-9D68-470C-853E-ED7DDABC44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EC023F-3D33-D81E-D90A-989118B22C63}"/>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2936951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2AD191-48FE-5BE6-F5D6-A05FE6F99B7C}"/>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3" name="Footer Placeholder 2">
            <a:extLst>
              <a:ext uri="{FF2B5EF4-FFF2-40B4-BE49-F238E27FC236}">
                <a16:creationId xmlns:a16="http://schemas.microsoft.com/office/drawing/2014/main" id="{8492D7CC-63C3-42FA-9B64-981BB2333D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889684-509D-4069-12AA-9F61B5432BA7}"/>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3715342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A8A9A-5E36-0FB0-2D34-F7EB28AFE4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880470-AE32-7598-2EEE-7750E62A0A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09255C-457F-AADF-24D3-876E5F9A3F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C1AF13-2CF4-3609-2985-992D94ACF8DF}"/>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6" name="Footer Placeholder 5">
            <a:extLst>
              <a:ext uri="{FF2B5EF4-FFF2-40B4-BE49-F238E27FC236}">
                <a16:creationId xmlns:a16="http://schemas.microsoft.com/office/drawing/2014/main" id="{1CC6F589-E884-96E9-D898-C972D5BDC1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C9F138-CE15-0C7A-7A02-3849103747D0}"/>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2462051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6A1B0-A7B0-13EB-A516-C9A2C17B8E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6E9AD8-7705-72B3-879E-46CD3CCCF3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A257BF-50D3-EB06-97C2-0071839973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660F7-C1B8-1CCC-546D-115E1954D655}"/>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6" name="Footer Placeholder 5">
            <a:extLst>
              <a:ext uri="{FF2B5EF4-FFF2-40B4-BE49-F238E27FC236}">
                <a16:creationId xmlns:a16="http://schemas.microsoft.com/office/drawing/2014/main" id="{031B6F1A-835D-38DC-B25D-BEE22C53F1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E6577A-3ECC-F690-B137-E8B7DFBBAA38}"/>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3195410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46542-5AE4-4C32-EA33-8BA36BCEEF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A6C057-0974-5F98-BF45-94F33AB96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2F2F15-459C-DAA2-0BE7-EB90DAB2BE6D}"/>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5" name="Footer Placeholder 4">
            <a:extLst>
              <a:ext uri="{FF2B5EF4-FFF2-40B4-BE49-F238E27FC236}">
                <a16:creationId xmlns:a16="http://schemas.microsoft.com/office/drawing/2014/main" id="{616B044F-AED3-8FCF-3A68-7E3928CCB9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667F44-9F91-1941-4F85-9B7B3E819221}"/>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788132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E4B920-CB42-48D0-EC30-8C47162ADE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9D65D1-6B21-5649-6842-7C3201738E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BD4BA6-1BED-27A6-FD87-5713504772A8}"/>
              </a:ext>
            </a:extLst>
          </p:cNvPr>
          <p:cNvSpPr>
            <a:spLocks noGrp="1"/>
          </p:cNvSpPr>
          <p:nvPr>
            <p:ph type="dt" sz="half" idx="10"/>
          </p:nvPr>
        </p:nvSpPr>
        <p:spPr/>
        <p:txBody>
          <a:bodyPr/>
          <a:lstStyle/>
          <a:p>
            <a:fld id="{9AC0A581-B52C-4246-996F-C45F4579847B}" type="datetimeFigureOut">
              <a:rPr lang="en-US" smtClean="0"/>
              <a:t>3/20/2026</a:t>
            </a:fld>
            <a:endParaRPr lang="en-US"/>
          </a:p>
        </p:txBody>
      </p:sp>
      <p:sp>
        <p:nvSpPr>
          <p:cNvPr id="5" name="Footer Placeholder 4">
            <a:extLst>
              <a:ext uri="{FF2B5EF4-FFF2-40B4-BE49-F238E27FC236}">
                <a16:creationId xmlns:a16="http://schemas.microsoft.com/office/drawing/2014/main" id="{7B56B23F-7126-C281-27BD-2A4ABE161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62371-4FEF-538E-2167-7AAAC23FD9FE}"/>
              </a:ext>
            </a:extLst>
          </p:cNvPr>
          <p:cNvSpPr>
            <a:spLocks noGrp="1"/>
          </p:cNvSpPr>
          <p:nvPr>
            <p:ph type="sldNum" sz="quarter" idx="12"/>
          </p:nvPr>
        </p:nvSpPr>
        <p:spPr/>
        <p:txBody>
          <a:bodyPr/>
          <a:lstStyle/>
          <a:p>
            <a:fld id="{71EC50BF-5D08-4765-8C00-2729913FFFBD}" type="slidenum">
              <a:rPr lang="en-US" smtClean="0"/>
              <a:t>‹#›</a:t>
            </a:fld>
            <a:endParaRPr lang="en-US"/>
          </a:p>
        </p:txBody>
      </p:sp>
    </p:spTree>
    <p:extLst>
      <p:ext uri="{BB962C8B-B14F-4D97-AF65-F5344CB8AC3E}">
        <p14:creationId xmlns:p14="http://schemas.microsoft.com/office/powerpoint/2010/main" val="3450167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CA59423A-36DD-A9FB-44B3-484E08B850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75311"/>
            <a:ext cx="1773382" cy="411425"/>
          </a:xfrm>
          <a:prstGeom prst="rect">
            <a:avLst/>
          </a:prstGeom>
        </p:spPr>
      </p:pic>
    </p:spTree>
    <p:extLst>
      <p:ext uri="{BB962C8B-B14F-4D97-AF65-F5344CB8AC3E}">
        <p14:creationId xmlns:p14="http://schemas.microsoft.com/office/powerpoint/2010/main" val="516948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5CA7A8EA-6004-DB42-DA0E-2BE52664F4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2712326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6824"/>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0A541D6B-9A29-C362-412C-7D5110ED50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13044692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768D7B43-8054-2018-801B-63B2E6C9B0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28950821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168D52B8-D8CE-FEF9-B44C-010D4D9F47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516286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8CD81A9C-D148-573B-9734-F5A90A7DA1F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8487"/>
            <a:ext cx="1773382" cy="411425"/>
          </a:xfrm>
          <a:prstGeom prst="rect">
            <a:avLst/>
          </a:prstGeom>
        </p:spPr>
      </p:pic>
    </p:spTree>
    <p:extLst>
      <p:ext uri="{BB962C8B-B14F-4D97-AF65-F5344CB8AC3E}">
        <p14:creationId xmlns:p14="http://schemas.microsoft.com/office/powerpoint/2010/main" val="35259304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6FCB4660-356C-3F10-E367-728308BF76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3816847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E06331F3-5EA3-06E2-97D5-F54E992C0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34575024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18FB4BEF-372B-0A1F-A486-17F7F9F07D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130044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6824"/>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3A450604-293E-BCE6-C893-2A841A96D7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1412271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5E9280D8-C546-DE5E-1144-58E3226584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37914616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7396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5ECC2207-2401-BE42-C38D-BFA9489A7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31711888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C0C8ADDC-5305-BE18-99AA-16967B5246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36149874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0E4D2697-5C27-32F9-2421-A570F1E045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308860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7B8A9B70-49CE-1B03-E53B-EE5A2B42CC8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19166261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EB286759-74A3-693B-A7D2-40E1EECCFF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27085787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04A74689-B41F-3FBE-E581-FCEFC29760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34233422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5C7CD2D3-C1FA-1C33-B85B-DCCD9C16F1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1369722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CEC2DEC8-4357-D99E-D5D2-64DEE0F740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42940671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E0D3C44E-75F7-241B-7374-89FF5BBF5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33765420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CF3"/>
          </a:solidFill>
          <a:ln/>
        </p:spPr>
      </p:sp>
      <p:sp>
        <p:nvSpPr>
          <p:cNvPr id="3" name="Shape 1"/>
          <p:cNvSpPr/>
          <p:nvPr/>
        </p:nvSpPr>
        <p:spPr>
          <a:xfrm>
            <a:off x="0" y="0"/>
            <a:ext cx="12192000" cy="6858000"/>
          </a:xfrm>
          <a:prstGeom prst="rect">
            <a:avLst/>
          </a:prstGeom>
          <a:solidFill>
            <a:srgbClr val="FFFFFF">
              <a:alpha val="95000"/>
            </a:srgbClr>
          </a:solidFill>
          <a:ln/>
        </p:spPr>
      </p:sp>
      <p:pic>
        <p:nvPicPr>
          <p:cNvPr id="5" name="Picture 4">
            <a:extLst>
              <a:ext uri="{FF2B5EF4-FFF2-40B4-BE49-F238E27FC236}">
                <a16:creationId xmlns:a16="http://schemas.microsoft.com/office/drawing/2014/main" id="{975C2E89-7DFA-5DE4-6B7D-44E0983954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4284568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271191-8617-2F26-C3F5-45D1885F72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6349B4-5523-9A57-FCC2-C9B0AB97F9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8FA98C-FB6C-6BB8-3B1F-0D687F704C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C0A581-B52C-4246-996F-C45F4579847B}" type="datetimeFigureOut">
              <a:rPr lang="en-US" smtClean="0"/>
              <a:t>3/20/2026</a:t>
            </a:fld>
            <a:endParaRPr lang="en-US"/>
          </a:p>
        </p:txBody>
      </p:sp>
      <p:sp>
        <p:nvSpPr>
          <p:cNvPr id="5" name="Footer Placeholder 4">
            <a:extLst>
              <a:ext uri="{FF2B5EF4-FFF2-40B4-BE49-F238E27FC236}">
                <a16:creationId xmlns:a16="http://schemas.microsoft.com/office/drawing/2014/main" id="{C47F267C-1292-FEE4-D087-47DFB4C070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BA5497-655E-0EE4-B4D0-CFF6FD93CE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EC50BF-5D08-4765-8C00-2729913FFFBD}" type="slidenum">
              <a:rPr lang="en-US" smtClean="0"/>
              <a:t>‹#›</a:t>
            </a:fld>
            <a:endParaRPr lang="en-US"/>
          </a:p>
        </p:txBody>
      </p:sp>
      <p:pic>
        <p:nvPicPr>
          <p:cNvPr id="8" name="Picture 7">
            <a:extLst>
              <a:ext uri="{FF2B5EF4-FFF2-40B4-BE49-F238E27FC236}">
                <a16:creationId xmlns:a16="http://schemas.microsoft.com/office/drawing/2014/main" id="{B432D867-D42B-1B47-CE10-9076F040DBA4}"/>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727388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6009E7-4DFE-3A53-69D1-87DEA6BD8144}"/>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266218" y="161663"/>
            <a:ext cx="1773382" cy="411425"/>
          </a:xfrm>
          <a:prstGeom prst="rect">
            <a:avLst/>
          </a:prstGeom>
        </p:spPr>
      </p:pic>
    </p:spTree>
    <p:extLst>
      <p:ext uri="{BB962C8B-B14F-4D97-AF65-F5344CB8AC3E}">
        <p14:creationId xmlns:p14="http://schemas.microsoft.com/office/powerpoint/2010/main" val="2961905769"/>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algn="ctr" defTabSz="761970"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761970" rtl="0" eaLnBrk="1" latinLnBrk="0" hangingPunct="1">
        <a:spcBef>
          <a:spcPct val="20000"/>
        </a:spcBef>
        <a:buFont typeface="Arial" pitchFamily="34" charset="0"/>
        <a:buChar char="•"/>
        <a:defRPr sz="2667" kern="1200">
          <a:solidFill>
            <a:schemeClr val="tx1"/>
          </a:solidFill>
          <a:latin typeface="+mn-lt"/>
          <a:ea typeface="+mn-ea"/>
          <a:cs typeface="+mn-cs"/>
        </a:defRPr>
      </a:lvl1pPr>
      <a:lvl2pPr marL="619100" indent="-238115" algn="l" defTabSz="761970" rtl="0" eaLnBrk="1" latinLnBrk="0" hangingPunct="1">
        <a:spcBef>
          <a:spcPct val="20000"/>
        </a:spcBef>
        <a:buFont typeface="Arial" pitchFamily="34" charset="0"/>
        <a:buChar char="–"/>
        <a:defRPr sz="2333" kern="1200">
          <a:solidFill>
            <a:schemeClr val="tx1"/>
          </a:solidFill>
          <a:latin typeface="+mn-lt"/>
          <a:ea typeface="+mn-ea"/>
          <a:cs typeface="+mn-cs"/>
        </a:defRPr>
      </a:lvl2pPr>
      <a:lvl3pPr marL="952462" indent="-190492" algn="l" defTabSz="76197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333447"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4pPr>
      <a:lvl5pPr marL="171443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asp.net/" TargetMode="External"/><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9.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1.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4.xml"/><Relationship Id="rId5" Type="http://schemas.openxmlformats.org/officeDocument/2006/relationships/image" Target="../media/image37.png"/><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C6F0A-AA8A-F8B7-378B-9FBBBED0D04D}"/>
              </a:ext>
            </a:extLst>
          </p:cNvPr>
          <p:cNvSpPr>
            <a:spLocks noGrp="1"/>
          </p:cNvSpPr>
          <p:nvPr>
            <p:ph type="ctrTitle"/>
          </p:nvPr>
        </p:nvSpPr>
        <p:spPr/>
        <p:txBody>
          <a:bodyPr/>
          <a:lstStyle/>
          <a:p>
            <a:r>
              <a:rPr lang="en-US" b="1" dirty="0"/>
              <a:t>Web Testing and Debugging</a:t>
            </a:r>
          </a:p>
        </p:txBody>
      </p:sp>
      <p:sp>
        <p:nvSpPr>
          <p:cNvPr id="3" name="Subtitle 2">
            <a:extLst>
              <a:ext uri="{FF2B5EF4-FFF2-40B4-BE49-F238E27FC236}">
                <a16:creationId xmlns:a16="http://schemas.microsoft.com/office/drawing/2014/main" id="{E0217930-E2B0-130F-860C-80BA330D683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1847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817760"/>
            <a:ext cx="4134843" cy="516732"/>
          </a:xfrm>
          <a:prstGeom prst="rect">
            <a:avLst/>
          </a:prstGeom>
          <a:noFill/>
          <a:ln/>
        </p:spPr>
        <p:txBody>
          <a:bodyPr wrap="none" lIns="0" tIns="0" rIns="0" bIns="0" rtlCol="0" anchor="t"/>
          <a:lstStyle/>
          <a:p>
            <a:pPr>
              <a:lnSpc>
                <a:spcPts val="4042"/>
              </a:lnSpc>
            </a:pPr>
            <a:r>
              <a:rPr lang="en-US" sz="3250" dirty="0">
                <a:solidFill>
                  <a:srgbClr val="1B1B27"/>
                </a:solidFill>
                <a:latin typeface="Raleway" pitchFamily="34" charset="0"/>
                <a:ea typeface="Raleway" pitchFamily="34" charset="-122"/>
                <a:cs typeface="Raleway" pitchFamily="34" charset="-120"/>
              </a:rPr>
              <a:t>Web Testing</a:t>
            </a:r>
            <a:endParaRPr lang="en-US" sz="3250" dirty="0"/>
          </a:p>
        </p:txBody>
      </p:sp>
      <p:sp>
        <p:nvSpPr>
          <p:cNvPr id="4" name="Shape 2"/>
          <p:cNvSpPr/>
          <p:nvPr/>
        </p:nvSpPr>
        <p:spPr>
          <a:xfrm>
            <a:off x="661492" y="2565970"/>
            <a:ext cx="10869018" cy="26988"/>
          </a:xfrm>
          <a:prstGeom prst="rect">
            <a:avLst/>
          </a:prstGeom>
          <a:solidFill>
            <a:srgbClr val="3C3939">
              <a:alpha val="50000"/>
            </a:srgbClr>
          </a:solidFill>
          <a:ln/>
        </p:spPr>
      </p:sp>
      <p:sp>
        <p:nvSpPr>
          <p:cNvPr id="5" name="Text 3"/>
          <p:cNvSpPr/>
          <p:nvPr/>
        </p:nvSpPr>
        <p:spPr>
          <a:xfrm>
            <a:off x="661492" y="2778919"/>
            <a:ext cx="10869018" cy="264617"/>
          </a:xfrm>
          <a:prstGeom prst="rect">
            <a:avLst/>
          </a:prstGeom>
          <a:noFill/>
          <a:ln/>
        </p:spPr>
        <p:txBody>
          <a:bodyPr wrap="none" lIns="0" tIns="0" rIns="0" bIns="0" rtlCol="0" anchor="t"/>
          <a:lstStyle/>
          <a:p>
            <a:pPr>
              <a:lnSpc>
                <a:spcPts val="2083"/>
              </a:lnSpc>
            </a:pPr>
            <a:r>
              <a:rPr lang="en-US" sz="1292" b="1" dirty="0">
                <a:solidFill>
                  <a:srgbClr val="3C3939"/>
                </a:solidFill>
                <a:latin typeface="Roboto" pitchFamily="34" charset="0"/>
                <a:ea typeface="Roboto" pitchFamily="34" charset="-122"/>
                <a:cs typeface="Roboto" pitchFamily="34" charset="-120"/>
              </a:rPr>
              <a:t>Core focus areas:</a:t>
            </a:r>
            <a:endParaRPr lang="en-US" sz="1292" dirty="0"/>
          </a:p>
        </p:txBody>
      </p:sp>
      <p:sp>
        <p:nvSpPr>
          <p:cNvPr id="6" name="Text 4"/>
          <p:cNvSpPr/>
          <p:nvPr/>
        </p:nvSpPr>
        <p:spPr>
          <a:xfrm>
            <a:off x="661492" y="3229570"/>
            <a:ext cx="10869018" cy="1554460"/>
          </a:xfrm>
          <a:prstGeom prst="rect">
            <a:avLst/>
          </a:prstGeom>
          <a:noFill/>
          <a:ln/>
        </p:spPr>
        <p:txBody>
          <a:bodyPr wrap="square" lIns="0" tIns="0" rIns="0" bIns="0" rtlCol="0" anchor="t"/>
          <a:lstStyle/>
          <a:p>
            <a:pPr marL="285739" indent="-285739">
              <a:lnSpc>
                <a:spcPts val="2083"/>
              </a:lnSpc>
              <a:buSzPct val="100000"/>
              <a:buChar char="•"/>
            </a:pPr>
            <a:r>
              <a:rPr lang="en-US" sz="1292" dirty="0">
                <a:solidFill>
                  <a:srgbClr val="3C3939"/>
                </a:solidFill>
                <a:latin typeface="Roboto" pitchFamily="34" charset="0"/>
                <a:ea typeface="Roboto" pitchFamily="34" charset="-122"/>
                <a:cs typeface="Roboto" pitchFamily="34" charset="-120"/>
              </a:rPr>
              <a:t>Test planning and coverage for critical user journeys</a:t>
            </a:r>
            <a:endParaRPr lang="en-US" sz="1292" dirty="0"/>
          </a:p>
          <a:p>
            <a:pPr marL="285739" indent="-285739">
              <a:lnSpc>
                <a:spcPts val="2083"/>
              </a:lnSpc>
              <a:buSzPct val="100000"/>
              <a:buChar char="•"/>
            </a:pPr>
            <a:r>
              <a:rPr lang="en-US" sz="1292" dirty="0">
                <a:solidFill>
                  <a:srgbClr val="3C3939"/>
                </a:solidFill>
                <a:latin typeface="Roboto" pitchFamily="34" charset="0"/>
                <a:ea typeface="Roboto" pitchFamily="34" charset="-122"/>
                <a:cs typeface="Roboto" pitchFamily="34" charset="-120"/>
              </a:rPr>
              <a:t>Functional, regression, and exploratory testing across browsers and devices</a:t>
            </a:r>
            <a:endParaRPr lang="en-US" sz="1292" dirty="0"/>
          </a:p>
          <a:p>
            <a:pPr marL="285739" indent="-285739">
              <a:lnSpc>
                <a:spcPts val="2083"/>
              </a:lnSpc>
              <a:buSzPct val="100000"/>
              <a:buChar char="•"/>
            </a:pPr>
            <a:r>
              <a:rPr lang="en-US" sz="1292" dirty="0">
                <a:solidFill>
                  <a:srgbClr val="3C3939"/>
                </a:solidFill>
                <a:latin typeface="Roboto" pitchFamily="34" charset="0"/>
                <a:ea typeface="Roboto" pitchFamily="34" charset="-122"/>
                <a:cs typeface="Roboto" pitchFamily="34" charset="-120"/>
              </a:rPr>
              <a:t>Automation frameworks for repeatable, scalable validation</a:t>
            </a:r>
            <a:endParaRPr lang="en-US" sz="1292" dirty="0"/>
          </a:p>
          <a:p>
            <a:pPr marL="285739" indent="-285739">
              <a:lnSpc>
                <a:spcPts val="2083"/>
              </a:lnSpc>
              <a:buSzPct val="100000"/>
              <a:buChar char="•"/>
            </a:pPr>
            <a:r>
              <a:rPr lang="en-US" sz="1292" dirty="0">
                <a:solidFill>
                  <a:srgbClr val="3C3939"/>
                </a:solidFill>
                <a:latin typeface="Roboto" pitchFamily="34" charset="0"/>
                <a:ea typeface="Roboto" pitchFamily="34" charset="-122"/>
                <a:cs typeface="Roboto" pitchFamily="34" charset="-120"/>
              </a:rPr>
              <a:t>Performance, accessibility, and security checks for production readiness</a:t>
            </a:r>
            <a:endParaRPr lang="en-US" sz="1292" dirty="0"/>
          </a:p>
          <a:p>
            <a:pPr marL="285739" indent="-285739">
              <a:lnSpc>
                <a:spcPts val="2083"/>
              </a:lnSpc>
              <a:buSzPct val="100000"/>
              <a:buChar char="•"/>
            </a:pPr>
            <a:r>
              <a:rPr lang="en-US" sz="1292" dirty="0">
                <a:solidFill>
                  <a:srgbClr val="3C3939"/>
                </a:solidFill>
                <a:latin typeface="Roboto" pitchFamily="34" charset="0"/>
                <a:ea typeface="Roboto" pitchFamily="34" charset="-122"/>
                <a:cs typeface="Roboto" pitchFamily="34" charset="-120"/>
              </a:rPr>
              <a:t>Clear defect reporting, traceability, and continuous quality improvement</a:t>
            </a:r>
            <a:endParaRPr lang="en-US" sz="1292" dirty="0"/>
          </a:p>
        </p:txBody>
      </p:sp>
      <p:sp>
        <p:nvSpPr>
          <p:cNvPr id="7" name="Shape 5"/>
          <p:cNvSpPr/>
          <p:nvPr/>
        </p:nvSpPr>
        <p:spPr>
          <a:xfrm>
            <a:off x="661492" y="4970066"/>
            <a:ext cx="10869018" cy="702668"/>
          </a:xfrm>
          <a:prstGeom prst="roundRect">
            <a:avLst>
              <a:gd name="adj" fmla="val 9886"/>
            </a:avLst>
          </a:prstGeom>
          <a:solidFill>
            <a:srgbClr val="D2D2E0"/>
          </a:solidFill>
          <a:ln/>
        </p:spPr>
      </p:sp>
      <p:pic>
        <p:nvPicPr>
          <p:cNvPr id="8" name="Image 0" descr="preencoded.png"/>
          <p:cNvPicPr>
            <a:picLocks noChangeAspect="1"/>
          </p:cNvPicPr>
          <p:nvPr/>
        </p:nvPicPr>
        <p:blipFill>
          <a:blip r:embed="rId3"/>
          <a:stretch>
            <a:fillRect/>
          </a:stretch>
        </p:blipFill>
        <p:spPr>
          <a:xfrm>
            <a:off x="826790" y="5216129"/>
            <a:ext cx="206673" cy="165298"/>
          </a:xfrm>
          <a:prstGeom prst="rect">
            <a:avLst/>
          </a:prstGeom>
        </p:spPr>
      </p:pic>
      <p:sp>
        <p:nvSpPr>
          <p:cNvPr id="9" name="Text 6"/>
          <p:cNvSpPr/>
          <p:nvPr/>
        </p:nvSpPr>
        <p:spPr>
          <a:xfrm>
            <a:off x="1198761" y="5176639"/>
            <a:ext cx="10166449" cy="264617"/>
          </a:xfrm>
          <a:prstGeom prst="rect">
            <a:avLst/>
          </a:prstGeom>
          <a:noFill/>
          <a:ln/>
        </p:spPr>
        <p:txBody>
          <a:bodyPr wrap="none" lIns="0" tIns="0" rIns="0" bIns="0" rtlCol="0" anchor="t"/>
          <a:lstStyle/>
          <a:p>
            <a:pPr>
              <a:lnSpc>
                <a:spcPts val="2083"/>
              </a:lnSpc>
            </a:pPr>
            <a:r>
              <a:rPr lang="en-US" sz="1292" b="1" dirty="0">
                <a:solidFill>
                  <a:srgbClr val="000000"/>
                </a:solidFill>
                <a:latin typeface="Roboto" pitchFamily="34" charset="0"/>
                <a:ea typeface="Roboto" pitchFamily="34" charset="-122"/>
                <a:cs typeface="Roboto" pitchFamily="34" charset="-120"/>
              </a:rPr>
              <a:t>Goal:</a:t>
            </a:r>
            <a:r>
              <a:rPr lang="en-US" sz="1292" dirty="0">
                <a:solidFill>
                  <a:srgbClr val="000000"/>
                </a:solidFill>
                <a:latin typeface="Roboto" pitchFamily="34" charset="0"/>
                <a:ea typeface="Roboto" pitchFamily="34" charset="-122"/>
                <a:cs typeface="Roboto" pitchFamily="34" charset="-120"/>
              </a:rPr>
              <a:t> Build confidence in every release by combining manual expertise with disciplined automation and measurable quality standards.</a:t>
            </a:r>
            <a:endParaRPr lang="en-US" sz="129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179909"/>
            <a:ext cx="4134843" cy="516732"/>
          </a:xfrm>
          <a:prstGeom prst="rect">
            <a:avLst/>
          </a:prstGeom>
          <a:noFill/>
          <a:ln/>
        </p:spPr>
        <p:txBody>
          <a:bodyPr wrap="none" lIns="0" tIns="0" rIns="0" bIns="0" rtlCol="0" anchor="t"/>
          <a:lstStyle/>
          <a:p>
            <a:pPr>
              <a:lnSpc>
                <a:spcPts val="4042"/>
              </a:lnSpc>
            </a:pPr>
            <a:r>
              <a:rPr lang="en-US" sz="3250" dirty="0">
                <a:solidFill>
                  <a:srgbClr val="1B1B27"/>
                </a:solidFill>
                <a:latin typeface="Raleway" pitchFamily="34" charset="0"/>
                <a:ea typeface="Raleway" pitchFamily="34" charset="-122"/>
                <a:cs typeface="Raleway" pitchFamily="34" charset="-120"/>
              </a:rPr>
              <a:t>What is Web Testing?</a:t>
            </a:r>
            <a:endParaRPr lang="en-US" sz="3250" dirty="0"/>
          </a:p>
        </p:txBody>
      </p:sp>
      <p:sp>
        <p:nvSpPr>
          <p:cNvPr id="3" name="Text 1"/>
          <p:cNvSpPr/>
          <p:nvPr/>
        </p:nvSpPr>
        <p:spPr>
          <a:xfrm>
            <a:off x="661493" y="2093516"/>
            <a:ext cx="5434508"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Web testing validates that web applications behave correctly across browsers, devices, and user scenarios. It confirms that features work as intended, pages load reliably, and the application remains secure, accessible, and performant under real-world conditions.</a:t>
            </a:r>
            <a:endParaRPr lang="en-US" sz="1292" dirty="0"/>
          </a:p>
        </p:txBody>
      </p:sp>
      <p:sp>
        <p:nvSpPr>
          <p:cNvPr id="4" name="Text 2"/>
          <p:cNvSpPr/>
          <p:nvPr/>
        </p:nvSpPr>
        <p:spPr>
          <a:xfrm>
            <a:off x="661493" y="3300809"/>
            <a:ext cx="5434508" cy="1323082"/>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Modern web testing spans the full development lifecycle: unit testing during development, integration testing between services, functional and end-to-end testing before release, and ongoing regression checks after deployment. It also includes cross-browser verification, mobile responsiveness testing, accessibility audits, and performance benchmarking.</a:t>
            </a:r>
            <a:endParaRPr lang="en-US" sz="1292" dirty="0"/>
          </a:p>
        </p:txBody>
      </p:sp>
      <p:sp>
        <p:nvSpPr>
          <p:cNvPr id="5" name="Text 3"/>
          <p:cNvSpPr/>
          <p:nvPr/>
        </p:nvSpPr>
        <p:spPr>
          <a:xfrm>
            <a:off x="655242" y="4999931"/>
            <a:ext cx="5434508"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Strong web testing helps teams catch defects earlier, reduce production risk, improve user experience, and release updates with greater confidence.</a:t>
            </a:r>
            <a:endParaRPr lang="en-US" sz="1292" dirty="0"/>
          </a:p>
        </p:txBody>
      </p:sp>
      <p:sp>
        <p:nvSpPr>
          <p:cNvPr id="6" name="Text 4"/>
          <p:cNvSpPr/>
          <p:nvPr/>
        </p:nvSpPr>
        <p:spPr>
          <a:xfrm>
            <a:off x="7431286" y="2092101"/>
            <a:ext cx="2480866" cy="310058"/>
          </a:xfrm>
          <a:prstGeom prst="rect">
            <a:avLst/>
          </a:prstGeom>
          <a:noFill/>
          <a:ln/>
        </p:spPr>
        <p:txBody>
          <a:bodyPr wrap="none" lIns="0" tIns="0" rIns="0" bIns="0" rtlCol="0" anchor="t"/>
          <a:lstStyle/>
          <a:p>
            <a:pPr>
              <a:lnSpc>
                <a:spcPts val="2417"/>
              </a:lnSpc>
            </a:pPr>
            <a:r>
              <a:rPr lang="en-US" sz="1917" dirty="0">
                <a:solidFill>
                  <a:srgbClr val="1B1B27"/>
                </a:solidFill>
                <a:latin typeface="Raleway" pitchFamily="34" charset="0"/>
                <a:ea typeface="Raleway" pitchFamily="34" charset="-122"/>
                <a:cs typeface="Raleway" pitchFamily="34" charset="-120"/>
              </a:rPr>
              <a:t>Website Debugging</a:t>
            </a:r>
            <a:endParaRPr lang="en-US" sz="1917" dirty="0"/>
          </a:p>
        </p:txBody>
      </p:sp>
      <p:sp>
        <p:nvSpPr>
          <p:cNvPr id="7" name="Text 5"/>
          <p:cNvSpPr/>
          <p:nvPr/>
        </p:nvSpPr>
        <p:spPr>
          <a:xfrm>
            <a:off x="7431286" y="2585344"/>
            <a:ext cx="4105473"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Website debugging is the systematic process of identifying, analyzing, and resolving defects that prevent a web application from behaving as expected.</a:t>
            </a:r>
            <a:endParaRPr lang="en-US" sz="1292" dirty="0"/>
          </a:p>
        </p:txBody>
      </p:sp>
      <p:sp>
        <p:nvSpPr>
          <p:cNvPr id="8" name="Text 6"/>
          <p:cNvSpPr/>
          <p:nvPr/>
        </p:nvSpPr>
        <p:spPr>
          <a:xfrm>
            <a:off x="7431286" y="3528021"/>
            <a:ext cx="4105473"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Common issues include broken API requests, layout inconsistencies, JavaScript execution errors, authentication failures, and slow-loading pages.</a:t>
            </a:r>
            <a:endParaRPr lang="en-US" sz="1292" dirty="0"/>
          </a:p>
        </p:txBody>
      </p:sp>
      <p:sp>
        <p:nvSpPr>
          <p:cNvPr id="9" name="Text 7"/>
          <p:cNvSpPr/>
          <p:nvPr/>
        </p:nvSpPr>
        <p:spPr>
          <a:xfrm>
            <a:off x="7431286" y="4470698"/>
            <a:ext cx="4105473"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Developers and testers use browser developer tools, console logs, network traces, source maps, error monitoring, and automated test reports to isolate root causes and verify fixes quickly.</a:t>
            </a:r>
            <a:endParaRPr lang="en-US" sz="129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906"/>
            <a:ext cx="3721298" cy="465138"/>
          </a:xfrm>
          <a:prstGeom prst="rect">
            <a:avLst/>
          </a:prstGeom>
          <a:noFill/>
          <a:ln/>
        </p:spPr>
        <p:txBody>
          <a:bodyPr wrap="none" lIns="0" tIns="0" rIns="0" bIns="0" rtlCol="0" anchor="t"/>
          <a:lstStyle/>
          <a:p>
            <a:pPr>
              <a:lnSpc>
                <a:spcPts val="3625"/>
              </a:lnSpc>
            </a:pPr>
            <a:r>
              <a:rPr lang="en-US" sz="2917" dirty="0">
                <a:solidFill>
                  <a:srgbClr val="1B1B27"/>
                </a:solidFill>
                <a:latin typeface="Raleway" pitchFamily="34" charset="0"/>
                <a:ea typeface="Raleway" pitchFamily="34" charset="-122"/>
                <a:cs typeface="Raleway" pitchFamily="34" charset="-120"/>
              </a:rPr>
              <a:t>Types of Web Testing</a:t>
            </a:r>
            <a:endParaRPr lang="en-US" sz="2917" dirty="0"/>
          </a:p>
        </p:txBody>
      </p:sp>
      <p:sp>
        <p:nvSpPr>
          <p:cNvPr id="3" name="Text 1"/>
          <p:cNvSpPr/>
          <p:nvPr/>
        </p:nvSpPr>
        <p:spPr>
          <a:xfrm>
            <a:off x="661492" y="1252934"/>
            <a:ext cx="10869018" cy="452438"/>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Web testing covers several disciplines that help teams verify quality before release. Each type focuses on a different risk area, from user-facing behavior to speed, security, and cross-platform reliability.</a:t>
            </a:r>
            <a:endParaRPr lang="en-US" sz="1167" dirty="0"/>
          </a:p>
        </p:txBody>
      </p:sp>
      <p:sp>
        <p:nvSpPr>
          <p:cNvPr id="4" name="Shape 2"/>
          <p:cNvSpPr/>
          <p:nvPr/>
        </p:nvSpPr>
        <p:spPr>
          <a:xfrm>
            <a:off x="661492" y="1856085"/>
            <a:ext cx="3533676" cy="2513310"/>
          </a:xfrm>
          <a:prstGeom prst="roundRect">
            <a:avLst>
              <a:gd name="adj" fmla="val 2488"/>
            </a:avLst>
          </a:prstGeom>
          <a:solidFill>
            <a:srgbClr val="E1E1EA"/>
          </a:solidFill>
          <a:ln w="7620">
            <a:solidFill>
              <a:srgbClr val="C7C7D0"/>
            </a:solidFill>
            <a:prstDash val="solid"/>
          </a:ln>
        </p:spPr>
      </p:sp>
      <p:sp>
        <p:nvSpPr>
          <p:cNvPr id="5" name="Text 3"/>
          <p:cNvSpPr/>
          <p:nvPr/>
        </p:nvSpPr>
        <p:spPr>
          <a:xfrm>
            <a:off x="816670" y="2011264"/>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Functional Testing</a:t>
            </a:r>
            <a:endParaRPr lang="en-US" sz="1458" dirty="0"/>
          </a:p>
        </p:txBody>
      </p:sp>
      <p:sp>
        <p:nvSpPr>
          <p:cNvPr id="6" name="Text 4"/>
          <p:cNvSpPr/>
          <p:nvPr/>
        </p:nvSpPr>
        <p:spPr>
          <a:xfrm>
            <a:off x="816670" y="2324100"/>
            <a:ext cx="3223319" cy="904875"/>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Confirms that features behave according to requirements. Typical checks include forms, buttons, links, search, authentication, API calls, error handling, and core business workflows.</a:t>
            </a:r>
            <a:endParaRPr lang="en-US" sz="1167" dirty="0"/>
          </a:p>
        </p:txBody>
      </p:sp>
      <p:sp>
        <p:nvSpPr>
          <p:cNvPr id="7" name="Text 5"/>
          <p:cNvSpPr/>
          <p:nvPr/>
        </p:nvSpPr>
        <p:spPr>
          <a:xfrm>
            <a:off x="816670" y="3309342"/>
            <a:ext cx="3223319"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Test coverage usually includes happy paths, validation rules, edge cases, and regression scenarios after code changes.</a:t>
            </a:r>
            <a:endParaRPr lang="en-US" sz="1167" dirty="0"/>
          </a:p>
        </p:txBody>
      </p:sp>
      <p:sp>
        <p:nvSpPr>
          <p:cNvPr id="8" name="Shape 6"/>
          <p:cNvSpPr/>
          <p:nvPr/>
        </p:nvSpPr>
        <p:spPr>
          <a:xfrm>
            <a:off x="4329113" y="1856085"/>
            <a:ext cx="3533676" cy="2513310"/>
          </a:xfrm>
          <a:prstGeom prst="roundRect">
            <a:avLst>
              <a:gd name="adj" fmla="val 2488"/>
            </a:avLst>
          </a:prstGeom>
          <a:solidFill>
            <a:srgbClr val="E1E1EA"/>
          </a:solidFill>
          <a:ln w="7620">
            <a:solidFill>
              <a:srgbClr val="C7C7D0"/>
            </a:solidFill>
            <a:prstDash val="solid"/>
          </a:ln>
        </p:spPr>
      </p:sp>
      <p:sp>
        <p:nvSpPr>
          <p:cNvPr id="9" name="Text 7"/>
          <p:cNvSpPr/>
          <p:nvPr/>
        </p:nvSpPr>
        <p:spPr>
          <a:xfrm>
            <a:off x="4484291" y="2011264"/>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Performance Testing</a:t>
            </a:r>
            <a:endParaRPr lang="en-US" sz="1458" dirty="0"/>
          </a:p>
        </p:txBody>
      </p:sp>
      <p:sp>
        <p:nvSpPr>
          <p:cNvPr id="10" name="Text 8"/>
          <p:cNvSpPr/>
          <p:nvPr/>
        </p:nvSpPr>
        <p:spPr>
          <a:xfrm>
            <a:off x="4484291" y="2324100"/>
            <a:ext cx="3223319" cy="904875"/>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Measures how well the application responds under normal and peak usage. It evaluates page load time, throughput, latency, memory usage, and server stability.</a:t>
            </a:r>
            <a:endParaRPr lang="en-US" sz="1167" dirty="0"/>
          </a:p>
        </p:txBody>
      </p:sp>
      <p:sp>
        <p:nvSpPr>
          <p:cNvPr id="11" name="Text 9"/>
          <p:cNvSpPr/>
          <p:nvPr/>
        </p:nvSpPr>
        <p:spPr>
          <a:xfrm>
            <a:off x="4484291" y="3309342"/>
            <a:ext cx="3223319"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Common methods include load testing, stress testing, and spike testing to identify bottlenecks before users are impacted.</a:t>
            </a:r>
            <a:endParaRPr lang="en-US" sz="1167" dirty="0"/>
          </a:p>
        </p:txBody>
      </p:sp>
      <p:sp>
        <p:nvSpPr>
          <p:cNvPr id="12" name="Shape 10"/>
          <p:cNvSpPr/>
          <p:nvPr/>
        </p:nvSpPr>
        <p:spPr>
          <a:xfrm>
            <a:off x="7996734" y="1856085"/>
            <a:ext cx="3533676" cy="2513310"/>
          </a:xfrm>
          <a:prstGeom prst="roundRect">
            <a:avLst>
              <a:gd name="adj" fmla="val 2488"/>
            </a:avLst>
          </a:prstGeom>
          <a:solidFill>
            <a:srgbClr val="E1E1EA"/>
          </a:solidFill>
          <a:ln w="7620">
            <a:solidFill>
              <a:srgbClr val="C7C7D0"/>
            </a:solidFill>
            <a:prstDash val="solid"/>
          </a:ln>
        </p:spPr>
      </p:sp>
      <p:sp>
        <p:nvSpPr>
          <p:cNvPr id="13" name="Text 11"/>
          <p:cNvSpPr/>
          <p:nvPr/>
        </p:nvSpPr>
        <p:spPr>
          <a:xfrm>
            <a:off x="8151912" y="2011264"/>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Security Testing</a:t>
            </a:r>
            <a:endParaRPr lang="en-US" sz="1458" dirty="0"/>
          </a:p>
        </p:txBody>
      </p:sp>
      <p:sp>
        <p:nvSpPr>
          <p:cNvPr id="14" name="Text 12"/>
          <p:cNvSpPr/>
          <p:nvPr/>
        </p:nvSpPr>
        <p:spPr>
          <a:xfrm>
            <a:off x="8151912" y="2324101"/>
            <a:ext cx="3223319" cy="1131094"/>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Identifies vulnerabilities that could expose data or compromise accounts. It helps detect issues such as XSS, SQL injection, CSRF, broken access control, weak authentication, and insecure session handling.</a:t>
            </a:r>
            <a:endParaRPr lang="en-US" sz="1167" dirty="0"/>
          </a:p>
        </p:txBody>
      </p:sp>
      <p:sp>
        <p:nvSpPr>
          <p:cNvPr id="15" name="Text 13"/>
          <p:cNvSpPr/>
          <p:nvPr/>
        </p:nvSpPr>
        <p:spPr>
          <a:xfrm>
            <a:off x="8151912" y="3535561"/>
            <a:ext cx="3223319"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Teams also verify encryption, permissions, input validation, and safe handling of sensitive information.</a:t>
            </a:r>
            <a:endParaRPr lang="en-US" sz="1167" dirty="0"/>
          </a:p>
        </p:txBody>
      </p:sp>
      <p:sp>
        <p:nvSpPr>
          <p:cNvPr id="16" name="Shape 14"/>
          <p:cNvSpPr/>
          <p:nvPr/>
        </p:nvSpPr>
        <p:spPr>
          <a:xfrm>
            <a:off x="661492" y="4503341"/>
            <a:ext cx="5367437" cy="1834654"/>
          </a:xfrm>
          <a:prstGeom prst="roundRect">
            <a:avLst>
              <a:gd name="adj" fmla="val 3408"/>
            </a:avLst>
          </a:prstGeom>
          <a:solidFill>
            <a:srgbClr val="E1E1EA"/>
          </a:solidFill>
          <a:ln w="7620">
            <a:solidFill>
              <a:srgbClr val="C7C7D0"/>
            </a:solidFill>
            <a:prstDash val="solid"/>
          </a:ln>
        </p:spPr>
      </p:sp>
      <p:sp>
        <p:nvSpPr>
          <p:cNvPr id="17" name="Text 15"/>
          <p:cNvSpPr/>
          <p:nvPr/>
        </p:nvSpPr>
        <p:spPr>
          <a:xfrm>
            <a:off x="816670" y="4658520"/>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Usability Testing</a:t>
            </a:r>
            <a:endParaRPr lang="en-US" sz="1458" dirty="0"/>
          </a:p>
        </p:txBody>
      </p:sp>
      <p:sp>
        <p:nvSpPr>
          <p:cNvPr id="18" name="Text 16"/>
          <p:cNvSpPr/>
          <p:nvPr/>
        </p:nvSpPr>
        <p:spPr>
          <a:xfrm>
            <a:off x="816670" y="4971356"/>
            <a:ext cx="5057081"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Evaluates whether real users can complete tasks efficiently and with confidence. It focuses on navigation clarity, content hierarchy, accessibility, form usability, and overall satisfaction.</a:t>
            </a:r>
            <a:endParaRPr lang="en-US" sz="1167" dirty="0"/>
          </a:p>
        </p:txBody>
      </p:sp>
      <p:sp>
        <p:nvSpPr>
          <p:cNvPr id="19" name="Text 17"/>
          <p:cNvSpPr/>
          <p:nvPr/>
        </p:nvSpPr>
        <p:spPr>
          <a:xfrm>
            <a:off x="816670" y="5730379"/>
            <a:ext cx="5057081" cy="452438"/>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Findings often reveal friction points that are technically correct but still frustrating or confusing for users.</a:t>
            </a:r>
            <a:endParaRPr lang="en-US" sz="1167" dirty="0"/>
          </a:p>
        </p:txBody>
      </p:sp>
      <p:sp>
        <p:nvSpPr>
          <p:cNvPr id="20" name="Shape 18"/>
          <p:cNvSpPr/>
          <p:nvPr/>
        </p:nvSpPr>
        <p:spPr>
          <a:xfrm>
            <a:off x="6162874" y="4503341"/>
            <a:ext cx="5367536" cy="1834654"/>
          </a:xfrm>
          <a:prstGeom prst="roundRect">
            <a:avLst>
              <a:gd name="adj" fmla="val 3408"/>
            </a:avLst>
          </a:prstGeom>
          <a:solidFill>
            <a:srgbClr val="E1E1EA"/>
          </a:solidFill>
          <a:ln w="7620">
            <a:solidFill>
              <a:srgbClr val="C7C7D0"/>
            </a:solidFill>
            <a:prstDash val="solid"/>
          </a:ln>
        </p:spPr>
      </p:sp>
      <p:sp>
        <p:nvSpPr>
          <p:cNvPr id="21" name="Text 19"/>
          <p:cNvSpPr/>
          <p:nvPr/>
        </p:nvSpPr>
        <p:spPr>
          <a:xfrm>
            <a:off x="6318052" y="4658520"/>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Compatibility Testing</a:t>
            </a:r>
            <a:endParaRPr lang="en-US" sz="1458" dirty="0"/>
          </a:p>
        </p:txBody>
      </p:sp>
      <p:sp>
        <p:nvSpPr>
          <p:cNvPr id="22" name="Text 20"/>
          <p:cNvSpPr/>
          <p:nvPr/>
        </p:nvSpPr>
        <p:spPr>
          <a:xfrm>
            <a:off x="6318052" y="4971356"/>
            <a:ext cx="5057180"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Verifies consistent behavior across browsers, devices, screen sizes, and operating systems. This includes layout rendering, feature support, responsive behavior, and input methods.</a:t>
            </a:r>
            <a:endParaRPr lang="en-US" sz="1167" dirty="0"/>
          </a:p>
        </p:txBody>
      </p:sp>
      <p:sp>
        <p:nvSpPr>
          <p:cNvPr id="23" name="Text 21"/>
          <p:cNvSpPr/>
          <p:nvPr/>
        </p:nvSpPr>
        <p:spPr>
          <a:xfrm>
            <a:off x="6318052" y="5730379"/>
            <a:ext cx="5057180" cy="452438"/>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Testing commonly covers Chrome, Firefox, Safari, Edge, mobile browsers, tablets, and desktop environments.</a:t>
            </a:r>
            <a:endParaRPr lang="en-US" sz="116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89756"/>
            <a:ext cx="3721298" cy="465138"/>
          </a:xfrm>
          <a:prstGeom prst="rect">
            <a:avLst/>
          </a:prstGeom>
          <a:noFill/>
          <a:ln/>
        </p:spPr>
        <p:txBody>
          <a:bodyPr wrap="none" lIns="0" tIns="0" rIns="0" bIns="0" rtlCol="0" anchor="t"/>
          <a:lstStyle/>
          <a:p>
            <a:pPr>
              <a:lnSpc>
                <a:spcPts val="3625"/>
              </a:lnSpc>
            </a:pPr>
            <a:r>
              <a:rPr lang="en-US" sz="2917" dirty="0">
                <a:solidFill>
                  <a:srgbClr val="1B1B27"/>
                </a:solidFill>
                <a:latin typeface="Raleway" pitchFamily="34" charset="0"/>
                <a:ea typeface="Raleway" pitchFamily="34" charset="-122"/>
                <a:cs typeface="Raleway" pitchFamily="34" charset="-120"/>
              </a:rPr>
              <a:t>Testing Levels</a:t>
            </a:r>
            <a:endParaRPr lang="en-US" sz="2917" dirty="0"/>
          </a:p>
        </p:txBody>
      </p:sp>
      <p:sp>
        <p:nvSpPr>
          <p:cNvPr id="3" name="Text 1"/>
          <p:cNvSpPr/>
          <p:nvPr/>
        </p:nvSpPr>
        <p:spPr>
          <a:xfrm>
            <a:off x="661492" y="1322785"/>
            <a:ext cx="10869018" cy="226219"/>
          </a:xfrm>
          <a:prstGeom prst="rect">
            <a:avLst/>
          </a:prstGeom>
          <a:noFill/>
          <a:ln/>
        </p:spPr>
        <p:txBody>
          <a:bodyPr wrap="non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Testing progresses through distinct levels, each verifying a different layer of application quality, behavior, and integration.</a:t>
            </a:r>
            <a:endParaRPr lang="en-US" sz="1167" dirty="0"/>
          </a:p>
        </p:txBody>
      </p:sp>
      <p:sp>
        <p:nvSpPr>
          <p:cNvPr id="4" name="Shape 2"/>
          <p:cNvSpPr/>
          <p:nvPr/>
        </p:nvSpPr>
        <p:spPr>
          <a:xfrm>
            <a:off x="661492" y="1699717"/>
            <a:ext cx="5367536" cy="2217241"/>
          </a:xfrm>
          <a:prstGeom prst="roundRect">
            <a:avLst>
              <a:gd name="adj" fmla="val 3135"/>
            </a:avLst>
          </a:prstGeom>
          <a:solidFill>
            <a:srgbClr val="FFFFFF">
              <a:alpha val="95000"/>
            </a:srgbClr>
          </a:solidFill>
          <a:ln w="22860">
            <a:solidFill>
              <a:srgbClr val="C7C7D0"/>
            </a:solidFill>
            <a:prstDash val="solid"/>
          </a:ln>
        </p:spPr>
      </p:sp>
      <p:sp>
        <p:nvSpPr>
          <p:cNvPr id="5" name="Shape 3"/>
          <p:cNvSpPr/>
          <p:nvPr/>
        </p:nvSpPr>
        <p:spPr>
          <a:xfrm>
            <a:off x="699592" y="1722957"/>
            <a:ext cx="5329436" cy="148828"/>
          </a:xfrm>
          <a:prstGeom prst="roundRect">
            <a:avLst>
              <a:gd name="adj" fmla="val 26648"/>
            </a:avLst>
          </a:prstGeom>
          <a:solidFill>
            <a:srgbClr val="E1E1EA"/>
          </a:solidFill>
          <a:ln/>
        </p:spPr>
      </p:sp>
      <p:sp>
        <p:nvSpPr>
          <p:cNvPr id="6" name="Text 4"/>
          <p:cNvSpPr/>
          <p:nvPr/>
        </p:nvSpPr>
        <p:spPr>
          <a:xfrm>
            <a:off x="829370" y="1948782"/>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Unit Testing</a:t>
            </a:r>
            <a:endParaRPr lang="en-US" sz="1458" dirty="0"/>
          </a:p>
        </p:txBody>
      </p:sp>
      <p:sp>
        <p:nvSpPr>
          <p:cNvPr id="7" name="Text 5"/>
          <p:cNvSpPr/>
          <p:nvPr/>
        </p:nvSpPr>
        <p:spPr>
          <a:xfrm>
            <a:off x="829369" y="2261619"/>
            <a:ext cx="5031780"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Validates individual functions, classes, or components in isolation. These tests are fast, repeatable, and typically automated by developers using frameworks such as JUnit, TestNG, or pytest.</a:t>
            </a:r>
            <a:endParaRPr lang="en-US" sz="1167" dirty="0"/>
          </a:p>
        </p:txBody>
      </p:sp>
      <p:sp>
        <p:nvSpPr>
          <p:cNvPr id="8" name="Text 6"/>
          <p:cNvSpPr/>
          <p:nvPr/>
        </p:nvSpPr>
        <p:spPr>
          <a:xfrm>
            <a:off x="829369" y="3020643"/>
            <a:ext cx="5031780" cy="452438"/>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Focus areas include boundary conditions, business rules, error handling, and code coverage.</a:t>
            </a:r>
            <a:endParaRPr lang="en-US" sz="1167" dirty="0"/>
          </a:p>
        </p:txBody>
      </p:sp>
      <p:sp>
        <p:nvSpPr>
          <p:cNvPr id="9" name="Shape 7"/>
          <p:cNvSpPr/>
          <p:nvPr/>
        </p:nvSpPr>
        <p:spPr>
          <a:xfrm>
            <a:off x="6162973" y="1699717"/>
            <a:ext cx="5367536" cy="2217242"/>
          </a:xfrm>
          <a:prstGeom prst="roundRect">
            <a:avLst>
              <a:gd name="adj" fmla="val 2820"/>
            </a:avLst>
          </a:prstGeom>
          <a:solidFill>
            <a:srgbClr val="FFFFFF">
              <a:alpha val="95000"/>
            </a:srgbClr>
          </a:solidFill>
          <a:ln w="22860">
            <a:solidFill>
              <a:srgbClr val="C7C7D0"/>
            </a:solidFill>
            <a:prstDash val="solid"/>
          </a:ln>
        </p:spPr>
      </p:sp>
      <p:sp>
        <p:nvSpPr>
          <p:cNvPr id="10" name="Shape 8"/>
          <p:cNvSpPr/>
          <p:nvPr/>
        </p:nvSpPr>
        <p:spPr>
          <a:xfrm>
            <a:off x="6182023" y="1718767"/>
            <a:ext cx="5329436" cy="148828"/>
          </a:xfrm>
          <a:prstGeom prst="roundRect">
            <a:avLst>
              <a:gd name="adj" fmla="val 26648"/>
            </a:avLst>
          </a:prstGeom>
          <a:solidFill>
            <a:srgbClr val="E1E1EA"/>
          </a:solidFill>
          <a:ln/>
        </p:spPr>
      </p:sp>
      <p:sp>
        <p:nvSpPr>
          <p:cNvPr id="11" name="Text 9"/>
          <p:cNvSpPr/>
          <p:nvPr/>
        </p:nvSpPr>
        <p:spPr>
          <a:xfrm>
            <a:off x="6330851" y="2001541"/>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Integration Testing</a:t>
            </a:r>
            <a:endParaRPr lang="en-US" sz="1458" dirty="0"/>
          </a:p>
        </p:txBody>
      </p:sp>
      <p:sp>
        <p:nvSpPr>
          <p:cNvPr id="12" name="Text 10"/>
          <p:cNvSpPr/>
          <p:nvPr/>
        </p:nvSpPr>
        <p:spPr>
          <a:xfrm>
            <a:off x="6330851" y="2314377"/>
            <a:ext cx="5031780"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Checks that modules, services, and APIs work together correctly. It verifies data flow between components, database access, and interactions with third-party systems.</a:t>
            </a:r>
            <a:endParaRPr lang="en-US" sz="1167" dirty="0"/>
          </a:p>
        </p:txBody>
      </p:sp>
      <p:sp>
        <p:nvSpPr>
          <p:cNvPr id="13" name="Text 11"/>
          <p:cNvSpPr/>
          <p:nvPr/>
        </p:nvSpPr>
        <p:spPr>
          <a:xfrm>
            <a:off x="6330851" y="3073400"/>
            <a:ext cx="5031780" cy="452438"/>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Common approaches include API testing, contract validation, and database integration checks.</a:t>
            </a:r>
            <a:endParaRPr lang="en-US" sz="1167" dirty="0"/>
          </a:p>
        </p:txBody>
      </p:sp>
      <p:sp>
        <p:nvSpPr>
          <p:cNvPr id="14" name="Shape 12"/>
          <p:cNvSpPr/>
          <p:nvPr/>
        </p:nvSpPr>
        <p:spPr>
          <a:xfrm>
            <a:off x="661492" y="4050904"/>
            <a:ext cx="5367536" cy="2217241"/>
          </a:xfrm>
          <a:prstGeom prst="roundRect">
            <a:avLst>
              <a:gd name="adj" fmla="val 3135"/>
            </a:avLst>
          </a:prstGeom>
          <a:solidFill>
            <a:srgbClr val="FFFFFF">
              <a:alpha val="95000"/>
            </a:srgbClr>
          </a:solidFill>
          <a:ln w="22860">
            <a:solidFill>
              <a:srgbClr val="C7C7D0"/>
            </a:solidFill>
            <a:prstDash val="solid"/>
          </a:ln>
        </p:spPr>
      </p:sp>
      <p:sp>
        <p:nvSpPr>
          <p:cNvPr id="15" name="Shape 13"/>
          <p:cNvSpPr/>
          <p:nvPr/>
        </p:nvSpPr>
        <p:spPr>
          <a:xfrm>
            <a:off x="680542" y="4069954"/>
            <a:ext cx="5329436" cy="148828"/>
          </a:xfrm>
          <a:prstGeom prst="roundRect">
            <a:avLst>
              <a:gd name="adj" fmla="val 26648"/>
            </a:avLst>
          </a:prstGeom>
          <a:solidFill>
            <a:srgbClr val="E1E1EA"/>
          </a:solidFill>
          <a:ln/>
        </p:spPr>
      </p:sp>
      <p:sp>
        <p:nvSpPr>
          <p:cNvPr id="16" name="Text 14"/>
          <p:cNvSpPr/>
          <p:nvPr/>
        </p:nvSpPr>
        <p:spPr>
          <a:xfrm>
            <a:off x="829370" y="4347970"/>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System Testing</a:t>
            </a:r>
            <a:endParaRPr lang="en-US" sz="1458" dirty="0"/>
          </a:p>
        </p:txBody>
      </p:sp>
      <p:sp>
        <p:nvSpPr>
          <p:cNvPr id="17" name="Text 15"/>
          <p:cNvSpPr/>
          <p:nvPr/>
        </p:nvSpPr>
        <p:spPr>
          <a:xfrm>
            <a:off x="829369" y="4660806"/>
            <a:ext cx="5031780"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Evaluates the fully integrated application against functional and non-functional requirements. This level confirms end-to-end behavior in an environment close to production.</a:t>
            </a:r>
            <a:endParaRPr lang="en-US" sz="1167" dirty="0"/>
          </a:p>
        </p:txBody>
      </p:sp>
      <p:sp>
        <p:nvSpPr>
          <p:cNvPr id="18" name="Text 16"/>
          <p:cNvSpPr/>
          <p:nvPr/>
        </p:nvSpPr>
        <p:spPr>
          <a:xfrm>
            <a:off x="829369" y="5419829"/>
            <a:ext cx="5031780" cy="452438"/>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It often includes regression, performance, security, compatibility, and recovery validation.</a:t>
            </a:r>
            <a:endParaRPr lang="en-US" sz="1167" dirty="0"/>
          </a:p>
        </p:txBody>
      </p:sp>
      <p:sp>
        <p:nvSpPr>
          <p:cNvPr id="19" name="Shape 17"/>
          <p:cNvSpPr/>
          <p:nvPr/>
        </p:nvSpPr>
        <p:spPr>
          <a:xfrm>
            <a:off x="6162973" y="4050903"/>
            <a:ext cx="5367536" cy="2217242"/>
          </a:xfrm>
          <a:prstGeom prst="roundRect">
            <a:avLst>
              <a:gd name="adj" fmla="val 2820"/>
            </a:avLst>
          </a:prstGeom>
          <a:solidFill>
            <a:srgbClr val="FFFFFF">
              <a:alpha val="95000"/>
            </a:srgbClr>
          </a:solidFill>
          <a:ln w="22860">
            <a:solidFill>
              <a:srgbClr val="C7C7D0"/>
            </a:solidFill>
            <a:prstDash val="solid"/>
          </a:ln>
        </p:spPr>
      </p:sp>
      <p:sp>
        <p:nvSpPr>
          <p:cNvPr id="20" name="Shape 18"/>
          <p:cNvSpPr/>
          <p:nvPr/>
        </p:nvSpPr>
        <p:spPr>
          <a:xfrm>
            <a:off x="6182023" y="4069954"/>
            <a:ext cx="5329436" cy="148828"/>
          </a:xfrm>
          <a:prstGeom prst="roundRect">
            <a:avLst>
              <a:gd name="adj" fmla="val 26648"/>
            </a:avLst>
          </a:prstGeom>
          <a:solidFill>
            <a:srgbClr val="E1E1EA"/>
          </a:solidFill>
          <a:ln/>
        </p:spPr>
      </p:sp>
      <p:sp>
        <p:nvSpPr>
          <p:cNvPr id="21" name="Text 19"/>
          <p:cNvSpPr/>
          <p:nvPr/>
        </p:nvSpPr>
        <p:spPr>
          <a:xfrm>
            <a:off x="6330851" y="4352727"/>
            <a:ext cx="1860649" cy="232469"/>
          </a:xfrm>
          <a:prstGeom prst="rect">
            <a:avLst/>
          </a:prstGeom>
          <a:noFill/>
          <a:ln/>
        </p:spPr>
        <p:txBody>
          <a:bodyPr wrap="none" lIns="0" tIns="0" rIns="0" bIns="0" rtlCol="0" anchor="t"/>
          <a:lstStyle/>
          <a:p>
            <a:pPr>
              <a:lnSpc>
                <a:spcPts val="1792"/>
              </a:lnSpc>
            </a:pPr>
            <a:r>
              <a:rPr lang="en-US" sz="1458" dirty="0">
                <a:solidFill>
                  <a:srgbClr val="3C3939"/>
                </a:solidFill>
                <a:latin typeface="Raleway" pitchFamily="34" charset="0"/>
                <a:ea typeface="Raleway" pitchFamily="34" charset="-122"/>
                <a:cs typeface="Raleway" pitchFamily="34" charset="-120"/>
              </a:rPr>
              <a:t>End-to-End Testing</a:t>
            </a:r>
            <a:endParaRPr lang="en-US" sz="1458" dirty="0"/>
          </a:p>
        </p:txBody>
      </p:sp>
      <p:sp>
        <p:nvSpPr>
          <p:cNvPr id="22" name="Text 20"/>
          <p:cNvSpPr/>
          <p:nvPr/>
        </p:nvSpPr>
        <p:spPr>
          <a:xfrm>
            <a:off x="6330851" y="4665563"/>
            <a:ext cx="5031780"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Validates complete user journeys across the UI, backend services, databases, and external dependencies. It ensures the application works as a cohesive product from the user’s perspective.</a:t>
            </a:r>
            <a:endParaRPr lang="en-US" sz="1167" dirty="0"/>
          </a:p>
        </p:txBody>
      </p:sp>
      <p:sp>
        <p:nvSpPr>
          <p:cNvPr id="23" name="Text 21"/>
          <p:cNvSpPr/>
          <p:nvPr/>
        </p:nvSpPr>
        <p:spPr>
          <a:xfrm>
            <a:off x="6330851" y="5424587"/>
            <a:ext cx="5031780" cy="452438"/>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Automation tools such as Selenium, Cypress, and Playwright are often used for critical workflows and release confidence.</a:t>
            </a:r>
            <a:endParaRPr lang="en-US" sz="116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711299"/>
            <a:ext cx="4264918" cy="387648"/>
          </a:xfrm>
          <a:prstGeom prst="rect">
            <a:avLst/>
          </a:prstGeom>
          <a:noFill/>
          <a:ln/>
        </p:spPr>
        <p:txBody>
          <a:bodyPr wrap="none" lIns="0" tIns="0" rIns="0" bIns="0" rtlCol="0" anchor="t"/>
          <a:lstStyle/>
          <a:p>
            <a:pPr>
              <a:lnSpc>
                <a:spcPts val="3042"/>
              </a:lnSpc>
            </a:pPr>
            <a:r>
              <a:rPr lang="en-US" sz="2417" dirty="0">
                <a:solidFill>
                  <a:srgbClr val="1B1B27"/>
                </a:solidFill>
                <a:latin typeface="Raleway" pitchFamily="34" charset="0"/>
                <a:ea typeface="Raleway" pitchFamily="34" charset="-122"/>
                <a:cs typeface="Raleway" pitchFamily="34" charset="-120"/>
              </a:rPr>
              <a:t>Manual vs Automation Testing</a:t>
            </a:r>
            <a:endParaRPr lang="en-US" sz="2417" dirty="0"/>
          </a:p>
        </p:txBody>
      </p:sp>
      <p:sp>
        <p:nvSpPr>
          <p:cNvPr id="3" name="Text 1"/>
          <p:cNvSpPr/>
          <p:nvPr/>
        </p:nvSpPr>
        <p:spPr>
          <a:xfrm>
            <a:off x="661492" y="1331417"/>
            <a:ext cx="1860649" cy="232469"/>
          </a:xfrm>
          <a:prstGeom prst="rect">
            <a:avLst/>
          </a:prstGeom>
          <a:noFill/>
          <a:ln/>
        </p:spPr>
        <p:txBody>
          <a:bodyPr wrap="none" lIns="0" tIns="0" rIns="0" bIns="0" rtlCol="0" anchor="t"/>
          <a:lstStyle/>
          <a:p>
            <a:pPr>
              <a:lnSpc>
                <a:spcPts val="1792"/>
              </a:lnSpc>
            </a:pPr>
            <a:r>
              <a:rPr lang="en-US" sz="1458" dirty="0">
                <a:solidFill>
                  <a:srgbClr val="1B1B27"/>
                </a:solidFill>
                <a:latin typeface="Raleway" pitchFamily="34" charset="0"/>
                <a:ea typeface="Raleway" pitchFamily="34" charset="-122"/>
                <a:cs typeface="Raleway" pitchFamily="34" charset="-120"/>
              </a:rPr>
              <a:t>Manual Testing</a:t>
            </a:r>
            <a:endParaRPr lang="en-US" sz="1458" dirty="0"/>
          </a:p>
        </p:txBody>
      </p:sp>
      <p:sp>
        <p:nvSpPr>
          <p:cNvPr id="4" name="Text 2"/>
          <p:cNvSpPr/>
          <p:nvPr/>
        </p:nvSpPr>
        <p:spPr>
          <a:xfrm>
            <a:off x="661492" y="1656854"/>
            <a:ext cx="5283200" cy="520898"/>
          </a:xfrm>
          <a:prstGeom prst="rect">
            <a:avLst/>
          </a:prstGeom>
          <a:noFill/>
          <a:ln/>
        </p:spPr>
        <p:txBody>
          <a:bodyPr wrap="squar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Human testers execute test cases without automation tools, using judgment to explore behavior, validate usability, and catch issues that scripted checks may miss. It is especially valuable when requirements are changing or the user experience must be evaluated closely.</a:t>
            </a:r>
            <a:endParaRPr lang="en-US" sz="958" dirty="0"/>
          </a:p>
        </p:txBody>
      </p:sp>
      <p:sp>
        <p:nvSpPr>
          <p:cNvPr id="5" name="Text 3"/>
          <p:cNvSpPr/>
          <p:nvPr/>
        </p:nvSpPr>
        <p:spPr>
          <a:xfrm>
            <a:off x="661492" y="2270721"/>
            <a:ext cx="1550492" cy="193774"/>
          </a:xfrm>
          <a:prstGeom prst="rect">
            <a:avLst/>
          </a:prstGeom>
          <a:noFill/>
          <a:ln/>
        </p:spPr>
        <p:txBody>
          <a:bodyPr wrap="none" lIns="0" tIns="0" rIns="0" bIns="0" rtlCol="0" anchor="t"/>
          <a:lstStyle/>
          <a:p>
            <a:pPr>
              <a:lnSpc>
                <a:spcPts val="1500"/>
              </a:lnSpc>
            </a:pPr>
            <a:r>
              <a:rPr lang="en-US" sz="1208" dirty="0">
                <a:solidFill>
                  <a:srgbClr val="1B1B27"/>
                </a:solidFill>
                <a:latin typeface="Raleway" pitchFamily="34" charset="0"/>
                <a:ea typeface="Raleway" pitchFamily="34" charset="-122"/>
                <a:cs typeface="Raleway" pitchFamily="34" charset="-120"/>
              </a:rPr>
              <a:t>When to Use</a:t>
            </a:r>
            <a:endParaRPr lang="en-US" sz="1208" dirty="0"/>
          </a:p>
        </p:txBody>
      </p:sp>
      <p:sp>
        <p:nvSpPr>
          <p:cNvPr id="6" name="Text 4"/>
          <p:cNvSpPr/>
          <p:nvPr/>
        </p:nvSpPr>
        <p:spPr>
          <a:xfrm>
            <a:off x="661492" y="2557463"/>
            <a:ext cx="5283200" cy="792163"/>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Exploratory testing to uncover unexpected defects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Usability and accessibility reviews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Short-lived or one-time test scenarios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Ad-hoc validation during active development</a:t>
            </a:r>
            <a:endParaRPr lang="en-US" sz="958" dirty="0"/>
          </a:p>
        </p:txBody>
      </p:sp>
      <p:sp>
        <p:nvSpPr>
          <p:cNvPr id="7" name="Text 5"/>
          <p:cNvSpPr/>
          <p:nvPr/>
        </p:nvSpPr>
        <p:spPr>
          <a:xfrm>
            <a:off x="661492" y="3442594"/>
            <a:ext cx="1550492" cy="193774"/>
          </a:xfrm>
          <a:prstGeom prst="rect">
            <a:avLst/>
          </a:prstGeom>
          <a:noFill/>
          <a:ln/>
        </p:spPr>
        <p:txBody>
          <a:bodyPr wrap="none" lIns="0" tIns="0" rIns="0" bIns="0" rtlCol="0" anchor="t"/>
          <a:lstStyle/>
          <a:p>
            <a:pPr>
              <a:lnSpc>
                <a:spcPts val="1500"/>
              </a:lnSpc>
            </a:pPr>
            <a:r>
              <a:rPr lang="en-US" sz="1208" dirty="0">
                <a:solidFill>
                  <a:srgbClr val="1B1B27"/>
                </a:solidFill>
                <a:latin typeface="Raleway" pitchFamily="34" charset="0"/>
                <a:ea typeface="Raleway" pitchFamily="34" charset="-122"/>
                <a:cs typeface="Raleway" pitchFamily="34" charset="-120"/>
              </a:rPr>
              <a:t>Best Suited For</a:t>
            </a:r>
            <a:endParaRPr lang="en-US" sz="1208" dirty="0"/>
          </a:p>
        </p:txBody>
      </p:sp>
      <p:sp>
        <p:nvSpPr>
          <p:cNvPr id="8" name="Text 6"/>
          <p:cNvSpPr/>
          <p:nvPr/>
        </p:nvSpPr>
        <p:spPr>
          <a:xfrm>
            <a:off x="661492" y="3729335"/>
            <a:ext cx="5283200" cy="347266"/>
          </a:xfrm>
          <a:prstGeom prst="rect">
            <a:avLst/>
          </a:prstGeom>
          <a:noFill/>
          <a:ln/>
        </p:spPr>
        <p:txBody>
          <a:bodyPr wrap="squar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Early product discovery, UI feedback, and scenarios that depend on human observation or subjective evaluation.</a:t>
            </a:r>
            <a:endParaRPr lang="en-US" sz="958" dirty="0"/>
          </a:p>
        </p:txBody>
      </p:sp>
      <p:sp>
        <p:nvSpPr>
          <p:cNvPr id="9" name="Text 7"/>
          <p:cNvSpPr/>
          <p:nvPr/>
        </p:nvSpPr>
        <p:spPr>
          <a:xfrm>
            <a:off x="6253659" y="1331417"/>
            <a:ext cx="1860649" cy="232469"/>
          </a:xfrm>
          <a:prstGeom prst="rect">
            <a:avLst/>
          </a:prstGeom>
          <a:noFill/>
          <a:ln/>
        </p:spPr>
        <p:txBody>
          <a:bodyPr wrap="none" lIns="0" tIns="0" rIns="0" bIns="0" rtlCol="0" anchor="t"/>
          <a:lstStyle/>
          <a:p>
            <a:pPr>
              <a:lnSpc>
                <a:spcPts val="1792"/>
              </a:lnSpc>
            </a:pPr>
            <a:r>
              <a:rPr lang="en-US" sz="1458" dirty="0">
                <a:solidFill>
                  <a:srgbClr val="1B1B27"/>
                </a:solidFill>
                <a:latin typeface="Raleway" pitchFamily="34" charset="0"/>
                <a:ea typeface="Raleway" pitchFamily="34" charset="-122"/>
                <a:cs typeface="Raleway" pitchFamily="34" charset="-120"/>
              </a:rPr>
              <a:t>Automation Testing</a:t>
            </a:r>
            <a:endParaRPr lang="en-US" sz="1458" dirty="0"/>
          </a:p>
        </p:txBody>
      </p:sp>
      <p:sp>
        <p:nvSpPr>
          <p:cNvPr id="10" name="Text 8"/>
          <p:cNvSpPr/>
          <p:nvPr/>
        </p:nvSpPr>
        <p:spPr>
          <a:xfrm>
            <a:off x="6253658" y="1656854"/>
            <a:ext cx="5283200" cy="520898"/>
          </a:xfrm>
          <a:prstGeom prst="rect">
            <a:avLst/>
          </a:prstGeom>
          <a:noFill/>
          <a:ln/>
        </p:spPr>
        <p:txBody>
          <a:bodyPr wrap="squar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Scripts automatically execute tests, compare results, and produce repeatable feedback. It improves speed, consistency, and coverage for scenarios that must run often across builds and environments.</a:t>
            </a:r>
            <a:endParaRPr lang="en-US" sz="958" dirty="0"/>
          </a:p>
        </p:txBody>
      </p:sp>
      <p:sp>
        <p:nvSpPr>
          <p:cNvPr id="11" name="Text 9"/>
          <p:cNvSpPr/>
          <p:nvPr/>
        </p:nvSpPr>
        <p:spPr>
          <a:xfrm>
            <a:off x="6253658" y="2270721"/>
            <a:ext cx="1550492" cy="193774"/>
          </a:xfrm>
          <a:prstGeom prst="rect">
            <a:avLst/>
          </a:prstGeom>
          <a:noFill/>
          <a:ln/>
        </p:spPr>
        <p:txBody>
          <a:bodyPr wrap="none" lIns="0" tIns="0" rIns="0" bIns="0" rtlCol="0" anchor="t"/>
          <a:lstStyle/>
          <a:p>
            <a:pPr>
              <a:lnSpc>
                <a:spcPts val="1500"/>
              </a:lnSpc>
            </a:pPr>
            <a:r>
              <a:rPr lang="en-US" sz="1208" dirty="0">
                <a:solidFill>
                  <a:srgbClr val="1B1B27"/>
                </a:solidFill>
                <a:latin typeface="Raleway" pitchFamily="34" charset="0"/>
                <a:ea typeface="Raleway" pitchFamily="34" charset="-122"/>
                <a:cs typeface="Raleway" pitchFamily="34" charset="-120"/>
              </a:rPr>
              <a:t>When to Use</a:t>
            </a:r>
            <a:endParaRPr lang="en-US" sz="1208" dirty="0"/>
          </a:p>
        </p:txBody>
      </p:sp>
      <p:sp>
        <p:nvSpPr>
          <p:cNvPr id="12" name="Text 10"/>
          <p:cNvSpPr/>
          <p:nvPr/>
        </p:nvSpPr>
        <p:spPr>
          <a:xfrm>
            <a:off x="6253658" y="2557463"/>
            <a:ext cx="5283200" cy="792163"/>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Repeated regression test cycles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Large test suites that must run quickly</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Performance and load verification</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CI/CD pipeline integration for continuous feedback</a:t>
            </a:r>
            <a:endParaRPr lang="en-US" sz="958" dirty="0"/>
          </a:p>
        </p:txBody>
      </p:sp>
      <p:sp>
        <p:nvSpPr>
          <p:cNvPr id="13" name="Text 11"/>
          <p:cNvSpPr/>
          <p:nvPr/>
        </p:nvSpPr>
        <p:spPr>
          <a:xfrm>
            <a:off x="6253658" y="3442594"/>
            <a:ext cx="1550492" cy="193774"/>
          </a:xfrm>
          <a:prstGeom prst="rect">
            <a:avLst/>
          </a:prstGeom>
          <a:noFill/>
          <a:ln/>
        </p:spPr>
        <p:txBody>
          <a:bodyPr wrap="none" lIns="0" tIns="0" rIns="0" bIns="0" rtlCol="0" anchor="t"/>
          <a:lstStyle/>
          <a:p>
            <a:pPr>
              <a:lnSpc>
                <a:spcPts val="1500"/>
              </a:lnSpc>
            </a:pPr>
            <a:r>
              <a:rPr lang="en-US" sz="1208" dirty="0">
                <a:solidFill>
                  <a:srgbClr val="1B1B27"/>
                </a:solidFill>
                <a:latin typeface="Raleway" pitchFamily="34" charset="0"/>
                <a:ea typeface="Raleway" pitchFamily="34" charset="-122"/>
                <a:cs typeface="Raleway" pitchFamily="34" charset="-120"/>
              </a:rPr>
              <a:t>Best Suited For</a:t>
            </a:r>
            <a:endParaRPr lang="en-US" sz="1208" dirty="0"/>
          </a:p>
        </p:txBody>
      </p:sp>
      <p:sp>
        <p:nvSpPr>
          <p:cNvPr id="14" name="Text 12"/>
          <p:cNvSpPr/>
          <p:nvPr/>
        </p:nvSpPr>
        <p:spPr>
          <a:xfrm>
            <a:off x="6253658" y="3729335"/>
            <a:ext cx="5283200" cy="347266"/>
          </a:xfrm>
          <a:prstGeom prst="rect">
            <a:avLst/>
          </a:prstGeom>
          <a:noFill/>
          <a:ln/>
        </p:spPr>
        <p:txBody>
          <a:bodyPr wrap="squar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Stable workflows, critical business paths, and tests that benefit from frequent execution with minimal manual effort.</a:t>
            </a:r>
            <a:endParaRPr lang="en-US" sz="958" dirty="0"/>
          </a:p>
        </p:txBody>
      </p:sp>
      <p:sp>
        <p:nvSpPr>
          <p:cNvPr id="15" name="Shape 13"/>
          <p:cNvSpPr/>
          <p:nvPr/>
        </p:nvSpPr>
        <p:spPr>
          <a:xfrm>
            <a:off x="661492" y="4264819"/>
            <a:ext cx="10869018" cy="616843"/>
          </a:xfrm>
          <a:prstGeom prst="roundRect">
            <a:avLst>
              <a:gd name="adj" fmla="val 8446"/>
            </a:avLst>
          </a:prstGeom>
          <a:solidFill>
            <a:srgbClr val="D2D2E0"/>
          </a:solidFill>
          <a:ln/>
        </p:spPr>
      </p:sp>
      <p:pic>
        <p:nvPicPr>
          <p:cNvPr id="16" name="Image 0" descr="preencoded.png"/>
          <p:cNvPicPr>
            <a:picLocks noChangeAspect="1"/>
          </p:cNvPicPr>
          <p:nvPr/>
        </p:nvPicPr>
        <p:blipFill>
          <a:blip r:embed="rId3"/>
          <a:stretch>
            <a:fillRect/>
          </a:stretch>
        </p:blipFill>
        <p:spPr>
          <a:xfrm>
            <a:off x="785515" y="4438254"/>
            <a:ext cx="154980" cy="124023"/>
          </a:xfrm>
          <a:prstGeom prst="rect">
            <a:avLst/>
          </a:prstGeom>
        </p:spPr>
      </p:pic>
      <p:sp>
        <p:nvSpPr>
          <p:cNvPr id="17" name="Text 14"/>
          <p:cNvSpPr/>
          <p:nvPr/>
        </p:nvSpPr>
        <p:spPr>
          <a:xfrm>
            <a:off x="1064519" y="4388744"/>
            <a:ext cx="10341968" cy="347266"/>
          </a:xfrm>
          <a:prstGeom prst="rect">
            <a:avLst/>
          </a:prstGeom>
          <a:noFill/>
          <a:ln/>
        </p:spPr>
        <p:txBody>
          <a:bodyPr wrap="square" lIns="0" tIns="0" rIns="0" bIns="0" rtlCol="0" anchor="t"/>
          <a:lstStyle/>
          <a:p>
            <a:pPr>
              <a:lnSpc>
                <a:spcPts val="1333"/>
              </a:lnSpc>
            </a:pPr>
            <a:r>
              <a:rPr lang="en-US" sz="958" b="1" dirty="0">
                <a:solidFill>
                  <a:srgbClr val="000000"/>
                </a:solidFill>
                <a:latin typeface="Roboto" pitchFamily="34" charset="0"/>
                <a:ea typeface="Roboto" pitchFamily="34" charset="-122"/>
                <a:cs typeface="Roboto" pitchFamily="34" charset="-120"/>
              </a:rPr>
              <a:t>Recommended Approach:</a:t>
            </a:r>
            <a:r>
              <a:rPr lang="en-US" sz="958" dirty="0">
                <a:solidFill>
                  <a:srgbClr val="000000"/>
                </a:solidFill>
                <a:latin typeface="Roboto" pitchFamily="34" charset="0"/>
                <a:ea typeface="Roboto" pitchFamily="34" charset="-122"/>
                <a:cs typeface="Roboto" pitchFamily="34" charset="-120"/>
              </a:rPr>
              <a:t> Use a hybrid strategy. Apply manual testing for exploratory, usability, and edge-case evaluation, then automate high-value regression and performance checks to improve release confidence and reduce repetitive effort.</a:t>
            </a:r>
            <a:endParaRPr lang="en-US" sz="958" dirty="0"/>
          </a:p>
        </p:txBody>
      </p:sp>
      <p:sp>
        <p:nvSpPr>
          <p:cNvPr id="18" name="Text 15"/>
          <p:cNvSpPr/>
          <p:nvPr/>
        </p:nvSpPr>
        <p:spPr>
          <a:xfrm>
            <a:off x="661492" y="5021164"/>
            <a:ext cx="1550492" cy="193774"/>
          </a:xfrm>
          <a:prstGeom prst="rect">
            <a:avLst/>
          </a:prstGeom>
          <a:noFill/>
          <a:ln/>
        </p:spPr>
        <p:txBody>
          <a:bodyPr wrap="none" lIns="0" tIns="0" rIns="0" bIns="0" rtlCol="0" anchor="t"/>
          <a:lstStyle/>
          <a:p>
            <a:pPr>
              <a:lnSpc>
                <a:spcPts val="1500"/>
              </a:lnSpc>
            </a:pPr>
            <a:r>
              <a:rPr lang="en-US" sz="1208" dirty="0">
                <a:solidFill>
                  <a:srgbClr val="1B1B27"/>
                </a:solidFill>
                <a:latin typeface="Raleway" pitchFamily="34" charset="0"/>
                <a:ea typeface="Raleway" pitchFamily="34" charset="-122"/>
                <a:cs typeface="Raleway" pitchFamily="34" charset="-120"/>
              </a:rPr>
              <a:t>Practical Balance</a:t>
            </a:r>
            <a:endParaRPr lang="en-US" sz="1208" dirty="0"/>
          </a:p>
        </p:txBody>
      </p:sp>
      <p:sp>
        <p:nvSpPr>
          <p:cNvPr id="19" name="Text 16"/>
          <p:cNvSpPr/>
          <p:nvPr/>
        </p:nvSpPr>
        <p:spPr>
          <a:xfrm>
            <a:off x="661492" y="5354439"/>
            <a:ext cx="10869018" cy="792163"/>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Automate tests that are stable, repeatable, and time-consuming</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Keep manual testing focused on discovery, usability, and risk-based review</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Review automated failures regularly to avoid brittle test coverage</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Expand automation gradually as the product and test suite mature</a:t>
            </a:r>
            <a:endParaRPr lang="en-US" sz="95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02940"/>
            <a:ext cx="3937198" cy="387648"/>
          </a:xfrm>
          <a:prstGeom prst="rect">
            <a:avLst/>
          </a:prstGeom>
          <a:noFill/>
          <a:ln/>
        </p:spPr>
        <p:txBody>
          <a:bodyPr wrap="none" lIns="0" tIns="0" rIns="0" bIns="0" rtlCol="0" anchor="t"/>
          <a:lstStyle/>
          <a:p>
            <a:pPr>
              <a:lnSpc>
                <a:spcPts val="3042"/>
              </a:lnSpc>
            </a:pPr>
            <a:r>
              <a:rPr lang="en-US" sz="2417" dirty="0">
                <a:solidFill>
                  <a:srgbClr val="1B1B27"/>
                </a:solidFill>
                <a:latin typeface="Raleway" pitchFamily="34" charset="0"/>
                <a:ea typeface="Raleway" pitchFamily="34" charset="-122"/>
                <a:cs typeface="Raleway" pitchFamily="34" charset="-120"/>
              </a:rPr>
              <a:t>Essential Web Testing Tools</a:t>
            </a:r>
            <a:endParaRPr lang="en-US" sz="2417" dirty="0"/>
          </a:p>
        </p:txBody>
      </p:sp>
      <p:sp>
        <p:nvSpPr>
          <p:cNvPr id="3" name="Text 1"/>
          <p:cNvSpPr/>
          <p:nvPr/>
        </p:nvSpPr>
        <p:spPr>
          <a:xfrm>
            <a:off x="661492" y="1076623"/>
            <a:ext cx="10869018" cy="173633"/>
          </a:xfrm>
          <a:prstGeom prst="rect">
            <a:avLst/>
          </a:prstGeom>
          <a:noFill/>
          <a:ln/>
        </p:spPr>
        <p:txBody>
          <a:bodyPr wrap="non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Use the right tool for the right layer of quality assurance—browser automation, API validation, performance testing, security scanning, and debugging.</a:t>
            </a:r>
            <a:endParaRPr lang="en-US" sz="958" dirty="0"/>
          </a:p>
        </p:txBody>
      </p:sp>
      <p:sp>
        <p:nvSpPr>
          <p:cNvPr id="4" name="Shape 2"/>
          <p:cNvSpPr/>
          <p:nvPr/>
        </p:nvSpPr>
        <p:spPr>
          <a:xfrm>
            <a:off x="661492" y="1354832"/>
            <a:ext cx="5387975" cy="1511994"/>
          </a:xfrm>
          <a:prstGeom prst="roundRect">
            <a:avLst>
              <a:gd name="adj" fmla="val 4032"/>
            </a:avLst>
          </a:prstGeom>
          <a:solidFill>
            <a:srgbClr val="FFFFFF">
              <a:alpha val="95000"/>
            </a:srgbClr>
          </a:solidFill>
          <a:ln w="15240">
            <a:solidFill>
              <a:srgbClr val="C7C7D0"/>
            </a:solidFill>
            <a:prstDash val="solid"/>
          </a:ln>
        </p:spPr>
      </p:sp>
      <p:sp>
        <p:nvSpPr>
          <p:cNvPr id="5" name="Shape 3"/>
          <p:cNvSpPr/>
          <p:nvPr/>
        </p:nvSpPr>
        <p:spPr>
          <a:xfrm>
            <a:off x="648792" y="1354832"/>
            <a:ext cx="50800" cy="1511994"/>
          </a:xfrm>
          <a:prstGeom prst="roundRect">
            <a:avLst>
              <a:gd name="adj" fmla="val 102558"/>
            </a:avLst>
          </a:prstGeom>
          <a:solidFill>
            <a:srgbClr val="1B1B27"/>
          </a:solidFill>
          <a:ln/>
        </p:spPr>
      </p:sp>
      <p:sp>
        <p:nvSpPr>
          <p:cNvPr id="6" name="Text 4"/>
          <p:cNvSpPr/>
          <p:nvPr/>
        </p:nvSpPr>
        <p:spPr>
          <a:xfrm>
            <a:off x="836315" y="1491556"/>
            <a:ext cx="1550492" cy="193774"/>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Selenium WebDriver</a:t>
            </a:r>
            <a:endParaRPr lang="en-US" sz="1208" dirty="0"/>
          </a:p>
        </p:txBody>
      </p:sp>
      <p:sp>
        <p:nvSpPr>
          <p:cNvPr id="7" name="Text 5"/>
          <p:cNvSpPr/>
          <p:nvPr/>
        </p:nvSpPr>
        <p:spPr>
          <a:xfrm>
            <a:off x="836315" y="1741091"/>
            <a:ext cx="5076428" cy="347266"/>
          </a:xfrm>
          <a:prstGeom prst="rect">
            <a:avLst/>
          </a:prstGeom>
          <a:noFill/>
          <a:ln/>
        </p:spPr>
        <p:txBody>
          <a:bodyPr wrap="squar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Browser automation framework for end-to-end UI testing across Chrome, Firefox, Safari, and Edge.</a:t>
            </a:r>
            <a:endParaRPr lang="en-US" sz="958" dirty="0"/>
          </a:p>
        </p:txBody>
      </p:sp>
      <p:sp>
        <p:nvSpPr>
          <p:cNvPr id="8" name="Text 6"/>
          <p:cNvSpPr/>
          <p:nvPr/>
        </p:nvSpPr>
        <p:spPr>
          <a:xfrm>
            <a:off x="836315" y="2144118"/>
            <a:ext cx="5076428" cy="585986"/>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Supports Java, Python, C#, JavaScript, and Ruby</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Best for cross-browser regression coverage</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Works well with testing frameworks like TestNG, JUnit, and pytest</a:t>
            </a:r>
            <a:endParaRPr lang="en-US" sz="958" dirty="0"/>
          </a:p>
        </p:txBody>
      </p:sp>
      <p:sp>
        <p:nvSpPr>
          <p:cNvPr id="9" name="Shape 7"/>
          <p:cNvSpPr/>
          <p:nvPr/>
        </p:nvSpPr>
        <p:spPr>
          <a:xfrm>
            <a:off x="6142435" y="1354832"/>
            <a:ext cx="5388074" cy="1511994"/>
          </a:xfrm>
          <a:prstGeom prst="roundRect">
            <a:avLst>
              <a:gd name="adj" fmla="val 4032"/>
            </a:avLst>
          </a:prstGeom>
          <a:solidFill>
            <a:srgbClr val="FFFFFF">
              <a:alpha val="95000"/>
            </a:srgbClr>
          </a:solidFill>
          <a:ln w="15240">
            <a:solidFill>
              <a:srgbClr val="C7C7D0"/>
            </a:solidFill>
            <a:prstDash val="solid"/>
          </a:ln>
        </p:spPr>
      </p:sp>
      <p:sp>
        <p:nvSpPr>
          <p:cNvPr id="10" name="Shape 8"/>
          <p:cNvSpPr/>
          <p:nvPr/>
        </p:nvSpPr>
        <p:spPr>
          <a:xfrm>
            <a:off x="6129734" y="1354832"/>
            <a:ext cx="50800" cy="1511994"/>
          </a:xfrm>
          <a:prstGeom prst="roundRect">
            <a:avLst>
              <a:gd name="adj" fmla="val 102558"/>
            </a:avLst>
          </a:prstGeom>
          <a:solidFill>
            <a:srgbClr val="1B1B27"/>
          </a:solidFill>
          <a:ln/>
        </p:spPr>
      </p:sp>
      <p:sp>
        <p:nvSpPr>
          <p:cNvPr id="11" name="Text 9"/>
          <p:cNvSpPr/>
          <p:nvPr/>
        </p:nvSpPr>
        <p:spPr>
          <a:xfrm>
            <a:off x="6317257" y="1491556"/>
            <a:ext cx="1550492" cy="193774"/>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Cypress</a:t>
            </a:r>
            <a:endParaRPr lang="en-US" sz="1208" dirty="0"/>
          </a:p>
        </p:txBody>
      </p:sp>
      <p:sp>
        <p:nvSpPr>
          <p:cNvPr id="12" name="Text 10"/>
          <p:cNvSpPr/>
          <p:nvPr/>
        </p:nvSpPr>
        <p:spPr>
          <a:xfrm>
            <a:off x="6317258" y="1741091"/>
            <a:ext cx="5076528" cy="173633"/>
          </a:xfrm>
          <a:prstGeom prst="rect">
            <a:avLst/>
          </a:prstGeom>
          <a:noFill/>
          <a:ln/>
        </p:spPr>
        <p:txBody>
          <a:bodyPr wrap="non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Modern test runner for fast, reliable frontend testing with excellent developer feedback.</a:t>
            </a:r>
            <a:endParaRPr lang="en-US" sz="958" dirty="0"/>
          </a:p>
        </p:txBody>
      </p:sp>
      <p:sp>
        <p:nvSpPr>
          <p:cNvPr id="13" name="Text 11"/>
          <p:cNvSpPr/>
          <p:nvPr/>
        </p:nvSpPr>
        <p:spPr>
          <a:xfrm>
            <a:off x="6317258" y="1970485"/>
            <a:ext cx="5076528" cy="585986"/>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Runs in the browser with automatic waiting</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Strong debugging through snapshots and time travel</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Ideal for component and end-to-end testing in JavaScript apps</a:t>
            </a:r>
            <a:endParaRPr lang="en-US" sz="958" dirty="0"/>
          </a:p>
        </p:txBody>
      </p:sp>
      <p:sp>
        <p:nvSpPr>
          <p:cNvPr id="14" name="Shape 12"/>
          <p:cNvSpPr/>
          <p:nvPr/>
        </p:nvSpPr>
        <p:spPr>
          <a:xfrm>
            <a:off x="661492" y="2959795"/>
            <a:ext cx="5387975" cy="1511994"/>
          </a:xfrm>
          <a:prstGeom prst="roundRect">
            <a:avLst>
              <a:gd name="adj" fmla="val 4032"/>
            </a:avLst>
          </a:prstGeom>
          <a:solidFill>
            <a:srgbClr val="FFFFFF">
              <a:alpha val="95000"/>
            </a:srgbClr>
          </a:solidFill>
          <a:ln w="15240">
            <a:solidFill>
              <a:srgbClr val="C7C7D0"/>
            </a:solidFill>
            <a:prstDash val="solid"/>
          </a:ln>
        </p:spPr>
      </p:sp>
      <p:sp>
        <p:nvSpPr>
          <p:cNvPr id="15" name="Shape 13"/>
          <p:cNvSpPr/>
          <p:nvPr/>
        </p:nvSpPr>
        <p:spPr>
          <a:xfrm>
            <a:off x="648792" y="2959795"/>
            <a:ext cx="50800" cy="1511994"/>
          </a:xfrm>
          <a:prstGeom prst="roundRect">
            <a:avLst>
              <a:gd name="adj" fmla="val 102558"/>
            </a:avLst>
          </a:prstGeom>
          <a:solidFill>
            <a:srgbClr val="1B1B27"/>
          </a:solidFill>
          <a:ln/>
        </p:spPr>
      </p:sp>
      <p:sp>
        <p:nvSpPr>
          <p:cNvPr id="16" name="Text 14"/>
          <p:cNvSpPr/>
          <p:nvPr/>
        </p:nvSpPr>
        <p:spPr>
          <a:xfrm>
            <a:off x="836315" y="3096519"/>
            <a:ext cx="1550492" cy="193774"/>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Postman</a:t>
            </a:r>
            <a:endParaRPr lang="en-US" sz="1208" dirty="0"/>
          </a:p>
        </p:txBody>
      </p:sp>
      <p:sp>
        <p:nvSpPr>
          <p:cNvPr id="17" name="Text 15"/>
          <p:cNvSpPr/>
          <p:nvPr/>
        </p:nvSpPr>
        <p:spPr>
          <a:xfrm>
            <a:off x="836315" y="3346054"/>
            <a:ext cx="5076428" cy="173633"/>
          </a:xfrm>
          <a:prstGeom prst="rect">
            <a:avLst/>
          </a:prstGeom>
          <a:noFill/>
          <a:ln/>
        </p:spPr>
        <p:txBody>
          <a:bodyPr wrap="non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API development and testing platform for validating REST and GraphQL services.</a:t>
            </a:r>
            <a:endParaRPr lang="en-US" sz="958" dirty="0"/>
          </a:p>
        </p:txBody>
      </p:sp>
      <p:sp>
        <p:nvSpPr>
          <p:cNvPr id="18" name="Text 16"/>
          <p:cNvSpPr/>
          <p:nvPr/>
        </p:nvSpPr>
        <p:spPr>
          <a:xfrm>
            <a:off x="836315" y="3575447"/>
            <a:ext cx="5076428" cy="585986"/>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Create reusable collections and environments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Automate API checks with Newman in CI/CD</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Useful for contract checks, smoke tests, and documentation</a:t>
            </a:r>
            <a:endParaRPr lang="en-US" sz="958" dirty="0"/>
          </a:p>
        </p:txBody>
      </p:sp>
      <p:sp>
        <p:nvSpPr>
          <p:cNvPr id="19" name="Shape 17"/>
          <p:cNvSpPr/>
          <p:nvPr/>
        </p:nvSpPr>
        <p:spPr>
          <a:xfrm>
            <a:off x="6142435" y="2959795"/>
            <a:ext cx="5388074" cy="1511994"/>
          </a:xfrm>
          <a:prstGeom prst="roundRect">
            <a:avLst>
              <a:gd name="adj" fmla="val 4032"/>
            </a:avLst>
          </a:prstGeom>
          <a:solidFill>
            <a:srgbClr val="FFFFFF">
              <a:alpha val="95000"/>
            </a:srgbClr>
          </a:solidFill>
          <a:ln w="15240">
            <a:solidFill>
              <a:srgbClr val="C7C7D0"/>
            </a:solidFill>
            <a:prstDash val="solid"/>
          </a:ln>
        </p:spPr>
      </p:sp>
      <p:sp>
        <p:nvSpPr>
          <p:cNvPr id="20" name="Shape 18"/>
          <p:cNvSpPr/>
          <p:nvPr/>
        </p:nvSpPr>
        <p:spPr>
          <a:xfrm>
            <a:off x="6129734" y="2959795"/>
            <a:ext cx="50800" cy="1511994"/>
          </a:xfrm>
          <a:prstGeom prst="roundRect">
            <a:avLst>
              <a:gd name="adj" fmla="val 102558"/>
            </a:avLst>
          </a:prstGeom>
          <a:solidFill>
            <a:srgbClr val="1B1B27"/>
          </a:solidFill>
          <a:ln/>
        </p:spPr>
      </p:sp>
      <p:sp>
        <p:nvSpPr>
          <p:cNvPr id="21" name="Text 19"/>
          <p:cNvSpPr/>
          <p:nvPr/>
        </p:nvSpPr>
        <p:spPr>
          <a:xfrm>
            <a:off x="6317257" y="3096519"/>
            <a:ext cx="1550492" cy="193774"/>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JMeter</a:t>
            </a:r>
            <a:endParaRPr lang="en-US" sz="1208" dirty="0"/>
          </a:p>
        </p:txBody>
      </p:sp>
      <p:sp>
        <p:nvSpPr>
          <p:cNvPr id="22" name="Text 20"/>
          <p:cNvSpPr/>
          <p:nvPr/>
        </p:nvSpPr>
        <p:spPr>
          <a:xfrm>
            <a:off x="6317258" y="3346054"/>
            <a:ext cx="5076528" cy="347266"/>
          </a:xfrm>
          <a:prstGeom prst="rect">
            <a:avLst/>
          </a:prstGeom>
          <a:noFill/>
          <a:ln/>
        </p:spPr>
        <p:txBody>
          <a:bodyPr wrap="squar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Load and performance testing tool for simulating traffic and measuring system behavior at scale.</a:t>
            </a:r>
            <a:endParaRPr lang="en-US" sz="958" dirty="0"/>
          </a:p>
        </p:txBody>
      </p:sp>
      <p:sp>
        <p:nvSpPr>
          <p:cNvPr id="23" name="Text 21"/>
          <p:cNvSpPr/>
          <p:nvPr/>
        </p:nvSpPr>
        <p:spPr>
          <a:xfrm>
            <a:off x="6317258" y="3749080"/>
            <a:ext cx="5076528" cy="585986"/>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Supports distributed and high-concurrency tests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Measures latency, throughput, and error rates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Commonly used for web, API, and stress testing</a:t>
            </a:r>
            <a:endParaRPr lang="en-US" sz="958" dirty="0"/>
          </a:p>
        </p:txBody>
      </p:sp>
      <p:sp>
        <p:nvSpPr>
          <p:cNvPr id="24" name="Shape 22"/>
          <p:cNvSpPr/>
          <p:nvPr/>
        </p:nvSpPr>
        <p:spPr>
          <a:xfrm>
            <a:off x="661492" y="4564757"/>
            <a:ext cx="5387975" cy="1511994"/>
          </a:xfrm>
          <a:prstGeom prst="roundRect">
            <a:avLst>
              <a:gd name="adj" fmla="val 4032"/>
            </a:avLst>
          </a:prstGeom>
          <a:solidFill>
            <a:srgbClr val="FFFFFF">
              <a:alpha val="95000"/>
            </a:srgbClr>
          </a:solidFill>
          <a:ln w="15240">
            <a:solidFill>
              <a:srgbClr val="C7C7D0"/>
            </a:solidFill>
            <a:prstDash val="solid"/>
          </a:ln>
        </p:spPr>
      </p:sp>
      <p:sp>
        <p:nvSpPr>
          <p:cNvPr id="25" name="Shape 23"/>
          <p:cNvSpPr/>
          <p:nvPr/>
        </p:nvSpPr>
        <p:spPr>
          <a:xfrm>
            <a:off x="648792" y="4564757"/>
            <a:ext cx="50800" cy="1511994"/>
          </a:xfrm>
          <a:prstGeom prst="roundRect">
            <a:avLst>
              <a:gd name="adj" fmla="val 102558"/>
            </a:avLst>
          </a:prstGeom>
          <a:solidFill>
            <a:srgbClr val="1B1B27"/>
          </a:solidFill>
          <a:ln/>
        </p:spPr>
      </p:sp>
      <p:sp>
        <p:nvSpPr>
          <p:cNvPr id="26" name="Text 24"/>
          <p:cNvSpPr/>
          <p:nvPr/>
        </p:nvSpPr>
        <p:spPr>
          <a:xfrm>
            <a:off x="836315" y="4701481"/>
            <a:ext cx="1550492" cy="193774"/>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OWASP ZAP</a:t>
            </a:r>
            <a:endParaRPr lang="en-US" sz="1208" dirty="0"/>
          </a:p>
        </p:txBody>
      </p:sp>
      <p:sp>
        <p:nvSpPr>
          <p:cNvPr id="27" name="Text 25"/>
          <p:cNvSpPr/>
          <p:nvPr/>
        </p:nvSpPr>
        <p:spPr>
          <a:xfrm>
            <a:off x="836315" y="4951016"/>
            <a:ext cx="5076428" cy="347266"/>
          </a:xfrm>
          <a:prstGeom prst="rect">
            <a:avLst/>
          </a:prstGeom>
          <a:noFill/>
          <a:ln/>
        </p:spPr>
        <p:txBody>
          <a:bodyPr wrap="squar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Security testing tool for finding common web application vulnerabilities early in the delivery cycle.</a:t>
            </a:r>
            <a:endParaRPr lang="en-US" sz="958" dirty="0"/>
          </a:p>
        </p:txBody>
      </p:sp>
      <p:sp>
        <p:nvSpPr>
          <p:cNvPr id="28" name="Text 26"/>
          <p:cNvSpPr/>
          <p:nvPr/>
        </p:nvSpPr>
        <p:spPr>
          <a:xfrm>
            <a:off x="836315" y="5354043"/>
            <a:ext cx="5076428" cy="585986"/>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Performs spidering, passive scanning, and active scanning</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Helps detect XSS, insecure headers, and authentication issues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Useful in security-focused QA and DevSecOps workflows</a:t>
            </a:r>
            <a:endParaRPr lang="en-US" sz="958" dirty="0"/>
          </a:p>
        </p:txBody>
      </p:sp>
      <p:sp>
        <p:nvSpPr>
          <p:cNvPr id="29" name="Shape 27"/>
          <p:cNvSpPr/>
          <p:nvPr/>
        </p:nvSpPr>
        <p:spPr>
          <a:xfrm>
            <a:off x="6142435" y="4564757"/>
            <a:ext cx="5388074" cy="1511994"/>
          </a:xfrm>
          <a:prstGeom prst="roundRect">
            <a:avLst>
              <a:gd name="adj" fmla="val 4032"/>
            </a:avLst>
          </a:prstGeom>
          <a:solidFill>
            <a:srgbClr val="FFFFFF">
              <a:alpha val="95000"/>
            </a:srgbClr>
          </a:solidFill>
          <a:ln w="15240">
            <a:solidFill>
              <a:srgbClr val="C7C7D0"/>
            </a:solidFill>
            <a:prstDash val="solid"/>
          </a:ln>
        </p:spPr>
      </p:sp>
      <p:sp>
        <p:nvSpPr>
          <p:cNvPr id="30" name="Shape 28"/>
          <p:cNvSpPr/>
          <p:nvPr/>
        </p:nvSpPr>
        <p:spPr>
          <a:xfrm>
            <a:off x="6129734" y="4564757"/>
            <a:ext cx="50800" cy="1511994"/>
          </a:xfrm>
          <a:prstGeom prst="roundRect">
            <a:avLst>
              <a:gd name="adj" fmla="val 102558"/>
            </a:avLst>
          </a:prstGeom>
          <a:solidFill>
            <a:srgbClr val="1B1B27"/>
          </a:solidFill>
          <a:ln/>
        </p:spPr>
      </p:sp>
      <p:sp>
        <p:nvSpPr>
          <p:cNvPr id="31" name="Text 29"/>
          <p:cNvSpPr/>
          <p:nvPr/>
        </p:nvSpPr>
        <p:spPr>
          <a:xfrm>
            <a:off x="6317257" y="4701481"/>
            <a:ext cx="1550492" cy="193774"/>
          </a:xfrm>
          <a:prstGeom prst="rect">
            <a:avLst/>
          </a:prstGeom>
          <a:noFill/>
          <a:ln/>
        </p:spPr>
        <p:txBody>
          <a:bodyPr wrap="none" lIns="0" tIns="0" rIns="0" bIns="0" rtlCol="0" anchor="t"/>
          <a:lstStyle/>
          <a:p>
            <a:pPr>
              <a:lnSpc>
                <a:spcPts val="1500"/>
              </a:lnSpc>
            </a:pPr>
            <a:r>
              <a:rPr lang="en-US" sz="1208" dirty="0">
                <a:solidFill>
                  <a:srgbClr val="3C3939"/>
                </a:solidFill>
                <a:latin typeface="Raleway" pitchFamily="34" charset="0"/>
                <a:ea typeface="Raleway" pitchFamily="34" charset="-122"/>
                <a:cs typeface="Raleway" pitchFamily="34" charset="-120"/>
              </a:rPr>
              <a:t>Chrome DevTools</a:t>
            </a:r>
            <a:endParaRPr lang="en-US" sz="1208" dirty="0"/>
          </a:p>
        </p:txBody>
      </p:sp>
      <p:sp>
        <p:nvSpPr>
          <p:cNvPr id="32" name="Text 30"/>
          <p:cNvSpPr/>
          <p:nvPr/>
        </p:nvSpPr>
        <p:spPr>
          <a:xfrm>
            <a:off x="6317258" y="4951016"/>
            <a:ext cx="5076528" cy="347266"/>
          </a:xfrm>
          <a:prstGeom prst="rect">
            <a:avLst/>
          </a:prstGeom>
          <a:noFill/>
          <a:ln/>
        </p:spPr>
        <p:txBody>
          <a:bodyPr wrap="square" lIns="0" tIns="0" rIns="0" bIns="0" rtlCol="0" anchor="t"/>
          <a:lstStyle/>
          <a:p>
            <a:pPr>
              <a:lnSpc>
                <a:spcPts val="1333"/>
              </a:lnSpc>
            </a:pPr>
            <a:r>
              <a:rPr lang="en-US" sz="958" dirty="0">
                <a:solidFill>
                  <a:srgbClr val="3C3939"/>
                </a:solidFill>
                <a:latin typeface="Roboto" pitchFamily="34" charset="0"/>
                <a:ea typeface="Roboto" pitchFamily="34" charset="-122"/>
                <a:cs typeface="Roboto" pitchFamily="34" charset="-120"/>
              </a:rPr>
              <a:t>Built-in browser debugging toolkit for inspecting, profiling, and troubleshooting web applications.</a:t>
            </a:r>
            <a:endParaRPr lang="en-US" sz="958" dirty="0"/>
          </a:p>
        </p:txBody>
      </p:sp>
      <p:sp>
        <p:nvSpPr>
          <p:cNvPr id="33" name="Text 31"/>
          <p:cNvSpPr/>
          <p:nvPr/>
        </p:nvSpPr>
        <p:spPr>
          <a:xfrm>
            <a:off x="6317258" y="5354043"/>
            <a:ext cx="5076528" cy="585986"/>
          </a:xfrm>
          <a:prstGeom prst="rect">
            <a:avLst/>
          </a:prstGeom>
          <a:noFill/>
          <a:ln/>
        </p:spPr>
        <p:txBody>
          <a:bodyPr wrap="square" lIns="0" tIns="0" rIns="0" bIns="0" rtlCol="0" anchor="t"/>
          <a:lstStyle/>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Inspect HTML, CSS, network activity, and console output</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Profile performance and diagnose rendering issues</a:t>
            </a:r>
            <a:endParaRPr lang="en-US" sz="958" dirty="0"/>
          </a:p>
          <a:p>
            <a:pPr marL="285739" indent="-285739">
              <a:lnSpc>
                <a:spcPts val="1333"/>
              </a:lnSpc>
              <a:buSzPct val="100000"/>
              <a:buChar char="•"/>
            </a:pPr>
            <a:r>
              <a:rPr lang="en-US" sz="958" dirty="0">
                <a:solidFill>
                  <a:srgbClr val="3C3939"/>
                </a:solidFill>
                <a:latin typeface="Roboto" pitchFamily="34" charset="0"/>
                <a:ea typeface="Roboto" pitchFamily="34" charset="-122"/>
                <a:cs typeface="Roboto" pitchFamily="34" charset="-120"/>
              </a:rPr>
              <a:t>Essential for manual verification and front-end debugging</a:t>
            </a:r>
            <a:endParaRPr lang="en-US" sz="958" dirty="0"/>
          </a:p>
        </p:txBody>
      </p:sp>
      <p:sp>
        <p:nvSpPr>
          <p:cNvPr id="34" name="Text 32"/>
          <p:cNvSpPr/>
          <p:nvPr/>
        </p:nvSpPr>
        <p:spPr>
          <a:xfrm>
            <a:off x="661492" y="6181329"/>
            <a:ext cx="10869018" cy="173633"/>
          </a:xfrm>
          <a:prstGeom prst="rect">
            <a:avLst/>
          </a:prstGeom>
          <a:noFill/>
          <a:ln/>
        </p:spPr>
        <p:txBody>
          <a:bodyPr wrap="none" lIns="0" tIns="0" rIns="0" bIns="0" rtlCol="0" anchor="t"/>
          <a:lstStyle/>
          <a:p>
            <a:pPr>
              <a:lnSpc>
                <a:spcPts val="1333"/>
              </a:lnSpc>
            </a:pPr>
            <a:r>
              <a:rPr lang="en-US" sz="958" b="1" dirty="0">
                <a:solidFill>
                  <a:srgbClr val="3C3939"/>
                </a:solidFill>
                <a:latin typeface="Roboto" pitchFamily="34" charset="0"/>
                <a:ea typeface="Roboto" pitchFamily="34" charset="-122"/>
                <a:cs typeface="Roboto" pitchFamily="34" charset="-120"/>
              </a:rPr>
              <a:t>Tip:</a:t>
            </a:r>
            <a:r>
              <a:rPr lang="en-US" sz="958" dirty="0">
                <a:solidFill>
                  <a:srgbClr val="3C3939"/>
                </a:solidFill>
                <a:latin typeface="Roboto" pitchFamily="34" charset="0"/>
                <a:ea typeface="Roboto" pitchFamily="34" charset="-122"/>
                <a:cs typeface="Roboto" pitchFamily="34" charset="-120"/>
              </a:rPr>
              <a:t> Combine automation, API checks, performance testing, and browser debugging to cover the full web testing lifecycle.</a:t>
            </a:r>
            <a:endParaRPr lang="en-US" sz="95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60598"/>
            <a:ext cx="5599311" cy="516732"/>
          </a:xfrm>
          <a:prstGeom prst="rect">
            <a:avLst/>
          </a:prstGeom>
          <a:noFill/>
          <a:ln/>
        </p:spPr>
        <p:txBody>
          <a:bodyPr wrap="none" lIns="0" tIns="0" rIns="0" bIns="0" rtlCol="0" anchor="t"/>
          <a:lstStyle/>
          <a:p>
            <a:pPr>
              <a:lnSpc>
                <a:spcPts val="4042"/>
              </a:lnSpc>
            </a:pPr>
            <a:r>
              <a:rPr lang="en-US" sz="3250" dirty="0">
                <a:solidFill>
                  <a:srgbClr val="1B1B27"/>
                </a:solidFill>
                <a:latin typeface="Raleway" pitchFamily="34" charset="0"/>
                <a:ea typeface="Raleway" pitchFamily="34" charset="-122"/>
                <a:cs typeface="Raleway" pitchFamily="34" charset="-120"/>
              </a:rPr>
              <a:t>Real-World Testing Scenarios</a:t>
            </a:r>
            <a:endParaRPr lang="en-US" sz="3250" dirty="0"/>
          </a:p>
        </p:txBody>
      </p:sp>
      <p:sp>
        <p:nvSpPr>
          <p:cNvPr id="3" name="Shape 1"/>
          <p:cNvSpPr/>
          <p:nvPr/>
        </p:nvSpPr>
        <p:spPr>
          <a:xfrm>
            <a:off x="661492" y="1756073"/>
            <a:ext cx="5351859" cy="2013943"/>
          </a:xfrm>
          <a:prstGeom prst="roundRect">
            <a:avLst>
              <a:gd name="adj" fmla="val 4540"/>
            </a:avLst>
          </a:prstGeom>
          <a:solidFill>
            <a:srgbClr val="FFFFFF">
              <a:alpha val="95000"/>
            </a:srgbClr>
          </a:solidFill>
          <a:ln/>
        </p:spPr>
      </p:sp>
      <p:sp>
        <p:nvSpPr>
          <p:cNvPr id="4" name="Shape 2"/>
          <p:cNvSpPr/>
          <p:nvPr/>
        </p:nvSpPr>
        <p:spPr>
          <a:xfrm>
            <a:off x="661492" y="1737023"/>
            <a:ext cx="5351859" cy="76200"/>
          </a:xfrm>
          <a:prstGeom prst="roundRect">
            <a:avLst>
              <a:gd name="adj" fmla="val 91163"/>
            </a:avLst>
          </a:prstGeom>
          <a:solidFill>
            <a:srgbClr val="1B1B27"/>
          </a:solidFill>
          <a:ln/>
        </p:spPr>
      </p:sp>
      <p:sp>
        <p:nvSpPr>
          <p:cNvPr id="5" name="Shape 3"/>
          <p:cNvSpPr/>
          <p:nvPr/>
        </p:nvSpPr>
        <p:spPr>
          <a:xfrm>
            <a:off x="3089375" y="1508026"/>
            <a:ext cx="496094" cy="496094"/>
          </a:xfrm>
          <a:prstGeom prst="roundRect">
            <a:avLst>
              <a:gd name="adj" fmla="val 153600"/>
            </a:avLst>
          </a:prstGeom>
          <a:solidFill>
            <a:srgbClr val="1B1B27"/>
          </a:solidFill>
          <a:ln/>
        </p:spPr>
      </p:sp>
      <p:sp>
        <p:nvSpPr>
          <p:cNvPr id="6" name="Text 4"/>
          <p:cNvSpPr/>
          <p:nvPr/>
        </p:nvSpPr>
        <p:spPr>
          <a:xfrm>
            <a:off x="3238203" y="1632049"/>
            <a:ext cx="198438" cy="248047"/>
          </a:xfrm>
          <a:prstGeom prst="rect">
            <a:avLst/>
          </a:prstGeom>
          <a:noFill/>
          <a:ln/>
        </p:spPr>
        <p:txBody>
          <a:bodyPr wrap="none" lIns="0" tIns="0" rIns="0" bIns="0" rtlCol="0" anchor="t"/>
          <a:lstStyle/>
          <a:p>
            <a:pPr>
              <a:lnSpc>
                <a:spcPts val="2500"/>
              </a:lnSpc>
            </a:pPr>
            <a:r>
              <a:rPr lang="en-US" sz="1542" dirty="0">
                <a:solidFill>
                  <a:srgbClr val="FFFFFF"/>
                </a:solidFill>
                <a:latin typeface="Raleway" pitchFamily="34" charset="0"/>
                <a:ea typeface="Raleway" pitchFamily="34" charset="-122"/>
                <a:cs typeface="Raleway" pitchFamily="34" charset="-120"/>
              </a:rPr>
              <a:t>1</a:t>
            </a:r>
            <a:endParaRPr lang="en-US" sz="1542" dirty="0"/>
          </a:p>
        </p:txBody>
      </p:sp>
      <p:sp>
        <p:nvSpPr>
          <p:cNvPr id="7" name="Text 5"/>
          <p:cNvSpPr/>
          <p:nvPr/>
        </p:nvSpPr>
        <p:spPr>
          <a:xfrm>
            <a:off x="845840" y="2169518"/>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Login Authentication</a:t>
            </a:r>
            <a:endParaRPr lang="en-US" sz="1625" dirty="0"/>
          </a:p>
        </p:txBody>
      </p:sp>
      <p:sp>
        <p:nvSpPr>
          <p:cNvPr id="8" name="Text 6"/>
          <p:cNvSpPr/>
          <p:nvPr/>
        </p:nvSpPr>
        <p:spPr>
          <a:xfrm>
            <a:off x="845840" y="2527201"/>
            <a:ext cx="4983163"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Validate successful sign-in, invalid credentials, multi-factor authentication, password reset flows, account lockout rules, and session expiration. Confirm secure cookie handling, remember-me behavior, and logout across devices.</a:t>
            </a:r>
            <a:endParaRPr lang="en-US" sz="1292" dirty="0"/>
          </a:p>
        </p:txBody>
      </p:sp>
      <p:sp>
        <p:nvSpPr>
          <p:cNvPr id="9" name="Shape 7"/>
          <p:cNvSpPr/>
          <p:nvPr/>
        </p:nvSpPr>
        <p:spPr>
          <a:xfrm>
            <a:off x="6178650" y="1756073"/>
            <a:ext cx="5351859" cy="2013943"/>
          </a:xfrm>
          <a:prstGeom prst="roundRect">
            <a:avLst>
              <a:gd name="adj" fmla="val 4540"/>
            </a:avLst>
          </a:prstGeom>
          <a:solidFill>
            <a:srgbClr val="FFFFFF">
              <a:alpha val="95000"/>
            </a:srgbClr>
          </a:solidFill>
          <a:ln/>
        </p:spPr>
      </p:sp>
      <p:sp>
        <p:nvSpPr>
          <p:cNvPr id="10" name="Shape 8"/>
          <p:cNvSpPr/>
          <p:nvPr/>
        </p:nvSpPr>
        <p:spPr>
          <a:xfrm>
            <a:off x="6178650" y="1737023"/>
            <a:ext cx="5351859" cy="76200"/>
          </a:xfrm>
          <a:prstGeom prst="roundRect">
            <a:avLst>
              <a:gd name="adj" fmla="val 91163"/>
            </a:avLst>
          </a:prstGeom>
          <a:solidFill>
            <a:srgbClr val="1B1B27"/>
          </a:solidFill>
          <a:ln/>
        </p:spPr>
      </p:sp>
      <p:sp>
        <p:nvSpPr>
          <p:cNvPr id="11" name="Shape 9"/>
          <p:cNvSpPr/>
          <p:nvPr/>
        </p:nvSpPr>
        <p:spPr>
          <a:xfrm>
            <a:off x="8606532" y="1508026"/>
            <a:ext cx="496094" cy="496094"/>
          </a:xfrm>
          <a:prstGeom prst="roundRect">
            <a:avLst>
              <a:gd name="adj" fmla="val 153600"/>
            </a:avLst>
          </a:prstGeom>
          <a:solidFill>
            <a:srgbClr val="1B1B27"/>
          </a:solidFill>
          <a:ln/>
        </p:spPr>
      </p:sp>
      <p:sp>
        <p:nvSpPr>
          <p:cNvPr id="12" name="Text 10"/>
          <p:cNvSpPr/>
          <p:nvPr/>
        </p:nvSpPr>
        <p:spPr>
          <a:xfrm>
            <a:off x="8755360" y="1632049"/>
            <a:ext cx="198438" cy="248047"/>
          </a:xfrm>
          <a:prstGeom prst="rect">
            <a:avLst/>
          </a:prstGeom>
          <a:noFill/>
          <a:ln/>
        </p:spPr>
        <p:txBody>
          <a:bodyPr wrap="none" lIns="0" tIns="0" rIns="0" bIns="0" rtlCol="0" anchor="t"/>
          <a:lstStyle/>
          <a:p>
            <a:pPr>
              <a:lnSpc>
                <a:spcPts val="2500"/>
              </a:lnSpc>
            </a:pPr>
            <a:r>
              <a:rPr lang="en-US" sz="1542" dirty="0">
                <a:solidFill>
                  <a:srgbClr val="FFFFFF"/>
                </a:solidFill>
                <a:latin typeface="Raleway" pitchFamily="34" charset="0"/>
                <a:ea typeface="Raleway" pitchFamily="34" charset="-122"/>
                <a:cs typeface="Raleway" pitchFamily="34" charset="-120"/>
              </a:rPr>
              <a:t>2</a:t>
            </a:r>
            <a:endParaRPr lang="en-US" sz="1542" dirty="0"/>
          </a:p>
        </p:txBody>
      </p:sp>
      <p:sp>
        <p:nvSpPr>
          <p:cNvPr id="13" name="Text 11"/>
          <p:cNvSpPr/>
          <p:nvPr/>
        </p:nvSpPr>
        <p:spPr>
          <a:xfrm>
            <a:off x="6362998" y="2169518"/>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Form Validation</a:t>
            </a:r>
            <a:endParaRPr lang="en-US" sz="1625" dirty="0"/>
          </a:p>
        </p:txBody>
      </p:sp>
      <p:sp>
        <p:nvSpPr>
          <p:cNvPr id="14" name="Text 12"/>
          <p:cNvSpPr/>
          <p:nvPr/>
        </p:nvSpPr>
        <p:spPr>
          <a:xfrm>
            <a:off x="6362998" y="2527201"/>
            <a:ext cx="4983163"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Test required inputs, field formats, boundary values, inline error messaging, and submission success states. Verify both client-side and server-side validation, including duplicate records, malicious input, and file upload constraints.</a:t>
            </a:r>
            <a:endParaRPr lang="en-US" sz="1292" dirty="0"/>
          </a:p>
        </p:txBody>
      </p:sp>
      <p:sp>
        <p:nvSpPr>
          <p:cNvPr id="15" name="Shape 13"/>
          <p:cNvSpPr/>
          <p:nvPr/>
        </p:nvSpPr>
        <p:spPr>
          <a:xfrm>
            <a:off x="661492" y="4183360"/>
            <a:ext cx="5351859" cy="2013943"/>
          </a:xfrm>
          <a:prstGeom prst="roundRect">
            <a:avLst>
              <a:gd name="adj" fmla="val 4540"/>
            </a:avLst>
          </a:prstGeom>
          <a:solidFill>
            <a:srgbClr val="FFFFFF">
              <a:alpha val="95000"/>
            </a:srgbClr>
          </a:solidFill>
          <a:ln/>
        </p:spPr>
      </p:sp>
      <p:sp>
        <p:nvSpPr>
          <p:cNvPr id="16" name="Shape 14"/>
          <p:cNvSpPr/>
          <p:nvPr/>
        </p:nvSpPr>
        <p:spPr>
          <a:xfrm>
            <a:off x="661492" y="4164310"/>
            <a:ext cx="5351859" cy="76200"/>
          </a:xfrm>
          <a:prstGeom prst="roundRect">
            <a:avLst>
              <a:gd name="adj" fmla="val 91163"/>
            </a:avLst>
          </a:prstGeom>
          <a:solidFill>
            <a:srgbClr val="1B1B27"/>
          </a:solidFill>
          <a:ln/>
        </p:spPr>
      </p:sp>
      <p:sp>
        <p:nvSpPr>
          <p:cNvPr id="17" name="Shape 15"/>
          <p:cNvSpPr/>
          <p:nvPr/>
        </p:nvSpPr>
        <p:spPr>
          <a:xfrm>
            <a:off x="3089375" y="3935314"/>
            <a:ext cx="496094" cy="496094"/>
          </a:xfrm>
          <a:prstGeom prst="roundRect">
            <a:avLst>
              <a:gd name="adj" fmla="val 153600"/>
            </a:avLst>
          </a:prstGeom>
          <a:solidFill>
            <a:srgbClr val="1B1B27"/>
          </a:solidFill>
          <a:ln/>
        </p:spPr>
      </p:sp>
      <p:sp>
        <p:nvSpPr>
          <p:cNvPr id="18" name="Text 16"/>
          <p:cNvSpPr/>
          <p:nvPr/>
        </p:nvSpPr>
        <p:spPr>
          <a:xfrm>
            <a:off x="3238203" y="4059337"/>
            <a:ext cx="198438" cy="248047"/>
          </a:xfrm>
          <a:prstGeom prst="rect">
            <a:avLst/>
          </a:prstGeom>
          <a:noFill/>
          <a:ln/>
        </p:spPr>
        <p:txBody>
          <a:bodyPr wrap="none" lIns="0" tIns="0" rIns="0" bIns="0" rtlCol="0" anchor="t"/>
          <a:lstStyle/>
          <a:p>
            <a:pPr>
              <a:lnSpc>
                <a:spcPts val="2500"/>
              </a:lnSpc>
            </a:pPr>
            <a:r>
              <a:rPr lang="en-US" sz="1542" dirty="0">
                <a:solidFill>
                  <a:srgbClr val="FFFFFF"/>
                </a:solidFill>
                <a:latin typeface="Raleway" pitchFamily="34" charset="0"/>
                <a:ea typeface="Raleway" pitchFamily="34" charset="-122"/>
                <a:cs typeface="Raleway" pitchFamily="34" charset="-120"/>
              </a:rPr>
              <a:t>3</a:t>
            </a:r>
            <a:endParaRPr lang="en-US" sz="1542" dirty="0"/>
          </a:p>
        </p:txBody>
      </p:sp>
      <p:sp>
        <p:nvSpPr>
          <p:cNvPr id="19" name="Text 17"/>
          <p:cNvSpPr/>
          <p:nvPr/>
        </p:nvSpPr>
        <p:spPr>
          <a:xfrm>
            <a:off x="845840" y="4596805"/>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API Endpoints</a:t>
            </a:r>
            <a:endParaRPr lang="en-US" sz="1625" dirty="0"/>
          </a:p>
        </p:txBody>
      </p:sp>
      <p:sp>
        <p:nvSpPr>
          <p:cNvPr id="20" name="Text 18"/>
          <p:cNvSpPr/>
          <p:nvPr/>
        </p:nvSpPr>
        <p:spPr>
          <a:xfrm>
            <a:off x="845840" y="4954489"/>
            <a:ext cx="4983163"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Exercise GET, POST, PUT, PATCH, and DELETE requests. Validate status codes, payload schemas, authentication and authorization, pagination, rate limits, idempotency, and failure responses for missing or malformed data.</a:t>
            </a:r>
            <a:endParaRPr lang="en-US" sz="1292" dirty="0"/>
          </a:p>
        </p:txBody>
      </p:sp>
      <p:sp>
        <p:nvSpPr>
          <p:cNvPr id="21" name="Shape 19"/>
          <p:cNvSpPr/>
          <p:nvPr/>
        </p:nvSpPr>
        <p:spPr>
          <a:xfrm>
            <a:off x="6178650" y="4183360"/>
            <a:ext cx="5351859" cy="2013943"/>
          </a:xfrm>
          <a:prstGeom prst="roundRect">
            <a:avLst>
              <a:gd name="adj" fmla="val 4540"/>
            </a:avLst>
          </a:prstGeom>
          <a:solidFill>
            <a:srgbClr val="FFFFFF">
              <a:alpha val="95000"/>
            </a:srgbClr>
          </a:solidFill>
          <a:ln/>
        </p:spPr>
      </p:sp>
      <p:sp>
        <p:nvSpPr>
          <p:cNvPr id="22" name="Shape 20"/>
          <p:cNvSpPr/>
          <p:nvPr/>
        </p:nvSpPr>
        <p:spPr>
          <a:xfrm>
            <a:off x="6178650" y="4164310"/>
            <a:ext cx="5351859" cy="76200"/>
          </a:xfrm>
          <a:prstGeom prst="roundRect">
            <a:avLst>
              <a:gd name="adj" fmla="val 91163"/>
            </a:avLst>
          </a:prstGeom>
          <a:solidFill>
            <a:srgbClr val="1B1B27"/>
          </a:solidFill>
          <a:ln/>
        </p:spPr>
      </p:sp>
      <p:sp>
        <p:nvSpPr>
          <p:cNvPr id="23" name="Shape 21"/>
          <p:cNvSpPr/>
          <p:nvPr/>
        </p:nvSpPr>
        <p:spPr>
          <a:xfrm>
            <a:off x="8606532" y="3935314"/>
            <a:ext cx="496094" cy="496094"/>
          </a:xfrm>
          <a:prstGeom prst="roundRect">
            <a:avLst>
              <a:gd name="adj" fmla="val 153600"/>
            </a:avLst>
          </a:prstGeom>
          <a:solidFill>
            <a:srgbClr val="1B1B27"/>
          </a:solidFill>
          <a:ln/>
        </p:spPr>
      </p:sp>
      <p:sp>
        <p:nvSpPr>
          <p:cNvPr id="24" name="Text 22"/>
          <p:cNvSpPr/>
          <p:nvPr/>
        </p:nvSpPr>
        <p:spPr>
          <a:xfrm>
            <a:off x="8755360" y="4059337"/>
            <a:ext cx="198438" cy="248047"/>
          </a:xfrm>
          <a:prstGeom prst="rect">
            <a:avLst/>
          </a:prstGeom>
          <a:noFill/>
          <a:ln/>
        </p:spPr>
        <p:txBody>
          <a:bodyPr wrap="none" lIns="0" tIns="0" rIns="0" bIns="0" rtlCol="0" anchor="t"/>
          <a:lstStyle/>
          <a:p>
            <a:pPr>
              <a:lnSpc>
                <a:spcPts val="2500"/>
              </a:lnSpc>
            </a:pPr>
            <a:r>
              <a:rPr lang="en-US" sz="1542" dirty="0">
                <a:solidFill>
                  <a:srgbClr val="FFFFFF"/>
                </a:solidFill>
                <a:latin typeface="Raleway" pitchFamily="34" charset="0"/>
                <a:ea typeface="Raleway" pitchFamily="34" charset="-122"/>
                <a:cs typeface="Raleway" pitchFamily="34" charset="-120"/>
              </a:rPr>
              <a:t>4</a:t>
            </a:r>
            <a:endParaRPr lang="en-US" sz="1542" dirty="0"/>
          </a:p>
        </p:txBody>
      </p:sp>
      <p:sp>
        <p:nvSpPr>
          <p:cNvPr id="25" name="Text 23"/>
          <p:cNvSpPr/>
          <p:nvPr/>
        </p:nvSpPr>
        <p:spPr>
          <a:xfrm>
            <a:off x="6362997" y="4596805"/>
            <a:ext cx="2128937"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UI Component Testing</a:t>
            </a:r>
            <a:endParaRPr lang="en-US" sz="1625" dirty="0"/>
          </a:p>
        </p:txBody>
      </p:sp>
      <p:sp>
        <p:nvSpPr>
          <p:cNvPr id="26" name="Text 24"/>
          <p:cNvSpPr/>
          <p:nvPr/>
        </p:nvSpPr>
        <p:spPr>
          <a:xfrm>
            <a:off x="6362998" y="4954489"/>
            <a:ext cx="4983163"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Check responsive behavior across devices, browser compatibility, keyboard navigation, focus states, ARIA attributes, contrast, and screen-reader support. Confirm localization, date and number formats, and right-to-left rendering where applicable.</a:t>
            </a:r>
            <a:endParaRPr lang="en-US" sz="129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3656" y="642640"/>
            <a:ext cx="2692103" cy="260747"/>
          </a:xfrm>
          <a:prstGeom prst="rect">
            <a:avLst/>
          </a:prstGeom>
          <a:noFill/>
          <a:ln/>
        </p:spPr>
        <p:txBody>
          <a:bodyPr wrap="none" lIns="0" tIns="0" rIns="0" bIns="0" rtlCol="0" anchor="t"/>
          <a:lstStyle/>
          <a:p>
            <a:pPr>
              <a:lnSpc>
                <a:spcPts val="2042"/>
              </a:lnSpc>
            </a:pPr>
            <a:r>
              <a:rPr lang="en-US" sz="1625" dirty="0">
                <a:solidFill>
                  <a:srgbClr val="1B1B27"/>
                </a:solidFill>
                <a:latin typeface="Raleway" pitchFamily="34" charset="0"/>
                <a:ea typeface="Raleway" pitchFamily="34" charset="-122"/>
                <a:cs typeface="Raleway" pitchFamily="34" charset="-120"/>
              </a:rPr>
              <a:t>Automation Code Examples</a:t>
            </a:r>
            <a:endParaRPr lang="en-US" sz="1625" dirty="0"/>
          </a:p>
        </p:txBody>
      </p:sp>
      <p:sp>
        <p:nvSpPr>
          <p:cNvPr id="3" name="Text 1"/>
          <p:cNvSpPr/>
          <p:nvPr/>
        </p:nvSpPr>
        <p:spPr>
          <a:xfrm>
            <a:off x="513656" y="987624"/>
            <a:ext cx="11164689" cy="100409"/>
          </a:xfrm>
          <a:prstGeom prst="rect">
            <a:avLst/>
          </a:prstGeom>
          <a:noFill/>
          <a:ln/>
        </p:spPr>
        <p:txBody>
          <a:bodyPr wrap="none" lIns="0" tIns="0" rIns="0" bIns="0" rtlCol="0" anchor="t"/>
          <a:lstStyle/>
          <a:p>
            <a:pPr>
              <a:lnSpc>
                <a:spcPts val="750"/>
              </a:lnSpc>
            </a:pPr>
            <a:r>
              <a:rPr lang="en-US" sz="875" dirty="0">
                <a:solidFill>
                  <a:srgbClr val="3C3939"/>
                </a:solidFill>
                <a:latin typeface="Roboto" pitchFamily="34" charset="0"/>
                <a:ea typeface="Roboto" pitchFamily="34" charset="-122"/>
                <a:cs typeface="Roboto" pitchFamily="34" charset="-120"/>
              </a:rPr>
              <a:t>Practical code snippets demonstrating common testing patterns with Selenium, JUnit, and API testing.</a:t>
            </a:r>
            <a:endParaRPr lang="en-US" sz="875" dirty="0"/>
          </a:p>
        </p:txBody>
      </p:sp>
      <p:sp>
        <p:nvSpPr>
          <p:cNvPr id="4" name="Text 2"/>
          <p:cNvSpPr/>
          <p:nvPr/>
        </p:nvSpPr>
        <p:spPr>
          <a:xfrm>
            <a:off x="513656" y="1273429"/>
            <a:ext cx="1286272" cy="130473"/>
          </a:xfrm>
          <a:prstGeom prst="rect">
            <a:avLst/>
          </a:prstGeom>
          <a:noFill/>
          <a:ln/>
        </p:spPr>
        <p:txBody>
          <a:bodyPr wrap="none" lIns="0" tIns="0" rIns="0" bIns="0" rtlCol="0" anchor="t"/>
          <a:lstStyle/>
          <a:p>
            <a:pPr>
              <a:lnSpc>
                <a:spcPts val="1000"/>
              </a:lnSpc>
            </a:pPr>
            <a:r>
              <a:rPr lang="en-US" sz="1000" dirty="0">
                <a:solidFill>
                  <a:srgbClr val="1B1B27"/>
                </a:solidFill>
                <a:latin typeface="Raleway" pitchFamily="34" charset="0"/>
                <a:ea typeface="Raleway" pitchFamily="34" charset="-122"/>
                <a:cs typeface="Raleway" pitchFamily="34" charset="-120"/>
              </a:rPr>
              <a:t>Selenium WebDriver (Java)</a:t>
            </a:r>
            <a:endParaRPr lang="en-US" sz="1000" dirty="0"/>
          </a:p>
        </p:txBody>
      </p:sp>
      <p:sp>
        <p:nvSpPr>
          <p:cNvPr id="5" name="Text 3"/>
          <p:cNvSpPr/>
          <p:nvPr/>
        </p:nvSpPr>
        <p:spPr>
          <a:xfrm>
            <a:off x="513656" y="1439971"/>
            <a:ext cx="5480546" cy="100409"/>
          </a:xfrm>
          <a:prstGeom prst="rect">
            <a:avLst/>
          </a:prstGeom>
          <a:noFill/>
          <a:ln/>
        </p:spPr>
        <p:txBody>
          <a:bodyPr wrap="none" lIns="0" tIns="0" rIns="0" bIns="0" rtlCol="0" anchor="t"/>
          <a:lstStyle/>
          <a:p>
            <a:pPr>
              <a:lnSpc>
                <a:spcPts val="750"/>
              </a:lnSpc>
            </a:pPr>
            <a:r>
              <a:rPr lang="en-US" sz="875" dirty="0">
                <a:solidFill>
                  <a:srgbClr val="3C3939"/>
                </a:solidFill>
                <a:latin typeface="Roboto" pitchFamily="34" charset="0"/>
                <a:ea typeface="Roboto" pitchFamily="34" charset="-122"/>
                <a:cs typeface="Roboto" pitchFamily="34" charset="-120"/>
              </a:rPr>
              <a:t>End-to-end browser automation for login flows, element interaction, and post-login verification.</a:t>
            </a:r>
            <a:endParaRPr lang="en-US" sz="875" dirty="0"/>
          </a:p>
        </p:txBody>
      </p:sp>
      <p:sp>
        <p:nvSpPr>
          <p:cNvPr id="6" name="Shape 4"/>
          <p:cNvSpPr/>
          <p:nvPr/>
        </p:nvSpPr>
        <p:spPr>
          <a:xfrm>
            <a:off x="513657" y="1641707"/>
            <a:ext cx="3578345" cy="1430338"/>
          </a:xfrm>
          <a:prstGeom prst="roundRect">
            <a:avLst>
              <a:gd name="adj" fmla="val 2451"/>
            </a:avLst>
          </a:prstGeom>
          <a:solidFill>
            <a:srgbClr val="F2F2F2"/>
          </a:solidFill>
          <a:ln/>
        </p:spPr>
      </p:sp>
      <p:sp>
        <p:nvSpPr>
          <p:cNvPr id="7" name="Shape 5"/>
          <p:cNvSpPr/>
          <p:nvPr/>
        </p:nvSpPr>
        <p:spPr>
          <a:xfrm>
            <a:off x="509489" y="1641707"/>
            <a:ext cx="5154511" cy="2000748"/>
          </a:xfrm>
          <a:prstGeom prst="roundRect">
            <a:avLst>
              <a:gd name="adj" fmla="val 875"/>
            </a:avLst>
          </a:prstGeom>
          <a:solidFill>
            <a:srgbClr val="F2F2F2"/>
          </a:solidFill>
          <a:ln/>
        </p:spPr>
      </p:sp>
      <p:sp>
        <p:nvSpPr>
          <p:cNvPr id="8" name="Text 6"/>
          <p:cNvSpPr/>
          <p:nvPr/>
        </p:nvSpPr>
        <p:spPr>
          <a:xfrm>
            <a:off x="592932" y="1704215"/>
            <a:ext cx="5321994" cy="1305322"/>
          </a:xfrm>
          <a:prstGeom prst="rect">
            <a:avLst/>
          </a:prstGeom>
          <a:noFill/>
          <a:ln/>
        </p:spPr>
        <p:txBody>
          <a:bodyPr wrap="square" lIns="0" tIns="0" rIns="0" bIns="0" rtlCol="0" anchor="t"/>
          <a:lstStyle/>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WebDriver driver = new ChromeDriver();</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WebDriverWait wait = new WebDriverWait(driver, Duration.ofSeconds(10));</a:t>
            </a:r>
            <a:endParaRPr lang="en-US" sz="917" dirty="0">
              <a:latin typeface="Courier New" panose="02070309020205020404" pitchFamily="49" charset="0"/>
              <a:cs typeface="Courier New" panose="02070309020205020404" pitchFamily="49" charset="0"/>
            </a:endParaRPr>
          </a:p>
          <a:p>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driver.get("https://example.com/login");</a:t>
            </a:r>
            <a:endParaRPr lang="en-US" sz="917" dirty="0">
              <a:latin typeface="Courier New" panose="02070309020205020404" pitchFamily="49" charset="0"/>
              <a:cs typeface="Courier New" panose="02070309020205020404" pitchFamily="49" charset="0"/>
            </a:endParaRPr>
          </a:p>
          <a:p>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driver.findElement(By.id("username")).sendKeys("testuser");</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driver.findElement(By.id("password")).sendKeys("password123");</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driver.findElement(By.id("loginBtn")).click();</a:t>
            </a:r>
            <a:endParaRPr lang="en-US" sz="917" dirty="0">
              <a:latin typeface="Courier New" panose="02070309020205020404" pitchFamily="49" charset="0"/>
              <a:cs typeface="Courier New" panose="02070309020205020404" pitchFamily="49" charset="0"/>
            </a:endParaRPr>
          </a:p>
          <a:p>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wait.until(ExpectedConditions.titleContains("Dashboard"));</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Assert.assertTrue(driver.getCurrentUrl().contains("/dashboard"));</a:t>
            </a:r>
            <a:endParaRPr lang="en-US" sz="917" dirty="0">
              <a:latin typeface="Courier New" panose="02070309020205020404" pitchFamily="49" charset="0"/>
              <a:cs typeface="Courier New" panose="02070309020205020404" pitchFamily="49" charset="0"/>
            </a:endParaRPr>
          </a:p>
          <a:p>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driver.quit();</a:t>
            </a:r>
            <a:endParaRPr lang="en-US" sz="917" dirty="0">
              <a:latin typeface="Courier New" panose="02070309020205020404" pitchFamily="49" charset="0"/>
              <a:cs typeface="Courier New" panose="02070309020205020404" pitchFamily="49" charset="0"/>
            </a:endParaRPr>
          </a:p>
        </p:txBody>
      </p:sp>
      <p:sp>
        <p:nvSpPr>
          <p:cNvPr id="9" name="Text 7"/>
          <p:cNvSpPr/>
          <p:nvPr/>
        </p:nvSpPr>
        <p:spPr>
          <a:xfrm>
            <a:off x="6204148" y="961429"/>
            <a:ext cx="1043285" cy="130473"/>
          </a:xfrm>
          <a:prstGeom prst="rect">
            <a:avLst/>
          </a:prstGeom>
          <a:noFill/>
          <a:ln/>
        </p:spPr>
        <p:txBody>
          <a:bodyPr wrap="none" lIns="0" tIns="0" rIns="0" bIns="0" rtlCol="0" anchor="t"/>
          <a:lstStyle/>
          <a:p>
            <a:pPr>
              <a:lnSpc>
                <a:spcPts val="1000"/>
              </a:lnSpc>
            </a:pPr>
            <a:r>
              <a:rPr lang="en-US" sz="1000" dirty="0">
                <a:solidFill>
                  <a:srgbClr val="1B1B27"/>
                </a:solidFill>
                <a:latin typeface="Raleway" pitchFamily="34" charset="0"/>
                <a:ea typeface="Raleway" pitchFamily="34" charset="-122"/>
                <a:cs typeface="Raleway" pitchFamily="34" charset="-120"/>
              </a:rPr>
              <a:t>JUnit Test Example</a:t>
            </a:r>
            <a:endParaRPr lang="en-US" sz="1000" dirty="0"/>
          </a:p>
        </p:txBody>
      </p:sp>
      <p:sp>
        <p:nvSpPr>
          <p:cNvPr id="10" name="Text 8"/>
          <p:cNvSpPr/>
          <p:nvPr/>
        </p:nvSpPr>
        <p:spPr>
          <a:xfrm>
            <a:off x="6204149" y="1145971"/>
            <a:ext cx="5480546" cy="100409"/>
          </a:xfrm>
          <a:prstGeom prst="rect">
            <a:avLst/>
          </a:prstGeom>
          <a:noFill/>
          <a:ln/>
        </p:spPr>
        <p:txBody>
          <a:bodyPr wrap="none" lIns="0" tIns="0" rIns="0" bIns="0" rtlCol="0" anchor="t"/>
          <a:lstStyle/>
          <a:p>
            <a:pPr>
              <a:lnSpc>
                <a:spcPts val="750"/>
              </a:lnSpc>
            </a:pPr>
            <a:r>
              <a:rPr lang="en-US" sz="875" dirty="0">
                <a:solidFill>
                  <a:srgbClr val="3C3939"/>
                </a:solidFill>
                <a:latin typeface="Roboto" pitchFamily="34" charset="0"/>
                <a:ea typeface="Roboto" pitchFamily="34" charset="-122"/>
                <a:cs typeface="Roboto" pitchFamily="34" charset="-120"/>
              </a:rPr>
              <a:t>Unit-level verification for registration logic, validation rules, and exception handling.</a:t>
            </a:r>
            <a:endParaRPr lang="en-US" sz="875" dirty="0"/>
          </a:p>
        </p:txBody>
      </p:sp>
      <p:sp>
        <p:nvSpPr>
          <p:cNvPr id="11" name="Shape 9"/>
          <p:cNvSpPr/>
          <p:nvPr/>
        </p:nvSpPr>
        <p:spPr>
          <a:xfrm>
            <a:off x="6204149" y="1497707"/>
            <a:ext cx="5480546" cy="2032793"/>
          </a:xfrm>
          <a:prstGeom prst="roundRect">
            <a:avLst>
              <a:gd name="adj" fmla="val 1725"/>
            </a:avLst>
          </a:prstGeom>
          <a:solidFill>
            <a:srgbClr val="F2F2F2"/>
          </a:solidFill>
          <a:ln/>
        </p:spPr>
      </p:sp>
      <p:sp>
        <p:nvSpPr>
          <p:cNvPr id="12" name="Shape 10"/>
          <p:cNvSpPr/>
          <p:nvPr/>
        </p:nvSpPr>
        <p:spPr>
          <a:xfrm>
            <a:off x="6199982" y="1281707"/>
            <a:ext cx="5488881" cy="2780293"/>
          </a:xfrm>
          <a:prstGeom prst="roundRect">
            <a:avLst>
              <a:gd name="adj" fmla="val 616"/>
            </a:avLst>
          </a:prstGeom>
          <a:solidFill>
            <a:srgbClr val="F2F2F2"/>
          </a:solidFill>
          <a:ln/>
        </p:spPr>
      </p:sp>
      <p:sp>
        <p:nvSpPr>
          <p:cNvPr id="13" name="Text 11"/>
          <p:cNvSpPr/>
          <p:nvPr/>
        </p:nvSpPr>
        <p:spPr>
          <a:xfrm>
            <a:off x="6283425" y="1344215"/>
            <a:ext cx="5321994" cy="2656053"/>
          </a:xfrm>
          <a:prstGeom prst="rect">
            <a:avLst/>
          </a:prstGeom>
          <a:noFill/>
          <a:ln/>
        </p:spPr>
        <p:txBody>
          <a:bodyPr wrap="square" lIns="0" tIns="0" rIns="0" bIns="0" rtlCol="0" anchor="t"/>
          <a:lstStyle/>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@Test</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public void testUserRegistration() {</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User user = new User();</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user.setEmail("test@example.com");</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user.setPassword("SecurePass123");</a:t>
            </a:r>
            <a:endParaRPr lang="en-US" sz="917" dirty="0">
              <a:latin typeface="Courier New" panose="02070309020205020404" pitchFamily="49" charset="0"/>
              <a:cs typeface="Courier New" panose="02070309020205020404" pitchFamily="49" charset="0"/>
            </a:endParaRPr>
          </a:p>
          <a:p>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boolean result = userService.register(user);</a:t>
            </a:r>
            <a:endParaRPr lang="en-US" sz="917" dirty="0">
              <a:latin typeface="Courier New" panose="02070309020205020404" pitchFamily="49" charset="0"/>
              <a:cs typeface="Courier New" panose="02070309020205020404" pitchFamily="49" charset="0"/>
            </a:endParaRPr>
          </a:p>
          <a:p>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assertTrue(result);</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assertNotNull(user.getId());</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assertEquals("test@example.com", user.getEmail());</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a:t>
            </a:r>
            <a:endParaRPr lang="en-US" sz="917" dirty="0">
              <a:latin typeface="Courier New" panose="02070309020205020404" pitchFamily="49" charset="0"/>
              <a:cs typeface="Courier New" panose="02070309020205020404" pitchFamily="49" charset="0"/>
            </a:endParaRPr>
          </a:p>
          <a:p>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@Test(expected = InvalidEmailException.class)</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public void testInvalidEmail() {</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User user = new User();</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user.setEmail("invalid");</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userService.register(user);</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a:t>
            </a:r>
            <a:endParaRPr lang="en-US" sz="917" dirty="0">
              <a:latin typeface="Courier New" panose="02070309020205020404" pitchFamily="49" charset="0"/>
              <a:cs typeface="Courier New" panose="02070309020205020404" pitchFamily="49" charset="0"/>
            </a:endParaRPr>
          </a:p>
        </p:txBody>
      </p:sp>
      <p:sp>
        <p:nvSpPr>
          <p:cNvPr id="14" name="Text 12"/>
          <p:cNvSpPr/>
          <p:nvPr/>
        </p:nvSpPr>
        <p:spPr>
          <a:xfrm>
            <a:off x="513656" y="3898675"/>
            <a:ext cx="1391146" cy="130473"/>
          </a:xfrm>
          <a:prstGeom prst="rect">
            <a:avLst/>
          </a:prstGeom>
          <a:noFill/>
          <a:ln/>
        </p:spPr>
        <p:txBody>
          <a:bodyPr wrap="none" lIns="0" tIns="0" rIns="0" bIns="0" rtlCol="0" anchor="t"/>
          <a:lstStyle/>
          <a:p>
            <a:pPr>
              <a:lnSpc>
                <a:spcPts val="1000"/>
              </a:lnSpc>
            </a:pPr>
            <a:r>
              <a:rPr lang="en-US" sz="1000" dirty="0">
                <a:solidFill>
                  <a:srgbClr val="1B1B27"/>
                </a:solidFill>
                <a:latin typeface="Raleway" pitchFamily="34" charset="0"/>
                <a:ea typeface="Raleway" pitchFamily="34" charset="-122"/>
                <a:cs typeface="Raleway" pitchFamily="34" charset="-120"/>
              </a:rPr>
              <a:t>API Testing with RestAssured</a:t>
            </a:r>
            <a:endParaRPr lang="en-US" sz="1000" dirty="0"/>
          </a:p>
        </p:txBody>
      </p:sp>
      <p:sp>
        <p:nvSpPr>
          <p:cNvPr id="15" name="Text 13"/>
          <p:cNvSpPr/>
          <p:nvPr/>
        </p:nvSpPr>
        <p:spPr>
          <a:xfrm>
            <a:off x="513656" y="4116251"/>
            <a:ext cx="11164689" cy="100409"/>
          </a:xfrm>
          <a:prstGeom prst="rect">
            <a:avLst/>
          </a:prstGeom>
          <a:noFill/>
          <a:ln/>
        </p:spPr>
        <p:txBody>
          <a:bodyPr wrap="none" lIns="0" tIns="0" rIns="0" bIns="0" rtlCol="0" anchor="t"/>
          <a:lstStyle/>
          <a:p>
            <a:pPr>
              <a:lnSpc>
                <a:spcPts val="750"/>
              </a:lnSpc>
            </a:pPr>
            <a:r>
              <a:rPr lang="en-US" sz="875" dirty="0">
                <a:solidFill>
                  <a:srgbClr val="3C3939"/>
                </a:solidFill>
                <a:latin typeface="Roboto" pitchFamily="34" charset="0"/>
                <a:ea typeface="Roboto" pitchFamily="34" charset="-122"/>
                <a:cs typeface="Roboto" pitchFamily="34" charset="-120"/>
              </a:rPr>
              <a:t>API validation for request headers, response codes, payload structure, and returned identifiers.</a:t>
            </a:r>
            <a:endParaRPr lang="en-US" sz="875" dirty="0"/>
          </a:p>
        </p:txBody>
      </p:sp>
      <p:sp>
        <p:nvSpPr>
          <p:cNvPr id="17" name="Shape 15"/>
          <p:cNvSpPr/>
          <p:nvPr/>
        </p:nvSpPr>
        <p:spPr>
          <a:xfrm>
            <a:off x="509489" y="4372244"/>
            <a:ext cx="5154511" cy="2173288"/>
          </a:xfrm>
          <a:prstGeom prst="roundRect">
            <a:avLst>
              <a:gd name="adj" fmla="val 818"/>
            </a:avLst>
          </a:prstGeom>
          <a:solidFill>
            <a:srgbClr val="F2F2F2"/>
          </a:solidFill>
          <a:ln/>
        </p:spPr>
      </p:sp>
      <p:sp>
        <p:nvSpPr>
          <p:cNvPr id="18" name="Text 16"/>
          <p:cNvSpPr/>
          <p:nvPr/>
        </p:nvSpPr>
        <p:spPr>
          <a:xfrm>
            <a:off x="592932" y="4434752"/>
            <a:ext cx="11006138" cy="1405732"/>
          </a:xfrm>
          <a:prstGeom prst="rect">
            <a:avLst/>
          </a:prstGeom>
          <a:noFill/>
          <a:ln/>
        </p:spPr>
        <p:txBody>
          <a:bodyPr wrap="square" lIns="0" tIns="0" rIns="0" bIns="0" rtlCol="0" anchor="t"/>
          <a:lstStyle/>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Response response = given()</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.header("Content-Type", "application/json")</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.body("{\"username\":\"testuser\",\"role\":\"qa\"}")</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.when()</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.post("/api/users")</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.then()</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.statusCode(201)</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.contentType("application/json")</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.extract()</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    .response();</a:t>
            </a:r>
            <a:endParaRPr lang="en-US" sz="917" dirty="0">
              <a:latin typeface="Courier New" panose="02070309020205020404" pitchFamily="49" charset="0"/>
              <a:cs typeface="Courier New" panose="02070309020205020404" pitchFamily="49" charset="0"/>
            </a:endParaRPr>
          </a:p>
          <a:p>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String id = response.jsonPath().getString("id");</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assertNotNull(id);</a:t>
            </a:r>
            <a:endParaRPr lang="en-US" sz="917" dirty="0">
              <a:latin typeface="Courier New" panose="02070309020205020404" pitchFamily="49" charset="0"/>
              <a:cs typeface="Courier New" panose="02070309020205020404" pitchFamily="49" charset="0"/>
            </a:endParaRPr>
          </a:p>
          <a:p>
            <a:r>
              <a:rPr lang="en-US" sz="917" dirty="0">
                <a:solidFill>
                  <a:srgbClr val="3C3939"/>
                </a:solidFill>
                <a:highlight>
                  <a:srgbClr val="F2F2F2"/>
                </a:highlight>
                <a:latin typeface="Courier New" panose="02070309020205020404" pitchFamily="49" charset="0"/>
                <a:ea typeface="Consolas" pitchFamily="34" charset="-122"/>
                <a:cs typeface="Courier New" panose="02070309020205020404" pitchFamily="49" charset="0"/>
              </a:rPr>
              <a:t>assertEquals("testuser", response.jsonPath().getString("username"));</a:t>
            </a:r>
            <a:endParaRPr lang="en-US" sz="917" dirty="0">
              <a:latin typeface="Courier New" panose="02070309020205020404" pitchFamily="49" charset="0"/>
              <a:cs typeface="Courier New" panose="02070309020205020404" pitchFamily="49" charset="0"/>
            </a:endParaRPr>
          </a:p>
        </p:txBody>
      </p:sp>
      <p:sp>
        <p:nvSpPr>
          <p:cNvPr id="19" name="Text 17"/>
          <p:cNvSpPr/>
          <p:nvPr/>
        </p:nvSpPr>
        <p:spPr>
          <a:xfrm>
            <a:off x="6199982" y="4546119"/>
            <a:ext cx="1802408" cy="130473"/>
          </a:xfrm>
          <a:prstGeom prst="rect">
            <a:avLst/>
          </a:prstGeom>
          <a:noFill/>
          <a:ln/>
        </p:spPr>
        <p:txBody>
          <a:bodyPr wrap="none" lIns="0" tIns="0" rIns="0" bIns="0" rtlCol="0" anchor="t"/>
          <a:lstStyle/>
          <a:p>
            <a:pPr>
              <a:lnSpc>
                <a:spcPts val="1000"/>
              </a:lnSpc>
            </a:pPr>
            <a:r>
              <a:rPr lang="en-US" sz="1000" dirty="0">
                <a:solidFill>
                  <a:srgbClr val="1B1B27"/>
                </a:solidFill>
                <a:latin typeface="Raleway" pitchFamily="34" charset="0"/>
                <a:ea typeface="Raleway" pitchFamily="34" charset="-122"/>
                <a:cs typeface="Raleway" pitchFamily="34" charset="-120"/>
              </a:rPr>
              <a:t>Recommended Automation Practices</a:t>
            </a:r>
            <a:endParaRPr lang="en-US" sz="1000" dirty="0"/>
          </a:p>
        </p:txBody>
      </p:sp>
      <p:sp>
        <p:nvSpPr>
          <p:cNvPr id="20" name="Text 18"/>
          <p:cNvSpPr/>
          <p:nvPr/>
        </p:nvSpPr>
        <p:spPr>
          <a:xfrm>
            <a:off x="6204148" y="4741563"/>
            <a:ext cx="4475852" cy="1042437"/>
          </a:xfrm>
          <a:prstGeom prst="rect">
            <a:avLst/>
          </a:prstGeom>
          <a:noFill/>
          <a:ln/>
        </p:spPr>
        <p:txBody>
          <a:bodyPr wrap="square" lIns="0" tIns="0" rIns="0" bIns="0" rtlCol="0" anchor="t"/>
          <a:lstStyle/>
          <a:p>
            <a:pPr marL="285739" indent="-285739">
              <a:buSzPct val="100000"/>
              <a:buChar char="•"/>
            </a:pPr>
            <a:r>
              <a:rPr lang="en-US" sz="917" dirty="0">
                <a:solidFill>
                  <a:srgbClr val="3C3939"/>
                </a:solidFill>
                <a:latin typeface="Roboto" pitchFamily="34" charset="0"/>
                <a:ea typeface="Roboto" pitchFamily="34" charset="-122"/>
                <a:cs typeface="Roboto" pitchFamily="34" charset="-120"/>
              </a:rPr>
              <a:t>Use explicit waits instead of hard-coded delays to improve stability.</a:t>
            </a:r>
            <a:endParaRPr lang="en-US" sz="917" dirty="0"/>
          </a:p>
          <a:p>
            <a:pPr marL="285739" indent="-285739">
              <a:buSzPct val="100000"/>
              <a:buChar char="•"/>
            </a:pPr>
            <a:r>
              <a:rPr lang="en-US" sz="917" dirty="0">
                <a:solidFill>
                  <a:srgbClr val="3C3939"/>
                </a:solidFill>
                <a:latin typeface="Roboto" pitchFamily="34" charset="0"/>
                <a:ea typeface="Roboto" pitchFamily="34" charset="-122"/>
                <a:cs typeface="Roboto" pitchFamily="34" charset="-120"/>
              </a:rPr>
              <a:t>Keep locators resilient by preferring stable identifiers such as IDs or test-friendly data attributes.</a:t>
            </a:r>
            <a:endParaRPr lang="en-US" sz="917" dirty="0"/>
          </a:p>
          <a:p>
            <a:pPr marL="285739" indent="-285739">
              <a:buSzPct val="100000"/>
              <a:buChar char="•"/>
            </a:pPr>
            <a:r>
              <a:rPr lang="en-US" sz="917" dirty="0">
                <a:solidFill>
                  <a:srgbClr val="3C3939"/>
                </a:solidFill>
                <a:latin typeface="Roboto" pitchFamily="34" charset="0"/>
                <a:ea typeface="Roboto" pitchFamily="34" charset="-122"/>
                <a:cs typeface="Roboto" pitchFamily="34" charset="-120"/>
              </a:rPr>
              <a:t>Assert both visible behavior and underlying data to catch regressions early.</a:t>
            </a:r>
            <a:endParaRPr lang="en-US" sz="917" dirty="0"/>
          </a:p>
          <a:p>
            <a:pPr marL="285739" indent="-285739">
              <a:buSzPct val="100000"/>
              <a:buChar char="•"/>
            </a:pPr>
            <a:r>
              <a:rPr lang="en-US" sz="917" dirty="0">
                <a:solidFill>
                  <a:srgbClr val="3C3939"/>
                </a:solidFill>
                <a:latin typeface="Roboto" pitchFamily="34" charset="0"/>
                <a:ea typeface="Roboto" pitchFamily="34" charset="-122"/>
                <a:cs typeface="Roboto" pitchFamily="34" charset="-120"/>
              </a:rPr>
              <a:t>Isolate test data so runs are repeatable across environments.</a:t>
            </a:r>
            <a:endParaRPr lang="en-US" sz="91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6630" y="464046"/>
            <a:ext cx="4020543" cy="461665"/>
          </a:xfrm>
          <a:prstGeom prst="rect">
            <a:avLst/>
          </a:prstGeom>
          <a:noFill/>
          <a:ln/>
        </p:spPr>
        <p:txBody>
          <a:bodyPr wrap="none" lIns="0" tIns="0" rIns="0" bIns="0" rtlCol="0" anchor="t"/>
          <a:lstStyle/>
          <a:p>
            <a:pPr>
              <a:lnSpc>
                <a:spcPts val="3625"/>
              </a:lnSpc>
            </a:pPr>
            <a:r>
              <a:rPr lang="en-US" sz="2875" dirty="0">
                <a:solidFill>
                  <a:srgbClr val="1B1B27"/>
                </a:solidFill>
                <a:latin typeface="Raleway" pitchFamily="34" charset="0"/>
                <a:ea typeface="Raleway" pitchFamily="34" charset="-122"/>
                <a:cs typeface="Raleway" pitchFamily="34" charset="-120"/>
              </a:rPr>
              <a:t>Test Design Techniques</a:t>
            </a:r>
            <a:endParaRPr lang="en-US" sz="2875" dirty="0"/>
          </a:p>
        </p:txBody>
      </p:sp>
      <p:sp>
        <p:nvSpPr>
          <p:cNvPr id="3" name="Text 1"/>
          <p:cNvSpPr/>
          <p:nvPr/>
        </p:nvSpPr>
        <p:spPr>
          <a:xfrm>
            <a:off x="656630" y="1189633"/>
            <a:ext cx="10878741" cy="223738"/>
          </a:xfrm>
          <a:prstGeom prst="rect">
            <a:avLst/>
          </a:prstGeom>
          <a:noFill/>
          <a:ln/>
        </p:spPr>
        <p:txBody>
          <a:bodyPr wrap="none" lIns="0" tIns="0" rIns="0" bIns="0" rtlCol="0" anchor="t"/>
          <a:lstStyle/>
          <a:p>
            <a:pPr>
              <a:lnSpc>
                <a:spcPts val="1750"/>
              </a:lnSpc>
            </a:pPr>
            <a:r>
              <a:rPr lang="en-US" sz="1125" dirty="0">
                <a:solidFill>
                  <a:srgbClr val="3C3939"/>
                </a:solidFill>
                <a:latin typeface="Roboto" pitchFamily="34" charset="0"/>
                <a:ea typeface="Roboto" pitchFamily="34" charset="-122"/>
                <a:cs typeface="Roboto" pitchFamily="34" charset="-120"/>
              </a:rPr>
              <a:t>Core techniques for designing efficient, high-value test cases for web applications.</a:t>
            </a:r>
            <a:endParaRPr lang="en-US" sz="1125" dirty="0"/>
          </a:p>
        </p:txBody>
      </p:sp>
      <p:sp>
        <p:nvSpPr>
          <p:cNvPr id="4" name="Text 2"/>
          <p:cNvSpPr/>
          <p:nvPr/>
        </p:nvSpPr>
        <p:spPr>
          <a:xfrm>
            <a:off x="656630" y="1693764"/>
            <a:ext cx="2466182" cy="277019"/>
          </a:xfrm>
          <a:prstGeom prst="rect">
            <a:avLst/>
          </a:prstGeom>
          <a:noFill/>
          <a:ln/>
        </p:spPr>
        <p:txBody>
          <a:bodyPr wrap="none" lIns="0" tIns="0" rIns="0" bIns="0" rtlCol="0" anchor="t"/>
          <a:lstStyle/>
          <a:p>
            <a:pPr>
              <a:lnSpc>
                <a:spcPts val="2167"/>
              </a:lnSpc>
            </a:pPr>
            <a:r>
              <a:rPr lang="en-US" sz="1708" dirty="0">
                <a:solidFill>
                  <a:srgbClr val="1B1B27"/>
                </a:solidFill>
                <a:latin typeface="Raleway" pitchFamily="34" charset="0"/>
                <a:ea typeface="Raleway" pitchFamily="34" charset="-122"/>
                <a:cs typeface="Raleway" pitchFamily="34" charset="-120"/>
              </a:rPr>
              <a:t>Equivalence Partitioning</a:t>
            </a:r>
            <a:endParaRPr lang="en-US" sz="1708" dirty="0"/>
          </a:p>
        </p:txBody>
      </p:sp>
      <p:sp>
        <p:nvSpPr>
          <p:cNvPr id="5" name="Text 3"/>
          <p:cNvSpPr/>
          <p:nvPr/>
        </p:nvSpPr>
        <p:spPr>
          <a:xfrm>
            <a:off x="656631" y="2102743"/>
            <a:ext cx="5259189" cy="447477"/>
          </a:xfrm>
          <a:prstGeom prst="rect">
            <a:avLst/>
          </a:prstGeom>
          <a:noFill/>
          <a:ln/>
        </p:spPr>
        <p:txBody>
          <a:bodyPr wrap="square" lIns="0" tIns="0" rIns="0" bIns="0" rtlCol="0" anchor="t"/>
          <a:lstStyle/>
          <a:p>
            <a:pPr>
              <a:lnSpc>
                <a:spcPts val="1750"/>
              </a:lnSpc>
            </a:pPr>
            <a:r>
              <a:rPr lang="en-US" sz="1125" dirty="0">
                <a:solidFill>
                  <a:srgbClr val="3C3939"/>
                </a:solidFill>
                <a:latin typeface="Roboto" pitchFamily="34" charset="0"/>
                <a:ea typeface="Roboto" pitchFamily="34" charset="-122"/>
                <a:cs typeface="Roboto" pitchFamily="34" charset="-120"/>
              </a:rPr>
              <a:t>Divides input data into valid and invalid partitions so you can test representative values instead of every possible input.</a:t>
            </a:r>
            <a:endParaRPr lang="en-US" sz="1125" dirty="0"/>
          </a:p>
        </p:txBody>
      </p:sp>
      <p:sp>
        <p:nvSpPr>
          <p:cNvPr id="6" name="Text 4"/>
          <p:cNvSpPr/>
          <p:nvPr/>
        </p:nvSpPr>
        <p:spPr>
          <a:xfrm>
            <a:off x="656630" y="2682181"/>
            <a:ext cx="1846957" cy="230882"/>
          </a:xfrm>
          <a:prstGeom prst="rect">
            <a:avLst/>
          </a:prstGeom>
          <a:noFill/>
          <a:ln/>
        </p:spPr>
        <p:txBody>
          <a:bodyPr wrap="none" lIns="0" tIns="0" rIns="0" bIns="0" rtlCol="0" anchor="t"/>
          <a:lstStyle/>
          <a:p>
            <a:pPr>
              <a:lnSpc>
                <a:spcPts val="1792"/>
              </a:lnSpc>
            </a:pPr>
            <a:r>
              <a:rPr lang="en-US" sz="1417" dirty="0">
                <a:solidFill>
                  <a:srgbClr val="1B1B27"/>
                </a:solidFill>
                <a:latin typeface="Raleway" pitchFamily="34" charset="0"/>
                <a:ea typeface="Raleway" pitchFamily="34" charset="-122"/>
                <a:cs typeface="Raleway" pitchFamily="34" charset="-120"/>
              </a:rPr>
              <a:t>Use it for</a:t>
            </a:r>
            <a:endParaRPr lang="en-US" sz="1417" dirty="0"/>
          </a:p>
        </p:txBody>
      </p:sp>
      <p:sp>
        <p:nvSpPr>
          <p:cNvPr id="7" name="Text 5"/>
          <p:cNvSpPr/>
          <p:nvPr/>
        </p:nvSpPr>
        <p:spPr>
          <a:xfrm>
            <a:off x="656631" y="3045024"/>
            <a:ext cx="5259189" cy="763488"/>
          </a:xfrm>
          <a:prstGeom prst="rect">
            <a:avLst/>
          </a:prstGeom>
          <a:noFill/>
          <a:ln/>
        </p:spPr>
        <p:txBody>
          <a:bodyPr wrap="square" lIns="0" tIns="0" rIns="0" bIns="0" rtlCol="0" anchor="t"/>
          <a:lstStyle/>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Form fields with defined ranges or formats</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Dropdown selections and checkbox groups</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Login, registration, and search inputs</a:t>
            </a:r>
            <a:endParaRPr lang="en-US" sz="1125" dirty="0"/>
          </a:p>
        </p:txBody>
      </p:sp>
      <p:sp>
        <p:nvSpPr>
          <p:cNvPr id="8" name="Text 6"/>
          <p:cNvSpPr/>
          <p:nvPr/>
        </p:nvSpPr>
        <p:spPr>
          <a:xfrm>
            <a:off x="656630" y="3940472"/>
            <a:ext cx="1846957" cy="230882"/>
          </a:xfrm>
          <a:prstGeom prst="rect">
            <a:avLst/>
          </a:prstGeom>
          <a:noFill/>
          <a:ln/>
        </p:spPr>
        <p:txBody>
          <a:bodyPr wrap="none" lIns="0" tIns="0" rIns="0" bIns="0" rtlCol="0" anchor="t"/>
          <a:lstStyle/>
          <a:p>
            <a:pPr>
              <a:lnSpc>
                <a:spcPts val="1792"/>
              </a:lnSpc>
            </a:pPr>
            <a:r>
              <a:rPr lang="en-US" sz="1417" dirty="0">
                <a:solidFill>
                  <a:srgbClr val="1B1B27"/>
                </a:solidFill>
                <a:latin typeface="Raleway" pitchFamily="34" charset="0"/>
                <a:ea typeface="Raleway" pitchFamily="34" charset="-122"/>
                <a:cs typeface="Raleway" pitchFamily="34" charset="-120"/>
              </a:rPr>
              <a:t>Example: Age Field</a:t>
            </a:r>
            <a:endParaRPr lang="en-US" sz="1417" dirty="0"/>
          </a:p>
        </p:txBody>
      </p:sp>
      <p:sp>
        <p:nvSpPr>
          <p:cNvPr id="9" name="Text 7"/>
          <p:cNvSpPr/>
          <p:nvPr/>
        </p:nvSpPr>
        <p:spPr>
          <a:xfrm>
            <a:off x="656631" y="4303316"/>
            <a:ext cx="5259189" cy="1033363"/>
          </a:xfrm>
          <a:prstGeom prst="rect">
            <a:avLst/>
          </a:prstGeom>
          <a:noFill/>
          <a:ln/>
        </p:spPr>
        <p:txBody>
          <a:bodyPr wrap="square" lIns="0" tIns="0" rIns="0" bIns="0" rtlCol="0" anchor="t"/>
          <a:lstStyle/>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Valid: 18-120</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Invalid: 0-17</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Invalid: above 120</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Invalid: negative values</a:t>
            </a:r>
            <a:endParaRPr lang="en-US" sz="1125" dirty="0"/>
          </a:p>
        </p:txBody>
      </p:sp>
      <p:sp>
        <p:nvSpPr>
          <p:cNvPr id="10" name="Text 8"/>
          <p:cNvSpPr/>
          <p:nvPr/>
        </p:nvSpPr>
        <p:spPr>
          <a:xfrm>
            <a:off x="656631" y="5455444"/>
            <a:ext cx="5259189" cy="223738"/>
          </a:xfrm>
          <a:prstGeom prst="rect">
            <a:avLst/>
          </a:prstGeom>
          <a:noFill/>
          <a:ln/>
        </p:spPr>
        <p:txBody>
          <a:bodyPr wrap="none" lIns="0" tIns="0" rIns="0" bIns="0" rtlCol="0" anchor="t"/>
          <a:lstStyle/>
          <a:p>
            <a:pPr>
              <a:lnSpc>
                <a:spcPts val="1750"/>
              </a:lnSpc>
            </a:pPr>
            <a:r>
              <a:rPr lang="en-US" sz="1125" dirty="0">
                <a:solidFill>
                  <a:srgbClr val="3C3939"/>
                </a:solidFill>
                <a:latin typeface="Roboto" pitchFamily="34" charset="0"/>
                <a:ea typeface="Roboto" pitchFamily="34" charset="-122"/>
                <a:cs typeface="Roboto" pitchFamily="34" charset="-120"/>
              </a:rPr>
              <a:t>Representative test values: 25, 10, 150, -5.</a:t>
            </a:r>
            <a:endParaRPr lang="en-US" sz="1125" dirty="0"/>
          </a:p>
        </p:txBody>
      </p:sp>
      <p:sp>
        <p:nvSpPr>
          <p:cNvPr id="11" name="Text 9"/>
          <p:cNvSpPr/>
          <p:nvPr/>
        </p:nvSpPr>
        <p:spPr>
          <a:xfrm>
            <a:off x="6282531" y="1693764"/>
            <a:ext cx="2506464" cy="277019"/>
          </a:xfrm>
          <a:prstGeom prst="rect">
            <a:avLst/>
          </a:prstGeom>
          <a:noFill/>
          <a:ln/>
        </p:spPr>
        <p:txBody>
          <a:bodyPr wrap="none" lIns="0" tIns="0" rIns="0" bIns="0" rtlCol="0" anchor="t"/>
          <a:lstStyle/>
          <a:p>
            <a:pPr>
              <a:lnSpc>
                <a:spcPts val="2167"/>
              </a:lnSpc>
            </a:pPr>
            <a:r>
              <a:rPr lang="en-US" sz="1708" dirty="0">
                <a:solidFill>
                  <a:srgbClr val="1B1B27"/>
                </a:solidFill>
                <a:latin typeface="Raleway" pitchFamily="34" charset="0"/>
                <a:ea typeface="Raleway" pitchFamily="34" charset="-122"/>
                <a:cs typeface="Raleway" pitchFamily="34" charset="-120"/>
              </a:rPr>
              <a:t>Boundary Value Analysis</a:t>
            </a:r>
            <a:endParaRPr lang="en-US" sz="1708" dirty="0"/>
          </a:p>
        </p:txBody>
      </p:sp>
      <p:sp>
        <p:nvSpPr>
          <p:cNvPr id="12" name="Text 10"/>
          <p:cNvSpPr/>
          <p:nvPr/>
        </p:nvSpPr>
        <p:spPr>
          <a:xfrm>
            <a:off x="6282531" y="2102743"/>
            <a:ext cx="5259189" cy="447477"/>
          </a:xfrm>
          <a:prstGeom prst="rect">
            <a:avLst/>
          </a:prstGeom>
          <a:noFill/>
          <a:ln/>
        </p:spPr>
        <p:txBody>
          <a:bodyPr wrap="square" lIns="0" tIns="0" rIns="0" bIns="0" rtlCol="0" anchor="t"/>
          <a:lstStyle/>
          <a:p>
            <a:pPr>
              <a:lnSpc>
                <a:spcPts val="1750"/>
              </a:lnSpc>
            </a:pPr>
            <a:r>
              <a:rPr lang="en-US" sz="1125" dirty="0">
                <a:solidFill>
                  <a:srgbClr val="3C3939"/>
                </a:solidFill>
                <a:latin typeface="Roboto" pitchFamily="34" charset="0"/>
                <a:ea typeface="Roboto" pitchFamily="34" charset="-122"/>
                <a:cs typeface="Roboto" pitchFamily="34" charset="-120"/>
              </a:rPr>
              <a:t>Tests values at the edges of input ranges, where defects are most likely to appear in web forms and validation logic.</a:t>
            </a:r>
            <a:endParaRPr lang="en-US" sz="1125" dirty="0"/>
          </a:p>
        </p:txBody>
      </p:sp>
      <p:sp>
        <p:nvSpPr>
          <p:cNvPr id="13" name="Text 11"/>
          <p:cNvSpPr/>
          <p:nvPr/>
        </p:nvSpPr>
        <p:spPr>
          <a:xfrm>
            <a:off x="6282531" y="2682181"/>
            <a:ext cx="1846957" cy="230882"/>
          </a:xfrm>
          <a:prstGeom prst="rect">
            <a:avLst/>
          </a:prstGeom>
          <a:noFill/>
          <a:ln/>
        </p:spPr>
        <p:txBody>
          <a:bodyPr wrap="none" lIns="0" tIns="0" rIns="0" bIns="0" rtlCol="0" anchor="t"/>
          <a:lstStyle/>
          <a:p>
            <a:pPr>
              <a:lnSpc>
                <a:spcPts val="1792"/>
              </a:lnSpc>
            </a:pPr>
            <a:r>
              <a:rPr lang="en-US" sz="1417" dirty="0">
                <a:solidFill>
                  <a:srgbClr val="1B1B27"/>
                </a:solidFill>
                <a:latin typeface="Raleway" pitchFamily="34" charset="0"/>
                <a:ea typeface="Raleway" pitchFamily="34" charset="-122"/>
                <a:cs typeface="Raleway" pitchFamily="34" charset="-120"/>
              </a:rPr>
              <a:t>Use it for</a:t>
            </a:r>
            <a:endParaRPr lang="en-US" sz="1417" dirty="0"/>
          </a:p>
        </p:txBody>
      </p:sp>
      <p:sp>
        <p:nvSpPr>
          <p:cNvPr id="14" name="Text 12"/>
          <p:cNvSpPr/>
          <p:nvPr/>
        </p:nvSpPr>
        <p:spPr>
          <a:xfrm>
            <a:off x="6282531" y="3045024"/>
            <a:ext cx="5259189" cy="763488"/>
          </a:xfrm>
          <a:prstGeom prst="rect">
            <a:avLst/>
          </a:prstGeom>
          <a:noFill/>
          <a:ln/>
        </p:spPr>
        <p:txBody>
          <a:bodyPr wrap="square" lIns="0" tIns="0" rIns="0" bIns="0" rtlCol="0" anchor="t"/>
          <a:lstStyle/>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Minimum and maximum field values</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Required length limits</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Date ranges, prices, and quantities</a:t>
            </a:r>
            <a:endParaRPr lang="en-US" sz="1125" dirty="0"/>
          </a:p>
        </p:txBody>
      </p:sp>
      <p:sp>
        <p:nvSpPr>
          <p:cNvPr id="15" name="Text 13"/>
          <p:cNvSpPr/>
          <p:nvPr/>
        </p:nvSpPr>
        <p:spPr>
          <a:xfrm>
            <a:off x="6282531" y="3940472"/>
            <a:ext cx="1846957" cy="230882"/>
          </a:xfrm>
          <a:prstGeom prst="rect">
            <a:avLst/>
          </a:prstGeom>
          <a:noFill/>
          <a:ln/>
        </p:spPr>
        <p:txBody>
          <a:bodyPr wrap="none" lIns="0" tIns="0" rIns="0" bIns="0" rtlCol="0" anchor="t"/>
          <a:lstStyle/>
          <a:p>
            <a:pPr>
              <a:lnSpc>
                <a:spcPts val="1792"/>
              </a:lnSpc>
            </a:pPr>
            <a:r>
              <a:rPr lang="en-US" sz="1417" dirty="0">
                <a:solidFill>
                  <a:srgbClr val="1B1B27"/>
                </a:solidFill>
                <a:latin typeface="Raleway" pitchFamily="34" charset="0"/>
                <a:ea typeface="Raleway" pitchFamily="34" charset="-122"/>
                <a:cs typeface="Raleway" pitchFamily="34" charset="-120"/>
              </a:rPr>
              <a:t>Example: Age 18-120</a:t>
            </a:r>
            <a:endParaRPr lang="en-US" sz="1417" dirty="0"/>
          </a:p>
        </p:txBody>
      </p:sp>
      <p:sp>
        <p:nvSpPr>
          <p:cNvPr id="16" name="Text 14"/>
          <p:cNvSpPr/>
          <p:nvPr/>
        </p:nvSpPr>
        <p:spPr>
          <a:xfrm>
            <a:off x="6282531" y="4303316"/>
            <a:ext cx="5259189" cy="763488"/>
          </a:xfrm>
          <a:prstGeom prst="rect">
            <a:avLst/>
          </a:prstGeom>
          <a:noFill/>
          <a:ln/>
        </p:spPr>
        <p:txBody>
          <a:bodyPr wrap="square" lIns="0" tIns="0" rIns="0" bIns="0" rtlCol="0" anchor="t"/>
          <a:lstStyle/>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Lower boundary: 17, 18, 19</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Upper boundary: 119, 120, 121</a:t>
            </a:r>
            <a:endParaRPr lang="en-US" sz="1125" dirty="0"/>
          </a:p>
          <a:p>
            <a:pPr marL="285739" indent="-285739">
              <a:lnSpc>
                <a:spcPts val="1750"/>
              </a:lnSpc>
              <a:buSzPct val="100000"/>
              <a:buChar char="•"/>
            </a:pPr>
            <a:r>
              <a:rPr lang="en-US" sz="1125" dirty="0">
                <a:solidFill>
                  <a:srgbClr val="3C3939"/>
                </a:solidFill>
                <a:latin typeface="Roboto" pitchFamily="34" charset="0"/>
                <a:ea typeface="Roboto" pitchFamily="34" charset="-122"/>
                <a:cs typeface="Roboto" pitchFamily="34" charset="-120"/>
              </a:rPr>
              <a:t>Critical edges: 0, 1, 120, 121</a:t>
            </a:r>
            <a:endParaRPr lang="en-US" sz="1125" dirty="0"/>
          </a:p>
        </p:txBody>
      </p:sp>
      <p:sp>
        <p:nvSpPr>
          <p:cNvPr id="17" name="Text 15"/>
          <p:cNvSpPr/>
          <p:nvPr/>
        </p:nvSpPr>
        <p:spPr>
          <a:xfrm>
            <a:off x="6282531" y="5185569"/>
            <a:ext cx="5259189" cy="223738"/>
          </a:xfrm>
          <a:prstGeom prst="rect">
            <a:avLst/>
          </a:prstGeom>
          <a:noFill/>
          <a:ln/>
        </p:spPr>
        <p:txBody>
          <a:bodyPr wrap="none" lIns="0" tIns="0" rIns="0" bIns="0" rtlCol="0" anchor="t"/>
          <a:lstStyle/>
          <a:p>
            <a:pPr>
              <a:lnSpc>
                <a:spcPts val="1750"/>
              </a:lnSpc>
            </a:pPr>
            <a:r>
              <a:rPr lang="en-US" sz="1125" dirty="0">
                <a:solidFill>
                  <a:srgbClr val="3C3939"/>
                </a:solidFill>
                <a:latin typeface="Roboto" pitchFamily="34" charset="0"/>
                <a:ea typeface="Roboto" pitchFamily="34" charset="-122"/>
                <a:cs typeface="Roboto" pitchFamily="34" charset="-120"/>
              </a:rPr>
              <a:t>Focus on values just below, at, and just above each boundary.</a:t>
            </a:r>
            <a:endParaRPr lang="en-US" sz="1125" dirty="0"/>
          </a:p>
        </p:txBody>
      </p:sp>
      <p:sp>
        <p:nvSpPr>
          <p:cNvPr id="18" name="Text 16"/>
          <p:cNvSpPr/>
          <p:nvPr/>
        </p:nvSpPr>
        <p:spPr>
          <a:xfrm>
            <a:off x="656630" y="5946378"/>
            <a:ext cx="10878741" cy="447477"/>
          </a:xfrm>
          <a:prstGeom prst="rect">
            <a:avLst/>
          </a:prstGeom>
          <a:noFill/>
          <a:ln/>
        </p:spPr>
        <p:txBody>
          <a:bodyPr wrap="square" lIns="0" tIns="0" rIns="0" bIns="0" rtlCol="0" anchor="t"/>
          <a:lstStyle/>
          <a:p>
            <a:pPr>
              <a:lnSpc>
                <a:spcPts val="1750"/>
              </a:lnSpc>
            </a:pPr>
            <a:r>
              <a:rPr lang="en-US" sz="1125" b="1" dirty="0">
                <a:solidFill>
                  <a:srgbClr val="3C3939"/>
                </a:solidFill>
                <a:latin typeface="Roboto" pitchFamily="34" charset="0"/>
                <a:ea typeface="Roboto" pitchFamily="34" charset="-122"/>
                <a:cs typeface="Roboto" pitchFamily="34" charset="-120"/>
              </a:rPr>
              <a:t>Best Practice:</a:t>
            </a:r>
            <a:r>
              <a:rPr lang="en-US" sz="1125" dirty="0">
                <a:solidFill>
                  <a:srgbClr val="3C3939"/>
                </a:solidFill>
                <a:latin typeface="Roboto" pitchFamily="34" charset="0"/>
                <a:ea typeface="Roboto" pitchFamily="34" charset="-122"/>
                <a:cs typeface="Roboto" pitchFamily="34" charset="-120"/>
              </a:rPr>
              <a:t> Start with equivalence partitioning to keep test coverage efficient, then apply boundary value analysis to the most critical ranges, validations, and business rules. Together, they help improve defect detection while keeping test suites maintainable.</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7919" y="457498"/>
            <a:ext cx="4881463" cy="359768"/>
          </a:xfrm>
          <a:prstGeom prst="rect">
            <a:avLst/>
          </a:prstGeom>
          <a:noFill/>
          <a:ln/>
        </p:spPr>
        <p:txBody>
          <a:bodyPr wrap="none" lIns="0" tIns="0" rIns="0" bIns="0" rtlCol="0" anchor="t"/>
          <a:lstStyle/>
          <a:p>
            <a:pPr>
              <a:lnSpc>
                <a:spcPts val="2792"/>
              </a:lnSpc>
            </a:pPr>
            <a:r>
              <a:rPr lang="en-US" sz="2250" dirty="0">
                <a:solidFill>
                  <a:srgbClr val="1B1B27"/>
                </a:solidFill>
                <a:latin typeface="Raleway" pitchFamily="34" charset="0"/>
                <a:ea typeface="Raleway" pitchFamily="34" charset="-122"/>
                <a:cs typeface="Raleway" pitchFamily="34" charset="-120"/>
              </a:rPr>
              <a:t>Best Practices and CI/CD Integration</a:t>
            </a:r>
            <a:endParaRPr lang="en-US" sz="2250" dirty="0"/>
          </a:p>
        </p:txBody>
      </p:sp>
      <p:pic>
        <p:nvPicPr>
          <p:cNvPr id="3" name="Image 0" descr="preencoded.png"/>
          <p:cNvPicPr>
            <a:picLocks noChangeAspect="1"/>
          </p:cNvPicPr>
          <p:nvPr/>
        </p:nvPicPr>
        <p:blipFill>
          <a:blip r:embed="rId3"/>
          <a:stretch>
            <a:fillRect/>
          </a:stretch>
        </p:blipFill>
        <p:spPr>
          <a:xfrm>
            <a:off x="657920" y="977504"/>
            <a:ext cx="3625354" cy="460474"/>
          </a:xfrm>
          <a:prstGeom prst="rect">
            <a:avLst/>
          </a:prstGeom>
        </p:spPr>
      </p:pic>
      <p:sp>
        <p:nvSpPr>
          <p:cNvPr id="4" name="Text 1"/>
          <p:cNvSpPr/>
          <p:nvPr/>
        </p:nvSpPr>
        <p:spPr>
          <a:xfrm>
            <a:off x="773014" y="1518047"/>
            <a:ext cx="1439168" cy="179883"/>
          </a:xfrm>
          <a:prstGeom prst="rect">
            <a:avLst/>
          </a:prstGeom>
          <a:noFill/>
          <a:ln/>
        </p:spPr>
        <p:txBody>
          <a:bodyPr wrap="none" lIns="0" tIns="0" rIns="0" bIns="0" rtlCol="0" anchor="t"/>
          <a:lstStyle/>
          <a:p>
            <a:pPr>
              <a:lnSpc>
                <a:spcPts val="1375"/>
              </a:lnSpc>
            </a:pPr>
            <a:r>
              <a:rPr lang="en-US" sz="1125" dirty="0">
                <a:solidFill>
                  <a:srgbClr val="3C3939"/>
                </a:solidFill>
                <a:latin typeface="Raleway" pitchFamily="34" charset="0"/>
                <a:ea typeface="Raleway" pitchFamily="34" charset="-122"/>
                <a:cs typeface="Raleway" pitchFamily="34" charset="-120"/>
              </a:rPr>
              <a:t>Test Early and Often</a:t>
            </a:r>
            <a:endParaRPr lang="en-US" sz="1125" dirty="0"/>
          </a:p>
        </p:txBody>
      </p:sp>
      <p:sp>
        <p:nvSpPr>
          <p:cNvPr id="5" name="Text 2"/>
          <p:cNvSpPr/>
          <p:nvPr/>
        </p:nvSpPr>
        <p:spPr>
          <a:xfrm>
            <a:off x="773013" y="1745953"/>
            <a:ext cx="3395167" cy="468511"/>
          </a:xfrm>
          <a:prstGeom prst="rect">
            <a:avLst/>
          </a:prstGeom>
          <a:noFill/>
          <a:ln/>
        </p:spPr>
        <p:txBody>
          <a:bodyPr wrap="square" lIns="0" tIns="0" rIns="0" bIns="0" rtlCol="0" anchor="t"/>
          <a:lstStyle/>
          <a:p>
            <a:pPr>
              <a:lnSpc>
                <a:spcPts val="1208"/>
              </a:lnSpc>
            </a:pPr>
            <a:r>
              <a:rPr lang="en-US" sz="875" dirty="0">
                <a:solidFill>
                  <a:srgbClr val="3C3939"/>
                </a:solidFill>
                <a:latin typeface="Roboto" pitchFamily="34" charset="0"/>
                <a:ea typeface="Roboto" pitchFamily="34" charset="-122"/>
                <a:cs typeface="Roboto" pitchFamily="34" charset="-120"/>
              </a:rPr>
              <a:t>Shift testing left into development. Run unit tests on every commit, validate features in pull requests, and catch defects before they reach staging.</a:t>
            </a:r>
            <a:endParaRPr lang="en-US" sz="875" dirty="0"/>
          </a:p>
        </p:txBody>
      </p:sp>
      <p:pic>
        <p:nvPicPr>
          <p:cNvPr id="6" name="Image 1" descr="preencoded.png"/>
          <p:cNvPicPr>
            <a:picLocks noChangeAspect="1"/>
          </p:cNvPicPr>
          <p:nvPr/>
        </p:nvPicPr>
        <p:blipFill>
          <a:blip r:embed="rId3"/>
          <a:stretch>
            <a:fillRect/>
          </a:stretch>
        </p:blipFill>
        <p:spPr>
          <a:xfrm>
            <a:off x="4283274" y="977504"/>
            <a:ext cx="3625354" cy="460474"/>
          </a:xfrm>
          <a:prstGeom prst="rect">
            <a:avLst/>
          </a:prstGeom>
        </p:spPr>
      </p:pic>
      <p:sp>
        <p:nvSpPr>
          <p:cNvPr id="7" name="Text 3"/>
          <p:cNvSpPr/>
          <p:nvPr/>
        </p:nvSpPr>
        <p:spPr>
          <a:xfrm>
            <a:off x="4398368" y="1518047"/>
            <a:ext cx="1445319" cy="179883"/>
          </a:xfrm>
          <a:prstGeom prst="rect">
            <a:avLst/>
          </a:prstGeom>
          <a:noFill/>
          <a:ln/>
        </p:spPr>
        <p:txBody>
          <a:bodyPr wrap="none" lIns="0" tIns="0" rIns="0" bIns="0" rtlCol="0" anchor="t"/>
          <a:lstStyle/>
          <a:p>
            <a:pPr>
              <a:lnSpc>
                <a:spcPts val="1375"/>
              </a:lnSpc>
            </a:pPr>
            <a:r>
              <a:rPr lang="en-US" sz="1125" dirty="0">
                <a:solidFill>
                  <a:srgbClr val="3C3939"/>
                </a:solidFill>
                <a:latin typeface="Raleway" pitchFamily="34" charset="0"/>
                <a:ea typeface="Raleway" pitchFamily="34" charset="-122"/>
                <a:cs typeface="Raleway" pitchFamily="34" charset="-120"/>
              </a:rPr>
              <a:t>Layered Test Strategy</a:t>
            </a:r>
            <a:endParaRPr lang="en-US" sz="1125" dirty="0"/>
          </a:p>
        </p:txBody>
      </p:sp>
      <p:sp>
        <p:nvSpPr>
          <p:cNvPr id="8" name="Text 4"/>
          <p:cNvSpPr/>
          <p:nvPr/>
        </p:nvSpPr>
        <p:spPr>
          <a:xfrm>
            <a:off x="4398367" y="1745953"/>
            <a:ext cx="3395167" cy="468511"/>
          </a:xfrm>
          <a:prstGeom prst="rect">
            <a:avLst/>
          </a:prstGeom>
          <a:noFill/>
          <a:ln/>
        </p:spPr>
        <p:txBody>
          <a:bodyPr wrap="square" lIns="0" tIns="0" rIns="0" bIns="0" rtlCol="0" anchor="t"/>
          <a:lstStyle/>
          <a:p>
            <a:pPr>
              <a:lnSpc>
                <a:spcPts val="1208"/>
              </a:lnSpc>
            </a:pPr>
            <a:r>
              <a:rPr lang="en-US" sz="875" dirty="0">
                <a:solidFill>
                  <a:srgbClr val="3C3939"/>
                </a:solidFill>
                <a:latin typeface="Roboto" pitchFamily="34" charset="0"/>
                <a:ea typeface="Roboto" pitchFamily="34" charset="-122"/>
                <a:cs typeface="Roboto" pitchFamily="34" charset="-120"/>
              </a:rPr>
              <a:t>Balance unit, integration, and end-to-end tests. Follow the testing pyramid: many fast unit tests, fewer integration tests, and a small number of critical E2E flows.</a:t>
            </a:r>
            <a:endParaRPr lang="en-US" sz="875" dirty="0"/>
          </a:p>
        </p:txBody>
      </p:sp>
      <p:pic>
        <p:nvPicPr>
          <p:cNvPr id="9" name="Image 2" descr="preencoded.png"/>
          <p:cNvPicPr>
            <a:picLocks noChangeAspect="1"/>
          </p:cNvPicPr>
          <p:nvPr/>
        </p:nvPicPr>
        <p:blipFill>
          <a:blip r:embed="rId3"/>
          <a:stretch>
            <a:fillRect/>
          </a:stretch>
        </p:blipFill>
        <p:spPr>
          <a:xfrm>
            <a:off x="7908628" y="977504"/>
            <a:ext cx="3625354" cy="460474"/>
          </a:xfrm>
          <a:prstGeom prst="rect">
            <a:avLst/>
          </a:prstGeom>
        </p:spPr>
      </p:pic>
      <p:sp>
        <p:nvSpPr>
          <p:cNvPr id="10" name="Text 5"/>
          <p:cNvSpPr/>
          <p:nvPr/>
        </p:nvSpPr>
        <p:spPr>
          <a:xfrm>
            <a:off x="8023721" y="1518047"/>
            <a:ext cx="1439168" cy="179883"/>
          </a:xfrm>
          <a:prstGeom prst="rect">
            <a:avLst/>
          </a:prstGeom>
          <a:noFill/>
          <a:ln/>
        </p:spPr>
        <p:txBody>
          <a:bodyPr wrap="none" lIns="0" tIns="0" rIns="0" bIns="0" rtlCol="0" anchor="t"/>
          <a:lstStyle/>
          <a:p>
            <a:pPr>
              <a:lnSpc>
                <a:spcPts val="1375"/>
              </a:lnSpc>
            </a:pPr>
            <a:r>
              <a:rPr lang="en-US" sz="1125" dirty="0">
                <a:solidFill>
                  <a:srgbClr val="3C3939"/>
                </a:solidFill>
                <a:latin typeface="Raleway" pitchFamily="34" charset="0"/>
                <a:ea typeface="Raleway" pitchFamily="34" charset="-122"/>
                <a:cs typeface="Raleway" pitchFamily="34" charset="-120"/>
              </a:rPr>
              <a:t>Continuous Testing</a:t>
            </a:r>
            <a:endParaRPr lang="en-US" sz="1125" dirty="0"/>
          </a:p>
        </p:txBody>
      </p:sp>
      <p:sp>
        <p:nvSpPr>
          <p:cNvPr id="11" name="Text 6"/>
          <p:cNvSpPr/>
          <p:nvPr/>
        </p:nvSpPr>
        <p:spPr>
          <a:xfrm>
            <a:off x="8023721" y="1745953"/>
            <a:ext cx="3395167" cy="468511"/>
          </a:xfrm>
          <a:prstGeom prst="rect">
            <a:avLst/>
          </a:prstGeom>
          <a:noFill/>
          <a:ln/>
        </p:spPr>
        <p:txBody>
          <a:bodyPr wrap="square" lIns="0" tIns="0" rIns="0" bIns="0" rtlCol="0" anchor="t"/>
          <a:lstStyle/>
          <a:p>
            <a:pPr>
              <a:lnSpc>
                <a:spcPts val="1208"/>
              </a:lnSpc>
            </a:pPr>
            <a:r>
              <a:rPr lang="en-US" sz="875" dirty="0">
                <a:solidFill>
                  <a:srgbClr val="3C3939"/>
                </a:solidFill>
                <a:latin typeface="Roboto" pitchFamily="34" charset="0"/>
                <a:ea typeface="Roboto" pitchFamily="34" charset="-122"/>
                <a:cs typeface="Roboto" pitchFamily="34" charset="-120"/>
              </a:rPr>
              <a:t>Automate test execution in the CI/CD pipeline. Run tests on every push and merge, block releases on failures, and publish reports for quick triage.</a:t>
            </a:r>
            <a:endParaRPr lang="en-US" sz="875" dirty="0"/>
          </a:p>
        </p:txBody>
      </p:sp>
      <p:sp>
        <p:nvSpPr>
          <p:cNvPr id="12" name="Text 7"/>
          <p:cNvSpPr/>
          <p:nvPr/>
        </p:nvSpPr>
        <p:spPr>
          <a:xfrm>
            <a:off x="657919" y="2587198"/>
            <a:ext cx="1727002" cy="215900"/>
          </a:xfrm>
          <a:prstGeom prst="rect">
            <a:avLst/>
          </a:prstGeom>
          <a:noFill/>
          <a:ln/>
        </p:spPr>
        <p:txBody>
          <a:bodyPr wrap="none" lIns="0" tIns="0" rIns="0" bIns="0" rtlCol="0" anchor="t"/>
          <a:lstStyle/>
          <a:p>
            <a:pPr>
              <a:lnSpc>
                <a:spcPts val="1667"/>
              </a:lnSpc>
            </a:pPr>
            <a:r>
              <a:rPr lang="en-US" sz="1333" dirty="0">
                <a:solidFill>
                  <a:srgbClr val="1B1B27"/>
                </a:solidFill>
                <a:latin typeface="Raleway" pitchFamily="34" charset="0"/>
                <a:ea typeface="Raleway" pitchFamily="34" charset="-122"/>
                <a:cs typeface="Raleway" pitchFamily="34" charset="-120"/>
              </a:rPr>
              <a:t>Industry Standards</a:t>
            </a:r>
            <a:endParaRPr lang="en-US" sz="1333" dirty="0"/>
          </a:p>
        </p:txBody>
      </p:sp>
      <p:sp>
        <p:nvSpPr>
          <p:cNvPr id="14" name="Text 9"/>
          <p:cNvSpPr/>
          <p:nvPr/>
        </p:nvSpPr>
        <p:spPr>
          <a:xfrm>
            <a:off x="657919" y="3051671"/>
            <a:ext cx="1485900" cy="179883"/>
          </a:xfrm>
          <a:prstGeom prst="rect">
            <a:avLst/>
          </a:prstGeom>
          <a:noFill/>
          <a:ln/>
        </p:spPr>
        <p:txBody>
          <a:bodyPr wrap="none" lIns="0" tIns="0" rIns="0" bIns="0" rtlCol="0" anchor="t"/>
          <a:lstStyle/>
          <a:p>
            <a:pPr>
              <a:lnSpc>
                <a:spcPts val="1375"/>
              </a:lnSpc>
            </a:pPr>
            <a:r>
              <a:rPr lang="en-US" sz="1125" dirty="0">
                <a:solidFill>
                  <a:srgbClr val="3C3939"/>
                </a:solidFill>
                <a:latin typeface="Raleway" pitchFamily="34" charset="0"/>
                <a:ea typeface="Raleway" pitchFamily="34" charset="-122"/>
                <a:cs typeface="Raleway" pitchFamily="34" charset="-120"/>
              </a:rPr>
              <a:t>Write Clear Test Cases</a:t>
            </a:r>
            <a:endParaRPr lang="en-US" sz="1125" dirty="0"/>
          </a:p>
        </p:txBody>
      </p:sp>
      <p:sp>
        <p:nvSpPr>
          <p:cNvPr id="15" name="Text 10"/>
          <p:cNvSpPr/>
          <p:nvPr/>
        </p:nvSpPr>
        <p:spPr>
          <a:xfrm>
            <a:off x="657920" y="3279577"/>
            <a:ext cx="5397996" cy="312341"/>
          </a:xfrm>
          <a:prstGeom prst="rect">
            <a:avLst/>
          </a:prstGeom>
          <a:noFill/>
          <a:ln/>
        </p:spPr>
        <p:txBody>
          <a:bodyPr wrap="square" lIns="0" tIns="0" rIns="0" bIns="0" rtlCol="0" anchor="t"/>
          <a:lstStyle/>
          <a:p>
            <a:pPr>
              <a:lnSpc>
                <a:spcPts val="1208"/>
              </a:lnSpc>
            </a:pPr>
            <a:r>
              <a:rPr lang="en-US" sz="875" dirty="0">
                <a:solidFill>
                  <a:srgbClr val="3C3939"/>
                </a:solidFill>
                <a:latin typeface="Roboto" pitchFamily="34" charset="0"/>
                <a:ea typeface="Roboto" pitchFamily="34" charset="-122"/>
                <a:cs typeface="Roboto" pitchFamily="34" charset="-120"/>
              </a:rPr>
              <a:t>Use descriptive names, define preconditions, list exact steps, and state expected results so tests are easy to execute and review.</a:t>
            </a:r>
            <a:endParaRPr lang="en-US" sz="875" dirty="0"/>
          </a:p>
        </p:txBody>
      </p:sp>
      <p:sp>
        <p:nvSpPr>
          <p:cNvPr id="17" name="Text 12"/>
          <p:cNvSpPr/>
          <p:nvPr/>
        </p:nvSpPr>
        <p:spPr>
          <a:xfrm>
            <a:off x="6135985" y="3051671"/>
            <a:ext cx="1560711" cy="179883"/>
          </a:xfrm>
          <a:prstGeom prst="rect">
            <a:avLst/>
          </a:prstGeom>
          <a:noFill/>
          <a:ln/>
        </p:spPr>
        <p:txBody>
          <a:bodyPr wrap="none" lIns="0" tIns="0" rIns="0" bIns="0" rtlCol="0" anchor="t"/>
          <a:lstStyle/>
          <a:p>
            <a:pPr>
              <a:lnSpc>
                <a:spcPts val="1375"/>
              </a:lnSpc>
            </a:pPr>
            <a:r>
              <a:rPr lang="en-US" sz="1125" dirty="0">
                <a:solidFill>
                  <a:srgbClr val="3C3939"/>
                </a:solidFill>
                <a:latin typeface="Raleway" pitchFamily="34" charset="0"/>
                <a:ea typeface="Raleway" pitchFamily="34" charset="-122"/>
                <a:cs typeface="Raleway" pitchFamily="34" charset="-120"/>
              </a:rPr>
              <a:t>Measure Test Coverage</a:t>
            </a:r>
            <a:endParaRPr lang="en-US" sz="1125" dirty="0"/>
          </a:p>
        </p:txBody>
      </p:sp>
      <p:sp>
        <p:nvSpPr>
          <p:cNvPr id="18" name="Text 13"/>
          <p:cNvSpPr/>
          <p:nvPr/>
        </p:nvSpPr>
        <p:spPr>
          <a:xfrm>
            <a:off x="6135985" y="3279577"/>
            <a:ext cx="5398095" cy="312341"/>
          </a:xfrm>
          <a:prstGeom prst="rect">
            <a:avLst/>
          </a:prstGeom>
          <a:noFill/>
          <a:ln/>
        </p:spPr>
        <p:txBody>
          <a:bodyPr wrap="square" lIns="0" tIns="0" rIns="0" bIns="0" rtlCol="0" anchor="t"/>
          <a:lstStyle/>
          <a:p>
            <a:pPr>
              <a:lnSpc>
                <a:spcPts val="1208"/>
              </a:lnSpc>
            </a:pPr>
            <a:r>
              <a:rPr lang="en-US" sz="875" dirty="0">
                <a:solidFill>
                  <a:srgbClr val="3C3939"/>
                </a:solidFill>
                <a:latin typeface="Roboto" pitchFamily="34" charset="0"/>
                <a:ea typeface="Roboto" pitchFamily="34" charset="-122"/>
                <a:cs typeface="Roboto" pitchFamily="34" charset="-120"/>
              </a:rPr>
              <a:t>Track coverage by component and risk area. Aim for strong unit coverage, but prioritize business-critical paths over a single percentage target.</a:t>
            </a:r>
            <a:endParaRPr lang="en-US" sz="875" dirty="0"/>
          </a:p>
        </p:txBody>
      </p:sp>
      <p:sp>
        <p:nvSpPr>
          <p:cNvPr id="20" name="Text 15"/>
          <p:cNvSpPr/>
          <p:nvPr/>
        </p:nvSpPr>
        <p:spPr>
          <a:xfrm>
            <a:off x="657919" y="3766214"/>
            <a:ext cx="1439168" cy="179883"/>
          </a:xfrm>
          <a:prstGeom prst="rect">
            <a:avLst/>
          </a:prstGeom>
          <a:noFill/>
          <a:ln/>
        </p:spPr>
        <p:txBody>
          <a:bodyPr wrap="none" lIns="0" tIns="0" rIns="0" bIns="0" rtlCol="0" anchor="t"/>
          <a:lstStyle/>
          <a:p>
            <a:pPr>
              <a:lnSpc>
                <a:spcPts val="1375"/>
              </a:lnSpc>
            </a:pPr>
            <a:r>
              <a:rPr lang="en-US" sz="1125" dirty="0">
                <a:solidFill>
                  <a:srgbClr val="3C3939"/>
                </a:solidFill>
                <a:latin typeface="Raleway" pitchFamily="34" charset="0"/>
                <a:ea typeface="Raleway" pitchFamily="34" charset="-122"/>
                <a:cs typeface="Raleway" pitchFamily="34" charset="-120"/>
              </a:rPr>
              <a:t>Maintain Test Code</a:t>
            </a:r>
            <a:endParaRPr lang="en-US" sz="1125" dirty="0"/>
          </a:p>
        </p:txBody>
      </p:sp>
      <p:sp>
        <p:nvSpPr>
          <p:cNvPr id="21" name="Text 16"/>
          <p:cNvSpPr/>
          <p:nvPr/>
        </p:nvSpPr>
        <p:spPr>
          <a:xfrm>
            <a:off x="657920" y="3994120"/>
            <a:ext cx="5397996" cy="312341"/>
          </a:xfrm>
          <a:prstGeom prst="rect">
            <a:avLst/>
          </a:prstGeom>
          <a:noFill/>
          <a:ln/>
        </p:spPr>
        <p:txBody>
          <a:bodyPr wrap="square" lIns="0" tIns="0" rIns="0" bIns="0" rtlCol="0" anchor="t"/>
          <a:lstStyle/>
          <a:p>
            <a:pPr>
              <a:lnSpc>
                <a:spcPts val="1208"/>
              </a:lnSpc>
            </a:pPr>
            <a:r>
              <a:rPr lang="en-US" sz="875" dirty="0">
                <a:solidFill>
                  <a:srgbClr val="3C3939"/>
                </a:solidFill>
                <a:latin typeface="Roboto" pitchFamily="34" charset="0"/>
                <a:ea typeface="Roboto" pitchFamily="34" charset="-122"/>
                <a:cs typeface="Roboto" pitchFamily="34" charset="-120"/>
              </a:rPr>
              <a:t>Refactor brittle tests, remove duplication, and apply maintainable patterns such as Page Object Model or screen abstractions.</a:t>
            </a:r>
            <a:endParaRPr lang="en-US" sz="875" dirty="0"/>
          </a:p>
        </p:txBody>
      </p:sp>
      <p:sp>
        <p:nvSpPr>
          <p:cNvPr id="23" name="Text 18"/>
          <p:cNvSpPr/>
          <p:nvPr/>
        </p:nvSpPr>
        <p:spPr>
          <a:xfrm>
            <a:off x="6135985" y="3766214"/>
            <a:ext cx="1439168" cy="179883"/>
          </a:xfrm>
          <a:prstGeom prst="rect">
            <a:avLst/>
          </a:prstGeom>
          <a:noFill/>
          <a:ln/>
        </p:spPr>
        <p:txBody>
          <a:bodyPr wrap="none" lIns="0" tIns="0" rIns="0" bIns="0" rtlCol="0" anchor="t"/>
          <a:lstStyle/>
          <a:p>
            <a:pPr>
              <a:lnSpc>
                <a:spcPts val="1375"/>
              </a:lnSpc>
            </a:pPr>
            <a:r>
              <a:rPr lang="en-US" sz="1125" dirty="0">
                <a:solidFill>
                  <a:srgbClr val="3C3939"/>
                </a:solidFill>
                <a:latin typeface="Raleway" pitchFamily="34" charset="0"/>
                <a:ea typeface="Raleway" pitchFamily="34" charset="-122"/>
                <a:cs typeface="Raleway" pitchFamily="34" charset="-120"/>
              </a:rPr>
              <a:t>Parallel Execution</a:t>
            </a:r>
            <a:endParaRPr lang="en-US" sz="1125" dirty="0"/>
          </a:p>
        </p:txBody>
      </p:sp>
      <p:sp>
        <p:nvSpPr>
          <p:cNvPr id="24" name="Text 19"/>
          <p:cNvSpPr/>
          <p:nvPr/>
        </p:nvSpPr>
        <p:spPr>
          <a:xfrm>
            <a:off x="6135985" y="3994120"/>
            <a:ext cx="5398095" cy="312341"/>
          </a:xfrm>
          <a:prstGeom prst="rect">
            <a:avLst/>
          </a:prstGeom>
          <a:noFill/>
          <a:ln/>
        </p:spPr>
        <p:txBody>
          <a:bodyPr wrap="square" lIns="0" tIns="0" rIns="0" bIns="0" rtlCol="0" anchor="t"/>
          <a:lstStyle/>
          <a:p>
            <a:pPr>
              <a:lnSpc>
                <a:spcPts val="1208"/>
              </a:lnSpc>
            </a:pPr>
            <a:r>
              <a:rPr lang="en-US" sz="875" dirty="0">
                <a:solidFill>
                  <a:srgbClr val="3C3939"/>
                </a:solidFill>
                <a:latin typeface="Roboto" pitchFamily="34" charset="0"/>
                <a:ea typeface="Roboto" pitchFamily="34" charset="-122"/>
                <a:cs typeface="Roboto" pitchFamily="34" charset="-120"/>
              </a:rPr>
              <a:t>Run tests concurrently across browsers, devices, and environments to shorten feedback loops and support faster releases.</a:t>
            </a:r>
            <a:endParaRPr lang="en-US" sz="875" dirty="0"/>
          </a:p>
        </p:txBody>
      </p:sp>
      <p:sp>
        <p:nvSpPr>
          <p:cNvPr id="25" name="Text 20"/>
          <p:cNvSpPr/>
          <p:nvPr/>
        </p:nvSpPr>
        <p:spPr>
          <a:xfrm>
            <a:off x="657919" y="4770933"/>
            <a:ext cx="2110283" cy="215900"/>
          </a:xfrm>
          <a:prstGeom prst="rect">
            <a:avLst/>
          </a:prstGeom>
          <a:noFill/>
          <a:ln/>
        </p:spPr>
        <p:txBody>
          <a:bodyPr wrap="none" lIns="0" tIns="0" rIns="0" bIns="0" rtlCol="0" anchor="t"/>
          <a:lstStyle/>
          <a:p>
            <a:pPr>
              <a:lnSpc>
                <a:spcPts val="1667"/>
              </a:lnSpc>
            </a:pPr>
            <a:r>
              <a:rPr lang="en-US" sz="1333" dirty="0">
                <a:solidFill>
                  <a:srgbClr val="1B1B27"/>
                </a:solidFill>
                <a:latin typeface="Raleway" pitchFamily="34" charset="0"/>
                <a:ea typeface="Raleway" pitchFamily="34" charset="-122"/>
                <a:cs typeface="Raleway" pitchFamily="34" charset="-120"/>
              </a:rPr>
              <a:t>Challenges in Web Testing</a:t>
            </a:r>
            <a:endParaRPr lang="en-US" sz="1333" dirty="0"/>
          </a:p>
        </p:txBody>
      </p:sp>
      <p:sp>
        <p:nvSpPr>
          <p:cNvPr id="26" name="Text 21"/>
          <p:cNvSpPr/>
          <p:nvPr/>
        </p:nvSpPr>
        <p:spPr>
          <a:xfrm>
            <a:off x="657920" y="5179119"/>
            <a:ext cx="5297686" cy="708620"/>
          </a:xfrm>
          <a:prstGeom prst="rect">
            <a:avLst/>
          </a:prstGeom>
          <a:noFill/>
          <a:ln/>
        </p:spPr>
        <p:txBody>
          <a:bodyPr wrap="square" lIns="0" tIns="0" rIns="0" bIns="0" rtlCol="0" anchor="t"/>
          <a:lstStyle/>
          <a:p>
            <a:pPr marL="285739" indent="-285739">
              <a:lnSpc>
                <a:spcPts val="1208"/>
              </a:lnSpc>
              <a:buSzPct val="100000"/>
              <a:buChar char="•"/>
            </a:pPr>
            <a:r>
              <a:rPr lang="en-US" sz="875" dirty="0">
                <a:solidFill>
                  <a:srgbClr val="3C3939"/>
                </a:solidFill>
                <a:latin typeface="Roboto" pitchFamily="34" charset="0"/>
                <a:ea typeface="Roboto" pitchFamily="34" charset="-122"/>
                <a:cs typeface="Roboto" pitchFamily="34" charset="-120"/>
              </a:rPr>
              <a:t>Browser compatibility across versions and rendering engines</a:t>
            </a:r>
            <a:endParaRPr lang="en-US" sz="875" dirty="0"/>
          </a:p>
          <a:p>
            <a:pPr marL="285739" indent="-285739">
              <a:lnSpc>
                <a:spcPts val="1208"/>
              </a:lnSpc>
              <a:buSzPct val="100000"/>
              <a:buChar char="•"/>
            </a:pPr>
            <a:r>
              <a:rPr lang="en-US" sz="875" dirty="0">
                <a:solidFill>
                  <a:srgbClr val="3C3939"/>
                </a:solidFill>
                <a:latin typeface="Roboto" pitchFamily="34" charset="0"/>
                <a:ea typeface="Roboto" pitchFamily="34" charset="-122"/>
                <a:cs typeface="Roboto" pitchFamily="34" charset="-120"/>
              </a:rPr>
              <a:t>Dynamic content, asynchronous calls, and timing dependencies</a:t>
            </a:r>
            <a:endParaRPr lang="en-US" sz="875" dirty="0"/>
          </a:p>
          <a:p>
            <a:pPr marL="285739" indent="-285739">
              <a:lnSpc>
                <a:spcPts val="1208"/>
              </a:lnSpc>
              <a:buSzPct val="100000"/>
              <a:buChar char="•"/>
            </a:pPr>
            <a:r>
              <a:rPr lang="en-US" sz="875" dirty="0">
                <a:solidFill>
                  <a:srgbClr val="3C3939"/>
                </a:solidFill>
                <a:latin typeface="Roboto" pitchFamily="34" charset="0"/>
                <a:ea typeface="Roboto" pitchFamily="34" charset="-122"/>
                <a:cs typeface="Roboto" pitchFamily="34" charset="-120"/>
              </a:rPr>
              <a:t>Flaky tests caused by unstable locators, waits, or test data</a:t>
            </a:r>
            <a:endParaRPr lang="en-US" sz="875" dirty="0"/>
          </a:p>
          <a:p>
            <a:pPr marL="285739" indent="-285739">
              <a:lnSpc>
                <a:spcPts val="1208"/>
              </a:lnSpc>
              <a:buSzPct val="100000"/>
              <a:buChar char="•"/>
            </a:pPr>
            <a:r>
              <a:rPr lang="en-US" sz="875" dirty="0">
                <a:solidFill>
                  <a:srgbClr val="3C3939"/>
                </a:solidFill>
                <a:latin typeface="Roboto" pitchFamily="34" charset="0"/>
                <a:ea typeface="Roboto" pitchFamily="34" charset="-122"/>
                <a:cs typeface="Roboto" pitchFamily="34" charset="-120"/>
              </a:rPr>
              <a:t>Test data management, environment isolation, and reset strategy</a:t>
            </a:r>
            <a:endParaRPr lang="en-US" sz="875" dirty="0"/>
          </a:p>
        </p:txBody>
      </p:sp>
      <p:sp>
        <p:nvSpPr>
          <p:cNvPr id="27" name="Text 22"/>
          <p:cNvSpPr/>
          <p:nvPr/>
        </p:nvSpPr>
        <p:spPr>
          <a:xfrm>
            <a:off x="6242745" y="5179119"/>
            <a:ext cx="5297686" cy="708620"/>
          </a:xfrm>
          <a:prstGeom prst="rect">
            <a:avLst/>
          </a:prstGeom>
          <a:noFill/>
          <a:ln/>
        </p:spPr>
        <p:txBody>
          <a:bodyPr wrap="square" lIns="0" tIns="0" rIns="0" bIns="0" rtlCol="0" anchor="t"/>
          <a:lstStyle/>
          <a:p>
            <a:pPr marL="285739" indent="-285739">
              <a:lnSpc>
                <a:spcPts val="1208"/>
              </a:lnSpc>
              <a:buSzPct val="100000"/>
              <a:buChar char="•"/>
            </a:pPr>
            <a:r>
              <a:rPr lang="en-US" sz="875" dirty="0">
                <a:solidFill>
                  <a:srgbClr val="3C3939"/>
                </a:solidFill>
                <a:latin typeface="Roboto" pitchFamily="34" charset="0"/>
                <a:ea typeface="Roboto" pitchFamily="34" charset="-122"/>
                <a:cs typeface="Roboto" pitchFamily="34" charset="-120"/>
              </a:rPr>
              <a:t>UI changes that break selectors and require frequent maintenance</a:t>
            </a:r>
            <a:endParaRPr lang="en-US" sz="875" dirty="0"/>
          </a:p>
          <a:p>
            <a:pPr marL="285739" indent="-285739">
              <a:lnSpc>
                <a:spcPts val="1208"/>
              </a:lnSpc>
              <a:buSzPct val="100000"/>
              <a:buChar char="•"/>
            </a:pPr>
            <a:r>
              <a:rPr lang="en-US" sz="875" dirty="0">
                <a:solidFill>
                  <a:srgbClr val="3C3939"/>
                </a:solidFill>
                <a:latin typeface="Roboto" pitchFamily="34" charset="0"/>
                <a:ea typeface="Roboto" pitchFamily="34" charset="-122"/>
                <a:cs typeface="Roboto" pitchFamily="34" charset="-120"/>
              </a:rPr>
              <a:t>Performance testing setup, synthetic load generation, and monitoring</a:t>
            </a:r>
            <a:endParaRPr lang="en-US" sz="875" dirty="0"/>
          </a:p>
          <a:p>
            <a:pPr marL="285739" indent="-285739">
              <a:lnSpc>
                <a:spcPts val="1208"/>
              </a:lnSpc>
              <a:buSzPct val="100000"/>
              <a:buChar char="•"/>
            </a:pPr>
            <a:r>
              <a:rPr lang="en-US" sz="875" dirty="0">
                <a:solidFill>
                  <a:srgbClr val="3C3939"/>
                </a:solidFill>
                <a:latin typeface="Roboto" pitchFamily="34" charset="0"/>
                <a:ea typeface="Roboto" pitchFamily="34" charset="-122"/>
                <a:cs typeface="Roboto" pitchFamily="34" charset="-120"/>
              </a:rPr>
              <a:t>Security testing coverage for authentication, authorization, and input handling</a:t>
            </a:r>
            <a:endParaRPr lang="en-US" sz="875" dirty="0"/>
          </a:p>
          <a:p>
            <a:pPr marL="285739" indent="-285739">
              <a:lnSpc>
                <a:spcPts val="1208"/>
              </a:lnSpc>
              <a:buSzPct val="100000"/>
              <a:buChar char="•"/>
            </a:pPr>
            <a:r>
              <a:rPr lang="en-US" sz="875" dirty="0">
                <a:solidFill>
                  <a:srgbClr val="3C3939"/>
                </a:solidFill>
                <a:latin typeface="Roboto" pitchFamily="34" charset="0"/>
                <a:ea typeface="Roboto" pitchFamily="34" charset="-122"/>
                <a:cs typeface="Roboto" pitchFamily="34" charset="-120"/>
              </a:rPr>
              <a:t>Mobile device fragmentation, responsive layouts, and cross-device validation</a:t>
            </a:r>
            <a:endParaRPr lang="en-US" sz="875" dirty="0"/>
          </a:p>
        </p:txBody>
      </p:sp>
      <p:sp>
        <p:nvSpPr>
          <p:cNvPr id="28" name="Shape 23"/>
          <p:cNvSpPr/>
          <p:nvPr/>
        </p:nvSpPr>
        <p:spPr>
          <a:xfrm>
            <a:off x="657920" y="6005810"/>
            <a:ext cx="10876161" cy="394693"/>
          </a:xfrm>
          <a:prstGeom prst="roundRect">
            <a:avLst>
              <a:gd name="adj" fmla="val 12252"/>
            </a:avLst>
          </a:prstGeom>
          <a:solidFill>
            <a:srgbClr val="D2D2E0"/>
          </a:solidFill>
          <a:ln/>
        </p:spPr>
      </p:sp>
      <p:pic>
        <p:nvPicPr>
          <p:cNvPr id="29" name="Image 3" descr="preencoded.png"/>
          <p:cNvPicPr>
            <a:picLocks noChangeAspect="1"/>
          </p:cNvPicPr>
          <p:nvPr/>
        </p:nvPicPr>
        <p:blipFill>
          <a:blip r:embed="rId4"/>
          <a:stretch>
            <a:fillRect/>
          </a:stretch>
        </p:blipFill>
        <p:spPr>
          <a:xfrm>
            <a:off x="773014" y="6163270"/>
            <a:ext cx="143868" cy="115093"/>
          </a:xfrm>
          <a:prstGeom prst="rect">
            <a:avLst/>
          </a:prstGeom>
        </p:spPr>
      </p:pic>
      <p:sp>
        <p:nvSpPr>
          <p:cNvPr id="30" name="Text 24"/>
          <p:cNvSpPr/>
          <p:nvPr/>
        </p:nvSpPr>
        <p:spPr>
          <a:xfrm>
            <a:off x="1031974" y="6114653"/>
            <a:ext cx="10387013" cy="156170"/>
          </a:xfrm>
          <a:prstGeom prst="rect">
            <a:avLst/>
          </a:prstGeom>
          <a:noFill/>
          <a:ln/>
        </p:spPr>
        <p:txBody>
          <a:bodyPr wrap="none" lIns="0" tIns="0" rIns="0" bIns="0" rtlCol="0" anchor="t"/>
          <a:lstStyle/>
          <a:p>
            <a:pPr>
              <a:lnSpc>
                <a:spcPts val="1208"/>
              </a:lnSpc>
            </a:pPr>
            <a:r>
              <a:rPr lang="en-US" sz="875" b="1" dirty="0">
                <a:solidFill>
                  <a:srgbClr val="000000"/>
                </a:solidFill>
                <a:latin typeface="Roboto" pitchFamily="34" charset="0"/>
                <a:ea typeface="Roboto" pitchFamily="34" charset="-122"/>
                <a:cs typeface="Roboto" pitchFamily="34" charset="-120"/>
              </a:rPr>
              <a:t>Recommended practice:</a:t>
            </a:r>
            <a:r>
              <a:rPr lang="en-US" sz="875" dirty="0">
                <a:solidFill>
                  <a:srgbClr val="000000"/>
                </a:solidFill>
                <a:latin typeface="Roboto" pitchFamily="34" charset="0"/>
                <a:ea typeface="Roboto" pitchFamily="34" charset="-122"/>
                <a:cs typeface="Roboto" pitchFamily="34" charset="-120"/>
              </a:rPr>
              <a:t> standardize test naming, keep critical smoke tests fast, and review failures daily so teams can respond before issues accumulate.</a:t>
            </a:r>
            <a:endParaRPr lang="en-US" sz="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0000"/>
          </a:schemeClr>
        </a:solidFill>
        <a:effectLst/>
      </p:bgPr>
    </p:bg>
    <p:spTree>
      <p:nvGrpSpPr>
        <p:cNvPr id="1" name="">
          <a:extLst>
            <a:ext uri="{FF2B5EF4-FFF2-40B4-BE49-F238E27FC236}">
              <a16:creationId xmlns:a16="http://schemas.microsoft.com/office/drawing/2014/main" id="{E1FEDE52-A830-A84D-D57A-1E5B85D8B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15CD8-FF98-B49A-821E-7BA6DF8CDCE9}"/>
              </a:ext>
            </a:extLst>
          </p:cNvPr>
          <p:cNvSpPr>
            <a:spLocks noGrp="1"/>
          </p:cNvSpPr>
          <p:nvPr>
            <p:ph type="ctrTitle"/>
          </p:nvPr>
        </p:nvSpPr>
        <p:spPr/>
        <p:txBody>
          <a:bodyPr/>
          <a:lstStyle/>
          <a:p>
            <a:r>
              <a:rPr lang="en-US" b="1" dirty="0"/>
              <a:t>Deployment and Hosting</a:t>
            </a:r>
          </a:p>
        </p:txBody>
      </p:sp>
      <p:sp>
        <p:nvSpPr>
          <p:cNvPr id="3" name="Subtitle 2">
            <a:extLst>
              <a:ext uri="{FF2B5EF4-FFF2-40B4-BE49-F238E27FC236}">
                <a16:creationId xmlns:a16="http://schemas.microsoft.com/office/drawing/2014/main" id="{5CE5C339-FBFD-29E2-553D-2C2B1A5A6E7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227682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7128868" cy="413444"/>
          </a:xfrm>
          <a:prstGeom prst="rect">
            <a:avLst/>
          </a:prstGeom>
          <a:noFill/>
          <a:ln/>
        </p:spPr>
        <p:txBody>
          <a:bodyPr wrap="none" lIns="0" tIns="0" rIns="0" bIns="0" rtlCol="0" anchor="t"/>
          <a:lstStyle/>
          <a:p>
            <a:pPr defTabSz="761970">
              <a:lnSpc>
                <a:spcPts val="3250"/>
              </a:lnSpc>
            </a:pPr>
            <a:r>
              <a:rPr lang="en-US" sz="2583" dirty="0">
                <a:solidFill>
                  <a:srgbClr val="1B1B27"/>
                </a:solidFill>
                <a:latin typeface="Raleway" pitchFamily="34" charset="0"/>
                <a:ea typeface="Raleway" pitchFamily="34" charset="-122"/>
                <a:cs typeface="Raleway" pitchFamily="34" charset="-120"/>
              </a:rPr>
              <a:t>Deployment and Hosting in Web Development</a:t>
            </a:r>
            <a:endParaRPr lang="en-US" sz="2583" dirty="0">
              <a:solidFill>
                <a:prstClr val="black"/>
              </a:solidFill>
              <a:latin typeface="Calibri" panose="020F0502020204030204"/>
            </a:endParaRPr>
          </a:p>
        </p:txBody>
      </p:sp>
      <p:sp>
        <p:nvSpPr>
          <p:cNvPr id="3" name="Text 1"/>
          <p:cNvSpPr/>
          <p:nvPr/>
        </p:nvSpPr>
        <p:spPr>
          <a:xfrm>
            <a:off x="661492" y="1118494"/>
            <a:ext cx="10869018" cy="224929"/>
          </a:xfrm>
          <a:prstGeom prst="rect">
            <a:avLst/>
          </a:prstGeom>
          <a:noFill/>
          <a:ln/>
        </p:spPr>
        <p:txBody>
          <a:bodyPr wrap="none" lIns="0" tIns="0" rIns="0" bIns="0" rtlCol="0" anchor="t"/>
          <a:lstStyle/>
          <a:p>
            <a:pPr defTabSz="761970">
              <a:lnSpc>
                <a:spcPts val="1750"/>
              </a:lnSpc>
            </a:pPr>
            <a:r>
              <a:rPr lang="en-US" sz="1292" dirty="0">
                <a:solidFill>
                  <a:srgbClr val="3C3939"/>
                </a:solidFill>
                <a:latin typeface="Roboto" pitchFamily="34" charset="0"/>
                <a:ea typeface="Roboto" pitchFamily="34" charset="-122"/>
                <a:cs typeface="Roboto" pitchFamily="34" charset="-120"/>
              </a:rPr>
              <a:t>A comprehensive guide to getting your applications live and running smoothly in production environments.</a:t>
            </a:r>
            <a:endParaRPr lang="en-US" sz="1292" dirty="0">
              <a:solidFill>
                <a:prstClr val="black"/>
              </a:solidFill>
              <a:latin typeface="Calibri" panose="020F0502020204030204"/>
            </a:endParaRPr>
          </a:p>
        </p:txBody>
      </p:sp>
      <p:sp>
        <p:nvSpPr>
          <p:cNvPr id="4" name="Text 2"/>
          <p:cNvSpPr/>
          <p:nvPr/>
        </p:nvSpPr>
        <p:spPr>
          <a:xfrm>
            <a:off x="661492" y="1447602"/>
            <a:ext cx="10869018" cy="674787"/>
          </a:xfrm>
          <a:prstGeom prst="rect">
            <a:avLst/>
          </a:prstGeom>
          <a:noFill/>
          <a:ln/>
        </p:spPr>
        <p:txBody>
          <a:bodyPr wrap="square" lIns="0" tIns="0" rIns="0" bIns="0" rtlCol="0" anchor="t"/>
          <a:lstStyle/>
          <a:p>
            <a:pPr defTabSz="761970">
              <a:lnSpc>
                <a:spcPts val="1750"/>
              </a:lnSpc>
            </a:pPr>
            <a:r>
              <a:rPr lang="en-US" sz="1292" dirty="0">
                <a:solidFill>
                  <a:srgbClr val="3C3939"/>
                </a:solidFill>
                <a:latin typeface="Roboto" pitchFamily="34" charset="0"/>
                <a:ea typeface="Roboto" pitchFamily="34" charset="-122"/>
                <a:cs typeface="Roboto" pitchFamily="34" charset="-120"/>
              </a:rPr>
              <a:t>Deployment is the critical bridge between a finished development project and a live, accessible application.</a:t>
            </a:r>
            <a:endParaRPr lang="en-US" sz="1292" dirty="0">
              <a:solidFill>
                <a:prstClr val="black"/>
              </a:solidFill>
              <a:latin typeface="Calibri" panose="020F0502020204030204"/>
            </a:endParaRPr>
          </a:p>
        </p:txBody>
      </p:sp>
      <p:sp>
        <p:nvSpPr>
          <p:cNvPr id="5" name="Shape 3"/>
          <p:cNvSpPr/>
          <p:nvPr/>
        </p:nvSpPr>
        <p:spPr>
          <a:xfrm>
            <a:off x="661492" y="2226569"/>
            <a:ext cx="10869018" cy="3579218"/>
          </a:xfrm>
          <a:prstGeom prst="roundRect">
            <a:avLst>
              <a:gd name="adj" fmla="val 1553"/>
            </a:avLst>
          </a:prstGeom>
          <a:noFill/>
          <a:ln w="7620">
            <a:solidFill>
              <a:srgbClr val="000000">
                <a:alpha val="8000"/>
              </a:srgbClr>
            </a:solidFill>
            <a:prstDash val="solid"/>
          </a:ln>
        </p:spPr>
      </p:sp>
      <p:sp>
        <p:nvSpPr>
          <p:cNvPr id="6" name="Shape 4"/>
          <p:cNvSpPr/>
          <p:nvPr/>
        </p:nvSpPr>
        <p:spPr>
          <a:xfrm>
            <a:off x="667842" y="2232919"/>
            <a:ext cx="10856318" cy="483791"/>
          </a:xfrm>
          <a:prstGeom prst="rect">
            <a:avLst/>
          </a:prstGeom>
          <a:solidFill>
            <a:srgbClr val="FFFFFF">
              <a:alpha val="4000"/>
            </a:srgbClr>
          </a:solidFill>
          <a:ln/>
        </p:spPr>
      </p:sp>
      <p:sp>
        <p:nvSpPr>
          <p:cNvPr id="7" name="Text 5"/>
          <p:cNvSpPr/>
          <p:nvPr/>
        </p:nvSpPr>
        <p:spPr>
          <a:xfrm>
            <a:off x="800397" y="2294831"/>
            <a:ext cx="1903512" cy="179983"/>
          </a:xfrm>
          <a:prstGeom prst="rect">
            <a:avLst/>
          </a:prstGeom>
          <a:noFill/>
          <a:ln/>
        </p:spPr>
        <p:txBody>
          <a:bodyPr wrap="non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Application Type</a:t>
            </a:r>
            <a:endParaRPr lang="en-US" sz="1042" dirty="0">
              <a:solidFill>
                <a:prstClr val="black"/>
              </a:solidFill>
              <a:latin typeface="Calibri" panose="020F0502020204030204"/>
            </a:endParaRPr>
          </a:p>
        </p:txBody>
      </p:sp>
      <p:sp>
        <p:nvSpPr>
          <p:cNvPr id="8" name="Text 6"/>
          <p:cNvSpPr/>
          <p:nvPr/>
        </p:nvSpPr>
        <p:spPr>
          <a:xfrm>
            <a:off x="2974777" y="2294831"/>
            <a:ext cx="1900337" cy="179983"/>
          </a:xfrm>
          <a:prstGeom prst="rect">
            <a:avLst/>
          </a:prstGeom>
          <a:noFill/>
          <a:ln/>
        </p:spPr>
        <p:txBody>
          <a:bodyPr wrap="non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Runtime</a:t>
            </a:r>
            <a:endParaRPr lang="en-US" sz="1042" dirty="0">
              <a:solidFill>
                <a:prstClr val="black"/>
              </a:solidFill>
              <a:latin typeface="Calibri" panose="020F0502020204030204"/>
            </a:endParaRPr>
          </a:p>
        </p:txBody>
      </p:sp>
      <p:sp>
        <p:nvSpPr>
          <p:cNvPr id="9" name="Text 7"/>
          <p:cNvSpPr/>
          <p:nvPr/>
        </p:nvSpPr>
        <p:spPr>
          <a:xfrm>
            <a:off x="5145981" y="2294831"/>
            <a:ext cx="860326" cy="359966"/>
          </a:xfrm>
          <a:prstGeom prst="rect">
            <a:avLst/>
          </a:prstGeom>
          <a:noFill/>
          <a:ln/>
        </p:spPr>
        <p:txBody>
          <a:bodyPr wrap="squar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Server Needed</a:t>
            </a:r>
            <a:endParaRPr lang="en-US" sz="1042" dirty="0">
              <a:solidFill>
                <a:prstClr val="black"/>
              </a:solidFill>
              <a:latin typeface="Calibri" panose="020F0502020204030204"/>
            </a:endParaRPr>
          </a:p>
        </p:txBody>
      </p:sp>
      <p:sp>
        <p:nvSpPr>
          <p:cNvPr id="10" name="Text 8"/>
          <p:cNvSpPr/>
          <p:nvPr/>
        </p:nvSpPr>
        <p:spPr>
          <a:xfrm>
            <a:off x="6277174" y="2294831"/>
            <a:ext cx="2157611" cy="179983"/>
          </a:xfrm>
          <a:prstGeom prst="rect">
            <a:avLst/>
          </a:prstGeom>
          <a:noFill/>
          <a:ln/>
        </p:spPr>
        <p:txBody>
          <a:bodyPr wrap="non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Web Server / Proxy</a:t>
            </a:r>
            <a:endParaRPr lang="en-US" sz="1042" dirty="0">
              <a:solidFill>
                <a:prstClr val="black"/>
              </a:solidFill>
              <a:latin typeface="Calibri" panose="020F0502020204030204"/>
            </a:endParaRPr>
          </a:p>
        </p:txBody>
      </p:sp>
      <p:sp>
        <p:nvSpPr>
          <p:cNvPr id="11" name="Text 9"/>
          <p:cNvSpPr/>
          <p:nvPr/>
        </p:nvSpPr>
        <p:spPr>
          <a:xfrm>
            <a:off x="8705652" y="2294831"/>
            <a:ext cx="2686248" cy="179983"/>
          </a:xfrm>
          <a:prstGeom prst="rect">
            <a:avLst/>
          </a:prstGeom>
          <a:noFill/>
          <a:ln/>
        </p:spPr>
        <p:txBody>
          <a:bodyPr wrap="non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Deployment Notes</a:t>
            </a:r>
            <a:endParaRPr lang="en-US" sz="1042" dirty="0">
              <a:solidFill>
                <a:prstClr val="black"/>
              </a:solidFill>
              <a:latin typeface="Calibri" panose="020F0502020204030204"/>
            </a:endParaRPr>
          </a:p>
        </p:txBody>
      </p:sp>
      <p:sp>
        <p:nvSpPr>
          <p:cNvPr id="12" name="Shape 10"/>
          <p:cNvSpPr/>
          <p:nvPr/>
        </p:nvSpPr>
        <p:spPr>
          <a:xfrm>
            <a:off x="667842" y="2716709"/>
            <a:ext cx="10856318" cy="483791"/>
          </a:xfrm>
          <a:prstGeom prst="rect">
            <a:avLst/>
          </a:prstGeom>
          <a:solidFill>
            <a:srgbClr val="000000">
              <a:alpha val="4000"/>
            </a:srgbClr>
          </a:solidFill>
          <a:ln/>
        </p:spPr>
      </p:sp>
      <p:sp>
        <p:nvSpPr>
          <p:cNvPr id="13" name="Text 11"/>
          <p:cNvSpPr/>
          <p:nvPr/>
        </p:nvSpPr>
        <p:spPr>
          <a:xfrm>
            <a:off x="800397" y="2778621"/>
            <a:ext cx="1903512" cy="179983"/>
          </a:xfrm>
          <a:prstGeom prst="rect">
            <a:avLst/>
          </a:prstGeom>
          <a:noFill/>
          <a:ln/>
        </p:spPr>
        <p:txBody>
          <a:bodyPr wrap="non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PHP Apps</a:t>
            </a:r>
            <a:r>
              <a:rPr lang="en-US" sz="1042" dirty="0">
                <a:solidFill>
                  <a:srgbClr val="3C3939"/>
                </a:solidFill>
                <a:latin typeface="Roboto" pitchFamily="34" charset="0"/>
                <a:ea typeface="Roboto" pitchFamily="34" charset="-122"/>
                <a:cs typeface="Roboto" pitchFamily="34" charset="-120"/>
              </a:rPr>
              <a:t> (WordPress, Laravel)</a:t>
            </a:r>
            <a:endParaRPr lang="en-US" sz="1042" dirty="0">
              <a:solidFill>
                <a:prstClr val="black"/>
              </a:solidFill>
              <a:latin typeface="Calibri" panose="020F0502020204030204"/>
            </a:endParaRPr>
          </a:p>
        </p:txBody>
      </p:sp>
      <p:sp>
        <p:nvSpPr>
          <p:cNvPr id="14" name="Text 12"/>
          <p:cNvSpPr/>
          <p:nvPr/>
        </p:nvSpPr>
        <p:spPr>
          <a:xfrm>
            <a:off x="2974777" y="2778621"/>
            <a:ext cx="1900337"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PHP Runtime (PHP-FPM)</a:t>
            </a:r>
            <a:endParaRPr lang="en-US" sz="1042" dirty="0">
              <a:solidFill>
                <a:prstClr val="black"/>
              </a:solidFill>
              <a:latin typeface="Calibri" panose="020F0502020204030204"/>
            </a:endParaRPr>
          </a:p>
        </p:txBody>
      </p:sp>
      <p:sp>
        <p:nvSpPr>
          <p:cNvPr id="15" name="Text 13"/>
          <p:cNvSpPr/>
          <p:nvPr/>
        </p:nvSpPr>
        <p:spPr>
          <a:xfrm>
            <a:off x="5145981" y="2778621"/>
            <a:ext cx="860326"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Yes</a:t>
            </a:r>
            <a:endParaRPr lang="en-US" sz="1042" dirty="0">
              <a:solidFill>
                <a:prstClr val="black"/>
              </a:solidFill>
              <a:latin typeface="Calibri" panose="020F0502020204030204"/>
            </a:endParaRPr>
          </a:p>
        </p:txBody>
      </p:sp>
      <p:sp>
        <p:nvSpPr>
          <p:cNvPr id="16" name="Text 14"/>
          <p:cNvSpPr/>
          <p:nvPr/>
        </p:nvSpPr>
        <p:spPr>
          <a:xfrm>
            <a:off x="6277174" y="2778621"/>
            <a:ext cx="2157611"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Apache / Nginx</a:t>
            </a:r>
            <a:endParaRPr lang="en-US" sz="1042" dirty="0">
              <a:solidFill>
                <a:prstClr val="black"/>
              </a:solidFill>
              <a:latin typeface="Calibri" panose="020F0502020204030204"/>
            </a:endParaRPr>
          </a:p>
        </p:txBody>
      </p:sp>
      <p:sp>
        <p:nvSpPr>
          <p:cNvPr id="17" name="Text 15"/>
          <p:cNvSpPr/>
          <p:nvPr/>
        </p:nvSpPr>
        <p:spPr>
          <a:xfrm>
            <a:off x="8705652" y="2778621"/>
            <a:ext cx="2686248" cy="359966"/>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PHP runs via PHP-FPM and is invoked by the web server (LAMP/LEMP model)</a:t>
            </a:r>
            <a:endParaRPr lang="en-US" sz="1042" dirty="0">
              <a:solidFill>
                <a:prstClr val="black"/>
              </a:solidFill>
              <a:latin typeface="Calibri" panose="020F0502020204030204"/>
            </a:endParaRPr>
          </a:p>
        </p:txBody>
      </p:sp>
      <p:sp>
        <p:nvSpPr>
          <p:cNvPr id="18" name="Shape 16"/>
          <p:cNvSpPr/>
          <p:nvPr/>
        </p:nvSpPr>
        <p:spPr>
          <a:xfrm>
            <a:off x="667842" y="3200500"/>
            <a:ext cx="10856318" cy="483791"/>
          </a:xfrm>
          <a:prstGeom prst="rect">
            <a:avLst/>
          </a:prstGeom>
          <a:solidFill>
            <a:srgbClr val="FFFFFF">
              <a:alpha val="4000"/>
            </a:srgbClr>
          </a:solidFill>
          <a:ln/>
        </p:spPr>
      </p:sp>
      <p:sp>
        <p:nvSpPr>
          <p:cNvPr id="19" name="Text 17"/>
          <p:cNvSpPr/>
          <p:nvPr/>
        </p:nvSpPr>
        <p:spPr>
          <a:xfrm>
            <a:off x="800397" y="3262412"/>
            <a:ext cx="1903512" cy="359966"/>
          </a:xfrm>
          <a:prstGeom prst="rect">
            <a:avLst/>
          </a:prstGeom>
          <a:noFill/>
          <a:ln/>
        </p:spPr>
        <p:txBody>
          <a:bodyPr wrap="square" lIns="0" tIns="0" rIns="0" bIns="0" rtlCol="0" anchor="t"/>
          <a:lstStyle/>
          <a:p>
            <a:pPr defTabSz="761970">
              <a:lnSpc>
                <a:spcPts val="1417"/>
              </a:lnSpc>
            </a:pPr>
            <a:r>
              <a:rPr lang="en-US" sz="1042" b="1" u="sng" dirty="0">
                <a:solidFill>
                  <a:srgbClr val="1B1B27"/>
                </a:solidFill>
                <a:latin typeface="Roboto" pitchFamily="34" charset="0"/>
                <a:ea typeface="Roboto" pitchFamily="34" charset="-122"/>
                <a:cs typeface="Roboto" pitchFamily="34" charset="-120"/>
                <a:hlinkClick r:id="rId3">
                  <a:extLst>
                    <a:ext uri="{A12FA001-AC4F-418D-AE19-62706E023703}">
                      <ahyp:hlinkClr xmlns:ahyp="http://schemas.microsoft.com/office/drawing/2018/hyperlinkcolor" val="tx"/>
                    </a:ext>
                  </a:extLst>
                </a:hlinkClick>
              </a:rPr>
              <a:t>ASP.NET</a:t>
            </a:r>
            <a:r>
              <a:rPr lang="en-US" sz="1042" b="1" dirty="0">
                <a:solidFill>
                  <a:srgbClr val="3C3939"/>
                </a:solidFill>
                <a:latin typeface="Roboto" pitchFamily="34" charset="0"/>
                <a:ea typeface="Roboto" pitchFamily="34" charset="-122"/>
                <a:cs typeface="Roboto" pitchFamily="34" charset="-120"/>
              </a:rPr>
              <a:t> Core Apps</a:t>
            </a:r>
            <a:r>
              <a:rPr lang="en-US" sz="1042" dirty="0">
                <a:solidFill>
                  <a:srgbClr val="3C3939"/>
                </a:solidFill>
                <a:latin typeface="Roboto" pitchFamily="34" charset="0"/>
                <a:ea typeface="Roboto" pitchFamily="34" charset="-122"/>
                <a:cs typeface="Roboto" pitchFamily="34" charset="-120"/>
              </a:rPr>
              <a:t> (MVC, Web API)</a:t>
            </a:r>
            <a:endParaRPr lang="en-US" sz="1042" dirty="0">
              <a:solidFill>
                <a:prstClr val="black"/>
              </a:solidFill>
              <a:latin typeface="Calibri" panose="020F0502020204030204"/>
            </a:endParaRPr>
          </a:p>
        </p:txBody>
      </p:sp>
      <p:sp>
        <p:nvSpPr>
          <p:cNvPr id="20" name="Text 18"/>
          <p:cNvSpPr/>
          <p:nvPr/>
        </p:nvSpPr>
        <p:spPr>
          <a:xfrm>
            <a:off x="2974777" y="3262412"/>
            <a:ext cx="1900337"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.NET Runtime + Kestrel</a:t>
            </a:r>
            <a:endParaRPr lang="en-US" sz="1042" dirty="0">
              <a:solidFill>
                <a:prstClr val="black"/>
              </a:solidFill>
              <a:latin typeface="Calibri" panose="020F0502020204030204"/>
            </a:endParaRPr>
          </a:p>
        </p:txBody>
      </p:sp>
      <p:sp>
        <p:nvSpPr>
          <p:cNvPr id="21" name="Text 19"/>
          <p:cNvSpPr/>
          <p:nvPr/>
        </p:nvSpPr>
        <p:spPr>
          <a:xfrm>
            <a:off x="5145981" y="3262412"/>
            <a:ext cx="860326"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Yes</a:t>
            </a:r>
            <a:endParaRPr lang="en-US" sz="1042" dirty="0">
              <a:solidFill>
                <a:prstClr val="black"/>
              </a:solidFill>
              <a:latin typeface="Calibri" panose="020F0502020204030204"/>
            </a:endParaRPr>
          </a:p>
        </p:txBody>
      </p:sp>
      <p:sp>
        <p:nvSpPr>
          <p:cNvPr id="22" name="Text 20"/>
          <p:cNvSpPr/>
          <p:nvPr/>
        </p:nvSpPr>
        <p:spPr>
          <a:xfrm>
            <a:off x="6277174" y="3262412"/>
            <a:ext cx="2157611"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Kestrel + optional Nginx / IIS</a:t>
            </a:r>
            <a:endParaRPr lang="en-US" sz="1042" dirty="0">
              <a:solidFill>
                <a:prstClr val="black"/>
              </a:solidFill>
              <a:latin typeface="Calibri" panose="020F0502020204030204"/>
            </a:endParaRPr>
          </a:p>
        </p:txBody>
      </p:sp>
      <p:sp>
        <p:nvSpPr>
          <p:cNvPr id="23" name="Text 21"/>
          <p:cNvSpPr/>
          <p:nvPr/>
        </p:nvSpPr>
        <p:spPr>
          <a:xfrm>
            <a:off x="8705652" y="3262412"/>
            <a:ext cx="2686248" cy="359966"/>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Kestrel is the built-in web server; IIS/Nginx typically used as reverse proxy in production</a:t>
            </a:r>
            <a:endParaRPr lang="en-US" sz="1042" dirty="0">
              <a:solidFill>
                <a:prstClr val="black"/>
              </a:solidFill>
              <a:latin typeface="Calibri" panose="020F0502020204030204"/>
            </a:endParaRPr>
          </a:p>
        </p:txBody>
      </p:sp>
      <p:sp>
        <p:nvSpPr>
          <p:cNvPr id="24" name="Shape 22"/>
          <p:cNvSpPr/>
          <p:nvPr/>
        </p:nvSpPr>
        <p:spPr>
          <a:xfrm>
            <a:off x="667842" y="3684290"/>
            <a:ext cx="10856318" cy="483791"/>
          </a:xfrm>
          <a:prstGeom prst="rect">
            <a:avLst/>
          </a:prstGeom>
          <a:solidFill>
            <a:srgbClr val="000000">
              <a:alpha val="4000"/>
            </a:srgbClr>
          </a:solidFill>
          <a:ln/>
        </p:spPr>
      </p:sp>
      <p:sp>
        <p:nvSpPr>
          <p:cNvPr id="25" name="Text 23"/>
          <p:cNvSpPr/>
          <p:nvPr/>
        </p:nvSpPr>
        <p:spPr>
          <a:xfrm>
            <a:off x="800397" y="3746203"/>
            <a:ext cx="1903512" cy="359966"/>
          </a:xfrm>
          <a:prstGeom prst="rect">
            <a:avLst/>
          </a:prstGeom>
          <a:noFill/>
          <a:ln/>
        </p:spPr>
        <p:txBody>
          <a:bodyPr wrap="squar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JavaScript Frontend Apps</a:t>
            </a:r>
            <a:r>
              <a:rPr lang="en-US" sz="1042" dirty="0">
                <a:solidFill>
                  <a:srgbClr val="3C3939"/>
                </a:solidFill>
                <a:latin typeface="Roboto" pitchFamily="34" charset="0"/>
                <a:ea typeface="Roboto" pitchFamily="34" charset="-122"/>
                <a:cs typeface="Roboto" pitchFamily="34" charset="-120"/>
              </a:rPr>
              <a:t> (React, Angular, Vue)</a:t>
            </a:r>
            <a:endParaRPr lang="en-US" sz="1042" dirty="0">
              <a:solidFill>
                <a:prstClr val="black"/>
              </a:solidFill>
              <a:latin typeface="Calibri" panose="020F0502020204030204"/>
            </a:endParaRPr>
          </a:p>
        </p:txBody>
      </p:sp>
      <p:sp>
        <p:nvSpPr>
          <p:cNvPr id="26" name="Text 24"/>
          <p:cNvSpPr/>
          <p:nvPr/>
        </p:nvSpPr>
        <p:spPr>
          <a:xfrm>
            <a:off x="2974777" y="3746203"/>
            <a:ext cx="1900337" cy="359966"/>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Browser JavaScript Engine (V8, etc.)</a:t>
            </a:r>
            <a:endParaRPr lang="en-US" sz="1042" dirty="0">
              <a:solidFill>
                <a:prstClr val="black"/>
              </a:solidFill>
              <a:latin typeface="Calibri" panose="020F0502020204030204"/>
            </a:endParaRPr>
          </a:p>
        </p:txBody>
      </p:sp>
      <p:sp>
        <p:nvSpPr>
          <p:cNvPr id="27" name="Text 25"/>
          <p:cNvSpPr/>
          <p:nvPr/>
        </p:nvSpPr>
        <p:spPr>
          <a:xfrm>
            <a:off x="5145981" y="3746203"/>
            <a:ext cx="860326"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No</a:t>
            </a:r>
            <a:endParaRPr lang="en-US" sz="1042" dirty="0">
              <a:solidFill>
                <a:prstClr val="black"/>
              </a:solidFill>
              <a:latin typeface="Calibri" panose="020F0502020204030204"/>
            </a:endParaRPr>
          </a:p>
        </p:txBody>
      </p:sp>
      <p:sp>
        <p:nvSpPr>
          <p:cNvPr id="28" name="Text 26"/>
          <p:cNvSpPr/>
          <p:nvPr/>
        </p:nvSpPr>
        <p:spPr>
          <a:xfrm>
            <a:off x="6277174" y="3746203"/>
            <a:ext cx="2157611" cy="359966"/>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Not required (optional static server/CDN)</a:t>
            </a:r>
            <a:endParaRPr lang="en-US" sz="1042" dirty="0">
              <a:solidFill>
                <a:prstClr val="black"/>
              </a:solidFill>
              <a:latin typeface="Calibri" panose="020F0502020204030204"/>
            </a:endParaRPr>
          </a:p>
        </p:txBody>
      </p:sp>
      <p:sp>
        <p:nvSpPr>
          <p:cNvPr id="29" name="Text 27"/>
          <p:cNvSpPr/>
          <p:nvPr/>
        </p:nvSpPr>
        <p:spPr>
          <a:xfrm>
            <a:off x="8705652" y="3746203"/>
            <a:ext cx="2686248" cy="359966"/>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Built into static files (HTML/CSS/JS) and served via CDN or static hosting</a:t>
            </a:r>
            <a:endParaRPr lang="en-US" sz="1042" dirty="0">
              <a:solidFill>
                <a:prstClr val="black"/>
              </a:solidFill>
              <a:latin typeface="Calibri" panose="020F0502020204030204"/>
            </a:endParaRPr>
          </a:p>
        </p:txBody>
      </p:sp>
      <p:sp>
        <p:nvSpPr>
          <p:cNvPr id="30" name="Shape 28"/>
          <p:cNvSpPr/>
          <p:nvPr/>
        </p:nvSpPr>
        <p:spPr>
          <a:xfrm>
            <a:off x="667842" y="4168081"/>
            <a:ext cx="10856318" cy="483791"/>
          </a:xfrm>
          <a:prstGeom prst="rect">
            <a:avLst/>
          </a:prstGeom>
          <a:solidFill>
            <a:srgbClr val="FFFFFF">
              <a:alpha val="4000"/>
            </a:srgbClr>
          </a:solidFill>
          <a:ln/>
        </p:spPr>
      </p:sp>
      <p:sp>
        <p:nvSpPr>
          <p:cNvPr id="31" name="Text 29"/>
          <p:cNvSpPr/>
          <p:nvPr/>
        </p:nvSpPr>
        <p:spPr>
          <a:xfrm>
            <a:off x="800397" y="4229994"/>
            <a:ext cx="1903512" cy="359966"/>
          </a:xfrm>
          <a:prstGeom prst="rect">
            <a:avLst/>
          </a:prstGeom>
          <a:noFill/>
          <a:ln/>
        </p:spPr>
        <p:txBody>
          <a:bodyPr wrap="squar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JavaScript Backend Apps</a:t>
            </a:r>
            <a:r>
              <a:rPr lang="en-US" sz="1042" dirty="0">
                <a:solidFill>
                  <a:srgbClr val="3C3939"/>
                </a:solidFill>
                <a:latin typeface="Roboto" pitchFamily="34" charset="0"/>
                <a:ea typeface="Roboto" pitchFamily="34" charset="-122"/>
                <a:cs typeface="Roboto" pitchFamily="34" charset="-120"/>
              </a:rPr>
              <a:t> (Express, Next.js, NestJS)</a:t>
            </a:r>
            <a:endParaRPr lang="en-US" sz="1042" dirty="0">
              <a:solidFill>
                <a:prstClr val="black"/>
              </a:solidFill>
              <a:latin typeface="Calibri" panose="020F0502020204030204"/>
            </a:endParaRPr>
          </a:p>
        </p:txBody>
      </p:sp>
      <p:sp>
        <p:nvSpPr>
          <p:cNvPr id="32" name="Text 30"/>
          <p:cNvSpPr/>
          <p:nvPr/>
        </p:nvSpPr>
        <p:spPr>
          <a:xfrm>
            <a:off x="2974777" y="4229994"/>
            <a:ext cx="1900337"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Node.js Runtime (V8-based)</a:t>
            </a:r>
            <a:endParaRPr lang="en-US" sz="1042" dirty="0">
              <a:solidFill>
                <a:prstClr val="black"/>
              </a:solidFill>
              <a:latin typeface="Calibri" panose="020F0502020204030204"/>
            </a:endParaRPr>
          </a:p>
        </p:txBody>
      </p:sp>
      <p:sp>
        <p:nvSpPr>
          <p:cNvPr id="33" name="Text 31"/>
          <p:cNvSpPr/>
          <p:nvPr/>
        </p:nvSpPr>
        <p:spPr>
          <a:xfrm>
            <a:off x="5145981" y="4229994"/>
            <a:ext cx="860326"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Yes</a:t>
            </a:r>
            <a:endParaRPr lang="en-US" sz="1042" dirty="0">
              <a:solidFill>
                <a:prstClr val="black"/>
              </a:solidFill>
              <a:latin typeface="Calibri" panose="020F0502020204030204"/>
            </a:endParaRPr>
          </a:p>
        </p:txBody>
      </p:sp>
      <p:sp>
        <p:nvSpPr>
          <p:cNvPr id="34" name="Text 32"/>
          <p:cNvSpPr/>
          <p:nvPr/>
        </p:nvSpPr>
        <p:spPr>
          <a:xfrm>
            <a:off x="6277174" y="4229994"/>
            <a:ext cx="2157611"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Optional Nginx (reverse proxy)</a:t>
            </a:r>
            <a:endParaRPr lang="en-US" sz="1042" dirty="0">
              <a:solidFill>
                <a:prstClr val="black"/>
              </a:solidFill>
              <a:latin typeface="Calibri" panose="020F0502020204030204"/>
            </a:endParaRPr>
          </a:p>
        </p:txBody>
      </p:sp>
      <p:sp>
        <p:nvSpPr>
          <p:cNvPr id="35" name="Text 33"/>
          <p:cNvSpPr/>
          <p:nvPr/>
        </p:nvSpPr>
        <p:spPr>
          <a:xfrm>
            <a:off x="8705652" y="4229994"/>
            <a:ext cx="2686248" cy="359966"/>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Node.js runs the application server directly; Nginx may be used for routing and SSL</a:t>
            </a:r>
            <a:endParaRPr lang="en-US" sz="1042" dirty="0">
              <a:solidFill>
                <a:prstClr val="black"/>
              </a:solidFill>
              <a:latin typeface="Calibri" panose="020F0502020204030204"/>
            </a:endParaRPr>
          </a:p>
        </p:txBody>
      </p:sp>
      <p:sp>
        <p:nvSpPr>
          <p:cNvPr id="36" name="Shape 34"/>
          <p:cNvSpPr/>
          <p:nvPr/>
        </p:nvSpPr>
        <p:spPr>
          <a:xfrm>
            <a:off x="667842" y="4651871"/>
            <a:ext cx="10856318" cy="483791"/>
          </a:xfrm>
          <a:prstGeom prst="rect">
            <a:avLst/>
          </a:prstGeom>
          <a:solidFill>
            <a:srgbClr val="000000">
              <a:alpha val="4000"/>
            </a:srgbClr>
          </a:solidFill>
          <a:ln/>
        </p:spPr>
      </p:sp>
      <p:sp>
        <p:nvSpPr>
          <p:cNvPr id="37" name="Text 35"/>
          <p:cNvSpPr/>
          <p:nvPr/>
        </p:nvSpPr>
        <p:spPr>
          <a:xfrm>
            <a:off x="800397" y="4713784"/>
            <a:ext cx="1903512" cy="179983"/>
          </a:xfrm>
          <a:prstGeom prst="rect">
            <a:avLst/>
          </a:prstGeom>
          <a:noFill/>
          <a:ln/>
        </p:spPr>
        <p:txBody>
          <a:bodyPr wrap="non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Python Apps</a:t>
            </a:r>
            <a:r>
              <a:rPr lang="en-US" sz="1042" dirty="0">
                <a:solidFill>
                  <a:srgbClr val="3C3939"/>
                </a:solidFill>
                <a:latin typeface="Roboto" pitchFamily="34" charset="0"/>
                <a:ea typeface="Roboto" pitchFamily="34" charset="-122"/>
                <a:cs typeface="Roboto" pitchFamily="34" charset="-120"/>
              </a:rPr>
              <a:t> (Django, Flask)</a:t>
            </a:r>
            <a:endParaRPr lang="en-US" sz="1042" dirty="0">
              <a:solidFill>
                <a:prstClr val="black"/>
              </a:solidFill>
              <a:latin typeface="Calibri" panose="020F0502020204030204"/>
            </a:endParaRPr>
          </a:p>
        </p:txBody>
      </p:sp>
      <p:sp>
        <p:nvSpPr>
          <p:cNvPr id="38" name="Text 36"/>
          <p:cNvSpPr/>
          <p:nvPr/>
        </p:nvSpPr>
        <p:spPr>
          <a:xfrm>
            <a:off x="2974777" y="4713784"/>
            <a:ext cx="1900337"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Python Runtime (CPython)</a:t>
            </a:r>
            <a:endParaRPr lang="en-US" sz="1042" dirty="0">
              <a:solidFill>
                <a:prstClr val="black"/>
              </a:solidFill>
              <a:latin typeface="Calibri" panose="020F0502020204030204"/>
            </a:endParaRPr>
          </a:p>
        </p:txBody>
      </p:sp>
      <p:sp>
        <p:nvSpPr>
          <p:cNvPr id="39" name="Text 37"/>
          <p:cNvSpPr/>
          <p:nvPr/>
        </p:nvSpPr>
        <p:spPr>
          <a:xfrm>
            <a:off x="5145981" y="4713784"/>
            <a:ext cx="860326"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Yes</a:t>
            </a:r>
            <a:endParaRPr lang="en-US" sz="1042" dirty="0">
              <a:solidFill>
                <a:prstClr val="black"/>
              </a:solidFill>
              <a:latin typeface="Calibri" panose="020F0502020204030204"/>
            </a:endParaRPr>
          </a:p>
        </p:txBody>
      </p:sp>
      <p:sp>
        <p:nvSpPr>
          <p:cNvPr id="40" name="Text 38"/>
          <p:cNvSpPr/>
          <p:nvPr/>
        </p:nvSpPr>
        <p:spPr>
          <a:xfrm>
            <a:off x="6277174" y="4713784"/>
            <a:ext cx="2157611"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Gunicorn/uWSGI + Nginx</a:t>
            </a:r>
            <a:endParaRPr lang="en-US" sz="1042" dirty="0">
              <a:solidFill>
                <a:prstClr val="black"/>
              </a:solidFill>
              <a:latin typeface="Calibri" panose="020F0502020204030204"/>
            </a:endParaRPr>
          </a:p>
        </p:txBody>
      </p:sp>
      <p:sp>
        <p:nvSpPr>
          <p:cNvPr id="41" name="Text 39"/>
          <p:cNvSpPr/>
          <p:nvPr/>
        </p:nvSpPr>
        <p:spPr>
          <a:xfrm>
            <a:off x="8705652" y="4713784"/>
            <a:ext cx="2686248" cy="359966"/>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Gunicorn/uWSGI act as application servers; Nginx forwards client requests to them</a:t>
            </a:r>
            <a:endParaRPr lang="en-US" sz="1042" dirty="0">
              <a:solidFill>
                <a:prstClr val="black"/>
              </a:solidFill>
              <a:latin typeface="Calibri" panose="020F0502020204030204"/>
            </a:endParaRPr>
          </a:p>
        </p:txBody>
      </p:sp>
      <p:sp>
        <p:nvSpPr>
          <p:cNvPr id="42" name="Shape 40"/>
          <p:cNvSpPr/>
          <p:nvPr/>
        </p:nvSpPr>
        <p:spPr>
          <a:xfrm>
            <a:off x="667842" y="5135662"/>
            <a:ext cx="10856318" cy="663773"/>
          </a:xfrm>
          <a:prstGeom prst="rect">
            <a:avLst/>
          </a:prstGeom>
          <a:solidFill>
            <a:srgbClr val="FFFFFF">
              <a:alpha val="4000"/>
            </a:srgbClr>
          </a:solidFill>
          <a:ln/>
        </p:spPr>
      </p:sp>
      <p:sp>
        <p:nvSpPr>
          <p:cNvPr id="43" name="Text 41"/>
          <p:cNvSpPr/>
          <p:nvPr/>
        </p:nvSpPr>
        <p:spPr>
          <a:xfrm>
            <a:off x="800397" y="5197574"/>
            <a:ext cx="1903512" cy="179983"/>
          </a:xfrm>
          <a:prstGeom prst="rect">
            <a:avLst/>
          </a:prstGeom>
          <a:noFill/>
          <a:ln/>
        </p:spPr>
        <p:txBody>
          <a:bodyPr wrap="non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Java Apps</a:t>
            </a:r>
            <a:r>
              <a:rPr lang="en-US" sz="1042" dirty="0">
                <a:solidFill>
                  <a:srgbClr val="3C3939"/>
                </a:solidFill>
                <a:latin typeface="Roboto" pitchFamily="34" charset="0"/>
                <a:ea typeface="Roboto" pitchFamily="34" charset="-122"/>
                <a:cs typeface="Roboto" pitchFamily="34" charset="-120"/>
              </a:rPr>
              <a:t> (Spring Boot)</a:t>
            </a:r>
            <a:endParaRPr lang="en-US" sz="1042" dirty="0">
              <a:solidFill>
                <a:prstClr val="black"/>
              </a:solidFill>
              <a:latin typeface="Calibri" panose="020F0502020204030204"/>
            </a:endParaRPr>
          </a:p>
        </p:txBody>
      </p:sp>
      <p:sp>
        <p:nvSpPr>
          <p:cNvPr id="44" name="Text 42"/>
          <p:cNvSpPr/>
          <p:nvPr/>
        </p:nvSpPr>
        <p:spPr>
          <a:xfrm>
            <a:off x="2974777" y="5197574"/>
            <a:ext cx="1900337"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Java Runtime (JRE/JDK)</a:t>
            </a:r>
            <a:endParaRPr lang="en-US" sz="1042" dirty="0">
              <a:solidFill>
                <a:prstClr val="black"/>
              </a:solidFill>
              <a:latin typeface="Calibri" panose="020F0502020204030204"/>
            </a:endParaRPr>
          </a:p>
        </p:txBody>
      </p:sp>
      <p:sp>
        <p:nvSpPr>
          <p:cNvPr id="45" name="Text 43"/>
          <p:cNvSpPr/>
          <p:nvPr/>
        </p:nvSpPr>
        <p:spPr>
          <a:xfrm>
            <a:off x="5145981" y="5197574"/>
            <a:ext cx="860326"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Yes</a:t>
            </a:r>
            <a:endParaRPr lang="en-US" sz="1042" dirty="0">
              <a:solidFill>
                <a:prstClr val="black"/>
              </a:solidFill>
              <a:latin typeface="Calibri" panose="020F0502020204030204"/>
            </a:endParaRPr>
          </a:p>
        </p:txBody>
      </p:sp>
      <p:sp>
        <p:nvSpPr>
          <p:cNvPr id="46" name="Text 44"/>
          <p:cNvSpPr/>
          <p:nvPr/>
        </p:nvSpPr>
        <p:spPr>
          <a:xfrm>
            <a:off x="6277174" y="5197574"/>
            <a:ext cx="2157611" cy="179983"/>
          </a:xfrm>
          <a:prstGeom prst="rect">
            <a:avLst/>
          </a:prstGeom>
          <a:noFill/>
          <a:ln/>
        </p:spPr>
        <p:txBody>
          <a:bodyPr wrap="non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Optional Nginx / Apache</a:t>
            </a:r>
            <a:endParaRPr lang="en-US" sz="1042" dirty="0">
              <a:solidFill>
                <a:prstClr val="black"/>
              </a:solidFill>
              <a:latin typeface="Calibri" panose="020F0502020204030204"/>
            </a:endParaRPr>
          </a:p>
        </p:txBody>
      </p:sp>
      <p:sp>
        <p:nvSpPr>
          <p:cNvPr id="47" name="Text 45"/>
          <p:cNvSpPr/>
          <p:nvPr/>
        </p:nvSpPr>
        <p:spPr>
          <a:xfrm>
            <a:off x="8705652" y="5197574"/>
            <a:ext cx="2686248" cy="539948"/>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Uses embedded server (Tomcat/Jetty/Undertow) inside the application; external web server is optional</a:t>
            </a:r>
            <a:endParaRPr lang="en-US" sz="1042" dirty="0">
              <a:solidFill>
                <a:prstClr val="black"/>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8438853" cy="502047"/>
          </a:xfrm>
          <a:prstGeom prst="rect">
            <a:avLst/>
          </a:prstGeom>
          <a:noFill/>
          <a:ln/>
        </p:spPr>
        <p:txBody>
          <a:bodyPr wrap="none" lIns="0" tIns="0" rIns="0" bIns="0" rtlCol="0" anchor="t"/>
          <a:lstStyle/>
          <a:p>
            <a:pPr defTabSz="761970">
              <a:lnSpc>
                <a:spcPts val="3917"/>
              </a:lnSpc>
            </a:pPr>
            <a:r>
              <a:rPr lang="en-US" sz="3125" dirty="0">
                <a:solidFill>
                  <a:srgbClr val="1B1B27"/>
                </a:solidFill>
                <a:latin typeface="Raleway" pitchFamily="34" charset="0"/>
                <a:ea typeface="Raleway" pitchFamily="34" charset="-122"/>
                <a:cs typeface="Raleway" pitchFamily="34" charset="-120"/>
              </a:rPr>
              <a:t>What is Deployment and Why Does It Matter?</a:t>
            </a:r>
            <a:endParaRPr lang="en-US" sz="3125" dirty="0">
              <a:solidFill>
                <a:prstClr val="black"/>
              </a:solidFill>
              <a:latin typeface="Calibri" panose="020F0502020204030204"/>
            </a:endParaRPr>
          </a:p>
        </p:txBody>
      </p:sp>
      <p:sp>
        <p:nvSpPr>
          <p:cNvPr id="3" name="Text 1"/>
          <p:cNvSpPr/>
          <p:nvPr/>
        </p:nvSpPr>
        <p:spPr>
          <a:xfrm>
            <a:off x="661492" y="1349475"/>
            <a:ext cx="5238552" cy="713184"/>
          </a:xfrm>
          <a:prstGeom prst="rect">
            <a:avLst/>
          </a:prstGeom>
          <a:noFill/>
          <a:ln/>
        </p:spPr>
        <p:txBody>
          <a:bodyPr wrap="square" lIns="0" tIns="0" rIns="0" bIns="0" rtlCol="0" anchor="t"/>
          <a:lstStyle/>
          <a:p>
            <a:pPr defTabSz="761970">
              <a:lnSpc>
                <a:spcPts val="1833"/>
              </a:lnSpc>
            </a:pPr>
            <a:r>
              <a:rPr lang="en-US" sz="1250" b="1" dirty="0">
                <a:solidFill>
                  <a:srgbClr val="3C3939"/>
                </a:solidFill>
                <a:latin typeface="Roboto" pitchFamily="34" charset="0"/>
                <a:ea typeface="Roboto" pitchFamily="34" charset="-122"/>
                <a:cs typeface="Roboto" pitchFamily="34" charset="-120"/>
              </a:rPr>
              <a:t>Deployment</a:t>
            </a:r>
            <a:r>
              <a:rPr lang="en-US" sz="1250" dirty="0">
                <a:solidFill>
                  <a:srgbClr val="3C3939"/>
                </a:solidFill>
                <a:latin typeface="Roboto" pitchFamily="34" charset="0"/>
                <a:ea typeface="Roboto" pitchFamily="34" charset="-122"/>
                <a:cs typeface="Roboto" pitchFamily="34" charset="-120"/>
              </a:rPr>
              <a:t> is the process of moving your web application from development to a live server where users can access it. It's the bridge between writing code and delivering value to end users.</a:t>
            </a:r>
            <a:endParaRPr lang="en-US" sz="1250" dirty="0">
              <a:solidFill>
                <a:prstClr val="black"/>
              </a:solidFill>
              <a:latin typeface="Calibri" panose="020F0502020204030204"/>
            </a:endParaRPr>
          </a:p>
        </p:txBody>
      </p:sp>
      <p:sp>
        <p:nvSpPr>
          <p:cNvPr id="4" name="Text 2"/>
          <p:cNvSpPr/>
          <p:nvPr/>
        </p:nvSpPr>
        <p:spPr>
          <a:xfrm>
            <a:off x="661492" y="2185492"/>
            <a:ext cx="5238552" cy="950913"/>
          </a:xfrm>
          <a:prstGeom prst="rect">
            <a:avLst/>
          </a:prstGeom>
          <a:noFill/>
          <a:ln/>
        </p:spPr>
        <p:txBody>
          <a:bodyPr wrap="square" lIns="0" tIns="0" rIns="0" bIns="0" rtlCol="0" anchor="t"/>
          <a:lstStyle/>
          <a:p>
            <a:pPr defTabSz="761970">
              <a:lnSpc>
                <a:spcPts val="1833"/>
              </a:lnSpc>
            </a:pPr>
            <a:r>
              <a:rPr lang="en-US" sz="1250" b="1" dirty="0">
                <a:solidFill>
                  <a:srgbClr val="3C3939"/>
                </a:solidFill>
                <a:latin typeface="Roboto" pitchFamily="34" charset="0"/>
                <a:ea typeface="Roboto" pitchFamily="34" charset="-122"/>
                <a:cs typeface="Roboto" pitchFamily="34" charset="-120"/>
              </a:rPr>
              <a:t>Hosting</a:t>
            </a:r>
            <a:r>
              <a:rPr lang="en-US" sz="1250" dirty="0">
                <a:solidFill>
                  <a:srgbClr val="3C3939"/>
                </a:solidFill>
                <a:latin typeface="Roboto" pitchFamily="34" charset="0"/>
                <a:ea typeface="Roboto" pitchFamily="34" charset="-122"/>
                <a:cs typeface="Roboto" pitchFamily="34" charset="-120"/>
              </a:rPr>
              <a:t> provides the infrastructure—servers, storage, and network connectivity—that keeps your application running 24/7. Without proper deployment and hosting, even the best-designed applications remain invisible to the world.</a:t>
            </a:r>
            <a:endParaRPr lang="en-US" sz="1250" dirty="0">
              <a:solidFill>
                <a:prstClr val="black"/>
              </a:solidFill>
              <a:latin typeface="Calibri" panose="020F0502020204030204"/>
            </a:endParaRPr>
          </a:p>
        </p:txBody>
      </p:sp>
      <p:sp>
        <p:nvSpPr>
          <p:cNvPr id="5" name="Text 3"/>
          <p:cNvSpPr/>
          <p:nvPr/>
        </p:nvSpPr>
        <p:spPr>
          <a:xfrm>
            <a:off x="661492" y="3259237"/>
            <a:ext cx="5238552" cy="713184"/>
          </a:xfrm>
          <a:prstGeom prst="rect">
            <a:avLst/>
          </a:prstGeom>
          <a:noFill/>
          <a:ln/>
        </p:spPr>
        <p:txBody>
          <a:bodyPr wrap="square" lIns="0" tIns="0" rIns="0" bIns="0" rtlCol="0" anchor="t"/>
          <a:lstStyle/>
          <a:p>
            <a:pPr defTabSz="761970">
              <a:lnSpc>
                <a:spcPts val="1833"/>
              </a:lnSpc>
            </a:pPr>
            <a:r>
              <a:rPr lang="en-US" sz="1250" dirty="0">
                <a:solidFill>
                  <a:srgbClr val="3C3939"/>
                </a:solidFill>
                <a:latin typeface="Roboto" pitchFamily="34" charset="0"/>
                <a:ea typeface="Roboto" pitchFamily="34" charset="-122"/>
                <a:cs typeface="Roboto" pitchFamily="34" charset="-120"/>
              </a:rPr>
              <a:t>Together, they form the core of modern DevOps, ensuring that updates are delivered seamlessly while the underlying hardware remains resilient under varying traffic loads.</a:t>
            </a:r>
            <a:endParaRPr lang="en-US" sz="1250" dirty="0">
              <a:solidFill>
                <a:prstClr val="black"/>
              </a:solidFill>
              <a:latin typeface="Calibri" panose="020F0502020204030204"/>
            </a:endParaRPr>
          </a:p>
        </p:txBody>
      </p:sp>
      <p:sp>
        <p:nvSpPr>
          <p:cNvPr id="6" name="Text 4"/>
          <p:cNvSpPr/>
          <p:nvPr/>
        </p:nvSpPr>
        <p:spPr>
          <a:xfrm>
            <a:off x="6298307" y="1349475"/>
            <a:ext cx="5238552" cy="3090466"/>
          </a:xfrm>
          <a:prstGeom prst="rect">
            <a:avLst/>
          </a:prstGeom>
          <a:noFill/>
          <a:ln/>
        </p:spPr>
        <p:txBody>
          <a:bodyPr wrap="square" lIns="0" tIns="0" rIns="0" bIns="0" rtlCol="0" anchor="t"/>
          <a:lstStyle/>
          <a:p>
            <a:pPr defTabSz="761970">
              <a:lnSpc>
                <a:spcPts val="1833"/>
              </a:lnSpc>
            </a:pPr>
            <a:r>
              <a:rPr lang="en-US" sz="1250" dirty="0">
                <a:solidFill>
                  <a:srgbClr val="3C3939"/>
                </a:solidFill>
                <a:latin typeface="Roboto" pitchFamily="34" charset="0"/>
                <a:ea typeface="Roboto" pitchFamily="34" charset="-122"/>
                <a:cs typeface="Roboto" pitchFamily="34" charset="-120"/>
              </a:rPr>
              <a:t>Regardless of the technology used, every </a:t>
            </a:r>
            <a:r>
              <a:rPr lang="en-US" sz="1250" u="sng" dirty="0">
                <a:solidFill>
                  <a:srgbClr val="3C3939"/>
                </a:solidFill>
                <a:latin typeface="Roboto" pitchFamily="34" charset="0"/>
                <a:ea typeface="Roboto" pitchFamily="34" charset="-122"/>
                <a:cs typeface="Roboto" pitchFamily="34" charset="-120"/>
              </a:rPr>
              <a:t>web application requires</a:t>
            </a:r>
            <a:r>
              <a:rPr lang="en-US" sz="1250" dirty="0">
                <a:solidFill>
                  <a:srgbClr val="3C3939"/>
                </a:solidFill>
                <a:latin typeface="Roboto" pitchFamily="34" charset="0"/>
                <a:ea typeface="Roboto" pitchFamily="34" charset="-122"/>
                <a:cs typeface="Roboto" pitchFamily="34" charset="-120"/>
              </a:rPr>
              <a:t> a set of core components to function properly. At a minimum, it must run on a </a:t>
            </a:r>
            <a:r>
              <a:rPr lang="en-US" sz="1250" b="1" dirty="0">
                <a:solidFill>
                  <a:srgbClr val="3C3939"/>
                </a:solidFill>
                <a:latin typeface="Roboto" pitchFamily="34" charset="0"/>
                <a:ea typeface="Roboto" pitchFamily="34" charset="-122"/>
                <a:cs typeface="Roboto" pitchFamily="34" charset="-120"/>
              </a:rPr>
              <a:t>server</a:t>
            </a:r>
            <a:r>
              <a:rPr lang="en-US" sz="1250" dirty="0">
                <a:solidFill>
                  <a:srgbClr val="3C3939"/>
                </a:solidFill>
                <a:latin typeface="Roboto" pitchFamily="34" charset="0"/>
                <a:ea typeface="Roboto" pitchFamily="34" charset="-122"/>
                <a:cs typeface="Roboto" pitchFamily="34" charset="-120"/>
              </a:rPr>
              <a:t> (physical machine, virtual machine, or cloud platform such as AWS or Azure) that provides the computing environment. The application also depends on a </a:t>
            </a:r>
            <a:r>
              <a:rPr lang="en-US" sz="1250" b="1" dirty="0">
                <a:solidFill>
                  <a:srgbClr val="3C3939"/>
                </a:solidFill>
                <a:latin typeface="Roboto" pitchFamily="34" charset="0"/>
                <a:ea typeface="Roboto" pitchFamily="34" charset="-122"/>
                <a:cs typeface="Roboto" pitchFamily="34" charset="-120"/>
              </a:rPr>
              <a:t>runtime</a:t>
            </a:r>
            <a:r>
              <a:rPr lang="en-US" sz="1250" dirty="0">
                <a:solidFill>
                  <a:srgbClr val="3C3939"/>
                </a:solidFill>
                <a:latin typeface="Roboto" pitchFamily="34" charset="0"/>
                <a:ea typeface="Roboto" pitchFamily="34" charset="-122"/>
                <a:cs typeface="Roboto" pitchFamily="34" charset="-120"/>
              </a:rPr>
              <a:t> environment appropriate to its technology—for example, a interpreter for PHP applications, the Node.js runtime for JS backend apps, or the .NET runtime for ASP.NET applications. In addition, a </a:t>
            </a:r>
            <a:r>
              <a:rPr lang="en-US" sz="1250" b="1" dirty="0">
                <a:solidFill>
                  <a:srgbClr val="3C3939"/>
                </a:solidFill>
                <a:latin typeface="Roboto" pitchFamily="34" charset="0"/>
                <a:ea typeface="Roboto" pitchFamily="34" charset="-122"/>
                <a:cs typeface="Roboto" pitchFamily="34" charset="-120"/>
              </a:rPr>
              <a:t>web server</a:t>
            </a:r>
            <a:r>
              <a:rPr lang="en-US" sz="1250" dirty="0">
                <a:solidFill>
                  <a:srgbClr val="3C3939"/>
                </a:solidFill>
                <a:latin typeface="Roboto" pitchFamily="34" charset="0"/>
                <a:ea typeface="Roboto" pitchFamily="34" charset="-122"/>
                <a:cs typeface="Roboto" pitchFamily="34" charset="-120"/>
              </a:rPr>
              <a:t> or request handler is needed to receive and process incoming HTTP requests and route them to the application. Most real-world applications also rely on a database (such as MySQL, PostgreSQL, or MongoDB) for persistent data storage. Finally, proper </a:t>
            </a:r>
            <a:r>
              <a:rPr lang="en-US" sz="1250" b="1" dirty="0">
                <a:solidFill>
                  <a:srgbClr val="3C3939"/>
                </a:solidFill>
                <a:latin typeface="Roboto" pitchFamily="34" charset="0"/>
                <a:ea typeface="Roboto" pitchFamily="34" charset="-122"/>
                <a:cs typeface="Roboto" pitchFamily="34" charset="-120"/>
              </a:rPr>
              <a:t>network</a:t>
            </a:r>
            <a:r>
              <a:rPr lang="en-US" sz="1250" dirty="0">
                <a:solidFill>
                  <a:srgbClr val="3C3939"/>
                </a:solidFill>
                <a:latin typeface="Roboto" pitchFamily="34" charset="0"/>
                <a:ea typeface="Roboto" pitchFamily="34" charset="-122"/>
                <a:cs typeface="Roboto" pitchFamily="34" charset="-120"/>
              </a:rPr>
              <a:t> connectivity, along with a </a:t>
            </a:r>
            <a:r>
              <a:rPr lang="en-US" sz="1250" b="1" dirty="0">
                <a:solidFill>
                  <a:srgbClr val="3C3939"/>
                </a:solidFill>
                <a:latin typeface="Roboto" pitchFamily="34" charset="0"/>
                <a:ea typeface="Roboto" pitchFamily="34" charset="-122"/>
                <a:cs typeface="Roboto" pitchFamily="34" charset="-120"/>
              </a:rPr>
              <a:t>domain</a:t>
            </a:r>
            <a:r>
              <a:rPr lang="en-US" sz="1250" dirty="0">
                <a:solidFill>
                  <a:srgbClr val="3C3939"/>
                </a:solidFill>
                <a:latin typeface="Roboto" pitchFamily="34" charset="0"/>
                <a:ea typeface="Roboto" pitchFamily="34" charset="-122"/>
                <a:cs typeface="Roboto" pitchFamily="34" charset="-120"/>
              </a:rPr>
              <a:t> name and </a:t>
            </a:r>
            <a:r>
              <a:rPr lang="en-US" sz="1250" b="1" dirty="0">
                <a:solidFill>
                  <a:srgbClr val="3C3939"/>
                </a:solidFill>
                <a:latin typeface="Roboto" pitchFamily="34" charset="0"/>
                <a:ea typeface="Roboto" pitchFamily="34" charset="-122"/>
                <a:cs typeface="Roboto" pitchFamily="34" charset="-120"/>
              </a:rPr>
              <a:t>DNS</a:t>
            </a:r>
            <a:r>
              <a:rPr lang="en-US" sz="1250" dirty="0">
                <a:solidFill>
                  <a:srgbClr val="3C3939"/>
                </a:solidFill>
                <a:latin typeface="Roboto" pitchFamily="34" charset="0"/>
                <a:ea typeface="Roboto" pitchFamily="34" charset="-122"/>
                <a:cs typeface="Roboto" pitchFamily="34" charset="-120"/>
              </a:rPr>
              <a:t> configuration, is required to make the application accessible to users over the internet.</a:t>
            </a:r>
            <a:endParaRPr lang="en-US" sz="1250" dirty="0">
              <a:solidFill>
                <a:prstClr val="black"/>
              </a:solidFill>
              <a:latin typeface="Calibri" panose="020F0502020204030204"/>
            </a:endParaRPr>
          </a:p>
        </p:txBody>
      </p:sp>
      <p:sp>
        <p:nvSpPr>
          <p:cNvPr id="7" name="Shape 5"/>
          <p:cNvSpPr/>
          <p:nvPr/>
        </p:nvSpPr>
        <p:spPr>
          <a:xfrm>
            <a:off x="661492" y="4716364"/>
            <a:ext cx="3531989" cy="1142306"/>
          </a:xfrm>
          <a:prstGeom prst="roundRect">
            <a:avLst>
              <a:gd name="adj" fmla="val 5907"/>
            </a:avLst>
          </a:prstGeom>
          <a:solidFill>
            <a:srgbClr val="E1E1EA"/>
          </a:solidFill>
          <a:ln w="7620">
            <a:solidFill>
              <a:srgbClr val="C7C7D0"/>
            </a:solidFill>
            <a:prstDash val="solid"/>
          </a:ln>
        </p:spPr>
      </p:sp>
      <p:sp>
        <p:nvSpPr>
          <p:cNvPr id="8" name="Text 6"/>
          <p:cNvSpPr/>
          <p:nvPr/>
        </p:nvSpPr>
        <p:spPr>
          <a:xfrm>
            <a:off x="828477" y="4883349"/>
            <a:ext cx="2008287" cy="251023"/>
          </a:xfrm>
          <a:prstGeom prst="rect">
            <a:avLst/>
          </a:prstGeom>
          <a:noFill/>
          <a:ln/>
        </p:spPr>
        <p:txBody>
          <a:bodyPr wrap="none" lIns="0" tIns="0" rIns="0" bIns="0" rtlCol="0" anchor="t"/>
          <a:lstStyle/>
          <a:p>
            <a:pPr defTabSz="761970">
              <a:lnSpc>
                <a:spcPts val="1958"/>
              </a:lnSpc>
            </a:pPr>
            <a:r>
              <a:rPr lang="en-US" sz="1542" dirty="0">
                <a:solidFill>
                  <a:srgbClr val="3C3939"/>
                </a:solidFill>
                <a:latin typeface="Raleway" pitchFamily="34" charset="0"/>
                <a:ea typeface="Raleway" pitchFamily="34" charset="-122"/>
                <a:cs typeface="Raleway" pitchFamily="34" charset="-120"/>
              </a:rPr>
              <a:t>Real-World Impact</a:t>
            </a:r>
            <a:endParaRPr lang="en-US" sz="1542" dirty="0">
              <a:solidFill>
                <a:prstClr val="black"/>
              </a:solidFill>
              <a:latin typeface="Calibri" panose="020F0502020204030204"/>
            </a:endParaRPr>
          </a:p>
        </p:txBody>
      </p:sp>
      <p:sp>
        <p:nvSpPr>
          <p:cNvPr id="9" name="Text 7"/>
          <p:cNvSpPr/>
          <p:nvPr/>
        </p:nvSpPr>
        <p:spPr>
          <a:xfrm>
            <a:off x="828477" y="5216227"/>
            <a:ext cx="3198019" cy="475457"/>
          </a:xfrm>
          <a:prstGeom prst="rect">
            <a:avLst/>
          </a:prstGeom>
          <a:noFill/>
          <a:ln/>
        </p:spPr>
        <p:txBody>
          <a:bodyPr wrap="square" lIns="0" tIns="0" rIns="0" bIns="0" rtlCol="0" anchor="t"/>
          <a:lstStyle/>
          <a:p>
            <a:pPr defTabSz="761970">
              <a:lnSpc>
                <a:spcPts val="1833"/>
              </a:lnSpc>
            </a:pPr>
            <a:r>
              <a:rPr lang="en-US" sz="1250" dirty="0">
                <a:solidFill>
                  <a:srgbClr val="3C3939"/>
                </a:solidFill>
                <a:latin typeface="Roboto" pitchFamily="34" charset="0"/>
                <a:ea typeface="Roboto" pitchFamily="34" charset="-122"/>
                <a:cs typeface="Roboto" pitchFamily="34" charset="-120"/>
              </a:rPr>
              <a:t>Netflix deploys thousands of times daily using automated CI/CD pipelines</a:t>
            </a:r>
            <a:endParaRPr lang="en-US" sz="1250" dirty="0">
              <a:solidFill>
                <a:prstClr val="black"/>
              </a:solidFill>
              <a:latin typeface="Calibri" panose="020F0502020204030204"/>
            </a:endParaRPr>
          </a:p>
        </p:txBody>
      </p:sp>
      <p:sp>
        <p:nvSpPr>
          <p:cNvPr id="10" name="Shape 8"/>
          <p:cNvSpPr/>
          <p:nvPr/>
        </p:nvSpPr>
        <p:spPr>
          <a:xfrm>
            <a:off x="4330006" y="4716364"/>
            <a:ext cx="3531989" cy="1142306"/>
          </a:xfrm>
          <a:prstGeom prst="roundRect">
            <a:avLst>
              <a:gd name="adj" fmla="val 5907"/>
            </a:avLst>
          </a:prstGeom>
          <a:solidFill>
            <a:srgbClr val="E1E1EA"/>
          </a:solidFill>
          <a:ln w="7620">
            <a:solidFill>
              <a:srgbClr val="C7C7D0"/>
            </a:solidFill>
            <a:prstDash val="solid"/>
          </a:ln>
        </p:spPr>
      </p:sp>
      <p:sp>
        <p:nvSpPr>
          <p:cNvPr id="11" name="Text 9"/>
          <p:cNvSpPr/>
          <p:nvPr/>
        </p:nvSpPr>
        <p:spPr>
          <a:xfrm>
            <a:off x="4496991" y="4883349"/>
            <a:ext cx="2008287" cy="251023"/>
          </a:xfrm>
          <a:prstGeom prst="rect">
            <a:avLst/>
          </a:prstGeom>
          <a:noFill/>
          <a:ln/>
        </p:spPr>
        <p:txBody>
          <a:bodyPr wrap="none" lIns="0" tIns="0" rIns="0" bIns="0" rtlCol="0" anchor="t"/>
          <a:lstStyle/>
          <a:p>
            <a:pPr defTabSz="761970">
              <a:lnSpc>
                <a:spcPts val="1958"/>
              </a:lnSpc>
            </a:pPr>
            <a:r>
              <a:rPr lang="en-US" sz="1542" dirty="0">
                <a:solidFill>
                  <a:srgbClr val="3C3939"/>
                </a:solidFill>
                <a:latin typeface="Raleway" pitchFamily="34" charset="0"/>
                <a:ea typeface="Raleway" pitchFamily="34" charset="-122"/>
                <a:cs typeface="Raleway" pitchFamily="34" charset="-120"/>
              </a:rPr>
              <a:t>Business Value</a:t>
            </a:r>
            <a:endParaRPr lang="en-US" sz="1542" dirty="0">
              <a:solidFill>
                <a:prstClr val="black"/>
              </a:solidFill>
              <a:latin typeface="Calibri" panose="020F0502020204030204"/>
            </a:endParaRPr>
          </a:p>
        </p:txBody>
      </p:sp>
      <p:sp>
        <p:nvSpPr>
          <p:cNvPr id="12" name="Text 10"/>
          <p:cNvSpPr/>
          <p:nvPr/>
        </p:nvSpPr>
        <p:spPr>
          <a:xfrm>
            <a:off x="4496991" y="5216227"/>
            <a:ext cx="3198019" cy="475457"/>
          </a:xfrm>
          <a:prstGeom prst="rect">
            <a:avLst/>
          </a:prstGeom>
          <a:noFill/>
          <a:ln/>
        </p:spPr>
        <p:txBody>
          <a:bodyPr wrap="square" lIns="0" tIns="0" rIns="0" bIns="0" rtlCol="0" anchor="t"/>
          <a:lstStyle/>
          <a:p>
            <a:pPr defTabSz="761970">
              <a:lnSpc>
                <a:spcPts val="1833"/>
              </a:lnSpc>
            </a:pPr>
            <a:r>
              <a:rPr lang="en-US" sz="1250" dirty="0">
                <a:solidFill>
                  <a:srgbClr val="3C3939"/>
                </a:solidFill>
                <a:latin typeface="Roboto" pitchFamily="34" charset="0"/>
                <a:ea typeface="Roboto" pitchFamily="34" charset="-122"/>
                <a:cs typeface="Roboto" pitchFamily="34" charset="-120"/>
              </a:rPr>
              <a:t>Amazon's Blue-Green deployment strategy ensures zero-downtime releases</a:t>
            </a:r>
            <a:endParaRPr lang="en-US" sz="1250" dirty="0">
              <a:solidFill>
                <a:prstClr val="black"/>
              </a:solidFill>
              <a:latin typeface="Calibri" panose="020F0502020204030204"/>
            </a:endParaRPr>
          </a:p>
        </p:txBody>
      </p:sp>
      <p:sp>
        <p:nvSpPr>
          <p:cNvPr id="13" name="Shape 11"/>
          <p:cNvSpPr/>
          <p:nvPr/>
        </p:nvSpPr>
        <p:spPr>
          <a:xfrm>
            <a:off x="7998520" y="4716364"/>
            <a:ext cx="3531989" cy="1142306"/>
          </a:xfrm>
          <a:prstGeom prst="roundRect">
            <a:avLst>
              <a:gd name="adj" fmla="val 5907"/>
            </a:avLst>
          </a:prstGeom>
          <a:solidFill>
            <a:srgbClr val="E1E1EA"/>
          </a:solidFill>
          <a:ln w="7620">
            <a:solidFill>
              <a:srgbClr val="C7C7D0"/>
            </a:solidFill>
            <a:prstDash val="solid"/>
          </a:ln>
        </p:spPr>
      </p:sp>
      <p:sp>
        <p:nvSpPr>
          <p:cNvPr id="14" name="Text 12"/>
          <p:cNvSpPr/>
          <p:nvPr/>
        </p:nvSpPr>
        <p:spPr>
          <a:xfrm>
            <a:off x="8165505" y="4883349"/>
            <a:ext cx="2008287" cy="251023"/>
          </a:xfrm>
          <a:prstGeom prst="rect">
            <a:avLst/>
          </a:prstGeom>
          <a:noFill/>
          <a:ln/>
        </p:spPr>
        <p:txBody>
          <a:bodyPr wrap="none" lIns="0" tIns="0" rIns="0" bIns="0" rtlCol="0" anchor="t"/>
          <a:lstStyle/>
          <a:p>
            <a:pPr defTabSz="761970">
              <a:lnSpc>
                <a:spcPts val="1958"/>
              </a:lnSpc>
            </a:pPr>
            <a:r>
              <a:rPr lang="en-US" sz="1542" dirty="0">
                <a:solidFill>
                  <a:srgbClr val="3C3939"/>
                </a:solidFill>
                <a:latin typeface="Raleway" pitchFamily="34" charset="0"/>
                <a:ea typeface="Raleway" pitchFamily="34" charset="-122"/>
                <a:cs typeface="Raleway" pitchFamily="34" charset="-120"/>
              </a:rPr>
              <a:t>User Experience</a:t>
            </a:r>
            <a:endParaRPr lang="en-US" sz="1542" dirty="0">
              <a:solidFill>
                <a:prstClr val="black"/>
              </a:solidFill>
              <a:latin typeface="Calibri" panose="020F0502020204030204"/>
            </a:endParaRPr>
          </a:p>
        </p:txBody>
      </p:sp>
      <p:sp>
        <p:nvSpPr>
          <p:cNvPr id="15" name="Text 13"/>
          <p:cNvSpPr/>
          <p:nvPr/>
        </p:nvSpPr>
        <p:spPr>
          <a:xfrm>
            <a:off x="8165506" y="5216227"/>
            <a:ext cx="3198019" cy="475457"/>
          </a:xfrm>
          <a:prstGeom prst="rect">
            <a:avLst/>
          </a:prstGeom>
          <a:noFill/>
          <a:ln/>
        </p:spPr>
        <p:txBody>
          <a:bodyPr wrap="square" lIns="0" tIns="0" rIns="0" bIns="0" rtlCol="0" anchor="t"/>
          <a:lstStyle/>
          <a:p>
            <a:pPr defTabSz="761970">
              <a:lnSpc>
                <a:spcPts val="1833"/>
              </a:lnSpc>
            </a:pPr>
            <a:r>
              <a:rPr lang="en-US" sz="1250" dirty="0">
                <a:solidFill>
                  <a:srgbClr val="3C3939"/>
                </a:solidFill>
                <a:latin typeface="Roboto" pitchFamily="34" charset="0"/>
                <a:ea typeface="Roboto" pitchFamily="34" charset="-122"/>
                <a:cs typeface="Roboto" pitchFamily="34" charset="-120"/>
              </a:rPr>
              <a:t>Faster deployments mean quicker bug fixes and feature delivery</a:t>
            </a:r>
            <a:endParaRPr lang="en-US" sz="1250" dirty="0">
              <a:solidFill>
                <a:prstClr val="black"/>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4319786" cy="443012"/>
          </a:xfrm>
          <a:prstGeom prst="rect">
            <a:avLst/>
          </a:prstGeom>
          <a:noFill/>
          <a:ln/>
        </p:spPr>
        <p:txBody>
          <a:bodyPr wrap="none" lIns="0" tIns="0" rIns="0" bIns="0" rtlCol="0" anchor="t"/>
          <a:lstStyle/>
          <a:p>
            <a:pPr defTabSz="761970">
              <a:lnSpc>
                <a:spcPts val="3458"/>
              </a:lnSpc>
            </a:pPr>
            <a:r>
              <a:rPr lang="en-US" sz="2750" dirty="0">
                <a:solidFill>
                  <a:srgbClr val="1B1B27"/>
                </a:solidFill>
                <a:latin typeface="Raleway" pitchFamily="34" charset="0"/>
                <a:ea typeface="Raleway" pitchFamily="34" charset="-122"/>
                <a:cs typeface="Raleway" pitchFamily="34" charset="-120"/>
              </a:rPr>
              <a:t>The Deployment Lifecycle</a:t>
            </a:r>
            <a:endParaRPr lang="en-US" sz="2750" dirty="0">
              <a:solidFill>
                <a:prstClr val="black"/>
              </a:solidFill>
              <a:latin typeface="Calibri" panose="020F0502020204030204"/>
            </a:endParaRPr>
          </a:p>
        </p:txBody>
      </p:sp>
      <p:sp>
        <p:nvSpPr>
          <p:cNvPr id="3" name="Text 1"/>
          <p:cNvSpPr/>
          <p:nvPr/>
        </p:nvSpPr>
        <p:spPr>
          <a:xfrm>
            <a:off x="661492" y="1175444"/>
            <a:ext cx="10869018" cy="198438"/>
          </a:xfrm>
          <a:prstGeom prst="rect">
            <a:avLst/>
          </a:prstGeom>
          <a:noFill/>
          <a:ln/>
        </p:spPr>
        <p:txBody>
          <a:bodyPr wrap="non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Applications progress through distinct environments, each serving a specific purpose in the development-to-production journey.</a:t>
            </a:r>
            <a:endParaRPr lang="en-US" sz="1083" dirty="0">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661492" y="1493441"/>
            <a:ext cx="5434508" cy="567035"/>
          </a:xfrm>
          <a:prstGeom prst="rect">
            <a:avLst/>
          </a:prstGeom>
        </p:spPr>
      </p:pic>
      <p:sp>
        <p:nvSpPr>
          <p:cNvPr id="5" name="Text 2"/>
          <p:cNvSpPr/>
          <p:nvPr/>
        </p:nvSpPr>
        <p:spPr>
          <a:xfrm>
            <a:off x="803176" y="2166740"/>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Local</a:t>
            </a:r>
            <a:endParaRPr lang="en-US" sz="1375" dirty="0">
              <a:solidFill>
                <a:prstClr val="black"/>
              </a:solidFill>
              <a:latin typeface="Calibri" panose="020F0502020204030204"/>
            </a:endParaRPr>
          </a:p>
        </p:txBody>
      </p:sp>
      <p:sp>
        <p:nvSpPr>
          <p:cNvPr id="6" name="Text 3"/>
          <p:cNvSpPr/>
          <p:nvPr/>
        </p:nvSpPr>
        <p:spPr>
          <a:xfrm>
            <a:off x="803176" y="2451894"/>
            <a:ext cx="5151140" cy="992188"/>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This is where individual developers write and test their code in an isolated environment. The primary purpose is rapid prototyping and debugging without affecting other team members. Typical activities include setting up local databases, running unit tests, and configuring environment variables for personal development.</a:t>
            </a:r>
            <a:endParaRPr lang="en-US" sz="1083" dirty="0">
              <a:solidFill>
                <a:prstClr val="black"/>
              </a:solidFill>
              <a:latin typeface="Calibri" panose="020F0502020204030204"/>
            </a:endParaRPr>
          </a:p>
        </p:txBody>
      </p:sp>
      <p:pic>
        <p:nvPicPr>
          <p:cNvPr id="7" name="Image 1" descr="preencoded.png"/>
          <p:cNvPicPr>
            <a:picLocks noChangeAspect="1"/>
          </p:cNvPicPr>
          <p:nvPr/>
        </p:nvPicPr>
        <p:blipFill>
          <a:blip r:embed="rId4"/>
          <a:stretch>
            <a:fillRect/>
          </a:stretch>
        </p:blipFill>
        <p:spPr>
          <a:xfrm>
            <a:off x="6096000" y="1493441"/>
            <a:ext cx="5434508" cy="567035"/>
          </a:xfrm>
          <a:prstGeom prst="rect">
            <a:avLst/>
          </a:prstGeom>
        </p:spPr>
      </p:pic>
      <p:sp>
        <p:nvSpPr>
          <p:cNvPr id="8" name="Text 4"/>
          <p:cNvSpPr/>
          <p:nvPr/>
        </p:nvSpPr>
        <p:spPr>
          <a:xfrm>
            <a:off x="6237684" y="2166740"/>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Development</a:t>
            </a:r>
            <a:endParaRPr lang="en-US" sz="1375" dirty="0">
              <a:solidFill>
                <a:prstClr val="black"/>
              </a:solidFill>
              <a:latin typeface="Calibri" panose="020F0502020204030204"/>
            </a:endParaRPr>
          </a:p>
        </p:txBody>
      </p:sp>
      <p:sp>
        <p:nvSpPr>
          <p:cNvPr id="9" name="Text 5"/>
          <p:cNvSpPr/>
          <p:nvPr/>
        </p:nvSpPr>
        <p:spPr>
          <a:xfrm>
            <a:off x="6237684" y="2451894"/>
            <a:ext cx="5151140" cy="793750"/>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Once code is pushed, it reaches a shared development environment where team members can collaborate and integrate their work. This stage helps identify integration conflicts early in the pipeline. It focuses on validating that individual features function correctly when combined with the broader codebase.</a:t>
            </a:r>
            <a:endParaRPr lang="en-US" sz="1083" dirty="0">
              <a:solidFill>
                <a:prstClr val="black"/>
              </a:solidFill>
              <a:latin typeface="Calibri" panose="020F0502020204030204"/>
            </a:endParaRPr>
          </a:p>
        </p:txBody>
      </p:sp>
      <p:pic>
        <p:nvPicPr>
          <p:cNvPr id="10" name="Image 2" descr="preencoded.png"/>
          <p:cNvPicPr>
            <a:picLocks noChangeAspect="1"/>
          </p:cNvPicPr>
          <p:nvPr/>
        </p:nvPicPr>
        <p:blipFill>
          <a:blip r:embed="rId5"/>
          <a:stretch>
            <a:fillRect/>
          </a:stretch>
        </p:blipFill>
        <p:spPr>
          <a:xfrm>
            <a:off x="661492" y="3585766"/>
            <a:ext cx="5434508" cy="567035"/>
          </a:xfrm>
          <a:prstGeom prst="rect">
            <a:avLst/>
          </a:prstGeom>
        </p:spPr>
      </p:pic>
      <p:sp>
        <p:nvSpPr>
          <p:cNvPr id="11" name="Text 6"/>
          <p:cNvSpPr/>
          <p:nvPr/>
        </p:nvSpPr>
        <p:spPr>
          <a:xfrm>
            <a:off x="803176" y="4259065"/>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Staging</a:t>
            </a:r>
            <a:endParaRPr lang="en-US" sz="1375" dirty="0">
              <a:solidFill>
                <a:prstClr val="black"/>
              </a:solidFill>
              <a:latin typeface="Calibri" panose="020F0502020204030204"/>
            </a:endParaRPr>
          </a:p>
        </p:txBody>
      </p:sp>
      <p:sp>
        <p:nvSpPr>
          <p:cNvPr id="12" name="Text 7"/>
          <p:cNvSpPr/>
          <p:nvPr/>
        </p:nvSpPr>
        <p:spPr>
          <a:xfrm>
            <a:off x="803176" y="4544219"/>
            <a:ext cx="5151140" cy="793750"/>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This environment is a near-identical replica of the production infrastructure, designed specifically for final testing. Its purpose is to perform smoke testing, performance load testing, and UAT (User Acceptance Testing). It ensures that the application behaves predictably before the final deployment to users.</a:t>
            </a:r>
            <a:endParaRPr lang="en-US" sz="1083" dirty="0">
              <a:solidFill>
                <a:prstClr val="black"/>
              </a:solidFill>
              <a:latin typeface="Calibri" panose="020F0502020204030204"/>
            </a:endParaRPr>
          </a:p>
        </p:txBody>
      </p:sp>
      <p:pic>
        <p:nvPicPr>
          <p:cNvPr id="13" name="Image 3" descr="preencoded.png"/>
          <p:cNvPicPr>
            <a:picLocks noChangeAspect="1"/>
          </p:cNvPicPr>
          <p:nvPr/>
        </p:nvPicPr>
        <p:blipFill>
          <a:blip r:embed="rId6"/>
          <a:stretch>
            <a:fillRect/>
          </a:stretch>
        </p:blipFill>
        <p:spPr>
          <a:xfrm>
            <a:off x="6096000" y="3585766"/>
            <a:ext cx="5434508" cy="567035"/>
          </a:xfrm>
          <a:prstGeom prst="rect">
            <a:avLst/>
          </a:prstGeom>
        </p:spPr>
      </p:pic>
      <p:sp>
        <p:nvSpPr>
          <p:cNvPr id="14" name="Text 8"/>
          <p:cNvSpPr/>
          <p:nvPr/>
        </p:nvSpPr>
        <p:spPr>
          <a:xfrm>
            <a:off x="6237684" y="4259065"/>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Production</a:t>
            </a:r>
            <a:endParaRPr lang="en-US" sz="1375" dirty="0">
              <a:solidFill>
                <a:prstClr val="black"/>
              </a:solidFill>
              <a:latin typeface="Calibri" panose="020F0502020204030204"/>
            </a:endParaRPr>
          </a:p>
        </p:txBody>
      </p:sp>
      <p:sp>
        <p:nvSpPr>
          <p:cNvPr id="15" name="Text 9"/>
          <p:cNvSpPr/>
          <p:nvPr/>
        </p:nvSpPr>
        <p:spPr>
          <a:xfrm>
            <a:off x="6237684" y="4544219"/>
            <a:ext cx="5151140" cy="793750"/>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This is the live environment where end users interact with the finalized application. The focus here shifts to high availability, security, and real-time monitoring to ensure a seamless experience. Activities include managing traffic distribution, rolling out updates, and monitoring application health in real-time.</a:t>
            </a:r>
            <a:endParaRPr lang="en-US" sz="1083" dirty="0">
              <a:solidFill>
                <a:prstClr val="black"/>
              </a:solidFill>
              <a:latin typeface="Calibri" panose="020F0502020204030204"/>
            </a:endParaRPr>
          </a:p>
        </p:txBody>
      </p:sp>
      <p:sp>
        <p:nvSpPr>
          <p:cNvPr id="16" name="Shape 10"/>
          <p:cNvSpPr/>
          <p:nvPr/>
        </p:nvSpPr>
        <p:spPr>
          <a:xfrm>
            <a:off x="661492" y="5599212"/>
            <a:ext cx="10869018" cy="705048"/>
          </a:xfrm>
          <a:prstGeom prst="roundRect">
            <a:avLst>
              <a:gd name="adj" fmla="val 8445"/>
            </a:avLst>
          </a:prstGeom>
          <a:solidFill>
            <a:srgbClr val="D2D2E0"/>
          </a:solidFill>
          <a:ln/>
        </p:spPr>
      </p:sp>
      <p:pic>
        <p:nvPicPr>
          <p:cNvPr id="17" name="Image 4" descr="preencoded.png"/>
          <p:cNvPicPr>
            <a:picLocks noChangeAspect="1"/>
          </p:cNvPicPr>
          <p:nvPr/>
        </p:nvPicPr>
        <p:blipFill>
          <a:blip r:embed="rId7"/>
          <a:stretch>
            <a:fillRect/>
          </a:stretch>
        </p:blipFill>
        <p:spPr>
          <a:xfrm>
            <a:off x="803176" y="5798345"/>
            <a:ext cx="177205" cy="141684"/>
          </a:xfrm>
          <a:prstGeom prst="rect">
            <a:avLst/>
          </a:prstGeom>
        </p:spPr>
      </p:pic>
      <p:sp>
        <p:nvSpPr>
          <p:cNvPr id="18" name="Text 11"/>
          <p:cNvSpPr/>
          <p:nvPr/>
        </p:nvSpPr>
        <p:spPr>
          <a:xfrm>
            <a:off x="1122066" y="5740896"/>
            <a:ext cx="10266759" cy="396875"/>
          </a:xfrm>
          <a:prstGeom prst="rect">
            <a:avLst/>
          </a:prstGeom>
          <a:noFill/>
          <a:ln/>
        </p:spPr>
        <p:txBody>
          <a:bodyPr wrap="square" lIns="0" tIns="0" rIns="0" bIns="0" rtlCol="0" anchor="t"/>
          <a:lstStyle/>
          <a:p>
            <a:pPr defTabSz="761970">
              <a:lnSpc>
                <a:spcPts val="1542"/>
              </a:lnSpc>
            </a:pPr>
            <a:r>
              <a:rPr lang="en-US" sz="1083" b="1" dirty="0">
                <a:solidFill>
                  <a:srgbClr val="000000"/>
                </a:solidFill>
                <a:latin typeface="Roboto" pitchFamily="34" charset="0"/>
                <a:ea typeface="Roboto" pitchFamily="34" charset="-122"/>
                <a:cs typeface="Roboto" pitchFamily="34" charset="-120"/>
              </a:rPr>
              <a:t>Note:</a:t>
            </a:r>
            <a:r>
              <a:rPr lang="en-US" sz="1083" dirty="0">
                <a:solidFill>
                  <a:srgbClr val="000000"/>
                </a:solidFill>
                <a:latin typeface="Roboto" pitchFamily="34" charset="0"/>
                <a:ea typeface="Roboto" pitchFamily="34" charset="-122"/>
                <a:cs typeface="Roboto" pitchFamily="34" charset="-120"/>
              </a:rPr>
              <a:t> Government systems like healthcare.gov use strict staging environments to ensure compliance before production deployment, following a mandatory review process at each stage.</a:t>
            </a:r>
            <a:endParaRPr lang="en-US" sz="1083" dirty="0">
              <a:solidFill>
                <a:prstClr val="black"/>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6526014" cy="472480"/>
          </a:xfrm>
          <a:prstGeom prst="rect">
            <a:avLst/>
          </a:prstGeom>
          <a:noFill/>
          <a:ln/>
        </p:spPr>
        <p:txBody>
          <a:bodyPr wrap="none" lIns="0" tIns="0" rIns="0" bIns="0" rtlCol="0" anchor="t"/>
          <a:lstStyle/>
          <a:p>
            <a:pPr defTabSz="761970">
              <a:lnSpc>
                <a:spcPts val="3708"/>
              </a:lnSpc>
            </a:pPr>
            <a:r>
              <a:rPr lang="en-US" sz="2958" dirty="0">
                <a:solidFill>
                  <a:srgbClr val="1B1B27"/>
                </a:solidFill>
                <a:latin typeface="Raleway" pitchFamily="34" charset="0"/>
                <a:ea typeface="Raleway" pitchFamily="34" charset="-122"/>
                <a:cs typeface="Raleway" pitchFamily="34" charset="-120"/>
              </a:rPr>
              <a:t>Key Steps in the Deployment Process</a:t>
            </a:r>
            <a:endParaRPr lang="en-US" sz="2958" dirty="0">
              <a:solidFill>
                <a:prstClr val="black"/>
              </a:solidFill>
              <a:latin typeface="Calibri" panose="020F0502020204030204"/>
            </a:endParaRPr>
          </a:p>
        </p:txBody>
      </p:sp>
      <p:sp>
        <p:nvSpPr>
          <p:cNvPr id="3" name="Shape 1"/>
          <p:cNvSpPr/>
          <p:nvPr/>
        </p:nvSpPr>
        <p:spPr>
          <a:xfrm>
            <a:off x="661492" y="1234182"/>
            <a:ext cx="3542308" cy="1737718"/>
          </a:xfrm>
          <a:prstGeom prst="roundRect">
            <a:avLst>
              <a:gd name="adj" fmla="val 3655"/>
            </a:avLst>
          </a:prstGeom>
          <a:solidFill>
            <a:srgbClr val="FFFFFF">
              <a:alpha val="95000"/>
            </a:srgbClr>
          </a:solidFill>
          <a:ln w="22860">
            <a:solidFill>
              <a:srgbClr val="C7C7D0"/>
            </a:solidFill>
            <a:prstDash val="solid"/>
          </a:ln>
        </p:spPr>
      </p:sp>
      <p:sp>
        <p:nvSpPr>
          <p:cNvPr id="4" name="Text 2"/>
          <p:cNvSpPr/>
          <p:nvPr/>
        </p:nvSpPr>
        <p:spPr>
          <a:xfrm>
            <a:off x="831751" y="1404442"/>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Planning</a:t>
            </a:r>
            <a:endParaRPr lang="en-US" sz="1458" dirty="0">
              <a:solidFill>
                <a:prstClr val="black"/>
              </a:solidFill>
              <a:latin typeface="Calibri" panose="020F0502020204030204"/>
            </a:endParaRPr>
          </a:p>
        </p:txBody>
      </p:sp>
      <p:sp>
        <p:nvSpPr>
          <p:cNvPr id="5" name="Text 3"/>
          <p:cNvSpPr/>
          <p:nvPr/>
        </p:nvSpPr>
        <p:spPr>
          <a:xfrm>
            <a:off x="831751" y="1713210"/>
            <a:ext cx="3201789" cy="1088430"/>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Define requirements, resources, and timeline for deployment. This foundational phase ensures all stakeholders are aligned on project goals and potential risks are mitigated early, preventing costly delays during execution.</a:t>
            </a:r>
            <a:endParaRPr lang="en-US" sz="1167" dirty="0">
              <a:solidFill>
                <a:prstClr val="black"/>
              </a:solidFill>
              <a:latin typeface="Calibri" panose="020F0502020204030204"/>
            </a:endParaRPr>
          </a:p>
        </p:txBody>
      </p:sp>
      <p:sp>
        <p:nvSpPr>
          <p:cNvPr id="6" name="Shape 4"/>
          <p:cNvSpPr/>
          <p:nvPr/>
        </p:nvSpPr>
        <p:spPr>
          <a:xfrm>
            <a:off x="4324747" y="1234182"/>
            <a:ext cx="3542407" cy="1737718"/>
          </a:xfrm>
          <a:prstGeom prst="roundRect">
            <a:avLst>
              <a:gd name="adj" fmla="val 3655"/>
            </a:avLst>
          </a:prstGeom>
          <a:solidFill>
            <a:srgbClr val="FFFFFF">
              <a:alpha val="95000"/>
            </a:srgbClr>
          </a:solidFill>
          <a:ln w="22860">
            <a:solidFill>
              <a:srgbClr val="C7C7D0"/>
            </a:solidFill>
            <a:prstDash val="solid"/>
          </a:ln>
        </p:spPr>
      </p:sp>
      <p:sp>
        <p:nvSpPr>
          <p:cNvPr id="7" name="Text 5"/>
          <p:cNvSpPr/>
          <p:nvPr/>
        </p:nvSpPr>
        <p:spPr>
          <a:xfrm>
            <a:off x="4495007" y="1404442"/>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Development</a:t>
            </a:r>
            <a:endParaRPr lang="en-US" sz="1458" dirty="0">
              <a:solidFill>
                <a:prstClr val="black"/>
              </a:solidFill>
              <a:latin typeface="Calibri" panose="020F0502020204030204"/>
            </a:endParaRPr>
          </a:p>
        </p:txBody>
      </p:sp>
      <p:sp>
        <p:nvSpPr>
          <p:cNvPr id="8" name="Text 6"/>
          <p:cNvSpPr/>
          <p:nvPr/>
        </p:nvSpPr>
        <p:spPr>
          <a:xfrm>
            <a:off x="4495007" y="1713210"/>
            <a:ext cx="3201888" cy="1088430"/>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Write code, implement features, and integrate components. Developers collaborate here to build functional units, ensuring that individual pieces of the application work seamlessly together before moving to the next phase.</a:t>
            </a:r>
            <a:endParaRPr lang="en-US" sz="1167" dirty="0">
              <a:solidFill>
                <a:prstClr val="black"/>
              </a:solidFill>
              <a:latin typeface="Calibri" panose="020F0502020204030204"/>
            </a:endParaRPr>
          </a:p>
        </p:txBody>
      </p:sp>
      <p:sp>
        <p:nvSpPr>
          <p:cNvPr id="9" name="Shape 7"/>
          <p:cNvSpPr/>
          <p:nvPr/>
        </p:nvSpPr>
        <p:spPr>
          <a:xfrm>
            <a:off x="7988102" y="1234182"/>
            <a:ext cx="3542407" cy="1737718"/>
          </a:xfrm>
          <a:prstGeom prst="roundRect">
            <a:avLst>
              <a:gd name="adj" fmla="val 3655"/>
            </a:avLst>
          </a:prstGeom>
          <a:solidFill>
            <a:srgbClr val="FFFFFF">
              <a:alpha val="95000"/>
            </a:srgbClr>
          </a:solidFill>
          <a:ln w="22860">
            <a:solidFill>
              <a:srgbClr val="C7C7D0"/>
            </a:solidFill>
            <a:prstDash val="solid"/>
          </a:ln>
        </p:spPr>
      </p:sp>
      <p:sp>
        <p:nvSpPr>
          <p:cNvPr id="10" name="Text 8"/>
          <p:cNvSpPr/>
          <p:nvPr/>
        </p:nvSpPr>
        <p:spPr>
          <a:xfrm>
            <a:off x="8158361" y="1404442"/>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Testing</a:t>
            </a:r>
            <a:endParaRPr lang="en-US" sz="1458" dirty="0">
              <a:solidFill>
                <a:prstClr val="black"/>
              </a:solidFill>
              <a:latin typeface="Calibri" panose="020F0502020204030204"/>
            </a:endParaRPr>
          </a:p>
        </p:txBody>
      </p:sp>
      <p:sp>
        <p:nvSpPr>
          <p:cNvPr id="11" name="Text 9"/>
          <p:cNvSpPr/>
          <p:nvPr/>
        </p:nvSpPr>
        <p:spPr>
          <a:xfrm>
            <a:off x="8158361" y="1713210"/>
            <a:ext cx="3201888" cy="1088430"/>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Run unit, integration, and user acceptance tests. Rigorous testing is essential to identify bugs, security vulnerabilities, or performance bottlenecks, ensuring the software meets both technical requirements and user expectations.</a:t>
            </a:r>
            <a:endParaRPr lang="en-US" sz="1167" dirty="0">
              <a:solidFill>
                <a:prstClr val="black"/>
              </a:solidFill>
              <a:latin typeface="Calibri" panose="020F0502020204030204"/>
            </a:endParaRPr>
          </a:p>
        </p:txBody>
      </p:sp>
      <p:sp>
        <p:nvSpPr>
          <p:cNvPr id="12" name="Shape 10"/>
          <p:cNvSpPr/>
          <p:nvPr/>
        </p:nvSpPr>
        <p:spPr>
          <a:xfrm>
            <a:off x="661492" y="3092847"/>
            <a:ext cx="3542308" cy="1955403"/>
          </a:xfrm>
          <a:prstGeom prst="roundRect">
            <a:avLst>
              <a:gd name="adj" fmla="val 3248"/>
            </a:avLst>
          </a:prstGeom>
          <a:solidFill>
            <a:srgbClr val="FFFFFF">
              <a:alpha val="95000"/>
            </a:srgbClr>
          </a:solidFill>
          <a:ln w="22860">
            <a:solidFill>
              <a:srgbClr val="C7C7D0"/>
            </a:solidFill>
            <a:prstDash val="solid"/>
          </a:ln>
        </p:spPr>
      </p:sp>
      <p:sp>
        <p:nvSpPr>
          <p:cNvPr id="13" name="Text 11"/>
          <p:cNvSpPr/>
          <p:nvPr/>
        </p:nvSpPr>
        <p:spPr>
          <a:xfrm>
            <a:off x="831751" y="3263107"/>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Build</a:t>
            </a:r>
            <a:endParaRPr lang="en-US" sz="1458" dirty="0">
              <a:solidFill>
                <a:prstClr val="black"/>
              </a:solidFill>
              <a:latin typeface="Calibri" panose="020F0502020204030204"/>
            </a:endParaRPr>
          </a:p>
        </p:txBody>
      </p:sp>
      <p:sp>
        <p:nvSpPr>
          <p:cNvPr id="14" name="Text 12"/>
          <p:cNvSpPr/>
          <p:nvPr/>
        </p:nvSpPr>
        <p:spPr>
          <a:xfrm>
            <a:off x="831751" y="3571875"/>
            <a:ext cx="3201789" cy="1088430"/>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Compile assets, minify code, and package for production. This step transforms source code into a deployable artifact, optimizing it for efficiency and speed so that the final application runs reliably in a live environment.</a:t>
            </a:r>
            <a:endParaRPr lang="en-US" sz="1167" dirty="0">
              <a:solidFill>
                <a:prstClr val="black"/>
              </a:solidFill>
              <a:latin typeface="Calibri" panose="020F0502020204030204"/>
            </a:endParaRPr>
          </a:p>
        </p:txBody>
      </p:sp>
      <p:sp>
        <p:nvSpPr>
          <p:cNvPr id="15" name="Shape 13"/>
          <p:cNvSpPr/>
          <p:nvPr/>
        </p:nvSpPr>
        <p:spPr>
          <a:xfrm>
            <a:off x="4324747" y="3092847"/>
            <a:ext cx="3542407" cy="1955403"/>
          </a:xfrm>
          <a:prstGeom prst="roundRect">
            <a:avLst>
              <a:gd name="adj" fmla="val 3248"/>
            </a:avLst>
          </a:prstGeom>
          <a:solidFill>
            <a:srgbClr val="FFFFFF">
              <a:alpha val="95000"/>
            </a:srgbClr>
          </a:solidFill>
          <a:ln w="22860">
            <a:solidFill>
              <a:srgbClr val="C7C7D0"/>
            </a:solidFill>
            <a:prstDash val="solid"/>
          </a:ln>
        </p:spPr>
      </p:sp>
      <p:sp>
        <p:nvSpPr>
          <p:cNvPr id="16" name="Text 14"/>
          <p:cNvSpPr/>
          <p:nvPr/>
        </p:nvSpPr>
        <p:spPr>
          <a:xfrm>
            <a:off x="4495007" y="3263107"/>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Release</a:t>
            </a:r>
            <a:endParaRPr lang="en-US" sz="1458" dirty="0">
              <a:solidFill>
                <a:prstClr val="black"/>
              </a:solidFill>
              <a:latin typeface="Calibri" panose="020F0502020204030204"/>
            </a:endParaRPr>
          </a:p>
        </p:txBody>
      </p:sp>
      <p:sp>
        <p:nvSpPr>
          <p:cNvPr id="17" name="Text 15"/>
          <p:cNvSpPr/>
          <p:nvPr/>
        </p:nvSpPr>
        <p:spPr>
          <a:xfrm>
            <a:off x="4495007" y="3571875"/>
            <a:ext cx="3201888" cy="1306116"/>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Deploy to production servers and verify functionality. By successfully pushing the code to the live environment, the team ensures the new features are available to end users, followed by immediate validation to confirm success.</a:t>
            </a:r>
            <a:endParaRPr lang="en-US" sz="1167" dirty="0">
              <a:solidFill>
                <a:prstClr val="black"/>
              </a:solidFill>
              <a:latin typeface="Calibri" panose="020F0502020204030204"/>
            </a:endParaRPr>
          </a:p>
        </p:txBody>
      </p:sp>
      <p:sp>
        <p:nvSpPr>
          <p:cNvPr id="18" name="Shape 16"/>
          <p:cNvSpPr/>
          <p:nvPr/>
        </p:nvSpPr>
        <p:spPr>
          <a:xfrm>
            <a:off x="7988102" y="3092847"/>
            <a:ext cx="3542407" cy="1955403"/>
          </a:xfrm>
          <a:prstGeom prst="roundRect">
            <a:avLst>
              <a:gd name="adj" fmla="val 3248"/>
            </a:avLst>
          </a:prstGeom>
          <a:solidFill>
            <a:srgbClr val="FFFFFF">
              <a:alpha val="95000"/>
            </a:srgbClr>
          </a:solidFill>
          <a:ln w="22860">
            <a:solidFill>
              <a:srgbClr val="C7C7D0"/>
            </a:solidFill>
            <a:prstDash val="solid"/>
          </a:ln>
        </p:spPr>
      </p:sp>
      <p:sp>
        <p:nvSpPr>
          <p:cNvPr id="19" name="Text 17"/>
          <p:cNvSpPr/>
          <p:nvPr/>
        </p:nvSpPr>
        <p:spPr>
          <a:xfrm>
            <a:off x="8158361" y="3263107"/>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Monitoring</a:t>
            </a:r>
            <a:endParaRPr lang="en-US" sz="1458" dirty="0">
              <a:solidFill>
                <a:prstClr val="black"/>
              </a:solidFill>
              <a:latin typeface="Calibri" panose="020F0502020204030204"/>
            </a:endParaRPr>
          </a:p>
        </p:txBody>
      </p:sp>
      <p:sp>
        <p:nvSpPr>
          <p:cNvPr id="20" name="Text 18"/>
          <p:cNvSpPr/>
          <p:nvPr/>
        </p:nvSpPr>
        <p:spPr>
          <a:xfrm>
            <a:off x="8158361" y="3571875"/>
            <a:ext cx="3201888" cy="1088430"/>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Track performance, errors, and user behavior. Continuous observation provides real-time insights into system health, allowing teams to proactively detect anomalies or outages before they significantly impact the user experience.</a:t>
            </a:r>
            <a:endParaRPr lang="en-US" sz="1167" dirty="0">
              <a:solidFill>
                <a:prstClr val="black"/>
              </a:solidFill>
              <a:latin typeface="Calibri" panose="020F0502020204030204"/>
            </a:endParaRPr>
          </a:p>
        </p:txBody>
      </p:sp>
      <p:sp>
        <p:nvSpPr>
          <p:cNvPr id="21" name="Shape 19"/>
          <p:cNvSpPr/>
          <p:nvPr/>
        </p:nvSpPr>
        <p:spPr>
          <a:xfrm>
            <a:off x="661492" y="5169198"/>
            <a:ext cx="10869018" cy="1084659"/>
          </a:xfrm>
          <a:prstGeom prst="roundRect">
            <a:avLst>
              <a:gd name="adj" fmla="val 5855"/>
            </a:avLst>
          </a:prstGeom>
          <a:solidFill>
            <a:srgbClr val="FFFFFF">
              <a:alpha val="95000"/>
            </a:srgbClr>
          </a:solidFill>
          <a:ln w="22860">
            <a:solidFill>
              <a:srgbClr val="C7C7D0"/>
            </a:solidFill>
            <a:prstDash val="solid"/>
          </a:ln>
        </p:spPr>
      </p:sp>
      <p:sp>
        <p:nvSpPr>
          <p:cNvPr id="22" name="Text 20"/>
          <p:cNvSpPr/>
          <p:nvPr/>
        </p:nvSpPr>
        <p:spPr>
          <a:xfrm>
            <a:off x="831751" y="5339457"/>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Maintenance</a:t>
            </a:r>
            <a:endParaRPr lang="en-US" sz="1458" dirty="0">
              <a:solidFill>
                <a:prstClr val="black"/>
              </a:solidFill>
              <a:latin typeface="Calibri" panose="020F0502020204030204"/>
            </a:endParaRPr>
          </a:p>
        </p:txBody>
      </p:sp>
      <p:sp>
        <p:nvSpPr>
          <p:cNvPr id="23" name="Text 21"/>
          <p:cNvSpPr/>
          <p:nvPr/>
        </p:nvSpPr>
        <p:spPr>
          <a:xfrm>
            <a:off x="831751" y="5648226"/>
            <a:ext cx="10528498" cy="435372"/>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Apply updates, fix bugs, and optimize performance. Ongoing maintenance ensures the longevity of the application, keeping it secure, stable, and responsive to evolving user needs long after the initial launch.</a:t>
            </a:r>
            <a:endParaRPr lang="en-US" sz="1167" dirty="0">
              <a:solidFill>
                <a:prstClr val="black"/>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8010525" cy="472480"/>
          </a:xfrm>
          <a:prstGeom prst="rect">
            <a:avLst/>
          </a:prstGeom>
          <a:noFill/>
          <a:ln/>
        </p:spPr>
        <p:txBody>
          <a:bodyPr wrap="none" lIns="0" tIns="0" rIns="0" bIns="0" rtlCol="0" anchor="t"/>
          <a:lstStyle/>
          <a:p>
            <a:pPr defTabSz="761970">
              <a:lnSpc>
                <a:spcPts val="3708"/>
              </a:lnSpc>
            </a:pPr>
            <a:r>
              <a:rPr lang="en-US" sz="2958" dirty="0">
                <a:solidFill>
                  <a:srgbClr val="1B1B27"/>
                </a:solidFill>
                <a:latin typeface="Raleway" pitchFamily="34" charset="0"/>
                <a:ea typeface="Raleway" pitchFamily="34" charset="-122"/>
                <a:cs typeface="Raleway" pitchFamily="34" charset="-120"/>
              </a:rPr>
              <a:t>Deployment Strategies: Manual vs Continuous</a:t>
            </a:r>
            <a:endParaRPr lang="en-US" sz="2958" dirty="0">
              <a:solidFill>
                <a:prstClr val="black"/>
              </a:solidFill>
              <a:latin typeface="Calibri" panose="020F0502020204030204"/>
            </a:endParaRPr>
          </a:p>
        </p:txBody>
      </p:sp>
      <p:sp>
        <p:nvSpPr>
          <p:cNvPr id="3" name="Text 1"/>
          <p:cNvSpPr/>
          <p:nvPr/>
        </p:nvSpPr>
        <p:spPr>
          <a:xfrm>
            <a:off x="661492" y="1234182"/>
            <a:ext cx="10869018"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Choosing the right deployment strategy depends on your team size, release frequency, and risk tolerance.</a:t>
            </a:r>
            <a:endParaRPr lang="en-US" sz="1167" dirty="0">
              <a:solidFill>
                <a:prstClr val="black"/>
              </a:solidFill>
              <a:latin typeface="Calibri" panose="020F0502020204030204"/>
            </a:endParaRPr>
          </a:p>
        </p:txBody>
      </p:sp>
      <p:sp>
        <p:nvSpPr>
          <p:cNvPr id="4" name="Shape 2"/>
          <p:cNvSpPr/>
          <p:nvPr/>
        </p:nvSpPr>
        <p:spPr>
          <a:xfrm>
            <a:off x="661492" y="1587897"/>
            <a:ext cx="10869018" cy="2640806"/>
          </a:xfrm>
          <a:prstGeom prst="roundRect">
            <a:avLst>
              <a:gd name="adj" fmla="val 2405"/>
            </a:avLst>
          </a:prstGeom>
          <a:noFill/>
          <a:ln w="7620">
            <a:solidFill>
              <a:srgbClr val="000000">
                <a:alpha val="8000"/>
              </a:srgbClr>
            </a:solidFill>
            <a:prstDash val="solid"/>
          </a:ln>
        </p:spPr>
      </p:sp>
      <p:sp>
        <p:nvSpPr>
          <p:cNvPr id="5" name="Shape 3"/>
          <p:cNvSpPr/>
          <p:nvPr/>
        </p:nvSpPr>
        <p:spPr>
          <a:xfrm>
            <a:off x="667842" y="1594247"/>
            <a:ext cx="10856318" cy="375444"/>
          </a:xfrm>
          <a:prstGeom prst="rect">
            <a:avLst/>
          </a:prstGeom>
          <a:solidFill>
            <a:srgbClr val="FFFFFF">
              <a:alpha val="4000"/>
            </a:srgbClr>
          </a:solidFill>
          <a:ln/>
        </p:spPr>
      </p:sp>
      <p:sp>
        <p:nvSpPr>
          <p:cNvPr id="6" name="Text 4"/>
          <p:cNvSpPr/>
          <p:nvPr/>
        </p:nvSpPr>
        <p:spPr>
          <a:xfrm>
            <a:off x="819250" y="1673126"/>
            <a:ext cx="2408436" cy="217686"/>
          </a:xfrm>
          <a:prstGeom prst="rect">
            <a:avLst/>
          </a:prstGeom>
          <a:noFill/>
          <a:ln/>
        </p:spPr>
        <p:txBody>
          <a:bodyPr wrap="none" lIns="0" tIns="0" rIns="0" bIns="0" rtlCol="0" anchor="t"/>
          <a:lstStyle/>
          <a:p>
            <a:pPr defTabSz="761970">
              <a:lnSpc>
                <a:spcPts val="1708"/>
              </a:lnSpc>
            </a:pPr>
            <a:r>
              <a:rPr lang="en-US" sz="1167" b="1" dirty="0">
                <a:solidFill>
                  <a:srgbClr val="3C3939"/>
                </a:solidFill>
                <a:latin typeface="Roboto" pitchFamily="34" charset="0"/>
                <a:ea typeface="Roboto" pitchFamily="34" charset="-122"/>
                <a:cs typeface="Roboto" pitchFamily="34" charset="-120"/>
              </a:rPr>
              <a:t>Aspect</a:t>
            </a:r>
            <a:endParaRPr lang="en-US" sz="1167" dirty="0">
              <a:solidFill>
                <a:prstClr val="black"/>
              </a:solidFill>
              <a:latin typeface="Calibri" panose="020F0502020204030204"/>
            </a:endParaRPr>
          </a:p>
        </p:txBody>
      </p:sp>
      <p:sp>
        <p:nvSpPr>
          <p:cNvPr id="7" name="Text 5"/>
          <p:cNvSpPr/>
          <p:nvPr/>
        </p:nvSpPr>
        <p:spPr>
          <a:xfrm>
            <a:off x="3536455" y="1673126"/>
            <a:ext cx="3762276" cy="217686"/>
          </a:xfrm>
          <a:prstGeom prst="rect">
            <a:avLst/>
          </a:prstGeom>
          <a:noFill/>
          <a:ln/>
        </p:spPr>
        <p:txBody>
          <a:bodyPr wrap="none" lIns="0" tIns="0" rIns="0" bIns="0" rtlCol="0" anchor="t"/>
          <a:lstStyle/>
          <a:p>
            <a:pPr defTabSz="761970">
              <a:lnSpc>
                <a:spcPts val="1708"/>
              </a:lnSpc>
            </a:pPr>
            <a:r>
              <a:rPr lang="en-US" sz="1167" b="1" dirty="0">
                <a:solidFill>
                  <a:srgbClr val="3C3939"/>
                </a:solidFill>
                <a:latin typeface="Roboto" pitchFamily="34" charset="0"/>
                <a:ea typeface="Roboto" pitchFamily="34" charset="-122"/>
                <a:cs typeface="Roboto" pitchFamily="34" charset="-120"/>
              </a:rPr>
              <a:t>Manual Deployment</a:t>
            </a:r>
            <a:endParaRPr lang="en-US" sz="1167" dirty="0">
              <a:solidFill>
                <a:prstClr val="black"/>
              </a:solidFill>
              <a:latin typeface="Calibri" panose="020F0502020204030204"/>
            </a:endParaRPr>
          </a:p>
        </p:txBody>
      </p:sp>
      <p:sp>
        <p:nvSpPr>
          <p:cNvPr id="8" name="Text 6"/>
          <p:cNvSpPr/>
          <p:nvPr/>
        </p:nvSpPr>
        <p:spPr>
          <a:xfrm>
            <a:off x="7607499" y="1673126"/>
            <a:ext cx="3765451" cy="217686"/>
          </a:xfrm>
          <a:prstGeom prst="rect">
            <a:avLst/>
          </a:prstGeom>
          <a:noFill/>
          <a:ln/>
        </p:spPr>
        <p:txBody>
          <a:bodyPr wrap="none" lIns="0" tIns="0" rIns="0" bIns="0" rtlCol="0" anchor="t"/>
          <a:lstStyle/>
          <a:p>
            <a:pPr defTabSz="761970">
              <a:lnSpc>
                <a:spcPts val="1708"/>
              </a:lnSpc>
            </a:pPr>
            <a:r>
              <a:rPr lang="en-US" sz="1167" b="1" dirty="0">
                <a:solidFill>
                  <a:srgbClr val="3C3939"/>
                </a:solidFill>
                <a:latin typeface="Roboto" pitchFamily="34" charset="0"/>
                <a:ea typeface="Roboto" pitchFamily="34" charset="-122"/>
                <a:cs typeface="Roboto" pitchFamily="34" charset="-120"/>
              </a:rPr>
              <a:t>Continuous Deployment</a:t>
            </a:r>
            <a:endParaRPr lang="en-US" sz="1167" dirty="0">
              <a:solidFill>
                <a:prstClr val="black"/>
              </a:solidFill>
              <a:latin typeface="Calibri" panose="020F0502020204030204"/>
            </a:endParaRPr>
          </a:p>
        </p:txBody>
      </p:sp>
      <p:sp>
        <p:nvSpPr>
          <p:cNvPr id="9" name="Shape 7"/>
          <p:cNvSpPr/>
          <p:nvPr/>
        </p:nvSpPr>
        <p:spPr>
          <a:xfrm>
            <a:off x="667842" y="1969691"/>
            <a:ext cx="10856318" cy="375444"/>
          </a:xfrm>
          <a:prstGeom prst="rect">
            <a:avLst/>
          </a:prstGeom>
          <a:solidFill>
            <a:srgbClr val="000000">
              <a:alpha val="4000"/>
            </a:srgbClr>
          </a:solidFill>
          <a:ln/>
        </p:spPr>
      </p:sp>
      <p:sp>
        <p:nvSpPr>
          <p:cNvPr id="10" name="Text 8"/>
          <p:cNvSpPr/>
          <p:nvPr/>
        </p:nvSpPr>
        <p:spPr>
          <a:xfrm>
            <a:off x="819250" y="2048570"/>
            <a:ext cx="240843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Frequency</a:t>
            </a:r>
            <a:endParaRPr lang="en-US" sz="1167" dirty="0">
              <a:solidFill>
                <a:prstClr val="black"/>
              </a:solidFill>
              <a:latin typeface="Calibri" panose="020F0502020204030204"/>
            </a:endParaRPr>
          </a:p>
        </p:txBody>
      </p:sp>
      <p:sp>
        <p:nvSpPr>
          <p:cNvPr id="11" name="Text 9"/>
          <p:cNvSpPr/>
          <p:nvPr/>
        </p:nvSpPr>
        <p:spPr>
          <a:xfrm>
            <a:off x="3536455" y="2048570"/>
            <a:ext cx="376227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Weekly or monthly releases</a:t>
            </a:r>
            <a:endParaRPr lang="en-US" sz="1167" dirty="0">
              <a:solidFill>
                <a:prstClr val="black"/>
              </a:solidFill>
              <a:latin typeface="Calibri" panose="020F0502020204030204"/>
            </a:endParaRPr>
          </a:p>
        </p:txBody>
      </p:sp>
      <p:sp>
        <p:nvSpPr>
          <p:cNvPr id="12" name="Text 10"/>
          <p:cNvSpPr/>
          <p:nvPr/>
        </p:nvSpPr>
        <p:spPr>
          <a:xfrm>
            <a:off x="7607499" y="2048570"/>
            <a:ext cx="3765451"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Multiple deployments daily</a:t>
            </a:r>
            <a:endParaRPr lang="en-US" sz="1167" dirty="0">
              <a:solidFill>
                <a:prstClr val="black"/>
              </a:solidFill>
              <a:latin typeface="Calibri" panose="020F0502020204030204"/>
            </a:endParaRPr>
          </a:p>
        </p:txBody>
      </p:sp>
      <p:sp>
        <p:nvSpPr>
          <p:cNvPr id="13" name="Shape 11"/>
          <p:cNvSpPr/>
          <p:nvPr/>
        </p:nvSpPr>
        <p:spPr>
          <a:xfrm>
            <a:off x="667842" y="2345135"/>
            <a:ext cx="10856318" cy="375444"/>
          </a:xfrm>
          <a:prstGeom prst="rect">
            <a:avLst/>
          </a:prstGeom>
          <a:solidFill>
            <a:srgbClr val="FFFFFF">
              <a:alpha val="4000"/>
            </a:srgbClr>
          </a:solidFill>
          <a:ln/>
        </p:spPr>
      </p:sp>
      <p:sp>
        <p:nvSpPr>
          <p:cNvPr id="14" name="Text 12"/>
          <p:cNvSpPr/>
          <p:nvPr/>
        </p:nvSpPr>
        <p:spPr>
          <a:xfrm>
            <a:off x="819250" y="2424014"/>
            <a:ext cx="240843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Automation</a:t>
            </a:r>
            <a:endParaRPr lang="en-US" sz="1167" dirty="0">
              <a:solidFill>
                <a:prstClr val="black"/>
              </a:solidFill>
              <a:latin typeface="Calibri" panose="020F0502020204030204"/>
            </a:endParaRPr>
          </a:p>
        </p:txBody>
      </p:sp>
      <p:sp>
        <p:nvSpPr>
          <p:cNvPr id="15" name="Text 13"/>
          <p:cNvSpPr/>
          <p:nvPr/>
        </p:nvSpPr>
        <p:spPr>
          <a:xfrm>
            <a:off x="3536455" y="2424014"/>
            <a:ext cx="376227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Human executes each step</a:t>
            </a:r>
            <a:endParaRPr lang="en-US" sz="1167" dirty="0">
              <a:solidFill>
                <a:prstClr val="black"/>
              </a:solidFill>
              <a:latin typeface="Calibri" panose="020F0502020204030204"/>
            </a:endParaRPr>
          </a:p>
        </p:txBody>
      </p:sp>
      <p:sp>
        <p:nvSpPr>
          <p:cNvPr id="16" name="Text 14"/>
          <p:cNvSpPr/>
          <p:nvPr/>
        </p:nvSpPr>
        <p:spPr>
          <a:xfrm>
            <a:off x="7607499" y="2424014"/>
            <a:ext cx="3765451"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Automated pipelines trigger releases</a:t>
            </a:r>
            <a:endParaRPr lang="en-US" sz="1167" dirty="0">
              <a:solidFill>
                <a:prstClr val="black"/>
              </a:solidFill>
              <a:latin typeface="Calibri" panose="020F0502020204030204"/>
            </a:endParaRPr>
          </a:p>
        </p:txBody>
      </p:sp>
      <p:sp>
        <p:nvSpPr>
          <p:cNvPr id="17" name="Shape 15"/>
          <p:cNvSpPr/>
          <p:nvPr/>
        </p:nvSpPr>
        <p:spPr>
          <a:xfrm>
            <a:off x="667842" y="2720579"/>
            <a:ext cx="10856318" cy="375444"/>
          </a:xfrm>
          <a:prstGeom prst="rect">
            <a:avLst/>
          </a:prstGeom>
          <a:solidFill>
            <a:srgbClr val="000000">
              <a:alpha val="4000"/>
            </a:srgbClr>
          </a:solidFill>
          <a:ln/>
        </p:spPr>
      </p:sp>
      <p:sp>
        <p:nvSpPr>
          <p:cNvPr id="18" name="Text 16"/>
          <p:cNvSpPr/>
          <p:nvPr/>
        </p:nvSpPr>
        <p:spPr>
          <a:xfrm>
            <a:off x="819250" y="2799457"/>
            <a:ext cx="240843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Speed</a:t>
            </a:r>
            <a:endParaRPr lang="en-US" sz="1167" dirty="0">
              <a:solidFill>
                <a:prstClr val="black"/>
              </a:solidFill>
              <a:latin typeface="Calibri" panose="020F0502020204030204"/>
            </a:endParaRPr>
          </a:p>
        </p:txBody>
      </p:sp>
      <p:sp>
        <p:nvSpPr>
          <p:cNvPr id="19" name="Text 17"/>
          <p:cNvSpPr/>
          <p:nvPr/>
        </p:nvSpPr>
        <p:spPr>
          <a:xfrm>
            <a:off x="3536455" y="2799457"/>
            <a:ext cx="376227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Slower, requires coordination</a:t>
            </a:r>
            <a:endParaRPr lang="en-US" sz="1167" dirty="0">
              <a:solidFill>
                <a:prstClr val="black"/>
              </a:solidFill>
              <a:latin typeface="Calibri" panose="020F0502020204030204"/>
            </a:endParaRPr>
          </a:p>
        </p:txBody>
      </p:sp>
      <p:sp>
        <p:nvSpPr>
          <p:cNvPr id="20" name="Text 18"/>
          <p:cNvSpPr/>
          <p:nvPr/>
        </p:nvSpPr>
        <p:spPr>
          <a:xfrm>
            <a:off x="7607499" y="2799457"/>
            <a:ext cx="3765451"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Rapid, immediate after merge</a:t>
            </a:r>
            <a:endParaRPr lang="en-US" sz="1167" dirty="0">
              <a:solidFill>
                <a:prstClr val="black"/>
              </a:solidFill>
              <a:latin typeface="Calibri" panose="020F0502020204030204"/>
            </a:endParaRPr>
          </a:p>
        </p:txBody>
      </p:sp>
      <p:sp>
        <p:nvSpPr>
          <p:cNvPr id="21" name="Shape 19"/>
          <p:cNvSpPr/>
          <p:nvPr/>
        </p:nvSpPr>
        <p:spPr>
          <a:xfrm>
            <a:off x="667842" y="3096022"/>
            <a:ext cx="10856318" cy="375444"/>
          </a:xfrm>
          <a:prstGeom prst="rect">
            <a:avLst/>
          </a:prstGeom>
          <a:solidFill>
            <a:srgbClr val="FFFFFF">
              <a:alpha val="4000"/>
            </a:srgbClr>
          </a:solidFill>
          <a:ln/>
        </p:spPr>
      </p:sp>
      <p:sp>
        <p:nvSpPr>
          <p:cNvPr id="22" name="Text 20"/>
          <p:cNvSpPr/>
          <p:nvPr/>
        </p:nvSpPr>
        <p:spPr>
          <a:xfrm>
            <a:off x="819250" y="3174901"/>
            <a:ext cx="240843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Risk</a:t>
            </a:r>
            <a:endParaRPr lang="en-US" sz="1167" dirty="0">
              <a:solidFill>
                <a:prstClr val="black"/>
              </a:solidFill>
              <a:latin typeface="Calibri" panose="020F0502020204030204"/>
            </a:endParaRPr>
          </a:p>
        </p:txBody>
      </p:sp>
      <p:sp>
        <p:nvSpPr>
          <p:cNvPr id="23" name="Text 21"/>
          <p:cNvSpPr/>
          <p:nvPr/>
        </p:nvSpPr>
        <p:spPr>
          <a:xfrm>
            <a:off x="3536455" y="3174901"/>
            <a:ext cx="376227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Higher human error potential</a:t>
            </a:r>
            <a:endParaRPr lang="en-US" sz="1167" dirty="0">
              <a:solidFill>
                <a:prstClr val="black"/>
              </a:solidFill>
              <a:latin typeface="Calibri" panose="020F0502020204030204"/>
            </a:endParaRPr>
          </a:p>
        </p:txBody>
      </p:sp>
      <p:sp>
        <p:nvSpPr>
          <p:cNvPr id="24" name="Text 22"/>
          <p:cNvSpPr/>
          <p:nvPr/>
        </p:nvSpPr>
        <p:spPr>
          <a:xfrm>
            <a:off x="7607499" y="3174901"/>
            <a:ext cx="3765451"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Lower risk with automated testing</a:t>
            </a:r>
            <a:endParaRPr lang="en-US" sz="1167" dirty="0">
              <a:solidFill>
                <a:prstClr val="black"/>
              </a:solidFill>
              <a:latin typeface="Calibri" panose="020F0502020204030204"/>
            </a:endParaRPr>
          </a:p>
        </p:txBody>
      </p:sp>
      <p:sp>
        <p:nvSpPr>
          <p:cNvPr id="25" name="Shape 23"/>
          <p:cNvSpPr/>
          <p:nvPr/>
        </p:nvSpPr>
        <p:spPr>
          <a:xfrm>
            <a:off x="667842" y="3471466"/>
            <a:ext cx="10856318" cy="375444"/>
          </a:xfrm>
          <a:prstGeom prst="rect">
            <a:avLst/>
          </a:prstGeom>
          <a:solidFill>
            <a:srgbClr val="000000">
              <a:alpha val="4000"/>
            </a:srgbClr>
          </a:solidFill>
          <a:ln/>
        </p:spPr>
      </p:sp>
      <p:sp>
        <p:nvSpPr>
          <p:cNvPr id="26" name="Text 24"/>
          <p:cNvSpPr/>
          <p:nvPr/>
        </p:nvSpPr>
        <p:spPr>
          <a:xfrm>
            <a:off x="819250" y="3550345"/>
            <a:ext cx="240843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Best For</a:t>
            </a:r>
            <a:endParaRPr lang="en-US" sz="1167" dirty="0">
              <a:solidFill>
                <a:prstClr val="black"/>
              </a:solidFill>
              <a:latin typeface="Calibri" panose="020F0502020204030204"/>
            </a:endParaRPr>
          </a:p>
        </p:txBody>
      </p:sp>
      <p:sp>
        <p:nvSpPr>
          <p:cNvPr id="27" name="Text 25"/>
          <p:cNvSpPr/>
          <p:nvPr/>
        </p:nvSpPr>
        <p:spPr>
          <a:xfrm>
            <a:off x="3536455" y="3550345"/>
            <a:ext cx="376227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Stable enterprise systems</a:t>
            </a:r>
            <a:endParaRPr lang="en-US" sz="1167" dirty="0">
              <a:solidFill>
                <a:prstClr val="black"/>
              </a:solidFill>
              <a:latin typeface="Calibri" panose="020F0502020204030204"/>
            </a:endParaRPr>
          </a:p>
        </p:txBody>
      </p:sp>
      <p:sp>
        <p:nvSpPr>
          <p:cNvPr id="28" name="Text 26"/>
          <p:cNvSpPr/>
          <p:nvPr/>
        </p:nvSpPr>
        <p:spPr>
          <a:xfrm>
            <a:off x="7607499" y="3550345"/>
            <a:ext cx="3765451"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Agile startups and SaaS products</a:t>
            </a:r>
            <a:endParaRPr lang="en-US" sz="1167" dirty="0">
              <a:solidFill>
                <a:prstClr val="black"/>
              </a:solidFill>
              <a:latin typeface="Calibri" panose="020F0502020204030204"/>
            </a:endParaRPr>
          </a:p>
        </p:txBody>
      </p:sp>
      <p:sp>
        <p:nvSpPr>
          <p:cNvPr id="29" name="Shape 27"/>
          <p:cNvSpPr/>
          <p:nvPr/>
        </p:nvSpPr>
        <p:spPr>
          <a:xfrm>
            <a:off x="667842" y="3846910"/>
            <a:ext cx="10856318" cy="375444"/>
          </a:xfrm>
          <a:prstGeom prst="rect">
            <a:avLst/>
          </a:prstGeom>
          <a:solidFill>
            <a:srgbClr val="FFFFFF">
              <a:alpha val="4000"/>
            </a:srgbClr>
          </a:solidFill>
          <a:ln/>
        </p:spPr>
      </p:sp>
      <p:sp>
        <p:nvSpPr>
          <p:cNvPr id="30" name="Text 28"/>
          <p:cNvSpPr/>
          <p:nvPr/>
        </p:nvSpPr>
        <p:spPr>
          <a:xfrm>
            <a:off x="819250" y="3925789"/>
            <a:ext cx="240843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Example</a:t>
            </a:r>
            <a:endParaRPr lang="en-US" sz="1167" dirty="0">
              <a:solidFill>
                <a:prstClr val="black"/>
              </a:solidFill>
              <a:latin typeface="Calibri" panose="020F0502020204030204"/>
            </a:endParaRPr>
          </a:p>
        </p:txBody>
      </p:sp>
      <p:sp>
        <p:nvSpPr>
          <p:cNvPr id="31" name="Text 29"/>
          <p:cNvSpPr/>
          <p:nvPr/>
        </p:nvSpPr>
        <p:spPr>
          <a:xfrm>
            <a:off x="3536455" y="3925789"/>
            <a:ext cx="3762276"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Banking applications</a:t>
            </a:r>
            <a:endParaRPr lang="en-US" sz="1167" dirty="0">
              <a:solidFill>
                <a:prstClr val="black"/>
              </a:solidFill>
              <a:latin typeface="Calibri" panose="020F0502020204030204"/>
            </a:endParaRPr>
          </a:p>
        </p:txBody>
      </p:sp>
      <p:sp>
        <p:nvSpPr>
          <p:cNvPr id="32" name="Text 30"/>
          <p:cNvSpPr/>
          <p:nvPr/>
        </p:nvSpPr>
        <p:spPr>
          <a:xfrm>
            <a:off x="7607499" y="3925789"/>
            <a:ext cx="3765451" cy="217686"/>
          </a:xfrm>
          <a:prstGeom prst="rect">
            <a:avLst/>
          </a:prstGeom>
          <a:noFill/>
          <a:ln/>
        </p:spPr>
        <p:txBody>
          <a:bodyPr wrap="non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Netflix, Spotify</a:t>
            </a:r>
            <a:endParaRPr lang="en-US" sz="1167" dirty="0">
              <a:solidFill>
                <a:prstClr val="black"/>
              </a:solidFill>
              <a:latin typeface="Calibri" panose="020F0502020204030204"/>
            </a:endParaRPr>
          </a:p>
        </p:txBody>
      </p:sp>
      <p:sp>
        <p:nvSpPr>
          <p:cNvPr id="33" name="Text 31"/>
          <p:cNvSpPr/>
          <p:nvPr/>
        </p:nvSpPr>
        <p:spPr>
          <a:xfrm>
            <a:off x="661492" y="4364732"/>
            <a:ext cx="10869018" cy="1306116"/>
          </a:xfrm>
          <a:prstGeom prst="rect">
            <a:avLst/>
          </a:prstGeom>
          <a:noFill/>
          <a:ln/>
        </p:spPr>
        <p:txBody>
          <a:bodyPr wrap="square" lIns="0" tIns="0" rIns="0" bIns="0" rtlCol="0" anchor="t"/>
          <a:lstStyle/>
          <a:p>
            <a:pPr defTabSz="761970">
              <a:lnSpc>
                <a:spcPts val="1708"/>
              </a:lnSpc>
            </a:pPr>
            <a:r>
              <a:rPr lang="en-US" sz="1167" b="1" dirty="0">
                <a:solidFill>
                  <a:srgbClr val="3C3939"/>
                </a:solidFill>
                <a:latin typeface="Roboto" pitchFamily="34" charset="0"/>
                <a:ea typeface="Roboto" pitchFamily="34" charset="-122"/>
                <a:cs typeface="Roboto" pitchFamily="34" charset="-120"/>
              </a:rPr>
              <a:t>Netflix's CI/CD Pipeline:</a:t>
            </a:r>
            <a:r>
              <a:rPr lang="en-US" sz="1167" dirty="0">
                <a:solidFill>
                  <a:srgbClr val="3C3939"/>
                </a:solidFill>
                <a:latin typeface="Roboto" pitchFamily="34" charset="0"/>
                <a:ea typeface="Roboto" pitchFamily="34" charset="-122"/>
                <a:cs typeface="Roboto" pitchFamily="34" charset="-120"/>
              </a:rPr>
              <a:t> Netflix operates one of the most sophisticated continuous deployment environments in the world. Utilizing a microservices architecture managed through Spinnaker—an open-source multi-cloud delivery platform—the company achieves thousands of deployments daily. Their process relies on rigorous automated testing suites that validate code changes before they hit production, combined with advanced traffic shifting techniques like "canary releases." In these releases, new code is deployed to a small percentage of instances, and if real-time monitoring detects anomalies in error rates or latency, automated rollback scripts immediately revert the traffic to the previous stable state. This infrastructure minimizes the blast radius of any individual failure, enabling high-velocity innovation while maintaining the 99.99% availability required for global streaming services.</a:t>
            </a:r>
            <a:endParaRPr lang="en-US" sz="1167" dirty="0">
              <a:solidFill>
                <a:prstClr val="black"/>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6698953" cy="443012"/>
          </a:xfrm>
          <a:prstGeom prst="rect">
            <a:avLst/>
          </a:prstGeom>
          <a:noFill/>
          <a:ln/>
        </p:spPr>
        <p:txBody>
          <a:bodyPr wrap="none" lIns="0" tIns="0" rIns="0" bIns="0" rtlCol="0" anchor="t"/>
          <a:lstStyle/>
          <a:p>
            <a:pPr defTabSz="761970">
              <a:lnSpc>
                <a:spcPts val="3458"/>
              </a:lnSpc>
            </a:pPr>
            <a:r>
              <a:rPr lang="en-US" sz="2750" dirty="0">
                <a:solidFill>
                  <a:srgbClr val="1B1B27"/>
                </a:solidFill>
                <a:latin typeface="Raleway" pitchFamily="34" charset="0"/>
                <a:ea typeface="Raleway" pitchFamily="34" charset="-122"/>
                <a:cs typeface="Raleway" pitchFamily="34" charset="-120"/>
              </a:rPr>
              <a:t>Popular Deployment Platforms and Tools</a:t>
            </a:r>
            <a:endParaRPr lang="en-US" sz="2750" dirty="0">
              <a:solidFill>
                <a:prstClr val="black"/>
              </a:solidFill>
              <a:latin typeface="Calibri" panose="020F0502020204030204"/>
            </a:endParaRPr>
          </a:p>
        </p:txBody>
      </p:sp>
      <p:sp>
        <p:nvSpPr>
          <p:cNvPr id="3" name="Shape 1"/>
          <p:cNvSpPr/>
          <p:nvPr/>
        </p:nvSpPr>
        <p:spPr>
          <a:xfrm>
            <a:off x="661492" y="1175444"/>
            <a:ext cx="2637532" cy="2962473"/>
          </a:xfrm>
          <a:prstGeom prst="roundRect">
            <a:avLst>
              <a:gd name="adj" fmla="val 2258"/>
            </a:avLst>
          </a:prstGeom>
          <a:solidFill>
            <a:srgbClr val="E1E1EA"/>
          </a:solidFill>
          <a:ln w="7620">
            <a:solidFill>
              <a:srgbClr val="C7C7D0"/>
            </a:solidFill>
            <a:prstDash val="solid"/>
          </a:ln>
        </p:spPr>
      </p:sp>
      <p:sp>
        <p:nvSpPr>
          <p:cNvPr id="4" name="Text 2"/>
          <p:cNvSpPr/>
          <p:nvPr/>
        </p:nvSpPr>
        <p:spPr>
          <a:xfrm>
            <a:off x="809526" y="1323480"/>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GitHub Pages</a:t>
            </a:r>
            <a:endParaRPr lang="en-US" sz="1375" dirty="0">
              <a:solidFill>
                <a:prstClr val="black"/>
              </a:solidFill>
              <a:latin typeface="Calibri" panose="020F0502020204030204"/>
            </a:endParaRPr>
          </a:p>
        </p:txBody>
      </p:sp>
      <p:sp>
        <p:nvSpPr>
          <p:cNvPr id="5" name="Text 3"/>
          <p:cNvSpPr/>
          <p:nvPr/>
        </p:nvSpPr>
        <p:spPr>
          <a:xfrm>
            <a:off x="809526" y="1608634"/>
            <a:ext cx="2341463" cy="1785938"/>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GitHub Pages offers a seamless, free hosting solution for static websites directly from your code repositories. It is ideal for project documentation, personal portfolios, or simple landing pages. Since it integrates perfectly with version control, it is the go-to choice for developers seeking simplicity and zero-cost hosting.</a:t>
            </a:r>
            <a:endParaRPr lang="en-US" sz="1083" dirty="0">
              <a:solidFill>
                <a:prstClr val="black"/>
              </a:solidFill>
              <a:latin typeface="Calibri" panose="020F0502020204030204"/>
            </a:endParaRPr>
          </a:p>
        </p:txBody>
      </p:sp>
      <p:sp>
        <p:nvSpPr>
          <p:cNvPr id="6" name="Shape 4"/>
          <p:cNvSpPr/>
          <p:nvPr/>
        </p:nvSpPr>
        <p:spPr>
          <a:xfrm>
            <a:off x="3405287" y="1175444"/>
            <a:ext cx="2637532" cy="2962473"/>
          </a:xfrm>
          <a:prstGeom prst="roundRect">
            <a:avLst>
              <a:gd name="adj" fmla="val 2258"/>
            </a:avLst>
          </a:prstGeom>
          <a:solidFill>
            <a:srgbClr val="E1E1EA"/>
          </a:solidFill>
          <a:ln w="7620">
            <a:solidFill>
              <a:srgbClr val="C7C7D0"/>
            </a:solidFill>
            <a:prstDash val="solid"/>
          </a:ln>
        </p:spPr>
      </p:sp>
      <p:sp>
        <p:nvSpPr>
          <p:cNvPr id="7" name="Text 5"/>
          <p:cNvSpPr/>
          <p:nvPr/>
        </p:nvSpPr>
        <p:spPr>
          <a:xfrm>
            <a:off x="3553321" y="1323480"/>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Netlify</a:t>
            </a:r>
            <a:endParaRPr lang="en-US" sz="1375" dirty="0">
              <a:solidFill>
                <a:prstClr val="black"/>
              </a:solidFill>
              <a:latin typeface="Calibri" panose="020F0502020204030204"/>
            </a:endParaRPr>
          </a:p>
        </p:txBody>
      </p:sp>
      <p:sp>
        <p:nvSpPr>
          <p:cNvPr id="8" name="Text 6"/>
          <p:cNvSpPr/>
          <p:nvPr/>
        </p:nvSpPr>
        <p:spPr>
          <a:xfrm>
            <a:off x="3553321" y="1608633"/>
            <a:ext cx="2341463" cy="1984375"/>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Netlify provides a modern platform designed for static site generation and includes integrated serverless functions. It uses a freemium model that is highly generous for individual developers while offering scalable features for enterprise teams. It is best suited for Jamstack sites requiring fast global content delivery and automated build pipelines.</a:t>
            </a:r>
            <a:endParaRPr lang="en-US" sz="1083" dirty="0">
              <a:solidFill>
                <a:prstClr val="black"/>
              </a:solidFill>
              <a:latin typeface="Calibri" panose="020F0502020204030204"/>
            </a:endParaRPr>
          </a:p>
        </p:txBody>
      </p:sp>
      <p:sp>
        <p:nvSpPr>
          <p:cNvPr id="9" name="Shape 7"/>
          <p:cNvSpPr/>
          <p:nvPr/>
        </p:nvSpPr>
        <p:spPr>
          <a:xfrm>
            <a:off x="6149082" y="1175444"/>
            <a:ext cx="2637532" cy="2962473"/>
          </a:xfrm>
          <a:prstGeom prst="roundRect">
            <a:avLst>
              <a:gd name="adj" fmla="val 2258"/>
            </a:avLst>
          </a:prstGeom>
          <a:solidFill>
            <a:srgbClr val="E1E1EA"/>
          </a:solidFill>
          <a:ln w="7620">
            <a:solidFill>
              <a:srgbClr val="C7C7D0"/>
            </a:solidFill>
            <a:prstDash val="solid"/>
          </a:ln>
        </p:spPr>
      </p:sp>
      <p:sp>
        <p:nvSpPr>
          <p:cNvPr id="10" name="Text 8"/>
          <p:cNvSpPr/>
          <p:nvPr/>
        </p:nvSpPr>
        <p:spPr>
          <a:xfrm>
            <a:off x="6297117" y="1323480"/>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Vercel</a:t>
            </a:r>
            <a:endParaRPr lang="en-US" sz="1375" dirty="0">
              <a:solidFill>
                <a:prstClr val="black"/>
              </a:solidFill>
              <a:latin typeface="Calibri" panose="020F0502020204030204"/>
            </a:endParaRPr>
          </a:p>
        </p:txBody>
      </p:sp>
      <p:sp>
        <p:nvSpPr>
          <p:cNvPr id="11" name="Text 9"/>
          <p:cNvSpPr/>
          <p:nvPr/>
        </p:nvSpPr>
        <p:spPr>
          <a:xfrm>
            <a:off x="6297117" y="1608634"/>
            <a:ext cx="2341463" cy="2182813"/>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Vercel is meticulously optimized for Next.js, providing instant deployments and a superior developer experience out of the box. Its pricing structure is tailored to support rapid iteration with a robust free tier and paid tiers for professional collaboration. This platform is the premier choice for teams building high-performance frontend applications.</a:t>
            </a:r>
            <a:endParaRPr lang="en-US" sz="1083" dirty="0">
              <a:solidFill>
                <a:prstClr val="black"/>
              </a:solidFill>
              <a:latin typeface="Calibri" panose="020F0502020204030204"/>
            </a:endParaRPr>
          </a:p>
        </p:txBody>
      </p:sp>
      <p:sp>
        <p:nvSpPr>
          <p:cNvPr id="12" name="Shape 10"/>
          <p:cNvSpPr/>
          <p:nvPr/>
        </p:nvSpPr>
        <p:spPr>
          <a:xfrm>
            <a:off x="8892877" y="1175444"/>
            <a:ext cx="2637632" cy="2962473"/>
          </a:xfrm>
          <a:prstGeom prst="roundRect">
            <a:avLst>
              <a:gd name="adj" fmla="val 2257"/>
            </a:avLst>
          </a:prstGeom>
          <a:solidFill>
            <a:srgbClr val="E1E1EA"/>
          </a:solidFill>
          <a:ln w="7620">
            <a:solidFill>
              <a:srgbClr val="C7C7D0"/>
            </a:solidFill>
            <a:prstDash val="solid"/>
          </a:ln>
        </p:spPr>
      </p:sp>
      <p:sp>
        <p:nvSpPr>
          <p:cNvPr id="13" name="Text 11"/>
          <p:cNvSpPr/>
          <p:nvPr/>
        </p:nvSpPr>
        <p:spPr>
          <a:xfrm>
            <a:off x="9040912" y="1323480"/>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Heroku</a:t>
            </a:r>
            <a:endParaRPr lang="en-US" sz="1375" dirty="0">
              <a:solidFill>
                <a:prstClr val="black"/>
              </a:solidFill>
              <a:latin typeface="Calibri" panose="020F0502020204030204"/>
            </a:endParaRPr>
          </a:p>
        </p:txBody>
      </p:sp>
      <p:sp>
        <p:nvSpPr>
          <p:cNvPr id="14" name="Text 12"/>
          <p:cNvSpPr/>
          <p:nvPr/>
        </p:nvSpPr>
        <p:spPr>
          <a:xfrm>
            <a:off x="9040912" y="1608633"/>
            <a:ext cx="2341563" cy="2381250"/>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Heroku acts as a full-featured Platform-as-a-Service that abstracts away infrastructure management, allowing for incredibly rapid application deployment. While it has shifted its pricing model toward professional and commercial tiers, it remains a favorite for prototyping and staging environments. It is perfect for developers who want to focus on application code rather than server maintenance.</a:t>
            </a:r>
            <a:endParaRPr lang="en-US" sz="1083" dirty="0">
              <a:solidFill>
                <a:prstClr val="black"/>
              </a:solidFill>
              <a:latin typeface="Calibri" panose="020F0502020204030204"/>
            </a:endParaRPr>
          </a:p>
        </p:txBody>
      </p:sp>
      <p:sp>
        <p:nvSpPr>
          <p:cNvPr id="15" name="Shape 13"/>
          <p:cNvSpPr/>
          <p:nvPr/>
        </p:nvSpPr>
        <p:spPr>
          <a:xfrm>
            <a:off x="661492" y="4244182"/>
            <a:ext cx="5381328" cy="1573411"/>
          </a:xfrm>
          <a:prstGeom prst="roundRect">
            <a:avLst>
              <a:gd name="adj" fmla="val 3784"/>
            </a:avLst>
          </a:prstGeom>
          <a:solidFill>
            <a:srgbClr val="E1E1EA"/>
          </a:solidFill>
          <a:ln w="7620">
            <a:solidFill>
              <a:srgbClr val="C7C7D0"/>
            </a:solidFill>
            <a:prstDash val="solid"/>
          </a:ln>
        </p:spPr>
      </p:sp>
      <p:sp>
        <p:nvSpPr>
          <p:cNvPr id="16" name="Text 14"/>
          <p:cNvSpPr/>
          <p:nvPr/>
        </p:nvSpPr>
        <p:spPr>
          <a:xfrm>
            <a:off x="809526" y="4392216"/>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AWS</a:t>
            </a:r>
            <a:endParaRPr lang="en-US" sz="1375" dirty="0">
              <a:solidFill>
                <a:prstClr val="black"/>
              </a:solidFill>
              <a:latin typeface="Calibri" panose="020F0502020204030204"/>
            </a:endParaRPr>
          </a:p>
        </p:txBody>
      </p:sp>
      <p:sp>
        <p:nvSpPr>
          <p:cNvPr id="17" name="Text 15"/>
          <p:cNvSpPr/>
          <p:nvPr/>
        </p:nvSpPr>
        <p:spPr>
          <a:xfrm>
            <a:off x="809526" y="4677370"/>
            <a:ext cx="5085258" cy="992188"/>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Amazon Web Services is a comprehensive cloud ecosystem providing virtually unlimited infrastructure, ranging from EC2 instances to Lambda serverless compute. It operates on a pay-as-you-go pricing model, making it highly scalable but potentially complex for beginners. It is the industry standard for enterprise-grade applications that require immense scale and granular control.</a:t>
            </a:r>
            <a:endParaRPr lang="en-US" sz="1083" dirty="0">
              <a:solidFill>
                <a:prstClr val="black"/>
              </a:solidFill>
              <a:latin typeface="Calibri" panose="020F0502020204030204"/>
            </a:endParaRPr>
          </a:p>
        </p:txBody>
      </p:sp>
      <p:sp>
        <p:nvSpPr>
          <p:cNvPr id="18" name="Shape 16"/>
          <p:cNvSpPr/>
          <p:nvPr/>
        </p:nvSpPr>
        <p:spPr>
          <a:xfrm>
            <a:off x="6149082" y="4244182"/>
            <a:ext cx="5381427" cy="1573411"/>
          </a:xfrm>
          <a:prstGeom prst="roundRect">
            <a:avLst>
              <a:gd name="adj" fmla="val 3784"/>
            </a:avLst>
          </a:prstGeom>
          <a:solidFill>
            <a:srgbClr val="E1E1EA"/>
          </a:solidFill>
          <a:ln w="7620">
            <a:solidFill>
              <a:srgbClr val="C7C7D0"/>
            </a:solidFill>
            <a:prstDash val="solid"/>
          </a:ln>
        </p:spPr>
      </p:sp>
      <p:sp>
        <p:nvSpPr>
          <p:cNvPr id="19" name="Text 17"/>
          <p:cNvSpPr/>
          <p:nvPr/>
        </p:nvSpPr>
        <p:spPr>
          <a:xfrm>
            <a:off x="6297117" y="4392216"/>
            <a:ext cx="1772047" cy="221456"/>
          </a:xfrm>
          <a:prstGeom prst="rect">
            <a:avLst/>
          </a:prstGeom>
          <a:noFill/>
          <a:ln/>
        </p:spPr>
        <p:txBody>
          <a:bodyPr wrap="none" lIns="0" tIns="0" rIns="0" bIns="0" rtlCol="0" anchor="t"/>
          <a:lstStyle/>
          <a:p>
            <a:pPr defTabSz="761970">
              <a:lnSpc>
                <a:spcPts val="1708"/>
              </a:lnSpc>
            </a:pPr>
            <a:r>
              <a:rPr lang="en-US" sz="1375" dirty="0">
                <a:solidFill>
                  <a:srgbClr val="3C3939"/>
                </a:solidFill>
                <a:latin typeface="Raleway" pitchFamily="34" charset="0"/>
                <a:ea typeface="Raleway" pitchFamily="34" charset="-122"/>
                <a:cs typeface="Raleway" pitchFamily="34" charset="-120"/>
              </a:rPr>
              <a:t>Firebase</a:t>
            </a:r>
            <a:endParaRPr lang="en-US" sz="1375" dirty="0">
              <a:solidFill>
                <a:prstClr val="black"/>
              </a:solidFill>
              <a:latin typeface="Calibri" panose="020F0502020204030204"/>
            </a:endParaRPr>
          </a:p>
        </p:txBody>
      </p:sp>
      <p:sp>
        <p:nvSpPr>
          <p:cNvPr id="20" name="Text 18"/>
          <p:cNvSpPr/>
          <p:nvPr/>
        </p:nvSpPr>
        <p:spPr>
          <a:xfrm>
            <a:off x="6297117" y="4677370"/>
            <a:ext cx="5085358" cy="992188"/>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Firebase serves as a powerful Backend-as-a-Service, offering real-time databases, authentication, and hosting within a unified Google infrastructure. It uses a consumption-based pricing model that scales easily from a hobbyist project to a global application. It is particularly effective for mobile and web developers building real-time, user-centric products.</a:t>
            </a:r>
            <a:endParaRPr lang="en-US" sz="1083" dirty="0">
              <a:solidFill>
                <a:prstClr val="black"/>
              </a:solidFill>
              <a:latin typeface="Calibri" panose="020F0502020204030204"/>
            </a:endParaRPr>
          </a:p>
        </p:txBody>
      </p:sp>
      <p:sp>
        <p:nvSpPr>
          <p:cNvPr id="21" name="Text 19"/>
          <p:cNvSpPr/>
          <p:nvPr/>
        </p:nvSpPr>
        <p:spPr>
          <a:xfrm>
            <a:off x="661492" y="5937151"/>
            <a:ext cx="10869018" cy="396875"/>
          </a:xfrm>
          <a:prstGeom prst="rect">
            <a:avLst/>
          </a:prstGeom>
          <a:noFill/>
          <a:ln/>
        </p:spPr>
        <p:txBody>
          <a:bodyPr wrap="square" lIns="0" tIns="0" rIns="0" bIns="0" rtlCol="0" anchor="t"/>
          <a:lstStyle/>
          <a:p>
            <a:pPr defTabSz="761970">
              <a:lnSpc>
                <a:spcPts val="1542"/>
              </a:lnSpc>
            </a:pPr>
            <a:r>
              <a:rPr lang="en-US" sz="1083" dirty="0">
                <a:solidFill>
                  <a:srgbClr val="3C3939"/>
                </a:solidFill>
                <a:latin typeface="Roboto" pitchFamily="34" charset="0"/>
                <a:ea typeface="Roboto" pitchFamily="34" charset="-122"/>
                <a:cs typeface="Roboto" pitchFamily="34" charset="-120"/>
              </a:rPr>
              <a:t>Each platform offers unique advantages—GitHub Pages for simplicity, Netlify/Vercel for modern workflows, Heroku for ease-of-use, and AWS/Firebase for enterprise-grade scalability.</a:t>
            </a:r>
            <a:endParaRPr lang="en-US" sz="1083" dirty="0">
              <a:solidFill>
                <a:prstClr val="black"/>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4548982" cy="531614"/>
          </a:xfrm>
          <a:prstGeom prst="rect">
            <a:avLst/>
          </a:prstGeom>
          <a:noFill/>
          <a:ln/>
        </p:spPr>
        <p:txBody>
          <a:bodyPr wrap="none" lIns="0" tIns="0" rIns="0" bIns="0" rtlCol="0" anchor="t"/>
          <a:lstStyle/>
          <a:p>
            <a:pPr defTabSz="761970">
              <a:lnSpc>
                <a:spcPts val="4167"/>
              </a:lnSpc>
            </a:pPr>
            <a:r>
              <a:rPr lang="en-US" sz="3333" dirty="0">
                <a:solidFill>
                  <a:srgbClr val="1B1B27"/>
                </a:solidFill>
                <a:latin typeface="Raleway" pitchFamily="34" charset="0"/>
                <a:ea typeface="Raleway" pitchFamily="34" charset="-122"/>
                <a:cs typeface="Raleway" pitchFamily="34" charset="-120"/>
              </a:rPr>
              <a:t>Core Hosting Concepts</a:t>
            </a:r>
            <a:endParaRPr lang="en-US" sz="3333" dirty="0">
              <a:solidFill>
                <a:prstClr val="black"/>
              </a:solidFill>
              <a:latin typeface="Calibri" panose="020F0502020204030204"/>
            </a:endParaRPr>
          </a:p>
        </p:txBody>
      </p:sp>
      <p:sp>
        <p:nvSpPr>
          <p:cNvPr id="3" name="Shape 1"/>
          <p:cNvSpPr/>
          <p:nvPr/>
        </p:nvSpPr>
        <p:spPr>
          <a:xfrm>
            <a:off x="661492" y="1357610"/>
            <a:ext cx="5357912" cy="2261692"/>
          </a:xfrm>
          <a:prstGeom prst="roundRect">
            <a:avLst>
              <a:gd name="adj" fmla="val 3159"/>
            </a:avLst>
          </a:prstGeom>
          <a:solidFill>
            <a:srgbClr val="E1E1EA"/>
          </a:solidFill>
          <a:ln w="7620">
            <a:solidFill>
              <a:srgbClr val="C7C7D0"/>
            </a:solidFill>
            <a:prstDash val="solid"/>
          </a:ln>
        </p:spPr>
      </p:sp>
      <p:sp>
        <p:nvSpPr>
          <p:cNvPr id="4" name="Text 2"/>
          <p:cNvSpPr/>
          <p:nvPr/>
        </p:nvSpPr>
        <p:spPr>
          <a:xfrm>
            <a:off x="837902" y="1534021"/>
            <a:ext cx="2126457" cy="265708"/>
          </a:xfrm>
          <a:prstGeom prst="rect">
            <a:avLst/>
          </a:prstGeom>
          <a:noFill/>
          <a:ln/>
        </p:spPr>
        <p:txBody>
          <a:bodyPr wrap="none" lIns="0" tIns="0" rIns="0" bIns="0" rtlCol="0" anchor="t"/>
          <a:lstStyle/>
          <a:p>
            <a:pPr defTabSz="761970">
              <a:lnSpc>
                <a:spcPts val="2083"/>
              </a:lnSpc>
            </a:pPr>
            <a:r>
              <a:rPr lang="en-US" sz="1667" dirty="0">
                <a:solidFill>
                  <a:srgbClr val="3C3939"/>
                </a:solidFill>
                <a:latin typeface="Raleway" pitchFamily="34" charset="0"/>
                <a:ea typeface="Raleway" pitchFamily="34" charset="-122"/>
                <a:cs typeface="Raleway" pitchFamily="34" charset="-120"/>
              </a:rPr>
              <a:t>Servers</a:t>
            </a:r>
            <a:endParaRPr lang="en-US" sz="1667" dirty="0">
              <a:solidFill>
                <a:prstClr val="black"/>
              </a:solidFill>
              <a:latin typeface="Calibri" panose="020F0502020204030204"/>
            </a:endParaRPr>
          </a:p>
        </p:txBody>
      </p:sp>
      <p:sp>
        <p:nvSpPr>
          <p:cNvPr id="5" name="Text 3"/>
          <p:cNvSpPr/>
          <p:nvPr/>
        </p:nvSpPr>
        <p:spPr>
          <a:xfrm>
            <a:off x="837903" y="1891507"/>
            <a:ext cx="5005090" cy="1551384"/>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Servers are physical or virtual machines that store application files and deliver content to users upon request. These machines run operating systems like Linux or Windows Server, handling incoming HTTP requests. A common real-world example is a dedicated Apache or Nginx server hosting a company's main website files.</a:t>
            </a:r>
            <a:endParaRPr lang="en-US" sz="1333" dirty="0">
              <a:solidFill>
                <a:prstClr val="black"/>
              </a:solidFill>
              <a:latin typeface="Calibri" panose="020F0502020204030204"/>
            </a:endParaRPr>
          </a:p>
        </p:txBody>
      </p:sp>
      <p:sp>
        <p:nvSpPr>
          <p:cNvPr id="6" name="Shape 4"/>
          <p:cNvSpPr/>
          <p:nvPr/>
        </p:nvSpPr>
        <p:spPr>
          <a:xfrm>
            <a:off x="6172498" y="1357610"/>
            <a:ext cx="5358011" cy="2261692"/>
          </a:xfrm>
          <a:prstGeom prst="roundRect">
            <a:avLst>
              <a:gd name="adj" fmla="val 3159"/>
            </a:avLst>
          </a:prstGeom>
          <a:solidFill>
            <a:srgbClr val="E1E1EA"/>
          </a:solidFill>
          <a:ln w="7620">
            <a:solidFill>
              <a:srgbClr val="C7C7D0"/>
            </a:solidFill>
            <a:prstDash val="solid"/>
          </a:ln>
        </p:spPr>
      </p:sp>
      <p:sp>
        <p:nvSpPr>
          <p:cNvPr id="7" name="Text 5"/>
          <p:cNvSpPr/>
          <p:nvPr/>
        </p:nvSpPr>
        <p:spPr>
          <a:xfrm>
            <a:off x="6348908" y="1534021"/>
            <a:ext cx="2126457" cy="265708"/>
          </a:xfrm>
          <a:prstGeom prst="rect">
            <a:avLst/>
          </a:prstGeom>
          <a:noFill/>
          <a:ln/>
        </p:spPr>
        <p:txBody>
          <a:bodyPr wrap="none" lIns="0" tIns="0" rIns="0" bIns="0" rtlCol="0" anchor="t"/>
          <a:lstStyle/>
          <a:p>
            <a:pPr defTabSz="761970">
              <a:lnSpc>
                <a:spcPts val="2083"/>
              </a:lnSpc>
            </a:pPr>
            <a:r>
              <a:rPr lang="en-US" sz="1667" dirty="0">
                <a:solidFill>
                  <a:srgbClr val="3C3939"/>
                </a:solidFill>
                <a:latin typeface="Raleway" pitchFamily="34" charset="0"/>
                <a:ea typeface="Raleway" pitchFamily="34" charset="-122"/>
                <a:cs typeface="Raleway" pitchFamily="34" charset="-120"/>
              </a:rPr>
              <a:t>Domains</a:t>
            </a:r>
            <a:endParaRPr lang="en-US" sz="1667" dirty="0">
              <a:solidFill>
                <a:prstClr val="black"/>
              </a:solidFill>
              <a:latin typeface="Calibri" panose="020F0502020204030204"/>
            </a:endParaRPr>
          </a:p>
        </p:txBody>
      </p:sp>
      <p:sp>
        <p:nvSpPr>
          <p:cNvPr id="8" name="Text 6"/>
          <p:cNvSpPr/>
          <p:nvPr/>
        </p:nvSpPr>
        <p:spPr>
          <a:xfrm>
            <a:off x="6348909" y="1891507"/>
            <a:ext cx="5005189" cy="1292820"/>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Domains serve as human-readable identifiers that map to specific numerical server IP addresses. By acting as a layer of abstraction, they allow users to navigate the web without memorizing complex sequences of numbers. An example of this is "google.com," which translates into a specific routing path for a browser to follow.</a:t>
            </a:r>
            <a:endParaRPr lang="en-US" sz="1333" dirty="0">
              <a:solidFill>
                <a:prstClr val="black"/>
              </a:solidFill>
              <a:latin typeface="Calibri" panose="020F0502020204030204"/>
            </a:endParaRPr>
          </a:p>
        </p:txBody>
      </p:sp>
      <p:sp>
        <p:nvSpPr>
          <p:cNvPr id="9" name="Shape 7"/>
          <p:cNvSpPr/>
          <p:nvPr/>
        </p:nvSpPr>
        <p:spPr>
          <a:xfrm>
            <a:off x="661492" y="3772396"/>
            <a:ext cx="5357912" cy="2520256"/>
          </a:xfrm>
          <a:prstGeom prst="roundRect">
            <a:avLst>
              <a:gd name="adj" fmla="val 2835"/>
            </a:avLst>
          </a:prstGeom>
          <a:solidFill>
            <a:srgbClr val="E1E1EA"/>
          </a:solidFill>
          <a:ln w="7620">
            <a:solidFill>
              <a:srgbClr val="C7C7D0"/>
            </a:solidFill>
            <a:prstDash val="solid"/>
          </a:ln>
        </p:spPr>
      </p:sp>
      <p:sp>
        <p:nvSpPr>
          <p:cNvPr id="10" name="Text 8"/>
          <p:cNvSpPr/>
          <p:nvPr/>
        </p:nvSpPr>
        <p:spPr>
          <a:xfrm>
            <a:off x="837902" y="3948807"/>
            <a:ext cx="2126457" cy="265708"/>
          </a:xfrm>
          <a:prstGeom prst="rect">
            <a:avLst/>
          </a:prstGeom>
          <a:noFill/>
          <a:ln/>
        </p:spPr>
        <p:txBody>
          <a:bodyPr wrap="none" lIns="0" tIns="0" rIns="0" bIns="0" rtlCol="0" anchor="t"/>
          <a:lstStyle/>
          <a:p>
            <a:pPr defTabSz="761970">
              <a:lnSpc>
                <a:spcPts val="2083"/>
              </a:lnSpc>
            </a:pPr>
            <a:r>
              <a:rPr lang="en-US" sz="1667" dirty="0">
                <a:solidFill>
                  <a:srgbClr val="3C3939"/>
                </a:solidFill>
                <a:latin typeface="Raleway" pitchFamily="34" charset="0"/>
                <a:ea typeface="Raleway" pitchFamily="34" charset="-122"/>
                <a:cs typeface="Raleway" pitchFamily="34" charset="-120"/>
              </a:rPr>
              <a:t>DNS</a:t>
            </a:r>
            <a:endParaRPr lang="en-US" sz="1667" dirty="0">
              <a:solidFill>
                <a:prstClr val="black"/>
              </a:solidFill>
              <a:latin typeface="Calibri" panose="020F0502020204030204"/>
            </a:endParaRPr>
          </a:p>
        </p:txBody>
      </p:sp>
      <p:sp>
        <p:nvSpPr>
          <p:cNvPr id="11" name="Text 9"/>
          <p:cNvSpPr/>
          <p:nvPr/>
        </p:nvSpPr>
        <p:spPr>
          <a:xfrm>
            <a:off x="837903" y="4306293"/>
            <a:ext cx="5005090" cy="1809948"/>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The Domain Name System (DNS) functions as the internet's phonebook, translating domain names into machine-understandable IP addresses through a global hierarchy of servers. When a user enters a URL, the system performs a lookup process to route the request to the correct destination server. Cloudflare and Google Public DNS are prominent examples of services that manage these critical name resolution requests.</a:t>
            </a:r>
            <a:endParaRPr lang="en-US" sz="1333" dirty="0">
              <a:solidFill>
                <a:prstClr val="black"/>
              </a:solidFill>
              <a:latin typeface="Calibri" panose="020F0502020204030204"/>
            </a:endParaRPr>
          </a:p>
        </p:txBody>
      </p:sp>
      <p:sp>
        <p:nvSpPr>
          <p:cNvPr id="12" name="Shape 10"/>
          <p:cNvSpPr/>
          <p:nvPr/>
        </p:nvSpPr>
        <p:spPr>
          <a:xfrm>
            <a:off x="6172498" y="3772396"/>
            <a:ext cx="5358011" cy="2520256"/>
          </a:xfrm>
          <a:prstGeom prst="roundRect">
            <a:avLst>
              <a:gd name="adj" fmla="val 2835"/>
            </a:avLst>
          </a:prstGeom>
          <a:solidFill>
            <a:srgbClr val="E1E1EA"/>
          </a:solidFill>
          <a:ln w="7620">
            <a:solidFill>
              <a:srgbClr val="C7C7D0"/>
            </a:solidFill>
            <a:prstDash val="solid"/>
          </a:ln>
        </p:spPr>
      </p:sp>
      <p:sp>
        <p:nvSpPr>
          <p:cNvPr id="13" name="Text 11"/>
          <p:cNvSpPr/>
          <p:nvPr/>
        </p:nvSpPr>
        <p:spPr>
          <a:xfrm>
            <a:off x="6348908" y="3948807"/>
            <a:ext cx="2126457" cy="265708"/>
          </a:xfrm>
          <a:prstGeom prst="rect">
            <a:avLst/>
          </a:prstGeom>
          <a:noFill/>
          <a:ln/>
        </p:spPr>
        <p:txBody>
          <a:bodyPr wrap="none" lIns="0" tIns="0" rIns="0" bIns="0" rtlCol="0" anchor="t"/>
          <a:lstStyle/>
          <a:p>
            <a:pPr defTabSz="761970">
              <a:lnSpc>
                <a:spcPts val="2083"/>
              </a:lnSpc>
            </a:pPr>
            <a:r>
              <a:rPr lang="en-US" sz="1667" dirty="0">
                <a:solidFill>
                  <a:srgbClr val="3C3939"/>
                </a:solidFill>
                <a:latin typeface="Raleway" pitchFamily="34" charset="0"/>
                <a:ea typeface="Raleway" pitchFamily="34" charset="-122"/>
                <a:cs typeface="Raleway" pitchFamily="34" charset="-120"/>
              </a:rPr>
              <a:t>Cloud Hosting</a:t>
            </a:r>
            <a:endParaRPr lang="en-US" sz="1667" dirty="0">
              <a:solidFill>
                <a:prstClr val="black"/>
              </a:solidFill>
              <a:latin typeface="Calibri" panose="020F0502020204030204"/>
            </a:endParaRPr>
          </a:p>
        </p:txBody>
      </p:sp>
      <p:sp>
        <p:nvSpPr>
          <p:cNvPr id="14" name="Text 12"/>
          <p:cNvSpPr/>
          <p:nvPr/>
        </p:nvSpPr>
        <p:spPr>
          <a:xfrm>
            <a:off x="6348909" y="4306293"/>
            <a:ext cx="5005189" cy="1809948"/>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Cloud hosting utilizes virtualized infrastructure to dynamically allocate resources based on real-time traffic demand. Unlike traditional hosting, it allows for seamless horizontal and vertical scaling to maintain performance during traffic spikes. Major platforms like AWS Elastic Beanstalk or Google Cloud Run exemplify this by automatically provisioning the necessary environment for an application.</a:t>
            </a:r>
            <a:endParaRPr lang="en-US" sz="1333" dirty="0">
              <a:solidFill>
                <a:prstClr val="black"/>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6771680" cy="413444"/>
          </a:xfrm>
          <a:prstGeom prst="rect">
            <a:avLst/>
          </a:prstGeom>
          <a:noFill/>
          <a:ln/>
        </p:spPr>
        <p:txBody>
          <a:bodyPr wrap="none" lIns="0" tIns="0" rIns="0" bIns="0" rtlCol="0" anchor="t"/>
          <a:lstStyle/>
          <a:p>
            <a:pPr defTabSz="761970">
              <a:lnSpc>
                <a:spcPts val="3250"/>
              </a:lnSpc>
            </a:pPr>
            <a:r>
              <a:rPr lang="en-US" sz="2583" dirty="0">
                <a:solidFill>
                  <a:srgbClr val="1B1B27"/>
                </a:solidFill>
                <a:latin typeface="Raleway" pitchFamily="34" charset="0"/>
                <a:ea typeface="Raleway" pitchFamily="34" charset="-122"/>
                <a:cs typeface="Raleway" pitchFamily="34" charset="-120"/>
              </a:rPr>
              <a:t>Code Examples: Deploying Your First Project</a:t>
            </a:r>
            <a:endParaRPr lang="en-US" sz="2583" dirty="0">
              <a:solidFill>
                <a:prstClr val="black"/>
              </a:solidFill>
              <a:latin typeface="Calibri" panose="020F0502020204030204"/>
            </a:endParaRPr>
          </a:p>
        </p:txBody>
      </p:sp>
      <p:sp>
        <p:nvSpPr>
          <p:cNvPr id="3" name="Text 1"/>
          <p:cNvSpPr/>
          <p:nvPr/>
        </p:nvSpPr>
        <p:spPr>
          <a:xfrm>
            <a:off x="661492" y="1164729"/>
            <a:ext cx="2846586" cy="248047"/>
          </a:xfrm>
          <a:prstGeom prst="rect">
            <a:avLst/>
          </a:prstGeom>
          <a:noFill/>
          <a:ln/>
        </p:spPr>
        <p:txBody>
          <a:bodyPr wrap="none" lIns="0" tIns="0" rIns="0" bIns="0" rtlCol="0" anchor="t"/>
          <a:lstStyle/>
          <a:p>
            <a:pPr defTabSz="761970">
              <a:lnSpc>
                <a:spcPts val="1917"/>
              </a:lnSpc>
            </a:pPr>
            <a:r>
              <a:rPr lang="en-US" sz="1542" dirty="0">
                <a:solidFill>
                  <a:srgbClr val="1B1B27"/>
                </a:solidFill>
                <a:latin typeface="Raleway" pitchFamily="34" charset="0"/>
                <a:ea typeface="Raleway" pitchFamily="34" charset="-122"/>
                <a:cs typeface="Raleway" pitchFamily="34" charset="-120"/>
              </a:rPr>
              <a:t>Deploying with GitHub + Netlify</a:t>
            </a:r>
            <a:endParaRPr lang="en-US" sz="1542" dirty="0">
              <a:solidFill>
                <a:prstClr val="black"/>
              </a:solidFill>
              <a:latin typeface="Calibri" panose="020F0502020204030204"/>
            </a:endParaRPr>
          </a:p>
        </p:txBody>
      </p:sp>
      <p:sp>
        <p:nvSpPr>
          <p:cNvPr id="4" name="Text 2"/>
          <p:cNvSpPr/>
          <p:nvPr/>
        </p:nvSpPr>
        <p:spPr>
          <a:xfrm>
            <a:off x="661492" y="1505347"/>
            <a:ext cx="5273179" cy="539948"/>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This approach is perfect for static sites and frontend frameworks. It leverages Git version control to sync your local environment with GitHub, then uses the Netlify CLI to upload your build directory directly to the web.</a:t>
            </a:r>
            <a:endParaRPr lang="en-US" sz="1042" dirty="0">
              <a:solidFill>
                <a:prstClr val="black"/>
              </a:solidFill>
              <a:latin typeface="Calibri" panose="020F0502020204030204"/>
            </a:endParaRPr>
          </a:p>
        </p:txBody>
      </p:sp>
      <p:sp>
        <p:nvSpPr>
          <p:cNvPr id="5" name="Shape 3"/>
          <p:cNvSpPr/>
          <p:nvPr/>
        </p:nvSpPr>
        <p:spPr>
          <a:xfrm>
            <a:off x="661492" y="2149476"/>
            <a:ext cx="5273179" cy="2538214"/>
          </a:xfrm>
          <a:prstGeom prst="roundRect">
            <a:avLst>
              <a:gd name="adj" fmla="val 2189"/>
            </a:avLst>
          </a:prstGeom>
          <a:solidFill>
            <a:srgbClr val="F2F2F2"/>
          </a:solidFill>
          <a:ln/>
        </p:spPr>
      </p:sp>
      <p:sp>
        <p:nvSpPr>
          <p:cNvPr id="6" name="Shape 4"/>
          <p:cNvSpPr/>
          <p:nvPr/>
        </p:nvSpPr>
        <p:spPr>
          <a:xfrm>
            <a:off x="654944" y="2149476"/>
            <a:ext cx="5286276" cy="2538214"/>
          </a:xfrm>
          <a:prstGeom prst="roundRect">
            <a:avLst>
              <a:gd name="adj" fmla="val 782"/>
            </a:avLst>
          </a:prstGeom>
          <a:solidFill>
            <a:srgbClr val="F2F2F2"/>
          </a:solidFill>
          <a:ln/>
        </p:spPr>
      </p:sp>
      <p:sp>
        <p:nvSpPr>
          <p:cNvPr id="7" name="Text 5"/>
          <p:cNvSpPr/>
          <p:nvPr/>
        </p:nvSpPr>
        <p:spPr>
          <a:xfrm>
            <a:off x="787202" y="2248694"/>
            <a:ext cx="5021758" cy="2339777"/>
          </a:xfrm>
          <a:prstGeom prst="rect">
            <a:avLst/>
          </a:prstGeom>
          <a:noFill/>
          <a:ln/>
        </p:spPr>
        <p:txBody>
          <a:bodyPr wrap="square" lIns="0" tIns="0" rIns="0" bIns="0" rtlCol="0" anchor="t"/>
          <a:lstStyle/>
          <a:p>
            <a:pPr defTabSz="761970">
              <a:lnSpc>
                <a:spcPts val="1417"/>
              </a:lnSpc>
            </a:pPr>
            <a:r>
              <a:rPr lang="en-US" sz="1042" dirty="0">
                <a:solidFill>
                  <a:srgbClr val="3C3939"/>
                </a:solidFill>
                <a:highlight>
                  <a:srgbClr val="F2F2F2"/>
                </a:highlight>
                <a:latin typeface="Consolas" pitchFamily="34" charset="0"/>
                <a:ea typeface="Consolas" pitchFamily="34" charset="-122"/>
                <a:cs typeface="Consolas" pitchFamily="34" charset="-120"/>
              </a:rPr>
              <a:t># 1. Initialize Git repository
git init
git add .
git commit -m "Initial commit"
# 2. Push to GitHub
git remote add origin https://github.com/username/project.git
git branch -M main
git push -u origin main
# 3. Netlify CLI deployment
netlify deploy --dir=dist
</a:t>
            </a:r>
            <a:endParaRPr lang="en-US" sz="1042" dirty="0">
              <a:solidFill>
                <a:prstClr val="black"/>
              </a:solidFill>
              <a:latin typeface="Calibri" panose="020F0502020204030204"/>
            </a:endParaRPr>
          </a:p>
        </p:txBody>
      </p:sp>
      <p:sp>
        <p:nvSpPr>
          <p:cNvPr id="8" name="Text 6"/>
          <p:cNvSpPr/>
          <p:nvPr/>
        </p:nvSpPr>
        <p:spPr>
          <a:xfrm>
            <a:off x="661492" y="4791869"/>
            <a:ext cx="5273179" cy="539948"/>
          </a:xfrm>
          <a:prstGeom prst="rect">
            <a:avLst/>
          </a:prstGeom>
          <a:noFill/>
          <a:ln/>
        </p:spPr>
        <p:txBody>
          <a:bodyPr wrap="squar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Key Takeaway:</a:t>
            </a:r>
            <a:r>
              <a:rPr lang="en-US" sz="1042" dirty="0">
                <a:solidFill>
                  <a:srgbClr val="3C3939"/>
                </a:solidFill>
                <a:latin typeface="Roboto" pitchFamily="34" charset="0"/>
                <a:ea typeface="Roboto" pitchFamily="34" charset="-122"/>
                <a:cs typeface="Roboto" pitchFamily="34" charset="-120"/>
              </a:rPr>
              <a:t> Using the CLI is fast and ideal for manual deployments. For long-term projects, consider linking your repository to the Netlify dashboard for automatic continuous deployment on every push.</a:t>
            </a:r>
            <a:endParaRPr lang="en-US" sz="1042" dirty="0">
              <a:solidFill>
                <a:prstClr val="black"/>
              </a:solidFill>
              <a:latin typeface="Calibri" panose="020F0502020204030204"/>
            </a:endParaRPr>
          </a:p>
        </p:txBody>
      </p:sp>
      <p:sp>
        <p:nvSpPr>
          <p:cNvPr id="9" name="Text 7"/>
          <p:cNvSpPr/>
          <p:nvPr/>
        </p:nvSpPr>
        <p:spPr>
          <a:xfrm>
            <a:off x="6263680" y="1164729"/>
            <a:ext cx="3418682" cy="248047"/>
          </a:xfrm>
          <a:prstGeom prst="rect">
            <a:avLst/>
          </a:prstGeom>
          <a:noFill/>
          <a:ln/>
        </p:spPr>
        <p:txBody>
          <a:bodyPr wrap="none" lIns="0" tIns="0" rIns="0" bIns="0" rtlCol="0" anchor="t"/>
          <a:lstStyle/>
          <a:p>
            <a:pPr defTabSz="761970">
              <a:lnSpc>
                <a:spcPts val="1917"/>
              </a:lnSpc>
            </a:pPr>
            <a:r>
              <a:rPr lang="en-US" sz="1542" dirty="0">
                <a:solidFill>
                  <a:srgbClr val="1B1B27"/>
                </a:solidFill>
                <a:latin typeface="Raleway" pitchFamily="34" charset="0"/>
                <a:ea typeface="Raleway" pitchFamily="34" charset="-122"/>
                <a:cs typeface="Raleway" pitchFamily="34" charset="-120"/>
              </a:rPr>
              <a:t>Basic CI/CD Pipeline (GitHub Actions)</a:t>
            </a:r>
            <a:endParaRPr lang="en-US" sz="1542" dirty="0">
              <a:solidFill>
                <a:prstClr val="black"/>
              </a:solidFill>
              <a:latin typeface="Calibri" panose="020F0502020204030204"/>
            </a:endParaRPr>
          </a:p>
        </p:txBody>
      </p:sp>
      <p:sp>
        <p:nvSpPr>
          <p:cNvPr id="10" name="Text 8"/>
          <p:cNvSpPr/>
          <p:nvPr/>
        </p:nvSpPr>
        <p:spPr>
          <a:xfrm>
            <a:off x="6263681" y="1505347"/>
            <a:ext cx="5273179" cy="539948"/>
          </a:xfrm>
          <a:prstGeom prst="rect">
            <a:avLst/>
          </a:prstGeom>
          <a:noFill/>
          <a:ln/>
        </p:spPr>
        <p:txBody>
          <a:bodyPr wrap="square" lIns="0" tIns="0" rIns="0" bIns="0" rtlCol="0" anchor="t"/>
          <a:lstStyle/>
          <a:p>
            <a:pPr defTabSz="761970">
              <a:lnSpc>
                <a:spcPts val="1417"/>
              </a:lnSpc>
            </a:pPr>
            <a:r>
              <a:rPr lang="en-US" sz="1042" dirty="0">
                <a:solidFill>
                  <a:srgbClr val="3C3939"/>
                </a:solidFill>
                <a:latin typeface="Roboto" pitchFamily="34" charset="0"/>
                <a:ea typeface="Roboto" pitchFamily="34" charset="-122"/>
                <a:cs typeface="Roboto" pitchFamily="34" charset="-120"/>
              </a:rPr>
              <a:t>This automated workflow handles the heavy lifting for you. Every time you push code to your main branch, GitHub Actions automatically provisions a server, installs dependencies, builds your project, and deploys it to your hosting provider.</a:t>
            </a:r>
            <a:endParaRPr lang="en-US" sz="1042" dirty="0">
              <a:solidFill>
                <a:prstClr val="black"/>
              </a:solidFill>
              <a:latin typeface="Calibri" panose="020F0502020204030204"/>
            </a:endParaRPr>
          </a:p>
        </p:txBody>
      </p:sp>
      <p:sp>
        <p:nvSpPr>
          <p:cNvPr id="11" name="Shape 9"/>
          <p:cNvSpPr/>
          <p:nvPr/>
        </p:nvSpPr>
        <p:spPr>
          <a:xfrm>
            <a:off x="6263681" y="2149475"/>
            <a:ext cx="5273179" cy="3078163"/>
          </a:xfrm>
          <a:prstGeom prst="roundRect">
            <a:avLst>
              <a:gd name="adj" fmla="val 1805"/>
            </a:avLst>
          </a:prstGeom>
          <a:solidFill>
            <a:srgbClr val="F2F2F2"/>
          </a:solidFill>
          <a:ln/>
        </p:spPr>
      </p:sp>
      <p:sp>
        <p:nvSpPr>
          <p:cNvPr id="12" name="Shape 10"/>
          <p:cNvSpPr/>
          <p:nvPr/>
        </p:nvSpPr>
        <p:spPr>
          <a:xfrm>
            <a:off x="6257132" y="2149475"/>
            <a:ext cx="5286276" cy="3078163"/>
          </a:xfrm>
          <a:prstGeom prst="roundRect">
            <a:avLst>
              <a:gd name="adj" fmla="val 645"/>
            </a:avLst>
          </a:prstGeom>
          <a:solidFill>
            <a:srgbClr val="F2F2F2"/>
          </a:solidFill>
          <a:ln/>
        </p:spPr>
      </p:sp>
      <p:sp>
        <p:nvSpPr>
          <p:cNvPr id="13" name="Text 11"/>
          <p:cNvSpPr/>
          <p:nvPr/>
        </p:nvSpPr>
        <p:spPr>
          <a:xfrm>
            <a:off x="6389390" y="2248694"/>
            <a:ext cx="5021758" cy="2879725"/>
          </a:xfrm>
          <a:prstGeom prst="rect">
            <a:avLst/>
          </a:prstGeom>
          <a:noFill/>
          <a:ln/>
        </p:spPr>
        <p:txBody>
          <a:bodyPr wrap="square" lIns="0" tIns="0" rIns="0" bIns="0" rtlCol="0" anchor="t"/>
          <a:lstStyle/>
          <a:p>
            <a:pPr defTabSz="761970">
              <a:lnSpc>
                <a:spcPts val="1417"/>
              </a:lnSpc>
            </a:pPr>
            <a:r>
              <a:rPr lang="en-US" sz="1042" dirty="0">
                <a:solidFill>
                  <a:srgbClr val="3C3939"/>
                </a:solidFill>
                <a:highlight>
                  <a:srgbClr val="F2F2F2"/>
                </a:highlight>
                <a:latin typeface="Consolas" pitchFamily="34" charset="0"/>
                <a:ea typeface="Consolas" pitchFamily="34" charset="-122"/>
                <a:cs typeface="Consolas" pitchFamily="34" charset="-120"/>
              </a:rPr>
              <a:t>name: Deploy to Production
on:
 push:
 branches: [main]
jobs:
 build:
 runs-on: ubuntu-latest
 steps:
 - uses: actions/checkout@v2
 - run: npm install
 - run: npm run build
 - uses: peaceiris/actions-gh-pages@v3
 with:
 github_token: ${{ secrets.GITHUB_TOKEN }}
 publish_dir: ./dist
</a:t>
            </a:r>
            <a:endParaRPr lang="en-US" sz="1042" dirty="0">
              <a:solidFill>
                <a:prstClr val="black"/>
              </a:solidFill>
              <a:latin typeface="Calibri" panose="020F0502020204030204"/>
            </a:endParaRPr>
          </a:p>
        </p:txBody>
      </p:sp>
      <p:sp>
        <p:nvSpPr>
          <p:cNvPr id="14" name="Text 12"/>
          <p:cNvSpPr/>
          <p:nvPr/>
        </p:nvSpPr>
        <p:spPr>
          <a:xfrm>
            <a:off x="6263681" y="5331818"/>
            <a:ext cx="5273179" cy="539948"/>
          </a:xfrm>
          <a:prstGeom prst="rect">
            <a:avLst/>
          </a:prstGeom>
          <a:noFill/>
          <a:ln/>
        </p:spPr>
        <p:txBody>
          <a:bodyPr wrap="square" lIns="0" tIns="0" rIns="0" bIns="0" rtlCol="0" anchor="t"/>
          <a:lstStyle/>
          <a:p>
            <a:pPr defTabSz="761970">
              <a:lnSpc>
                <a:spcPts val="1417"/>
              </a:lnSpc>
            </a:pPr>
            <a:r>
              <a:rPr lang="en-US" sz="1042" b="1" dirty="0">
                <a:solidFill>
                  <a:srgbClr val="3C3939"/>
                </a:solidFill>
                <a:latin typeface="Roboto" pitchFamily="34" charset="0"/>
                <a:ea typeface="Roboto" pitchFamily="34" charset="-122"/>
                <a:cs typeface="Roboto" pitchFamily="34" charset="-120"/>
              </a:rPr>
              <a:t>Key Takeaway:</a:t>
            </a:r>
            <a:r>
              <a:rPr lang="en-US" sz="1042" dirty="0">
                <a:solidFill>
                  <a:srgbClr val="3C3939"/>
                </a:solidFill>
                <a:latin typeface="Roboto" pitchFamily="34" charset="0"/>
                <a:ea typeface="Roboto" pitchFamily="34" charset="-122"/>
                <a:cs typeface="Roboto" pitchFamily="34" charset="-120"/>
              </a:rPr>
              <a:t> CI/CD eliminates manual deployment errors and ensures your production environment always reflects the latest version of your code. It is the industry standard for scalable development.</a:t>
            </a:r>
            <a:endParaRPr lang="en-US" sz="1042" dirty="0">
              <a:solidFill>
                <a:prstClr val="black"/>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6993930" cy="472480"/>
          </a:xfrm>
          <a:prstGeom prst="rect">
            <a:avLst/>
          </a:prstGeom>
          <a:noFill/>
          <a:ln/>
        </p:spPr>
        <p:txBody>
          <a:bodyPr wrap="none" lIns="0" tIns="0" rIns="0" bIns="0" rtlCol="0" anchor="t"/>
          <a:lstStyle/>
          <a:p>
            <a:pPr defTabSz="761970">
              <a:lnSpc>
                <a:spcPts val="3708"/>
              </a:lnSpc>
            </a:pPr>
            <a:r>
              <a:rPr lang="en-US" sz="2958" dirty="0">
                <a:solidFill>
                  <a:srgbClr val="1B1B27"/>
                </a:solidFill>
                <a:latin typeface="Raleway" pitchFamily="34" charset="0"/>
                <a:ea typeface="Raleway" pitchFamily="34" charset="-122"/>
                <a:cs typeface="Raleway" pitchFamily="34" charset="-120"/>
              </a:rPr>
              <a:t>Best Practices for Reliable Deployments</a:t>
            </a:r>
            <a:endParaRPr lang="en-US" sz="2958" dirty="0">
              <a:solidFill>
                <a:prstClr val="black"/>
              </a:solidFill>
              <a:latin typeface="Calibri" panose="020F0502020204030204"/>
            </a:endParaRPr>
          </a:p>
        </p:txBody>
      </p:sp>
      <p:sp>
        <p:nvSpPr>
          <p:cNvPr id="3" name="Shape 1"/>
          <p:cNvSpPr/>
          <p:nvPr/>
        </p:nvSpPr>
        <p:spPr>
          <a:xfrm>
            <a:off x="661492" y="1460996"/>
            <a:ext cx="3542308" cy="2380853"/>
          </a:xfrm>
          <a:prstGeom prst="roundRect">
            <a:avLst>
              <a:gd name="adj" fmla="val 3841"/>
            </a:avLst>
          </a:prstGeom>
          <a:solidFill>
            <a:srgbClr val="FFFFFF">
              <a:alpha val="95000"/>
            </a:srgbClr>
          </a:solidFill>
          <a:ln/>
        </p:spPr>
      </p:sp>
      <p:sp>
        <p:nvSpPr>
          <p:cNvPr id="4" name="Shape 2"/>
          <p:cNvSpPr/>
          <p:nvPr/>
        </p:nvSpPr>
        <p:spPr>
          <a:xfrm>
            <a:off x="661492" y="1441946"/>
            <a:ext cx="3542308" cy="76200"/>
          </a:xfrm>
          <a:prstGeom prst="roundRect">
            <a:avLst>
              <a:gd name="adj" fmla="val 83349"/>
            </a:avLst>
          </a:prstGeom>
          <a:solidFill>
            <a:srgbClr val="1B1B27"/>
          </a:solidFill>
          <a:ln/>
        </p:spPr>
      </p:sp>
      <p:sp>
        <p:nvSpPr>
          <p:cNvPr id="5" name="Shape 3"/>
          <p:cNvSpPr/>
          <p:nvPr/>
        </p:nvSpPr>
        <p:spPr>
          <a:xfrm>
            <a:off x="2205832" y="1234182"/>
            <a:ext cx="453628" cy="453628"/>
          </a:xfrm>
          <a:prstGeom prst="roundRect">
            <a:avLst>
              <a:gd name="adj" fmla="val 167979"/>
            </a:avLst>
          </a:prstGeom>
          <a:solidFill>
            <a:srgbClr val="1B1B27"/>
          </a:solidFill>
          <a:ln/>
        </p:spPr>
      </p:sp>
      <p:sp>
        <p:nvSpPr>
          <p:cNvPr id="6" name="Text 4"/>
          <p:cNvSpPr/>
          <p:nvPr/>
        </p:nvSpPr>
        <p:spPr>
          <a:xfrm>
            <a:off x="2341959" y="1347590"/>
            <a:ext cx="181372" cy="226814"/>
          </a:xfrm>
          <a:prstGeom prst="rect">
            <a:avLst/>
          </a:prstGeom>
          <a:noFill/>
          <a:ln/>
        </p:spPr>
        <p:txBody>
          <a:bodyPr wrap="none" lIns="0" tIns="0" rIns="0" bIns="0" rtlCol="0" anchor="t"/>
          <a:lstStyle/>
          <a:p>
            <a:pPr defTabSz="761970">
              <a:lnSpc>
                <a:spcPts val="2042"/>
              </a:lnSpc>
            </a:pPr>
            <a:r>
              <a:rPr lang="en-US" sz="1417" dirty="0">
                <a:solidFill>
                  <a:srgbClr val="FFFFFF"/>
                </a:solidFill>
                <a:latin typeface="Raleway" pitchFamily="34" charset="0"/>
                <a:ea typeface="Raleway" pitchFamily="34" charset="-122"/>
                <a:cs typeface="Raleway" pitchFamily="34" charset="-120"/>
              </a:rPr>
              <a:t>1</a:t>
            </a:r>
            <a:endParaRPr lang="en-US" sz="1417" dirty="0">
              <a:solidFill>
                <a:prstClr val="black"/>
              </a:solidFill>
              <a:latin typeface="Calibri" panose="020F0502020204030204"/>
            </a:endParaRPr>
          </a:p>
        </p:txBody>
      </p:sp>
      <p:sp>
        <p:nvSpPr>
          <p:cNvPr id="7" name="Text 5"/>
          <p:cNvSpPr/>
          <p:nvPr/>
        </p:nvSpPr>
        <p:spPr>
          <a:xfrm>
            <a:off x="831751" y="1839019"/>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Automate Everything</a:t>
            </a:r>
            <a:endParaRPr lang="en-US" sz="1458" dirty="0">
              <a:solidFill>
                <a:prstClr val="black"/>
              </a:solidFill>
              <a:latin typeface="Calibri" panose="020F0502020204030204"/>
            </a:endParaRPr>
          </a:p>
        </p:txBody>
      </p:sp>
      <p:sp>
        <p:nvSpPr>
          <p:cNvPr id="8" name="Text 6"/>
          <p:cNvSpPr/>
          <p:nvPr/>
        </p:nvSpPr>
        <p:spPr>
          <a:xfrm>
            <a:off x="831751" y="2147789"/>
            <a:ext cx="3201789" cy="1306116"/>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Use CI/CD pipelines like GitHub Actions or GitLab CI to eliminate manual configuration drift. This ensures consistent deployments across all environments, reducing deployment time by up to 50% while significantly lowering the risk of human error.</a:t>
            </a:r>
            <a:endParaRPr lang="en-US" sz="1167" dirty="0">
              <a:solidFill>
                <a:prstClr val="black"/>
              </a:solidFill>
              <a:latin typeface="Calibri" panose="020F0502020204030204"/>
            </a:endParaRPr>
          </a:p>
        </p:txBody>
      </p:sp>
      <p:sp>
        <p:nvSpPr>
          <p:cNvPr id="9" name="Shape 7"/>
          <p:cNvSpPr/>
          <p:nvPr/>
        </p:nvSpPr>
        <p:spPr>
          <a:xfrm>
            <a:off x="4324747" y="1460996"/>
            <a:ext cx="3542407" cy="2380853"/>
          </a:xfrm>
          <a:prstGeom prst="roundRect">
            <a:avLst>
              <a:gd name="adj" fmla="val 3841"/>
            </a:avLst>
          </a:prstGeom>
          <a:solidFill>
            <a:srgbClr val="FFFFFF">
              <a:alpha val="95000"/>
            </a:srgbClr>
          </a:solidFill>
          <a:ln/>
        </p:spPr>
      </p:sp>
      <p:sp>
        <p:nvSpPr>
          <p:cNvPr id="10" name="Shape 8"/>
          <p:cNvSpPr/>
          <p:nvPr/>
        </p:nvSpPr>
        <p:spPr>
          <a:xfrm>
            <a:off x="4324747" y="1441946"/>
            <a:ext cx="3542407" cy="76200"/>
          </a:xfrm>
          <a:prstGeom prst="roundRect">
            <a:avLst>
              <a:gd name="adj" fmla="val 83349"/>
            </a:avLst>
          </a:prstGeom>
          <a:solidFill>
            <a:srgbClr val="1B1B27"/>
          </a:solidFill>
          <a:ln/>
        </p:spPr>
      </p:sp>
      <p:sp>
        <p:nvSpPr>
          <p:cNvPr id="11" name="Shape 9"/>
          <p:cNvSpPr/>
          <p:nvPr/>
        </p:nvSpPr>
        <p:spPr>
          <a:xfrm>
            <a:off x="5869087" y="1234182"/>
            <a:ext cx="453628" cy="453628"/>
          </a:xfrm>
          <a:prstGeom prst="roundRect">
            <a:avLst>
              <a:gd name="adj" fmla="val 167979"/>
            </a:avLst>
          </a:prstGeom>
          <a:solidFill>
            <a:srgbClr val="1B1B27"/>
          </a:solidFill>
          <a:ln/>
        </p:spPr>
      </p:sp>
      <p:sp>
        <p:nvSpPr>
          <p:cNvPr id="12" name="Text 10"/>
          <p:cNvSpPr/>
          <p:nvPr/>
        </p:nvSpPr>
        <p:spPr>
          <a:xfrm>
            <a:off x="6005215" y="1347590"/>
            <a:ext cx="181372" cy="226814"/>
          </a:xfrm>
          <a:prstGeom prst="rect">
            <a:avLst/>
          </a:prstGeom>
          <a:noFill/>
          <a:ln/>
        </p:spPr>
        <p:txBody>
          <a:bodyPr wrap="none" lIns="0" tIns="0" rIns="0" bIns="0" rtlCol="0" anchor="t"/>
          <a:lstStyle/>
          <a:p>
            <a:pPr defTabSz="761970">
              <a:lnSpc>
                <a:spcPts val="2042"/>
              </a:lnSpc>
            </a:pPr>
            <a:r>
              <a:rPr lang="en-US" sz="1417" dirty="0">
                <a:solidFill>
                  <a:srgbClr val="FFFFFF"/>
                </a:solidFill>
                <a:latin typeface="Raleway" pitchFamily="34" charset="0"/>
                <a:ea typeface="Raleway" pitchFamily="34" charset="-122"/>
                <a:cs typeface="Raleway" pitchFamily="34" charset="-120"/>
              </a:rPr>
              <a:t>2</a:t>
            </a:r>
            <a:endParaRPr lang="en-US" sz="1417" dirty="0">
              <a:solidFill>
                <a:prstClr val="black"/>
              </a:solidFill>
              <a:latin typeface="Calibri" panose="020F0502020204030204"/>
            </a:endParaRPr>
          </a:p>
        </p:txBody>
      </p:sp>
      <p:sp>
        <p:nvSpPr>
          <p:cNvPr id="13" name="Text 11"/>
          <p:cNvSpPr/>
          <p:nvPr/>
        </p:nvSpPr>
        <p:spPr>
          <a:xfrm>
            <a:off x="4495007" y="1839019"/>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Test Thoroughly</a:t>
            </a:r>
            <a:endParaRPr lang="en-US" sz="1458" dirty="0">
              <a:solidFill>
                <a:prstClr val="black"/>
              </a:solidFill>
              <a:latin typeface="Calibri" panose="020F0502020204030204"/>
            </a:endParaRPr>
          </a:p>
        </p:txBody>
      </p:sp>
      <p:sp>
        <p:nvSpPr>
          <p:cNvPr id="14" name="Text 12"/>
          <p:cNvSpPr/>
          <p:nvPr/>
        </p:nvSpPr>
        <p:spPr>
          <a:xfrm>
            <a:off x="4495007" y="2147789"/>
            <a:ext cx="3201888" cy="1306116"/>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Implement a robust testing strategy including unit tests with Jest, integration tests with Cypress, and end-to-end regression suites. Catching defects early in the cycle increases code quality and reduces the cost of production fixes by orders of magnitude.</a:t>
            </a:r>
            <a:endParaRPr lang="en-US" sz="1167" dirty="0">
              <a:solidFill>
                <a:prstClr val="black"/>
              </a:solidFill>
              <a:latin typeface="Calibri" panose="020F0502020204030204"/>
            </a:endParaRPr>
          </a:p>
        </p:txBody>
      </p:sp>
      <p:sp>
        <p:nvSpPr>
          <p:cNvPr id="15" name="Shape 13"/>
          <p:cNvSpPr/>
          <p:nvPr/>
        </p:nvSpPr>
        <p:spPr>
          <a:xfrm>
            <a:off x="7988102" y="1460996"/>
            <a:ext cx="3542407" cy="2380853"/>
          </a:xfrm>
          <a:prstGeom prst="roundRect">
            <a:avLst>
              <a:gd name="adj" fmla="val 3841"/>
            </a:avLst>
          </a:prstGeom>
          <a:solidFill>
            <a:srgbClr val="FFFFFF">
              <a:alpha val="95000"/>
            </a:srgbClr>
          </a:solidFill>
          <a:ln/>
        </p:spPr>
      </p:sp>
      <p:sp>
        <p:nvSpPr>
          <p:cNvPr id="16" name="Shape 14"/>
          <p:cNvSpPr/>
          <p:nvPr/>
        </p:nvSpPr>
        <p:spPr>
          <a:xfrm>
            <a:off x="7988102" y="1441946"/>
            <a:ext cx="3542407" cy="76200"/>
          </a:xfrm>
          <a:prstGeom prst="roundRect">
            <a:avLst>
              <a:gd name="adj" fmla="val 83349"/>
            </a:avLst>
          </a:prstGeom>
          <a:solidFill>
            <a:srgbClr val="1B1B27"/>
          </a:solidFill>
          <a:ln/>
        </p:spPr>
      </p:sp>
      <p:sp>
        <p:nvSpPr>
          <p:cNvPr id="17" name="Shape 15"/>
          <p:cNvSpPr/>
          <p:nvPr/>
        </p:nvSpPr>
        <p:spPr>
          <a:xfrm>
            <a:off x="9532442" y="1234182"/>
            <a:ext cx="453628" cy="453628"/>
          </a:xfrm>
          <a:prstGeom prst="roundRect">
            <a:avLst>
              <a:gd name="adj" fmla="val 167979"/>
            </a:avLst>
          </a:prstGeom>
          <a:solidFill>
            <a:srgbClr val="1B1B27"/>
          </a:solidFill>
          <a:ln/>
        </p:spPr>
      </p:sp>
      <p:sp>
        <p:nvSpPr>
          <p:cNvPr id="18" name="Text 16"/>
          <p:cNvSpPr/>
          <p:nvPr/>
        </p:nvSpPr>
        <p:spPr>
          <a:xfrm>
            <a:off x="9668569" y="1347590"/>
            <a:ext cx="181372" cy="226814"/>
          </a:xfrm>
          <a:prstGeom prst="rect">
            <a:avLst/>
          </a:prstGeom>
          <a:noFill/>
          <a:ln/>
        </p:spPr>
        <p:txBody>
          <a:bodyPr wrap="none" lIns="0" tIns="0" rIns="0" bIns="0" rtlCol="0" anchor="t"/>
          <a:lstStyle/>
          <a:p>
            <a:pPr defTabSz="761970">
              <a:lnSpc>
                <a:spcPts val="2042"/>
              </a:lnSpc>
            </a:pPr>
            <a:r>
              <a:rPr lang="en-US" sz="1417" dirty="0">
                <a:solidFill>
                  <a:srgbClr val="FFFFFF"/>
                </a:solidFill>
                <a:latin typeface="Raleway" pitchFamily="34" charset="0"/>
                <a:ea typeface="Raleway" pitchFamily="34" charset="-122"/>
                <a:cs typeface="Raleway" pitchFamily="34" charset="-120"/>
              </a:rPr>
              <a:t>3</a:t>
            </a:r>
            <a:endParaRPr lang="en-US" sz="1417" dirty="0">
              <a:solidFill>
                <a:prstClr val="black"/>
              </a:solidFill>
              <a:latin typeface="Calibri" panose="020F0502020204030204"/>
            </a:endParaRPr>
          </a:p>
        </p:txBody>
      </p:sp>
      <p:sp>
        <p:nvSpPr>
          <p:cNvPr id="19" name="Text 17"/>
          <p:cNvSpPr/>
          <p:nvPr/>
        </p:nvSpPr>
        <p:spPr>
          <a:xfrm>
            <a:off x="8158361" y="1839019"/>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Monitor Actively</a:t>
            </a:r>
            <a:endParaRPr lang="en-US" sz="1458" dirty="0">
              <a:solidFill>
                <a:prstClr val="black"/>
              </a:solidFill>
              <a:latin typeface="Calibri" panose="020F0502020204030204"/>
            </a:endParaRPr>
          </a:p>
        </p:txBody>
      </p:sp>
      <p:sp>
        <p:nvSpPr>
          <p:cNvPr id="20" name="Text 18"/>
          <p:cNvSpPr/>
          <p:nvPr/>
        </p:nvSpPr>
        <p:spPr>
          <a:xfrm>
            <a:off x="8158361" y="2147788"/>
            <a:ext cx="3201888" cy="1523802"/>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Track application performance, latency, and error rates in real-time using observability tools such as Datadog, New Relic, or Sentry. Establishing proactive alerting based on these metrics allows your team to address bottlenecks before they impact the end-user experience.</a:t>
            </a:r>
            <a:endParaRPr lang="en-US" sz="1167" dirty="0">
              <a:solidFill>
                <a:prstClr val="black"/>
              </a:solidFill>
              <a:latin typeface="Calibri" panose="020F0502020204030204"/>
            </a:endParaRPr>
          </a:p>
        </p:txBody>
      </p:sp>
      <p:sp>
        <p:nvSpPr>
          <p:cNvPr id="21" name="Shape 19"/>
          <p:cNvSpPr/>
          <p:nvPr/>
        </p:nvSpPr>
        <p:spPr>
          <a:xfrm>
            <a:off x="661492" y="4189611"/>
            <a:ext cx="5373985" cy="1945482"/>
          </a:xfrm>
          <a:prstGeom prst="roundRect">
            <a:avLst>
              <a:gd name="adj" fmla="val 4700"/>
            </a:avLst>
          </a:prstGeom>
          <a:solidFill>
            <a:srgbClr val="FFFFFF">
              <a:alpha val="95000"/>
            </a:srgbClr>
          </a:solidFill>
          <a:ln/>
        </p:spPr>
      </p:sp>
      <p:sp>
        <p:nvSpPr>
          <p:cNvPr id="22" name="Shape 20"/>
          <p:cNvSpPr/>
          <p:nvPr/>
        </p:nvSpPr>
        <p:spPr>
          <a:xfrm>
            <a:off x="661492" y="4170561"/>
            <a:ext cx="5373985" cy="76200"/>
          </a:xfrm>
          <a:prstGeom prst="roundRect">
            <a:avLst>
              <a:gd name="adj" fmla="val 83349"/>
            </a:avLst>
          </a:prstGeom>
          <a:solidFill>
            <a:srgbClr val="1B1B27"/>
          </a:solidFill>
          <a:ln/>
        </p:spPr>
      </p:sp>
      <p:sp>
        <p:nvSpPr>
          <p:cNvPr id="23" name="Shape 21"/>
          <p:cNvSpPr/>
          <p:nvPr/>
        </p:nvSpPr>
        <p:spPr>
          <a:xfrm>
            <a:off x="3121620" y="3962797"/>
            <a:ext cx="453628" cy="453628"/>
          </a:xfrm>
          <a:prstGeom prst="roundRect">
            <a:avLst>
              <a:gd name="adj" fmla="val 167979"/>
            </a:avLst>
          </a:prstGeom>
          <a:solidFill>
            <a:srgbClr val="1B1B27"/>
          </a:solidFill>
          <a:ln/>
        </p:spPr>
      </p:sp>
      <p:sp>
        <p:nvSpPr>
          <p:cNvPr id="24" name="Text 22"/>
          <p:cNvSpPr/>
          <p:nvPr/>
        </p:nvSpPr>
        <p:spPr>
          <a:xfrm>
            <a:off x="3257748" y="4076205"/>
            <a:ext cx="181372" cy="226814"/>
          </a:xfrm>
          <a:prstGeom prst="rect">
            <a:avLst/>
          </a:prstGeom>
          <a:noFill/>
          <a:ln/>
        </p:spPr>
        <p:txBody>
          <a:bodyPr wrap="none" lIns="0" tIns="0" rIns="0" bIns="0" rtlCol="0" anchor="t"/>
          <a:lstStyle/>
          <a:p>
            <a:pPr defTabSz="761970">
              <a:lnSpc>
                <a:spcPts val="2042"/>
              </a:lnSpc>
            </a:pPr>
            <a:r>
              <a:rPr lang="en-US" sz="1417" dirty="0">
                <a:solidFill>
                  <a:srgbClr val="FFFFFF"/>
                </a:solidFill>
                <a:latin typeface="Raleway" pitchFamily="34" charset="0"/>
                <a:ea typeface="Raleway" pitchFamily="34" charset="-122"/>
                <a:cs typeface="Raleway" pitchFamily="34" charset="-120"/>
              </a:rPr>
              <a:t>4</a:t>
            </a:r>
            <a:endParaRPr lang="en-US" sz="1417" dirty="0">
              <a:solidFill>
                <a:prstClr val="black"/>
              </a:solidFill>
              <a:latin typeface="Calibri" panose="020F0502020204030204"/>
            </a:endParaRPr>
          </a:p>
        </p:txBody>
      </p:sp>
      <p:sp>
        <p:nvSpPr>
          <p:cNvPr id="25" name="Text 23"/>
          <p:cNvSpPr/>
          <p:nvPr/>
        </p:nvSpPr>
        <p:spPr>
          <a:xfrm>
            <a:off x="831751" y="4567634"/>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Enable Rollback</a:t>
            </a:r>
            <a:endParaRPr lang="en-US" sz="1458" dirty="0">
              <a:solidFill>
                <a:prstClr val="black"/>
              </a:solidFill>
              <a:latin typeface="Calibri" panose="020F0502020204030204"/>
            </a:endParaRPr>
          </a:p>
        </p:txBody>
      </p:sp>
      <p:sp>
        <p:nvSpPr>
          <p:cNvPr id="26" name="Text 24"/>
          <p:cNvSpPr/>
          <p:nvPr/>
        </p:nvSpPr>
        <p:spPr>
          <a:xfrm>
            <a:off x="831751" y="4876404"/>
            <a:ext cx="5033467" cy="870744"/>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Always maintain the ability to execute an instantaneous revert to a stable state using strategies like blue-green deployment or feature flags via LaunchDarkly. Rapid recovery capabilities are essential for maintaining high availability and minimizing downtime during critical incidents.</a:t>
            </a:r>
            <a:endParaRPr lang="en-US" sz="1167" dirty="0">
              <a:solidFill>
                <a:prstClr val="black"/>
              </a:solidFill>
              <a:latin typeface="Calibri" panose="020F0502020204030204"/>
            </a:endParaRPr>
          </a:p>
        </p:txBody>
      </p:sp>
      <p:sp>
        <p:nvSpPr>
          <p:cNvPr id="27" name="Shape 25"/>
          <p:cNvSpPr/>
          <p:nvPr/>
        </p:nvSpPr>
        <p:spPr>
          <a:xfrm>
            <a:off x="6156425" y="4189611"/>
            <a:ext cx="5374084" cy="1945482"/>
          </a:xfrm>
          <a:prstGeom prst="roundRect">
            <a:avLst>
              <a:gd name="adj" fmla="val 4700"/>
            </a:avLst>
          </a:prstGeom>
          <a:solidFill>
            <a:srgbClr val="FFFFFF">
              <a:alpha val="95000"/>
            </a:srgbClr>
          </a:solidFill>
          <a:ln/>
        </p:spPr>
      </p:sp>
      <p:sp>
        <p:nvSpPr>
          <p:cNvPr id="28" name="Shape 26"/>
          <p:cNvSpPr/>
          <p:nvPr/>
        </p:nvSpPr>
        <p:spPr>
          <a:xfrm>
            <a:off x="6156425" y="4170561"/>
            <a:ext cx="5374084" cy="76200"/>
          </a:xfrm>
          <a:prstGeom prst="roundRect">
            <a:avLst>
              <a:gd name="adj" fmla="val 83349"/>
            </a:avLst>
          </a:prstGeom>
          <a:solidFill>
            <a:srgbClr val="1B1B27"/>
          </a:solidFill>
          <a:ln/>
        </p:spPr>
      </p:sp>
      <p:sp>
        <p:nvSpPr>
          <p:cNvPr id="29" name="Shape 27"/>
          <p:cNvSpPr/>
          <p:nvPr/>
        </p:nvSpPr>
        <p:spPr>
          <a:xfrm>
            <a:off x="8616653" y="3962797"/>
            <a:ext cx="453628" cy="453628"/>
          </a:xfrm>
          <a:prstGeom prst="roundRect">
            <a:avLst>
              <a:gd name="adj" fmla="val 167979"/>
            </a:avLst>
          </a:prstGeom>
          <a:solidFill>
            <a:srgbClr val="1B1B27"/>
          </a:solidFill>
          <a:ln/>
        </p:spPr>
      </p:sp>
      <p:sp>
        <p:nvSpPr>
          <p:cNvPr id="30" name="Text 28"/>
          <p:cNvSpPr/>
          <p:nvPr/>
        </p:nvSpPr>
        <p:spPr>
          <a:xfrm>
            <a:off x="8752781" y="4076205"/>
            <a:ext cx="181372" cy="226814"/>
          </a:xfrm>
          <a:prstGeom prst="rect">
            <a:avLst/>
          </a:prstGeom>
          <a:noFill/>
          <a:ln/>
        </p:spPr>
        <p:txBody>
          <a:bodyPr wrap="none" lIns="0" tIns="0" rIns="0" bIns="0" rtlCol="0" anchor="t"/>
          <a:lstStyle/>
          <a:p>
            <a:pPr defTabSz="761970">
              <a:lnSpc>
                <a:spcPts val="2042"/>
              </a:lnSpc>
            </a:pPr>
            <a:r>
              <a:rPr lang="en-US" sz="1417" dirty="0">
                <a:solidFill>
                  <a:srgbClr val="FFFFFF"/>
                </a:solidFill>
                <a:latin typeface="Raleway" pitchFamily="34" charset="0"/>
                <a:ea typeface="Raleway" pitchFamily="34" charset="-122"/>
                <a:cs typeface="Raleway" pitchFamily="34" charset="-120"/>
              </a:rPr>
              <a:t>5</a:t>
            </a:r>
            <a:endParaRPr lang="en-US" sz="1417" dirty="0">
              <a:solidFill>
                <a:prstClr val="black"/>
              </a:solidFill>
              <a:latin typeface="Calibri" panose="020F0502020204030204"/>
            </a:endParaRPr>
          </a:p>
        </p:txBody>
      </p:sp>
      <p:sp>
        <p:nvSpPr>
          <p:cNvPr id="31" name="Text 29"/>
          <p:cNvSpPr/>
          <p:nvPr/>
        </p:nvSpPr>
        <p:spPr>
          <a:xfrm>
            <a:off x="6326683" y="4567634"/>
            <a:ext cx="1890217" cy="236240"/>
          </a:xfrm>
          <a:prstGeom prst="rect">
            <a:avLst/>
          </a:prstGeom>
          <a:noFill/>
          <a:ln/>
        </p:spPr>
        <p:txBody>
          <a:bodyPr wrap="none" lIns="0" tIns="0" rIns="0" bIns="0" rtlCol="0" anchor="t"/>
          <a:lstStyle/>
          <a:p>
            <a:pPr defTabSz="761970">
              <a:lnSpc>
                <a:spcPts val="1833"/>
              </a:lnSpc>
            </a:pPr>
            <a:r>
              <a:rPr lang="en-US" sz="1458" dirty="0">
                <a:solidFill>
                  <a:srgbClr val="3C3939"/>
                </a:solidFill>
                <a:latin typeface="Raleway" pitchFamily="34" charset="0"/>
                <a:ea typeface="Raleway" pitchFamily="34" charset="-122"/>
                <a:cs typeface="Raleway" pitchFamily="34" charset="-120"/>
              </a:rPr>
              <a:t>Secure Your Pipeline</a:t>
            </a:r>
            <a:endParaRPr lang="en-US" sz="1458" dirty="0">
              <a:solidFill>
                <a:prstClr val="black"/>
              </a:solidFill>
              <a:latin typeface="Calibri" panose="020F0502020204030204"/>
            </a:endParaRPr>
          </a:p>
        </p:txBody>
      </p:sp>
      <p:sp>
        <p:nvSpPr>
          <p:cNvPr id="32" name="Text 30"/>
          <p:cNvSpPr/>
          <p:nvPr/>
        </p:nvSpPr>
        <p:spPr>
          <a:xfrm>
            <a:off x="6326684" y="4876403"/>
            <a:ext cx="5033566" cy="1088430"/>
          </a:xfrm>
          <a:prstGeom prst="rect">
            <a:avLst/>
          </a:prstGeom>
          <a:noFill/>
          <a:ln/>
        </p:spPr>
        <p:txBody>
          <a:bodyPr wrap="square" lIns="0" tIns="0" rIns="0" bIns="0" rtlCol="0" anchor="t"/>
          <a:lstStyle/>
          <a:p>
            <a:pPr defTabSz="761970">
              <a:lnSpc>
                <a:spcPts val="1708"/>
              </a:lnSpc>
            </a:pPr>
            <a:r>
              <a:rPr lang="en-US" sz="1167" dirty="0">
                <a:solidFill>
                  <a:srgbClr val="3C3939"/>
                </a:solidFill>
                <a:latin typeface="Roboto" pitchFamily="34" charset="0"/>
                <a:ea typeface="Roboto" pitchFamily="34" charset="-122"/>
                <a:cs typeface="Roboto" pitchFamily="34" charset="-120"/>
              </a:rPr>
              <a:t>Protect your deployment process by using environment variables for secrets management (e.g., HashiCorp Vault) and enforcing strict access controls. Adhering to the principle of least privilege in your CI/CD configuration prevents unauthorized exposure and protects sensitive infrastructure credentials.</a:t>
            </a:r>
            <a:endParaRPr lang="en-US" sz="1167" dirty="0">
              <a:solidFill>
                <a:prstClr val="black"/>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7"/>
            <a:ext cx="4253012" cy="531614"/>
          </a:xfrm>
          <a:prstGeom prst="rect">
            <a:avLst/>
          </a:prstGeom>
          <a:noFill/>
          <a:ln/>
        </p:spPr>
        <p:txBody>
          <a:bodyPr wrap="none" lIns="0" tIns="0" rIns="0" bIns="0" rtlCol="0" anchor="t"/>
          <a:lstStyle/>
          <a:p>
            <a:pPr defTabSz="761970">
              <a:lnSpc>
                <a:spcPts val="4167"/>
              </a:lnSpc>
            </a:pPr>
            <a:r>
              <a:rPr lang="en-US" sz="3333" dirty="0">
                <a:solidFill>
                  <a:srgbClr val="1B1B27"/>
                </a:solidFill>
                <a:latin typeface="Raleway" pitchFamily="34" charset="0"/>
                <a:ea typeface="Raleway" pitchFamily="34" charset="-122"/>
                <a:cs typeface="Raleway" pitchFamily="34" charset="-120"/>
              </a:rPr>
              <a:t>Key Takeaways</a:t>
            </a:r>
            <a:endParaRPr lang="en-US" sz="3333" dirty="0">
              <a:solidFill>
                <a:prstClr val="black"/>
              </a:solidFill>
              <a:latin typeface="Calibri" panose="020F0502020204030204"/>
            </a:endParaRPr>
          </a:p>
        </p:txBody>
      </p:sp>
      <p:sp>
        <p:nvSpPr>
          <p:cNvPr id="3" name="Shape 1"/>
          <p:cNvSpPr/>
          <p:nvPr/>
        </p:nvSpPr>
        <p:spPr>
          <a:xfrm>
            <a:off x="661492" y="1357610"/>
            <a:ext cx="5357912" cy="1227435"/>
          </a:xfrm>
          <a:prstGeom prst="roundRect">
            <a:avLst>
              <a:gd name="adj" fmla="val 5821"/>
            </a:avLst>
          </a:prstGeom>
          <a:solidFill>
            <a:srgbClr val="E1E1EA"/>
          </a:solidFill>
          <a:ln w="7620">
            <a:solidFill>
              <a:srgbClr val="C7C7D0"/>
            </a:solidFill>
            <a:prstDash val="solid"/>
          </a:ln>
        </p:spPr>
      </p:sp>
      <p:sp>
        <p:nvSpPr>
          <p:cNvPr id="4" name="Text 2"/>
          <p:cNvSpPr/>
          <p:nvPr/>
        </p:nvSpPr>
        <p:spPr>
          <a:xfrm>
            <a:off x="837903" y="1534021"/>
            <a:ext cx="2347813" cy="265708"/>
          </a:xfrm>
          <a:prstGeom prst="rect">
            <a:avLst/>
          </a:prstGeom>
          <a:noFill/>
          <a:ln/>
        </p:spPr>
        <p:txBody>
          <a:bodyPr wrap="none" lIns="0" tIns="0" rIns="0" bIns="0" rtlCol="0" anchor="t"/>
          <a:lstStyle/>
          <a:p>
            <a:pPr defTabSz="761970">
              <a:lnSpc>
                <a:spcPts val="2083"/>
              </a:lnSpc>
            </a:pPr>
            <a:r>
              <a:rPr lang="en-US" sz="1667" dirty="0">
                <a:solidFill>
                  <a:srgbClr val="3C3939"/>
                </a:solidFill>
                <a:latin typeface="Raleway" pitchFamily="34" charset="0"/>
                <a:ea typeface="Raleway" pitchFamily="34" charset="-122"/>
                <a:cs typeface="Raleway" pitchFamily="34" charset="-120"/>
              </a:rPr>
              <a:t>Deployment is Essential</a:t>
            </a:r>
            <a:endParaRPr lang="en-US" sz="1667" dirty="0">
              <a:solidFill>
                <a:prstClr val="black"/>
              </a:solidFill>
              <a:latin typeface="Calibri" panose="020F0502020204030204"/>
            </a:endParaRPr>
          </a:p>
        </p:txBody>
      </p:sp>
      <p:sp>
        <p:nvSpPr>
          <p:cNvPr id="5" name="Text 3"/>
          <p:cNvSpPr/>
          <p:nvPr/>
        </p:nvSpPr>
        <p:spPr>
          <a:xfrm>
            <a:off x="837903" y="1891507"/>
            <a:ext cx="5005090" cy="517128"/>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Without deployment, your code never reaches users—master the process from local development to production</a:t>
            </a:r>
            <a:endParaRPr lang="en-US" sz="1333" dirty="0">
              <a:solidFill>
                <a:prstClr val="black"/>
              </a:solidFill>
              <a:latin typeface="Calibri" panose="020F0502020204030204"/>
            </a:endParaRPr>
          </a:p>
        </p:txBody>
      </p:sp>
      <p:sp>
        <p:nvSpPr>
          <p:cNvPr id="6" name="Shape 4"/>
          <p:cNvSpPr/>
          <p:nvPr/>
        </p:nvSpPr>
        <p:spPr>
          <a:xfrm>
            <a:off x="6172498" y="1357610"/>
            <a:ext cx="5358011" cy="1227435"/>
          </a:xfrm>
          <a:prstGeom prst="roundRect">
            <a:avLst>
              <a:gd name="adj" fmla="val 5821"/>
            </a:avLst>
          </a:prstGeom>
          <a:solidFill>
            <a:srgbClr val="E1E1EA"/>
          </a:solidFill>
          <a:ln w="7620">
            <a:solidFill>
              <a:srgbClr val="C7C7D0"/>
            </a:solidFill>
            <a:prstDash val="solid"/>
          </a:ln>
        </p:spPr>
      </p:sp>
      <p:sp>
        <p:nvSpPr>
          <p:cNvPr id="7" name="Text 5"/>
          <p:cNvSpPr/>
          <p:nvPr/>
        </p:nvSpPr>
        <p:spPr>
          <a:xfrm>
            <a:off x="6348909" y="1534021"/>
            <a:ext cx="2569964" cy="265708"/>
          </a:xfrm>
          <a:prstGeom prst="rect">
            <a:avLst/>
          </a:prstGeom>
          <a:noFill/>
          <a:ln/>
        </p:spPr>
        <p:txBody>
          <a:bodyPr wrap="none" lIns="0" tIns="0" rIns="0" bIns="0" rtlCol="0" anchor="t"/>
          <a:lstStyle/>
          <a:p>
            <a:pPr defTabSz="761970">
              <a:lnSpc>
                <a:spcPts val="2083"/>
              </a:lnSpc>
            </a:pPr>
            <a:r>
              <a:rPr lang="en-US" sz="1667" dirty="0">
                <a:solidFill>
                  <a:srgbClr val="3C3939"/>
                </a:solidFill>
                <a:latin typeface="Raleway" pitchFamily="34" charset="0"/>
                <a:ea typeface="Raleway" pitchFamily="34" charset="-122"/>
                <a:cs typeface="Raleway" pitchFamily="34" charset="-120"/>
              </a:rPr>
              <a:t>Choose the Right Strategy</a:t>
            </a:r>
            <a:endParaRPr lang="en-US" sz="1667" dirty="0">
              <a:solidFill>
                <a:prstClr val="black"/>
              </a:solidFill>
              <a:latin typeface="Calibri" panose="020F0502020204030204"/>
            </a:endParaRPr>
          </a:p>
        </p:txBody>
      </p:sp>
      <p:sp>
        <p:nvSpPr>
          <p:cNvPr id="8" name="Text 6"/>
          <p:cNvSpPr/>
          <p:nvPr/>
        </p:nvSpPr>
        <p:spPr>
          <a:xfrm>
            <a:off x="6348909" y="1891507"/>
            <a:ext cx="5005189" cy="517128"/>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Manual deployment works for stable systems; continuous deployment accelerates innovation for agile teams</a:t>
            </a:r>
            <a:endParaRPr lang="en-US" sz="1333" dirty="0">
              <a:solidFill>
                <a:prstClr val="black"/>
              </a:solidFill>
              <a:latin typeface="Calibri" panose="020F0502020204030204"/>
            </a:endParaRPr>
          </a:p>
        </p:txBody>
      </p:sp>
      <p:sp>
        <p:nvSpPr>
          <p:cNvPr id="9" name="Shape 7"/>
          <p:cNvSpPr/>
          <p:nvPr/>
        </p:nvSpPr>
        <p:spPr>
          <a:xfrm>
            <a:off x="661492" y="2738140"/>
            <a:ext cx="5357912" cy="1227435"/>
          </a:xfrm>
          <a:prstGeom prst="roundRect">
            <a:avLst>
              <a:gd name="adj" fmla="val 5821"/>
            </a:avLst>
          </a:prstGeom>
          <a:solidFill>
            <a:srgbClr val="E1E1EA"/>
          </a:solidFill>
          <a:ln w="7620">
            <a:solidFill>
              <a:srgbClr val="C7C7D0"/>
            </a:solidFill>
            <a:prstDash val="solid"/>
          </a:ln>
        </p:spPr>
      </p:sp>
      <p:sp>
        <p:nvSpPr>
          <p:cNvPr id="10" name="Text 8"/>
          <p:cNvSpPr/>
          <p:nvPr/>
        </p:nvSpPr>
        <p:spPr>
          <a:xfrm>
            <a:off x="837902" y="2914551"/>
            <a:ext cx="2126457" cy="265708"/>
          </a:xfrm>
          <a:prstGeom prst="rect">
            <a:avLst/>
          </a:prstGeom>
          <a:noFill/>
          <a:ln/>
        </p:spPr>
        <p:txBody>
          <a:bodyPr wrap="none" lIns="0" tIns="0" rIns="0" bIns="0" rtlCol="0" anchor="t"/>
          <a:lstStyle/>
          <a:p>
            <a:pPr defTabSz="761970">
              <a:lnSpc>
                <a:spcPts val="2083"/>
              </a:lnSpc>
            </a:pPr>
            <a:r>
              <a:rPr lang="en-US" sz="1667" dirty="0">
                <a:solidFill>
                  <a:srgbClr val="3C3939"/>
                </a:solidFill>
                <a:latin typeface="Raleway" pitchFamily="34" charset="0"/>
                <a:ea typeface="Raleway" pitchFamily="34" charset="-122"/>
                <a:cs typeface="Raleway" pitchFamily="34" charset="-120"/>
              </a:rPr>
              <a:t>Platform Matters</a:t>
            </a:r>
            <a:endParaRPr lang="en-US" sz="1667" dirty="0">
              <a:solidFill>
                <a:prstClr val="black"/>
              </a:solidFill>
              <a:latin typeface="Calibri" panose="020F0502020204030204"/>
            </a:endParaRPr>
          </a:p>
        </p:txBody>
      </p:sp>
      <p:sp>
        <p:nvSpPr>
          <p:cNvPr id="11" name="Text 9"/>
          <p:cNvSpPr/>
          <p:nvPr/>
        </p:nvSpPr>
        <p:spPr>
          <a:xfrm>
            <a:off x="837903" y="3272036"/>
            <a:ext cx="5005090" cy="517128"/>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Select hosting platforms based on your needs—static sites use Netlify/Vercel; complex apps need AWS/Azure</a:t>
            </a:r>
            <a:endParaRPr lang="en-US" sz="1333" dirty="0">
              <a:solidFill>
                <a:prstClr val="black"/>
              </a:solidFill>
              <a:latin typeface="Calibri" panose="020F0502020204030204"/>
            </a:endParaRPr>
          </a:p>
        </p:txBody>
      </p:sp>
      <p:sp>
        <p:nvSpPr>
          <p:cNvPr id="12" name="Shape 10"/>
          <p:cNvSpPr/>
          <p:nvPr/>
        </p:nvSpPr>
        <p:spPr>
          <a:xfrm>
            <a:off x="6172498" y="2738140"/>
            <a:ext cx="5358011" cy="1227435"/>
          </a:xfrm>
          <a:prstGeom prst="roundRect">
            <a:avLst>
              <a:gd name="adj" fmla="val 5821"/>
            </a:avLst>
          </a:prstGeom>
          <a:solidFill>
            <a:srgbClr val="E1E1EA"/>
          </a:solidFill>
          <a:ln w="7620">
            <a:solidFill>
              <a:srgbClr val="C7C7D0"/>
            </a:solidFill>
            <a:prstDash val="solid"/>
          </a:ln>
        </p:spPr>
      </p:sp>
      <p:sp>
        <p:nvSpPr>
          <p:cNvPr id="13" name="Text 11"/>
          <p:cNvSpPr/>
          <p:nvPr/>
        </p:nvSpPr>
        <p:spPr>
          <a:xfrm>
            <a:off x="6348908" y="2914551"/>
            <a:ext cx="2126457" cy="265708"/>
          </a:xfrm>
          <a:prstGeom prst="rect">
            <a:avLst/>
          </a:prstGeom>
          <a:noFill/>
          <a:ln/>
        </p:spPr>
        <p:txBody>
          <a:bodyPr wrap="none" lIns="0" tIns="0" rIns="0" bIns="0" rtlCol="0" anchor="t"/>
          <a:lstStyle/>
          <a:p>
            <a:pPr defTabSz="761970">
              <a:lnSpc>
                <a:spcPts val="2083"/>
              </a:lnSpc>
            </a:pPr>
            <a:r>
              <a:rPr lang="en-US" sz="1667" dirty="0">
                <a:solidFill>
                  <a:srgbClr val="3C3939"/>
                </a:solidFill>
                <a:latin typeface="Raleway" pitchFamily="34" charset="0"/>
                <a:ea typeface="Raleway" pitchFamily="34" charset="-122"/>
                <a:cs typeface="Raleway" pitchFamily="34" charset="-120"/>
              </a:rPr>
              <a:t>Automation is Key</a:t>
            </a:r>
            <a:endParaRPr lang="en-US" sz="1667" dirty="0">
              <a:solidFill>
                <a:prstClr val="black"/>
              </a:solidFill>
              <a:latin typeface="Calibri" panose="020F0502020204030204"/>
            </a:endParaRPr>
          </a:p>
        </p:txBody>
      </p:sp>
      <p:sp>
        <p:nvSpPr>
          <p:cNvPr id="14" name="Text 12"/>
          <p:cNvSpPr/>
          <p:nvPr/>
        </p:nvSpPr>
        <p:spPr>
          <a:xfrm>
            <a:off x="6348909" y="3272036"/>
            <a:ext cx="5005189" cy="517128"/>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CI/CD pipelines reduce errors, increase speed, and enable teams to focus on building features</a:t>
            </a:r>
            <a:endParaRPr lang="en-US" sz="1333" dirty="0">
              <a:solidFill>
                <a:prstClr val="black"/>
              </a:solidFill>
              <a:latin typeface="Calibri" panose="020F0502020204030204"/>
            </a:endParaRPr>
          </a:p>
        </p:txBody>
      </p:sp>
      <p:sp>
        <p:nvSpPr>
          <p:cNvPr id="15" name="Shape 13"/>
          <p:cNvSpPr/>
          <p:nvPr/>
        </p:nvSpPr>
        <p:spPr>
          <a:xfrm>
            <a:off x="661492" y="4222815"/>
            <a:ext cx="10869018" cy="27583"/>
          </a:xfrm>
          <a:prstGeom prst="rect">
            <a:avLst/>
          </a:prstGeom>
          <a:solidFill>
            <a:srgbClr val="3C3939">
              <a:alpha val="50000"/>
            </a:srgbClr>
          </a:solidFill>
          <a:ln/>
        </p:spPr>
      </p:sp>
      <p:sp>
        <p:nvSpPr>
          <p:cNvPr id="16" name="Text 14"/>
          <p:cNvSpPr/>
          <p:nvPr/>
        </p:nvSpPr>
        <p:spPr>
          <a:xfrm>
            <a:off x="661492" y="4422577"/>
            <a:ext cx="10869018" cy="1292820"/>
          </a:xfrm>
          <a:prstGeom prst="rect">
            <a:avLst/>
          </a:prstGeom>
          <a:noFill/>
          <a:ln/>
        </p:spPr>
        <p:txBody>
          <a:bodyPr wrap="square" lIns="0" tIns="0" rIns="0" bIns="0" rtlCol="0" anchor="t"/>
          <a:lstStyle/>
          <a:p>
            <a:pPr defTabSz="761970">
              <a:lnSpc>
                <a:spcPts val="2000"/>
              </a:lnSpc>
            </a:pPr>
            <a:r>
              <a:rPr lang="en-US" sz="1333" dirty="0">
                <a:solidFill>
                  <a:srgbClr val="3C3939"/>
                </a:solidFill>
                <a:latin typeface="Roboto" pitchFamily="34" charset="0"/>
                <a:ea typeface="Roboto" pitchFamily="34" charset="-122"/>
                <a:cs typeface="Roboto" pitchFamily="34" charset="-120"/>
              </a:rPr>
              <a:t>Mastering deployment and hosting transforms you from a developer who writes code to an engineer who delivers value. As you progress in your career, these skills become increasingly critical for building reliable, scalable applications that serve real users at scale. Industry trends are shifting rapidly toward infrastructure-as-code and serverless architectures, making it vital to stay adaptable in your toolset. To continue your growth, focus on mastering container orchestration and observability practices which are now baseline requirements for senior-level roles. Taking the time to build and maintain these automated systems today is the most effective way to future-proof your professional path.</a:t>
            </a:r>
            <a:endParaRPr lang="en-US" sz="1333" dirty="0">
              <a:solidFill>
                <a:prstClr val="black"/>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0000"/>
          </a:schemeClr>
        </a:solidFill>
        <a:effectLst/>
      </p:bgPr>
    </p:bg>
    <p:spTree>
      <p:nvGrpSpPr>
        <p:cNvPr id="1" name="">
          <a:extLst>
            <a:ext uri="{FF2B5EF4-FFF2-40B4-BE49-F238E27FC236}">
              <a16:creationId xmlns:a16="http://schemas.microsoft.com/office/drawing/2014/main" id="{55712B3B-EDC2-1AE7-E41A-4446DF35C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03914-E56A-9A08-1362-07B8A82B5876}"/>
              </a:ext>
            </a:extLst>
          </p:cNvPr>
          <p:cNvSpPr>
            <a:spLocks noGrp="1"/>
          </p:cNvSpPr>
          <p:nvPr>
            <p:ph type="ctrTitle"/>
          </p:nvPr>
        </p:nvSpPr>
        <p:spPr/>
        <p:txBody>
          <a:bodyPr/>
          <a:lstStyle/>
          <a:p>
            <a:r>
              <a:rPr lang="en-US" b="1" dirty="0"/>
              <a:t>Web API and Integration</a:t>
            </a:r>
          </a:p>
        </p:txBody>
      </p:sp>
      <p:sp>
        <p:nvSpPr>
          <p:cNvPr id="3" name="Subtitle 2">
            <a:extLst>
              <a:ext uri="{FF2B5EF4-FFF2-40B4-BE49-F238E27FC236}">
                <a16:creationId xmlns:a16="http://schemas.microsoft.com/office/drawing/2014/main" id="{4D8DABEF-0B24-8D8A-F7F0-22F89246F55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48240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56022"/>
            <a:ext cx="5606058" cy="351433"/>
          </a:xfrm>
          <a:prstGeom prst="rect">
            <a:avLst/>
          </a:prstGeom>
          <a:noFill/>
          <a:ln/>
        </p:spPr>
        <p:txBody>
          <a:bodyPr wrap="none" lIns="0" tIns="0" rIns="0" bIns="0" rtlCol="0" anchor="t"/>
          <a:lstStyle/>
          <a:p>
            <a:pPr>
              <a:lnSpc>
                <a:spcPts val="2750"/>
              </a:lnSpc>
            </a:pPr>
            <a:r>
              <a:rPr lang="en-US" sz="2208" dirty="0">
                <a:solidFill>
                  <a:srgbClr val="1B1B27"/>
                </a:solidFill>
                <a:latin typeface="Raleway" pitchFamily="34" charset="0"/>
                <a:ea typeface="Raleway" pitchFamily="34" charset="-122"/>
                <a:cs typeface="Raleway" pitchFamily="34" charset="-120"/>
              </a:rPr>
              <a:t>Introduction to APIs: The Digital Connectors</a:t>
            </a:r>
            <a:endParaRPr lang="en-US" sz="2208" dirty="0"/>
          </a:p>
        </p:txBody>
      </p:sp>
      <p:sp>
        <p:nvSpPr>
          <p:cNvPr id="3" name="Text 1"/>
          <p:cNvSpPr/>
          <p:nvPr/>
        </p:nvSpPr>
        <p:spPr>
          <a:xfrm>
            <a:off x="661492" y="1146374"/>
            <a:ext cx="10869018"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An Application Programming Interface (API) acts as a set of rules and definitions that enable different software applications to communicate and interact with each other. Think of it as a restaurant experience with a clear division of roles:</a:t>
            </a:r>
            <a:endParaRPr lang="en-US" sz="1083" dirty="0"/>
          </a:p>
        </p:txBody>
      </p:sp>
      <p:sp>
        <p:nvSpPr>
          <p:cNvPr id="4" name="Shape 2"/>
          <p:cNvSpPr/>
          <p:nvPr/>
        </p:nvSpPr>
        <p:spPr>
          <a:xfrm>
            <a:off x="661492" y="1696840"/>
            <a:ext cx="2627610" cy="1245989"/>
          </a:xfrm>
          <a:prstGeom prst="roundRect">
            <a:avLst>
              <a:gd name="adj" fmla="val 7339"/>
            </a:avLst>
          </a:prstGeom>
          <a:solidFill>
            <a:srgbClr val="FFFFFF">
              <a:alpha val="95000"/>
            </a:srgbClr>
          </a:solidFill>
          <a:ln w="22860">
            <a:solidFill>
              <a:srgbClr val="C7C7D0"/>
            </a:solidFill>
            <a:prstDash val="solid"/>
          </a:ln>
        </p:spPr>
      </p:sp>
      <p:sp>
        <p:nvSpPr>
          <p:cNvPr id="5" name="Shape 3"/>
          <p:cNvSpPr/>
          <p:nvPr/>
        </p:nvSpPr>
        <p:spPr>
          <a:xfrm>
            <a:off x="642442" y="1696840"/>
            <a:ext cx="76200" cy="1245989"/>
          </a:xfrm>
          <a:prstGeom prst="roundRect">
            <a:avLst>
              <a:gd name="adj" fmla="val 77488"/>
            </a:avLst>
          </a:prstGeom>
          <a:solidFill>
            <a:srgbClr val="1B1B27"/>
          </a:solidFill>
          <a:ln/>
        </p:spPr>
      </p:sp>
      <p:sp>
        <p:nvSpPr>
          <p:cNvPr id="6" name="Text 4"/>
          <p:cNvSpPr/>
          <p:nvPr/>
        </p:nvSpPr>
        <p:spPr>
          <a:xfrm>
            <a:off x="878185" y="1856383"/>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Menu (API)</a:t>
            </a:r>
            <a:endParaRPr lang="en-US" sz="1375" dirty="0"/>
          </a:p>
        </p:txBody>
      </p:sp>
      <p:sp>
        <p:nvSpPr>
          <p:cNvPr id="7" name="Text 5"/>
          <p:cNvSpPr/>
          <p:nvPr/>
        </p:nvSpPr>
        <p:spPr>
          <a:xfrm>
            <a:off x="878185" y="2147590"/>
            <a:ext cx="2251373" cy="624185"/>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Shows the available options: functions, data, and actions you can request.</a:t>
            </a:r>
            <a:endParaRPr lang="en-US" sz="1083" dirty="0"/>
          </a:p>
        </p:txBody>
      </p:sp>
      <p:sp>
        <p:nvSpPr>
          <p:cNvPr id="8" name="Shape 6"/>
          <p:cNvSpPr/>
          <p:nvPr/>
        </p:nvSpPr>
        <p:spPr>
          <a:xfrm>
            <a:off x="3408561" y="1696840"/>
            <a:ext cx="2627709" cy="1245989"/>
          </a:xfrm>
          <a:prstGeom prst="roundRect">
            <a:avLst>
              <a:gd name="adj" fmla="val 7339"/>
            </a:avLst>
          </a:prstGeom>
          <a:solidFill>
            <a:srgbClr val="FFFFFF">
              <a:alpha val="95000"/>
            </a:srgbClr>
          </a:solidFill>
          <a:ln w="22860">
            <a:solidFill>
              <a:srgbClr val="C7C7D0"/>
            </a:solidFill>
            <a:prstDash val="solid"/>
          </a:ln>
        </p:spPr>
      </p:sp>
      <p:sp>
        <p:nvSpPr>
          <p:cNvPr id="9" name="Shape 7"/>
          <p:cNvSpPr/>
          <p:nvPr/>
        </p:nvSpPr>
        <p:spPr>
          <a:xfrm>
            <a:off x="3389511" y="1696840"/>
            <a:ext cx="76200" cy="1245989"/>
          </a:xfrm>
          <a:prstGeom prst="roundRect">
            <a:avLst>
              <a:gd name="adj" fmla="val 77488"/>
            </a:avLst>
          </a:prstGeom>
          <a:solidFill>
            <a:srgbClr val="1B1B27"/>
          </a:solidFill>
          <a:ln/>
        </p:spPr>
      </p:sp>
      <p:sp>
        <p:nvSpPr>
          <p:cNvPr id="10" name="Text 8"/>
          <p:cNvSpPr/>
          <p:nvPr/>
        </p:nvSpPr>
        <p:spPr>
          <a:xfrm>
            <a:off x="3625255" y="1856383"/>
            <a:ext cx="2251472" cy="439143"/>
          </a:xfrm>
          <a:prstGeom prst="rect">
            <a:avLst/>
          </a:prstGeom>
          <a:noFill/>
          <a:ln/>
        </p:spPr>
        <p:txBody>
          <a:bodyPr wrap="squar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Customer (Client Application)</a:t>
            </a:r>
            <a:endParaRPr lang="en-US" sz="1375" dirty="0"/>
          </a:p>
        </p:txBody>
      </p:sp>
      <p:sp>
        <p:nvSpPr>
          <p:cNvPr id="11" name="Text 9"/>
          <p:cNvSpPr/>
          <p:nvPr/>
        </p:nvSpPr>
        <p:spPr>
          <a:xfrm>
            <a:off x="3625255" y="2367161"/>
            <a:ext cx="2251472"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Sends a request for something specific from the menu.</a:t>
            </a:r>
            <a:endParaRPr lang="en-US" sz="1083" dirty="0"/>
          </a:p>
        </p:txBody>
      </p:sp>
      <p:sp>
        <p:nvSpPr>
          <p:cNvPr id="12" name="Shape 10"/>
          <p:cNvSpPr/>
          <p:nvPr/>
        </p:nvSpPr>
        <p:spPr>
          <a:xfrm>
            <a:off x="6155730" y="1696840"/>
            <a:ext cx="2627610" cy="1245989"/>
          </a:xfrm>
          <a:prstGeom prst="roundRect">
            <a:avLst>
              <a:gd name="adj" fmla="val 7339"/>
            </a:avLst>
          </a:prstGeom>
          <a:solidFill>
            <a:srgbClr val="FFFFFF">
              <a:alpha val="95000"/>
            </a:srgbClr>
          </a:solidFill>
          <a:ln w="22860">
            <a:solidFill>
              <a:srgbClr val="C7C7D0"/>
            </a:solidFill>
            <a:prstDash val="solid"/>
          </a:ln>
        </p:spPr>
      </p:sp>
      <p:sp>
        <p:nvSpPr>
          <p:cNvPr id="13" name="Shape 11"/>
          <p:cNvSpPr/>
          <p:nvPr/>
        </p:nvSpPr>
        <p:spPr>
          <a:xfrm>
            <a:off x="6136680" y="1696840"/>
            <a:ext cx="76200" cy="1245989"/>
          </a:xfrm>
          <a:prstGeom prst="roundRect">
            <a:avLst>
              <a:gd name="adj" fmla="val 77488"/>
            </a:avLst>
          </a:prstGeom>
          <a:solidFill>
            <a:srgbClr val="1B1B27"/>
          </a:solidFill>
          <a:ln/>
        </p:spPr>
      </p:sp>
      <p:sp>
        <p:nvSpPr>
          <p:cNvPr id="14" name="Text 12"/>
          <p:cNvSpPr/>
          <p:nvPr/>
        </p:nvSpPr>
        <p:spPr>
          <a:xfrm>
            <a:off x="6372424" y="1856383"/>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Waiter (API Interface)</a:t>
            </a:r>
            <a:endParaRPr lang="en-US" sz="1375" dirty="0"/>
          </a:p>
        </p:txBody>
      </p:sp>
      <p:sp>
        <p:nvSpPr>
          <p:cNvPr id="15" name="Text 13"/>
          <p:cNvSpPr/>
          <p:nvPr/>
        </p:nvSpPr>
        <p:spPr>
          <a:xfrm>
            <a:off x="6372424" y="2147590"/>
            <a:ext cx="2251373"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Translates the request and carries it between the customer and kitchen.</a:t>
            </a:r>
            <a:endParaRPr lang="en-US" sz="1083" dirty="0"/>
          </a:p>
        </p:txBody>
      </p:sp>
      <p:sp>
        <p:nvSpPr>
          <p:cNvPr id="16" name="Shape 14"/>
          <p:cNvSpPr/>
          <p:nvPr/>
        </p:nvSpPr>
        <p:spPr>
          <a:xfrm>
            <a:off x="8902800" y="1696840"/>
            <a:ext cx="2627709" cy="1245989"/>
          </a:xfrm>
          <a:prstGeom prst="roundRect">
            <a:avLst>
              <a:gd name="adj" fmla="val 7339"/>
            </a:avLst>
          </a:prstGeom>
          <a:solidFill>
            <a:srgbClr val="FFFFFF">
              <a:alpha val="95000"/>
            </a:srgbClr>
          </a:solidFill>
          <a:ln w="22860">
            <a:solidFill>
              <a:srgbClr val="C7C7D0"/>
            </a:solidFill>
            <a:prstDash val="solid"/>
          </a:ln>
        </p:spPr>
      </p:sp>
      <p:sp>
        <p:nvSpPr>
          <p:cNvPr id="17" name="Shape 15"/>
          <p:cNvSpPr/>
          <p:nvPr/>
        </p:nvSpPr>
        <p:spPr>
          <a:xfrm>
            <a:off x="8883749" y="1696840"/>
            <a:ext cx="76200" cy="1245989"/>
          </a:xfrm>
          <a:prstGeom prst="roundRect">
            <a:avLst>
              <a:gd name="adj" fmla="val 77488"/>
            </a:avLst>
          </a:prstGeom>
          <a:solidFill>
            <a:srgbClr val="1B1B27"/>
          </a:solidFill>
          <a:ln/>
        </p:spPr>
      </p:sp>
      <p:sp>
        <p:nvSpPr>
          <p:cNvPr id="18" name="Text 16"/>
          <p:cNvSpPr/>
          <p:nvPr/>
        </p:nvSpPr>
        <p:spPr>
          <a:xfrm>
            <a:off x="9119494" y="1856383"/>
            <a:ext cx="210780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Kitchen (Backend Service)</a:t>
            </a:r>
            <a:endParaRPr lang="en-US" sz="1375" dirty="0"/>
          </a:p>
        </p:txBody>
      </p:sp>
      <p:sp>
        <p:nvSpPr>
          <p:cNvPr id="19" name="Text 17"/>
          <p:cNvSpPr/>
          <p:nvPr/>
        </p:nvSpPr>
        <p:spPr>
          <a:xfrm>
            <a:off x="9119493" y="2147590"/>
            <a:ext cx="2251472"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Processes the request, prepares the data, and sends the result back.</a:t>
            </a:r>
            <a:endParaRPr lang="en-US" sz="1083" dirty="0"/>
          </a:p>
        </p:txBody>
      </p:sp>
      <p:sp>
        <p:nvSpPr>
          <p:cNvPr id="20" name="Text 18"/>
          <p:cNvSpPr/>
          <p:nvPr/>
        </p:nvSpPr>
        <p:spPr>
          <a:xfrm>
            <a:off x="661492" y="3077170"/>
            <a:ext cx="10869018"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APIs abstract away the complexity of underlying systems, allowing developers to leverage existing functionality without needing to understand every internal detail. This modularity improves reuse, speeds up development, and makes software easier to maintain.</a:t>
            </a:r>
            <a:endParaRPr lang="en-US" sz="1083" dirty="0"/>
          </a:p>
        </p:txBody>
      </p:sp>
      <p:sp>
        <p:nvSpPr>
          <p:cNvPr id="21" name="Shape 19"/>
          <p:cNvSpPr/>
          <p:nvPr/>
        </p:nvSpPr>
        <p:spPr>
          <a:xfrm>
            <a:off x="661492" y="3697906"/>
            <a:ext cx="10869018" cy="23912"/>
          </a:xfrm>
          <a:prstGeom prst="rect">
            <a:avLst/>
          </a:prstGeom>
          <a:solidFill>
            <a:srgbClr val="3C3939">
              <a:alpha val="50000"/>
            </a:srgbClr>
          </a:solidFill>
          <a:ln/>
        </p:spPr>
      </p:sp>
      <p:sp>
        <p:nvSpPr>
          <p:cNvPr id="22" name="Text 20"/>
          <p:cNvSpPr/>
          <p:nvPr/>
        </p:nvSpPr>
        <p:spPr>
          <a:xfrm>
            <a:off x="661492" y="3900983"/>
            <a:ext cx="2340273" cy="263525"/>
          </a:xfrm>
          <a:prstGeom prst="rect">
            <a:avLst/>
          </a:prstGeom>
          <a:noFill/>
          <a:ln/>
        </p:spPr>
        <p:txBody>
          <a:bodyPr wrap="none" lIns="0" tIns="0" rIns="0" bIns="0" rtlCol="0" anchor="t"/>
          <a:lstStyle/>
          <a:p>
            <a:pPr>
              <a:lnSpc>
                <a:spcPts val="2042"/>
              </a:lnSpc>
            </a:pPr>
            <a:r>
              <a:rPr lang="en-US" sz="1625" dirty="0">
                <a:solidFill>
                  <a:srgbClr val="1B1B27"/>
                </a:solidFill>
                <a:latin typeface="Raleway" pitchFamily="34" charset="0"/>
                <a:ea typeface="Raleway" pitchFamily="34" charset="-122"/>
                <a:cs typeface="Raleway" pitchFamily="34" charset="-120"/>
              </a:rPr>
              <a:t>Types of APIs in General</a:t>
            </a:r>
            <a:endParaRPr lang="en-US" sz="1625" dirty="0"/>
          </a:p>
        </p:txBody>
      </p:sp>
      <p:sp>
        <p:nvSpPr>
          <p:cNvPr id="23" name="Shape 21"/>
          <p:cNvSpPr/>
          <p:nvPr/>
        </p:nvSpPr>
        <p:spPr>
          <a:xfrm>
            <a:off x="661492" y="4343698"/>
            <a:ext cx="2627610" cy="1958281"/>
          </a:xfrm>
          <a:prstGeom prst="roundRect">
            <a:avLst>
              <a:gd name="adj" fmla="val 3015"/>
            </a:avLst>
          </a:prstGeom>
          <a:solidFill>
            <a:srgbClr val="E1E1EA"/>
          </a:solidFill>
          <a:ln w="7620">
            <a:solidFill>
              <a:srgbClr val="C7C7D0"/>
            </a:solidFill>
            <a:prstDash val="solid"/>
          </a:ln>
        </p:spPr>
      </p:sp>
      <p:sp>
        <p:nvSpPr>
          <p:cNvPr id="24" name="Shape 22"/>
          <p:cNvSpPr/>
          <p:nvPr/>
        </p:nvSpPr>
        <p:spPr>
          <a:xfrm>
            <a:off x="808335" y="4490542"/>
            <a:ext cx="421680" cy="421680"/>
          </a:xfrm>
          <a:prstGeom prst="roundRect">
            <a:avLst>
              <a:gd name="adj" fmla="val 18068768"/>
            </a:avLst>
          </a:prstGeom>
          <a:solidFill>
            <a:srgbClr val="1B1B27"/>
          </a:solidFill>
          <a:ln/>
        </p:spPr>
      </p:sp>
      <p:pic>
        <p:nvPicPr>
          <p:cNvPr id="2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4322" y="4606429"/>
            <a:ext cx="189706" cy="189707"/>
          </a:xfrm>
          <a:prstGeom prst="rect">
            <a:avLst/>
          </a:prstGeom>
        </p:spPr>
      </p:pic>
      <p:sp>
        <p:nvSpPr>
          <p:cNvPr id="26" name="Text 23"/>
          <p:cNvSpPr/>
          <p:nvPr/>
        </p:nvSpPr>
        <p:spPr>
          <a:xfrm>
            <a:off x="808335" y="5031681"/>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Web APIs</a:t>
            </a:r>
            <a:endParaRPr lang="en-US" sz="1375" dirty="0"/>
          </a:p>
        </p:txBody>
      </p:sp>
      <p:sp>
        <p:nvSpPr>
          <p:cNvPr id="27" name="Text 24"/>
          <p:cNvSpPr/>
          <p:nvPr/>
        </p:nvSpPr>
        <p:spPr>
          <a:xfrm>
            <a:off x="808335" y="5322887"/>
            <a:ext cx="2333923"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HTTP-based APIs that are accessible over the internet. They are the most common type used for web and mobile applications.</a:t>
            </a:r>
            <a:endParaRPr lang="en-US" sz="1083" dirty="0"/>
          </a:p>
        </p:txBody>
      </p:sp>
      <p:sp>
        <p:nvSpPr>
          <p:cNvPr id="28" name="Shape 25"/>
          <p:cNvSpPr/>
          <p:nvPr/>
        </p:nvSpPr>
        <p:spPr>
          <a:xfrm>
            <a:off x="3408561" y="4343698"/>
            <a:ext cx="2627709" cy="1958281"/>
          </a:xfrm>
          <a:prstGeom prst="roundRect">
            <a:avLst>
              <a:gd name="adj" fmla="val 3015"/>
            </a:avLst>
          </a:prstGeom>
          <a:solidFill>
            <a:srgbClr val="E1E1EA"/>
          </a:solidFill>
          <a:ln w="7620">
            <a:solidFill>
              <a:srgbClr val="C7C7D0"/>
            </a:solidFill>
            <a:prstDash val="solid"/>
          </a:ln>
        </p:spPr>
      </p:sp>
      <p:sp>
        <p:nvSpPr>
          <p:cNvPr id="29" name="Shape 26"/>
          <p:cNvSpPr/>
          <p:nvPr/>
        </p:nvSpPr>
        <p:spPr>
          <a:xfrm>
            <a:off x="3555405" y="4490542"/>
            <a:ext cx="421680" cy="421680"/>
          </a:xfrm>
          <a:prstGeom prst="roundRect">
            <a:avLst>
              <a:gd name="adj" fmla="val 18068768"/>
            </a:avLst>
          </a:prstGeom>
          <a:solidFill>
            <a:srgbClr val="1B1B27"/>
          </a:solidFill>
          <a:ln/>
        </p:spPr>
      </p:sp>
      <p:pic>
        <p:nvPicPr>
          <p:cNvPr id="3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71392" y="4606429"/>
            <a:ext cx="189706" cy="189707"/>
          </a:xfrm>
          <a:prstGeom prst="rect">
            <a:avLst/>
          </a:prstGeom>
        </p:spPr>
      </p:pic>
      <p:sp>
        <p:nvSpPr>
          <p:cNvPr id="31" name="Text 27"/>
          <p:cNvSpPr/>
          <p:nvPr/>
        </p:nvSpPr>
        <p:spPr>
          <a:xfrm>
            <a:off x="3555405" y="5031681"/>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JavaScript APIs</a:t>
            </a:r>
            <a:endParaRPr lang="en-US" sz="1375" dirty="0"/>
          </a:p>
        </p:txBody>
      </p:sp>
      <p:sp>
        <p:nvSpPr>
          <p:cNvPr id="32" name="Text 28"/>
          <p:cNvSpPr/>
          <p:nvPr/>
        </p:nvSpPr>
        <p:spPr>
          <a:xfrm>
            <a:off x="3555405" y="5322887"/>
            <a:ext cx="2334022"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Browser APIs such as DOM, Fetch, and LocalStorage that let JavaScript interact with the page, network, and browser features.</a:t>
            </a:r>
            <a:endParaRPr lang="en-US" sz="1083" dirty="0"/>
          </a:p>
        </p:txBody>
      </p:sp>
      <p:sp>
        <p:nvSpPr>
          <p:cNvPr id="33" name="Shape 29"/>
          <p:cNvSpPr/>
          <p:nvPr/>
        </p:nvSpPr>
        <p:spPr>
          <a:xfrm>
            <a:off x="6155730" y="4343698"/>
            <a:ext cx="2627610" cy="1958281"/>
          </a:xfrm>
          <a:prstGeom prst="roundRect">
            <a:avLst>
              <a:gd name="adj" fmla="val 3015"/>
            </a:avLst>
          </a:prstGeom>
          <a:solidFill>
            <a:srgbClr val="E1E1EA"/>
          </a:solidFill>
          <a:ln w="7620">
            <a:solidFill>
              <a:srgbClr val="C7C7D0"/>
            </a:solidFill>
            <a:prstDash val="solid"/>
          </a:ln>
        </p:spPr>
      </p:sp>
      <p:sp>
        <p:nvSpPr>
          <p:cNvPr id="34" name="Shape 30"/>
          <p:cNvSpPr/>
          <p:nvPr/>
        </p:nvSpPr>
        <p:spPr>
          <a:xfrm>
            <a:off x="6302573" y="4490542"/>
            <a:ext cx="421680" cy="421680"/>
          </a:xfrm>
          <a:prstGeom prst="roundRect">
            <a:avLst>
              <a:gd name="adj" fmla="val 18068768"/>
            </a:avLst>
          </a:prstGeom>
          <a:solidFill>
            <a:srgbClr val="1B1B27"/>
          </a:solidFill>
          <a:ln/>
        </p:spPr>
      </p:sp>
      <p:pic>
        <p:nvPicPr>
          <p:cNvPr id="3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18560" y="4606429"/>
            <a:ext cx="189706" cy="189707"/>
          </a:xfrm>
          <a:prstGeom prst="rect">
            <a:avLst/>
          </a:prstGeom>
        </p:spPr>
      </p:pic>
      <p:sp>
        <p:nvSpPr>
          <p:cNvPr id="36" name="Text 31"/>
          <p:cNvSpPr/>
          <p:nvPr/>
        </p:nvSpPr>
        <p:spPr>
          <a:xfrm>
            <a:off x="6302573" y="5031681"/>
            <a:ext cx="2063155"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Library / Framework APIs</a:t>
            </a:r>
            <a:endParaRPr lang="en-US" sz="1375" dirty="0"/>
          </a:p>
        </p:txBody>
      </p:sp>
      <p:sp>
        <p:nvSpPr>
          <p:cNvPr id="37" name="Text 32"/>
          <p:cNvSpPr/>
          <p:nvPr/>
        </p:nvSpPr>
        <p:spPr>
          <a:xfrm>
            <a:off x="6302574" y="5322887"/>
            <a:ext cx="2333923"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Internal APIs provided by libraries or frameworks that help developers use built-in functionality through documented methods and classes.</a:t>
            </a:r>
            <a:endParaRPr lang="en-US" sz="1083" dirty="0"/>
          </a:p>
        </p:txBody>
      </p:sp>
      <p:sp>
        <p:nvSpPr>
          <p:cNvPr id="38" name="Shape 33"/>
          <p:cNvSpPr/>
          <p:nvPr/>
        </p:nvSpPr>
        <p:spPr>
          <a:xfrm>
            <a:off x="8902800" y="4343698"/>
            <a:ext cx="2627709" cy="1958281"/>
          </a:xfrm>
          <a:prstGeom prst="roundRect">
            <a:avLst>
              <a:gd name="adj" fmla="val 3015"/>
            </a:avLst>
          </a:prstGeom>
          <a:solidFill>
            <a:srgbClr val="E1E1EA"/>
          </a:solidFill>
          <a:ln w="7620">
            <a:solidFill>
              <a:srgbClr val="C7C7D0"/>
            </a:solidFill>
            <a:prstDash val="solid"/>
          </a:ln>
        </p:spPr>
      </p:sp>
      <p:sp>
        <p:nvSpPr>
          <p:cNvPr id="39" name="Shape 34"/>
          <p:cNvSpPr/>
          <p:nvPr/>
        </p:nvSpPr>
        <p:spPr>
          <a:xfrm>
            <a:off x="9049643" y="4490542"/>
            <a:ext cx="421680" cy="421680"/>
          </a:xfrm>
          <a:prstGeom prst="roundRect">
            <a:avLst>
              <a:gd name="adj" fmla="val 18068768"/>
            </a:avLst>
          </a:prstGeom>
          <a:solidFill>
            <a:srgbClr val="1B1B27"/>
          </a:solidFill>
          <a:ln/>
        </p:spPr>
      </p:sp>
      <p:pic>
        <p:nvPicPr>
          <p:cNvPr id="4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65630" y="4606429"/>
            <a:ext cx="189706" cy="189707"/>
          </a:xfrm>
          <a:prstGeom prst="rect">
            <a:avLst/>
          </a:prstGeom>
        </p:spPr>
      </p:pic>
      <p:sp>
        <p:nvSpPr>
          <p:cNvPr id="41" name="Text 35"/>
          <p:cNvSpPr/>
          <p:nvPr/>
        </p:nvSpPr>
        <p:spPr>
          <a:xfrm>
            <a:off x="9049644" y="5031681"/>
            <a:ext cx="1849636"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Operating System APIs</a:t>
            </a:r>
            <a:endParaRPr lang="en-US" sz="1375" dirty="0"/>
          </a:p>
        </p:txBody>
      </p:sp>
      <p:sp>
        <p:nvSpPr>
          <p:cNvPr id="42" name="Text 36"/>
          <p:cNvSpPr/>
          <p:nvPr/>
        </p:nvSpPr>
        <p:spPr>
          <a:xfrm>
            <a:off x="9049643" y="5322887"/>
            <a:ext cx="2334022"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System-level interfaces used to interact with the operating system, hardware, files, processes, and device resources.</a:t>
            </a:r>
            <a:endParaRPr lang="en-US" sz="1083"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727373"/>
            <a:ext cx="1612603" cy="201513"/>
          </a:xfrm>
          <a:prstGeom prst="rect">
            <a:avLst/>
          </a:prstGeom>
          <a:noFill/>
          <a:ln/>
        </p:spPr>
        <p:txBody>
          <a:bodyPr wrap="none" lIns="0" tIns="0" rIns="0" bIns="0" rtlCol="0" anchor="t"/>
          <a:lstStyle/>
          <a:p>
            <a:pPr>
              <a:lnSpc>
                <a:spcPts val="1583"/>
              </a:lnSpc>
            </a:pPr>
            <a:r>
              <a:rPr lang="en-US" sz="1250" dirty="0">
                <a:solidFill>
                  <a:srgbClr val="1B1B27"/>
                </a:solidFill>
                <a:latin typeface="Raleway" pitchFamily="34" charset="0"/>
                <a:ea typeface="Raleway" pitchFamily="34" charset="-122"/>
                <a:cs typeface="Raleway" pitchFamily="34" charset="-120"/>
              </a:rPr>
              <a:t>API Endpoints</a:t>
            </a:r>
            <a:endParaRPr lang="en-US" sz="1250" dirty="0"/>
          </a:p>
        </p:txBody>
      </p:sp>
      <p:sp>
        <p:nvSpPr>
          <p:cNvPr id="3" name="Text 1"/>
          <p:cNvSpPr/>
          <p:nvPr/>
        </p:nvSpPr>
        <p:spPr>
          <a:xfrm>
            <a:off x="661492" y="1096467"/>
            <a:ext cx="5859958" cy="283766"/>
          </a:xfrm>
          <a:prstGeom prst="rect">
            <a:avLst/>
          </a:prstGeom>
          <a:noFill/>
          <a:ln/>
        </p:spPr>
        <p:txBody>
          <a:bodyPr wrap="square" lIns="0" tIns="0" rIns="0" bIns="0" rtlCol="0" anchor="t"/>
          <a:lstStyle/>
          <a:p>
            <a:pPr>
              <a:lnSpc>
                <a:spcPts val="1083"/>
              </a:lnSpc>
            </a:pPr>
            <a:r>
              <a:rPr lang="en-US" sz="833" dirty="0">
                <a:solidFill>
                  <a:srgbClr val="3C3939"/>
                </a:solidFill>
                <a:latin typeface="Roboto" pitchFamily="34" charset="0"/>
                <a:ea typeface="Roboto" pitchFamily="34" charset="-122"/>
                <a:cs typeface="Roboto" pitchFamily="34" charset="-120"/>
              </a:rPr>
              <a:t>An endpoint is a specific URL path where a client can access a resource or perform an action through an API. In a REST-style API, each endpoint usually represents one resource, such as users, posts, or orders.</a:t>
            </a:r>
            <a:endParaRPr lang="en-US" sz="833" dirty="0"/>
          </a:p>
        </p:txBody>
      </p:sp>
      <p:sp>
        <p:nvSpPr>
          <p:cNvPr id="4" name="Text 2"/>
          <p:cNvSpPr/>
          <p:nvPr/>
        </p:nvSpPr>
        <p:spPr>
          <a:xfrm>
            <a:off x="661492" y="1443038"/>
            <a:ext cx="5859958" cy="474464"/>
          </a:xfrm>
          <a:prstGeom prst="rect">
            <a:avLst/>
          </a:prstGeom>
          <a:noFill/>
          <a:ln/>
        </p:spPr>
        <p:txBody>
          <a:bodyPr wrap="square" lIns="0" tIns="0" rIns="0" bIns="0" rtlCol="0" anchor="t"/>
          <a:lstStyle/>
          <a:p>
            <a:pPr marL="285739" indent="-285739">
              <a:lnSpc>
                <a:spcPts val="1083"/>
              </a:lnSpc>
              <a:buSzPct val="100000"/>
              <a:buChar char="•"/>
            </a:pPr>
            <a:r>
              <a:rPr lang="en-US" sz="833" b="1" dirty="0">
                <a:solidFill>
                  <a:srgbClr val="3C3939"/>
                </a:solidFill>
                <a:latin typeface="Roboto" pitchFamily="34" charset="0"/>
                <a:ea typeface="Roboto" pitchFamily="34" charset="-122"/>
                <a:cs typeface="Roboto" pitchFamily="34" charset="-120"/>
              </a:rPr>
              <a:t>Example:</a:t>
            </a:r>
            <a:r>
              <a:rPr lang="en-US" sz="833" dirty="0">
                <a:solidFill>
                  <a:srgbClr val="3C3939"/>
                </a:solidFill>
                <a:latin typeface="Roboto" pitchFamily="34" charset="0"/>
                <a:ea typeface="Roboto" pitchFamily="34" charset="-122"/>
                <a:cs typeface="Roboto" pitchFamily="34" charset="-120"/>
              </a:rPr>
              <a:t> </a:t>
            </a:r>
            <a:r>
              <a:rPr lang="en-US" sz="833" dirty="0">
                <a:solidFill>
                  <a:srgbClr val="3C3939"/>
                </a:solidFill>
                <a:highlight>
                  <a:srgbClr val="F2F2F2"/>
                </a:highlight>
                <a:latin typeface="Consolas" pitchFamily="34" charset="0"/>
                <a:ea typeface="Consolas" pitchFamily="34" charset="-122"/>
                <a:cs typeface="Consolas" pitchFamily="34" charset="-120"/>
              </a:rPr>
              <a:t>GET https://api.example.com/users/123</a:t>
            </a:r>
            <a:endParaRPr lang="en-US" sz="833" dirty="0"/>
          </a:p>
          <a:p>
            <a:pPr marL="285739" indent="-285739">
              <a:lnSpc>
                <a:spcPts val="1083"/>
              </a:lnSpc>
              <a:buSzPct val="100000"/>
              <a:buChar char="•"/>
            </a:pPr>
            <a:r>
              <a:rPr lang="en-US" sz="833" b="1" dirty="0">
                <a:solidFill>
                  <a:srgbClr val="3C3939"/>
                </a:solidFill>
                <a:latin typeface="Roboto" pitchFamily="34" charset="0"/>
                <a:ea typeface="Roboto" pitchFamily="34" charset="-122"/>
                <a:cs typeface="Roboto" pitchFamily="34" charset="-120"/>
              </a:rPr>
              <a:t>Resource:</a:t>
            </a:r>
            <a:r>
              <a:rPr lang="en-US" sz="833" dirty="0">
                <a:solidFill>
                  <a:srgbClr val="3C3939"/>
                </a:solidFill>
                <a:latin typeface="Roboto" pitchFamily="34" charset="0"/>
                <a:ea typeface="Roboto" pitchFamily="34" charset="-122"/>
                <a:cs typeface="Roboto" pitchFamily="34" charset="-120"/>
              </a:rPr>
              <a:t> </a:t>
            </a:r>
            <a:r>
              <a:rPr lang="en-US" sz="833" dirty="0">
                <a:solidFill>
                  <a:srgbClr val="3C3939"/>
                </a:solidFill>
                <a:highlight>
                  <a:srgbClr val="F2F2F2"/>
                </a:highlight>
                <a:latin typeface="Consolas" pitchFamily="34" charset="0"/>
                <a:ea typeface="Consolas" pitchFamily="34" charset="-122"/>
                <a:cs typeface="Consolas" pitchFamily="34" charset="-120"/>
              </a:rPr>
              <a:t>users/123</a:t>
            </a:r>
            <a:r>
              <a:rPr lang="en-US" sz="833" dirty="0">
                <a:solidFill>
                  <a:srgbClr val="3C3939"/>
                </a:solidFill>
                <a:latin typeface="Roboto" pitchFamily="34" charset="0"/>
                <a:ea typeface="Roboto" pitchFamily="34" charset="-122"/>
                <a:cs typeface="Roboto" pitchFamily="34" charset="-120"/>
              </a:rPr>
              <a:t> identifies a specific user</a:t>
            </a:r>
            <a:endParaRPr lang="en-US" sz="833" dirty="0"/>
          </a:p>
          <a:p>
            <a:pPr marL="285739" indent="-285739">
              <a:lnSpc>
                <a:spcPts val="1083"/>
              </a:lnSpc>
              <a:buSzPct val="100000"/>
              <a:buChar char="•"/>
            </a:pPr>
            <a:r>
              <a:rPr lang="en-US" sz="833" b="1" dirty="0">
                <a:solidFill>
                  <a:srgbClr val="3C3939"/>
                </a:solidFill>
                <a:latin typeface="Roboto" pitchFamily="34" charset="0"/>
                <a:ea typeface="Roboto" pitchFamily="34" charset="-122"/>
                <a:cs typeface="Roboto" pitchFamily="34" charset="-120"/>
              </a:rPr>
              <a:t>Action:</a:t>
            </a:r>
            <a:r>
              <a:rPr lang="en-US" sz="833" dirty="0">
                <a:solidFill>
                  <a:srgbClr val="3C3939"/>
                </a:solidFill>
                <a:latin typeface="Roboto" pitchFamily="34" charset="0"/>
                <a:ea typeface="Roboto" pitchFamily="34" charset="-122"/>
                <a:cs typeface="Roboto" pitchFamily="34" charset="-120"/>
              </a:rPr>
              <a:t> </a:t>
            </a:r>
            <a:r>
              <a:rPr lang="en-US" sz="833" dirty="0">
                <a:solidFill>
                  <a:srgbClr val="3C3939"/>
                </a:solidFill>
                <a:highlight>
                  <a:srgbClr val="F2F2F2"/>
                </a:highlight>
                <a:latin typeface="Consolas" pitchFamily="34" charset="0"/>
                <a:ea typeface="Consolas" pitchFamily="34" charset="-122"/>
                <a:cs typeface="Consolas" pitchFamily="34" charset="-120"/>
              </a:rPr>
              <a:t>GET</a:t>
            </a:r>
            <a:r>
              <a:rPr lang="en-US" sz="833" dirty="0">
                <a:solidFill>
                  <a:srgbClr val="3C3939"/>
                </a:solidFill>
                <a:latin typeface="Roboto" pitchFamily="34" charset="0"/>
                <a:ea typeface="Roboto" pitchFamily="34" charset="-122"/>
                <a:cs typeface="Roboto" pitchFamily="34" charset="-120"/>
              </a:rPr>
              <a:t> requests data from that resource</a:t>
            </a:r>
            <a:endParaRPr lang="en-US" sz="833" dirty="0"/>
          </a:p>
        </p:txBody>
      </p:sp>
      <p:sp>
        <p:nvSpPr>
          <p:cNvPr id="5" name="Text 3"/>
          <p:cNvSpPr/>
          <p:nvPr/>
        </p:nvSpPr>
        <p:spPr>
          <a:xfrm>
            <a:off x="661492" y="1980307"/>
            <a:ext cx="5859958" cy="141883"/>
          </a:xfrm>
          <a:prstGeom prst="rect">
            <a:avLst/>
          </a:prstGeom>
          <a:noFill/>
          <a:ln/>
        </p:spPr>
        <p:txBody>
          <a:bodyPr wrap="none" lIns="0" tIns="0" rIns="0" bIns="0" rtlCol="0" anchor="t"/>
          <a:lstStyle/>
          <a:p>
            <a:pPr>
              <a:lnSpc>
                <a:spcPts val="1083"/>
              </a:lnSpc>
            </a:pPr>
            <a:r>
              <a:rPr lang="en-US" sz="833" dirty="0">
                <a:solidFill>
                  <a:srgbClr val="3C3939"/>
                </a:solidFill>
                <a:latin typeface="Roboto" pitchFamily="34" charset="0"/>
                <a:ea typeface="Roboto" pitchFamily="34" charset="-122"/>
                <a:cs typeface="Roboto" pitchFamily="34" charset="-120"/>
              </a:rPr>
              <a:t>Endpoints map </a:t>
            </a:r>
            <a:r>
              <a:rPr lang="en-US" sz="833" b="1" dirty="0">
                <a:solidFill>
                  <a:srgbClr val="3C3939"/>
                </a:solidFill>
                <a:latin typeface="Roboto" pitchFamily="34" charset="0"/>
                <a:ea typeface="Roboto" pitchFamily="34" charset="-122"/>
                <a:cs typeface="Roboto" pitchFamily="34" charset="-120"/>
              </a:rPr>
              <a:t>URLs</a:t>
            </a:r>
            <a:r>
              <a:rPr lang="en-US" sz="833" dirty="0">
                <a:solidFill>
                  <a:srgbClr val="3C3939"/>
                </a:solidFill>
                <a:latin typeface="Roboto" pitchFamily="34" charset="0"/>
                <a:ea typeface="Roboto" pitchFamily="34" charset="-122"/>
                <a:cs typeface="Roboto" pitchFamily="34" charset="-120"/>
              </a:rPr>
              <a:t> to </a:t>
            </a:r>
            <a:r>
              <a:rPr lang="en-US" sz="833" b="1" dirty="0">
                <a:solidFill>
                  <a:srgbClr val="3C3939"/>
                </a:solidFill>
                <a:latin typeface="Roboto" pitchFamily="34" charset="0"/>
                <a:ea typeface="Roboto" pitchFamily="34" charset="-122"/>
                <a:cs typeface="Roboto" pitchFamily="34" charset="-120"/>
              </a:rPr>
              <a:t>resources</a:t>
            </a:r>
            <a:r>
              <a:rPr lang="en-US" sz="833" dirty="0">
                <a:solidFill>
                  <a:srgbClr val="3C3939"/>
                </a:solidFill>
                <a:latin typeface="Roboto" pitchFamily="34" charset="0"/>
                <a:ea typeface="Roboto" pitchFamily="34" charset="-122"/>
                <a:cs typeface="Roboto" pitchFamily="34" charset="-120"/>
              </a:rPr>
              <a:t> and </a:t>
            </a:r>
            <a:r>
              <a:rPr lang="en-US" sz="833" b="1" dirty="0">
                <a:solidFill>
                  <a:srgbClr val="3C3939"/>
                </a:solidFill>
                <a:latin typeface="Roboto" pitchFamily="34" charset="0"/>
                <a:ea typeface="Roboto" pitchFamily="34" charset="-122"/>
                <a:cs typeface="Roboto" pitchFamily="34" charset="-120"/>
              </a:rPr>
              <a:t>HTTP methods</a:t>
            </a:r>
            <a:r>
              <a:rPr lang="en-US" sz="833" dirty="0">
                <a:solidFill>
                  <a:srgbClr val="3C3939"/>
                </a:solidFill>
                <a:latin typeface="Roboto" pitchFamily="34" charset="0"/>
                <a:ea typeface="Roboto" pitchFamily="34" charset="-122"/>
                <a:cs typeface="Roboto" pitchFamily="34" charset="-120"/>
              </a:rPr>
              <a:t> to </a:t>
            </a:r>
            <a:r>
              <a:rPr lang="en-US" sz="833" b="1" dirty="0">
                <a:solidFill>
                  <a:srgbClr val="3C3939"/>
                </a:solidFill>
                <a:latin typeface="Roboto" pitchFamily="34" charset="0"/>
                <a:ea typeface="Roboto" pitchFamily="34" charset="-122"/>
                <a:cs typeface="Roboto" pitchFamily="34" charset="-120"/>
              </a:rPr>
              <a:t>actions</a:t>
            </a:r>
            <a:r>
              <a:rPr lang="en-US" sz="833" dirty="0">
                <a:solidFill>
                  <a:srgbClr val="3C3939"/>
                </a:solidFill>
                <a:latin typeface="Roboto" pitchFamily="34" charset="0"/>
                <a:ea typeface="Roboto" pitchFamily="34" charset="-122"/>
                <a:cs typeface="Roboto" pitchFamily="34" charset="-120"/>
              </a:rPr>
              <a:t> such as retrieving, creating, updating, or deleting data.</a:t>
            </a:r>
            <a:endParaRPr lang="en-US" sz="833" dirty="0"/>
          </a:p>
        </p:txBody>
      </p:sp>
      <p:sp>
        <p:nvSpPr>
          <p:cNvPr id="6" name="Shape 4"/>
          <p:cNvSpPr/>
          <p:nvPr/>
        </p:nvSpPr>
        <p:spPr>
          <a:xfrm>
            <a:off x="6789936" y="1112243"/>
            <a:ext cx="4746823" cy="559693"/>
          </a:xfrm>
          <a:prstGeom prst="roundRect">
            <a:avLst>
              <a:gd name="adj" fmla="val 8067"/>
            </a:avLst>
          </a:prstGeom>
          <a:solidFill>
            <a:srgbClr val="D2D2E0"/>
          </a:solidFill>
          <a:ln/>
        </p:spPr>
      </p:sp>
      <p:pic>
        <p:nvPicPr>
          <p:cNvPr id="7" name="Image 0" descr="preencoded.png"/>
          <p:cNvPicPr>
            <a:picLocks noChangeAspect="1"/>
          </p:cNvPicPr>
          <p:nvPr/>
        </p:nvPicPr>
        <p:blipFill>
          <a:blip r:embed="rId3"/>
          <a:stretch>
            <a:fillRect/>
          </a:stretch>
        </p:blipFill>
        <p:spPr>
          <a:xfrm>
            <a:off x="6897390" y="1260376"/>
            <a:ext cx="134343" cy="107454"/>
          </a:xfrm>
          <a:prstGeom prst="rect">
            <a:avLst/>
          </a:prstGeom>
        </p:spPr>
      </p:pic>
      <p:sp>
        <p:nvSpPr>
          <p:cNvPr id="8" name="Text 5"/>
          <p:cNvSpPr/>
          <p:nvPr/>
        </p:nvSpPr>
        <p:spPr>
          <a:xfrm>
            <a:off x="7139186" y="1208881"/>
            <a:ext cx="4290119" cy="141883"/>
          </a:xfrm>
          <a:prstGeom prst="rect">
            <a:avLst/>
          </a:prstGeom>
          <a:noFill/>
          <a:ln/>
        </p:spPr>
        <p:txBody>
          <a:bodyPr wrap="none" lIns="0" tIns="0" rIns="0" bIns="0" rtlCol="0" anchor="t"/>
          <a:lstStyle/>
          <a:p>
            <a:pPr>
              <a:lnSpc>
                <a:spcPts val="1083"/>
              </a:lnSpc>
            </a:pPr>
            <a:r>
              <a:rPr lang="en-US" sz="833" b="1" dirty="0">
                <a:solidFill>
                  <a:srgbClr val="000000"/>
                </a:solidFill>
                <a:latin typeface="Roboto" pitchFamily="34" charset="0"/>
                <a:ea typeface="Roboto" pitchFamily="34" charset="-122"/>
                <a:cs typeface="Roboto" pitchFamily="34" charset="-120"/>
              </a:rPr>
              <a:t>Real example:</a:t>
            </a:r>
            <a:r>
              <a:rPr lang="en-US" sz="833" dirty="0">
                <a:solidFill>
                  <a:srgbClr val="000000"/>
                </a:solidFill>
                <a:latin typeface="Roboto" pitchFamily="34" charset="0"/>
                <a:ea typeface="Roboto" pitchFamily="34" charset="-122"/>
                <a:cs typeface="Roboto" pitchFamily="34" charset="-120"/>
              </a:rPr>
              <a:t> </a:t>
            </a:r>
            <a:r>
              <a:rPr lang="en-US" sz="833" dirty="0">
                <a:solidFill>
                  <a:srgbClr val="000000"/>
                </a:solidFill>
                <a:highlight>
                  <a:srgbClr val="F2F2F2"/>
                </a:highlight>
                <a:latin typeface="Consolas" pitchFamily="34" charset="0"/>
                <a:ea typeface="Consolas" pitchFamily="34" charset="-122"/>
                <a:cs typeface="Consolas" pitchFamily="34" charset="-120"/>
              </a:rPr>
              <a:t>https://jsonplaceholder.typicode.com/posts/1</a:t>
            </a:r>
            <a:endParaRPr lang="en-US" sz="833" dirty="0"/>
          </a:p>
        </p:txBody>
      </p:sp>
      <p:sp>
        <p:nvSpPr>
          <p:cNvPr id="9" name="Text 6"/>
          <p:cNvSpPr/>
          <p:nvPr/>
        </p:nvSpPr>
        <p:spPr>
          <a:xfrm>
            <a:off x="7139186" y="1413569"/>
            <a:ext cx="4290119" cy="141883"/>
          </a:xfrm>
          <a:prstGeom prst="rect">
            <a:avLst/>
          </a:prstGeom>
          <a:noFill/>
          <a:ln/>
        </p:spPr>
        <p:txBody>
          <a:bodyPr wrap="none" lIns="0" tIns="0" rIns="0" bIns="0" rtlCol="0" anchor="t"/>
          <a:lstStyle/>
          <a:p>
            <a:pPr>
              <a:lnSpc>
                <a:spcPts val="1083"/>
              </a:lnSpc>
            </a:pPr>
            <a:r>
              <a:rPr lang="en-US" sz="833" dirty="0">
                <a:solidFill>
                  <a:srgbClr val="000000"/>
                </a:solidFill>
                <a:latin typeface="Roboto" pitchFamily="34" charset="0"/>
                <a:ea typeface="Roboto" pitchFamily="34" charset="-122"/>
                <a:cs typeface="Roboto" pitchFamily="34" charset="-120"/>
              </a:rPr>
              <a:t>This endpoint returns a sample post resource and is often used for testing and learning.</a:t>
            </a:r>
            <a:endParaRPr lang="en-US" sz="833" dirty="0"/>
          </a:p>
        </p:txBody>
      </p:sp>
      <p:sp>
        <p:nvSpPr>
          <p:cNvPr id="10" name="Shape 7"/>
          <p:cNvSpPr/>
          <p:nvPr/>
        </p:nvSpPr>
        <p:spPr>
          <a:xfrm>
            <a:off x="661492" y="2317243"/>
            <a:ext cx="10869018" cy="19744"/>
          </a:xfrm>
          <a:prstGeom prst="rect">
            <a:avLst/>
          </a:prstGeom>
          <a:solidFill>
            <a:srgbClr val="3C3939">
              <a:alpha val="50000"/>
            </a:srgbClr>
          </a:solidFill>
          <a:ln/>
        </p:spPr>
      </p:sp>
      <p:sp>
        <p:nvSpPr>
          <p:cNvPr id="11" name="Text 8"/>
          <p:cNvSpPr/>
          <p:nvPr/>
        </p:nvSpPr>
        <p:spPr>
          <a:xfrm>
            <a:off x="661492" y="2441674"/>
            <a:ext cx="1612603" cy="201513"/>
          </a:xfrm>
          <a:prstGeom prst="rect">
            <a:avLst/>
          </a:prstGeom>
          <a:noFill/>
          <a:ln/>
        </p:spPr>
        <p:txBody>
          <a:bodyPr wrap="none" lIns="0" tIns="0" rIns="0" bIns="0" rtlCol="0" anchor="t"/>
          <a:lstStyle/>
          <a:p>
            <a:pPr>
              <a:lnSpc>
                <a:spcPts val="1583"/>
              </a:lnSpc>
            </a:pPr>
            <a:r>
              <a:rPr lang="en-US" sz="1250" dirty="0">
                <a:solidFill>
                  <a:srgbClr val="1B1B27"/>
                </a:solidFill>
                <a:latin typeface="Raleway" pitchFamily="34" charset="0"/>
                <a:ea typeface="Raleway" pitchFamily="34" charset="-122"/>
                <a:cs typeface="Raleway" pitchFamily="34" charset="-120"/>
              </a:rPr>
              <a:t>API Gateways</a:t>
            </a:r>
            <a:endParaRPr lang="en-US" sz="1250" dirty="0"/>
          </a:p>
        </p:txBody>
      </p:sp>
      <p:sp>
        <p:nvSpPr>
          <p:cNvPr id="12" name="Shape 9"/>
          <p:cNvSpPr/>
          <p:nvPr/>
        </p:nvSpPr>
        <p:spPr>
          <a:xfrm>
            <a:off x="661492" y="2747963"/>
            <a:ext cx="3576439" cy="924520"/>
          </a:xfrm>
          <a:prstGeom prst="roundRect">
            <a:avLst>
              <a:gd name="adj" fmla="val 4884"/>
            </a:avLst>
          </a:prstGeom>
          <a:solidFill>
            <a:srgbClr val="FFFFFF">
              <a:alpha val="95000"/>
            </a:srgbClr>
          </a:solidFill>
          <a:ln w="15240">
            <a:solidFill>
              <a:srgbClr val="C7C7D0"/>
            </a:solidFill>
            <a:prstDash val="solid"/>
          </a:ln>
        </p:spPr>
      </p:sp>
      <p:sp>
        <p:nvSpPr>
          <p:cNvPr id="13" name="Text 10"/>
          <p:cNvSpPr/>
          <p:nvPr/>
        </p:nvSpPr>
        <p:spPr>
          <a:xfrm>
            <a:off x="781646" y="2868117"/>
            <a:ext cx="1343819" cy="167878"/>
          </a:xfrm>
          <a:prstGeom prst="rect">
            <a:avLst/>
          </a:prstGeom>
          <a:noFill/>
          <a:ln/>
        </p:spPr>
        <p:txBody>
          <a:bodyPr wrap="none" lIns="0" tIns="0" rIns="0" bIns="0" rtlCol="0" anchor="t"/>
          <a:lstStyle/>
          <a:p>
            <a:pPr>
              <a:lnSpc>
                <a:spcPts val="1292"/>
              </a:lnSpc>
            </a:pPr>
            <a:r>
              <a:rPr lang="en-US" sz="1042" dirty="0">
                <a:solidFill>
                  <a:srgbClr val="3C3939"/>
                </a:solidFill>
                <a:latin typeface="Raleway" pitchFamily="34" charset="0"/>
                <a:ea typeface="Raleway" pitchFamily="34" charset="-122"/>
                <a:cs typeface="Raleway" pitchFamily="34" charset="-120"/>
              </a:rPr>
              <a:t>What they are</a:t>
            </a:r>
            <a:endParaRPr lang="en-US" sz="1042" dirty="0"/>
          </a:p>
        </p:txBody>
      </p:sp>
      <p:sp>
        <p:nvSpPr>
          <p:cNvPr id="14" name="Text 11"/>
          <p:cNvSpPr/>
          <p:nvPr/>
        </p:nvSpPr>
        <p:spPr>
          <a:xfrm>
            <a:off x="781645" y="3077865"/>
            <a:ext cx="3336132" cy="283766"/>
          </a:xfrm>
          <a:prstGeom prst="rect">
            <a:avLst/>
          </a:prstGeom>
          <a:noFill/>
          <a:ln/>
        </p:spPr>
        <p:txBody>
          <a:bodyPr wrap="square" lIns="0" tIns="0" rIns="0" bIns="0" rtlCol="0" anchor="t"/>
          <a:lstStyle/>
          <a:p>
            <a:pPr>
              <a:lnSpc>
                <a:spcPts val="1083"/>
              </a:lnSpc>
            </a:pPr>
            <a:r>
              <a:rPr lang="en-US" sz="833" dirty="0">
                <a:solidFill>
                  <a:srgbClr val="3C3939"/>
                </a:solidFill>
                <a:latin typeface="Roboto" pitchFamily="34" charset="0"/>
                <a:ea typeface="Roboto" pitchFamily="34" charset="-122"/>
                <a:cs typeface="Roboto" pitchFamily="34" charset="-120"/>
              </a:rPr>
              <a:t>An API gateway is an intermediary layer between clients and backend services. It receives requests first and decides where they should go.</a:t>
            </a:r>
            <a:endParaRPr lang="en-US" sz="833" dirty="0"/>
          </a:p>
        </p:txBody>
      </p:sp>
      <p:sp>
        <p:nvSpPr>
          <p:cNvPr id="15" name="Shape 12"/>
          <p:cNvSpPr/>
          <p:nvPr/>
        </p:nvSpPr>
        <p:spPr>
          <a:xfrm>
            <a:off x="4307781" y="2747963"/>
            <a:ext cx="3576439" cy="924520"/>
          </a:xfrm>
          <a:prstGeom prst="roundRect">
            <a:avLst>
              <a:gd name="adj" fmla="val 4884"/>
            </a:avLst>
          </a:prstGeom>
          <a:solidFill>
            <a:srgbClr val="FFFFFF">
              <a:alpha val="95000"/>
            </a:srgbClr>
          </a:solidFill>
          <a:ln w="15240">
            <a:solidFill>
              <a:srgbClr val="C7C7D0"/>
            </a:solidFill>
            <a:prstDash val="solid"/>
          </a:ln>
        </p:spPr>
      </p:sp>
      <p:sp>
        <p:nvSpPr>
          <p:cNvPr id="16" name="Text 13"/>
          <p:cNvSpPr/>
          <p:nvPr/>
        </p:nvSpPr>
        <p:spPr>
          <a:xfrm>
            <a:off x="4427935" y="2868117"/>
            <a:ext cx="1343819" cy="167878"/>
          </a:xfrm>
          <a:prstGeom prst="rect">
            <a:avLst/>
          </a:prstGeom>
          <a:noFill/>
          <a:ln/>
        </p:spPr>
        <p:txBody>
          <a:bodyPr wrap="none" lIns="0" tIns="0" rIns="0" bIns="0" rtlCol="0" anchor="t"/>
          <a:lstStyle/>
          <a:p>
            <a:pPr>
              <a:lnSpc>
                <a:spcPts val="1292"/>
              </a:lnSpc>
            </a:pPr>
            <a:r>
              <a:rPr lang="en-US" sz="1042" dirty="0">
                <a:solidFill>
                  <a:srgbClr val="3C3939"/>
                </a:solidFill>
                <a:latin typeface="Raleway" pitchFamily="34" charset="0"/>
                <a:ea typeface="Raleway" pitchFamily="34" charset="-122"/>
                <a:cs typeface="Raleway" pitchFamily="34" charset="-120"/>
              </a:rPr>
              <a:t>Core responsibilities</a:t>
            </a:r>
            <a:endParaRPr lang="en-US" sz="1042" dirty="0"/>
          </a:p>
        </p:txBody>
      </p:sp>
      <p:sp>
        <p:nvSpPr>
          <p:cNvPr id="17" name="Text 14"/>
          <p:cNvSpPr/>
          <p:nvPr/>
        </p:nvSpPr>
        <p:spPr>
          <a:xfrm>
            <a:off x="4427934" y="3077866"/>
            <a:ext cx="3336132" cy="474464"/>
          </a:xfrm>
          <a:prstGeom prst="rect">
            <a:avLst/>
          </a:prstGeom>
          <a:noFill/>
          <a:ln/>
        </p:spPr>
        <p:txBody>
          <a:bodyPr wrap="square" lIns="0" tIns="0" rIns="0" bIns="0" rtlCol="0" anchor="t"/>
          <a:lstStyle/>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Routing requests to the correct service</a:t>
            </a:r>
            <a:endParaRPr lang="en-US" sz="833" dirty="0"/>
          </a:p>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Handling authentication and authorization</a:t>
            </a:r>
            <a:endParaRPr lang="en-US" sz="833" dirty="0"/>
          </a:p>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Applying rate limiting and traffic control</a:t>
            </a:r>
            <a:endParaRPr lang="en-US" sz="833" dirty="0"/>
          </a:p>
        </p:txBody>
      </p:sp>
      <p:sp>
        <p:nvSpPr>
          <p:cNvPr id="18" name="Shape 15"/>
          <p:cNvSpPr/>
          <p:nvPr/>
        </p:nvSpPr>
        <p:spPr>
          <a:xfrm>
            <a:off x="7954070" y="2747963"/>
            <a:ext cx="3576439" cy="924520"/>
          </a:xfrm>
          <a:prstGeom prst="roundRect">
            <a:avLst>
              <a:gd name="adj" fmla="val 4884"/>
            </a:avLst>
          </a:prstGeom>
          <a:solidFill>
            <a:srgbClr val="FFFFFF">
              <a:alpha val="95000"/>
            </a:srgbClr>
          </a:solidFill>
          <a:ln w="15240">
            <a:solidFill>
              <a:srgbClr val="C7C7D0"/>
            </a:solidFill>
            <a:prstDash val="solid"/>
          </a:ln>
        </p:spPr>
      </p:sp>
      <p:sp>
        <p:nvSpPr>
          <p:cNvPr id="19" name="Text 16"/>
          <p:cNvSpPr/>
          <p:nvPr/>
        </p:nvSpPr>
        <p:spPr>
          <a:xfrm>
            <a:off x="8074224" y="2868117"/>
            <a:ext cx="1941116" cy="167878"/>
          </a:xfrm>
          <a:prstGeom prst="rect">
            <a:avLst/>
          </a:prstGeom>
          <a:noFill/>
          <a:ln/>
        </p:spPr>
        <p:txBody>
          <a:bodyPr wrap="none" lIns="0" tIns="0" rIns="0" bIns="0" rtlCol="0" anchor="t"/>
          <a:lstStyle/>
          <a:p>
            <a:pPr>
              <a:lnSpc>
                <a:spcPts val="1292"/>
              </a:lnSpc>
            </a:pPr>
            <a:r>
              <a:rPr lang="en-US" sz="1042" dirty="0">
                <a:solidFill>
                  <a:srgbClr val="3C3939"/>
                </a:solidFill>
                <a:latin typeface="Raleway" pitchFamily="34" charset="0"/>
                <a:ea typeface="Raleway" pitchFamily="34" charset="-122"/>
                <a:cs typeface="Raleway" pitchFamily="34" charset="-120"/>
              </a:rPr>
              <a:t>Why it matters in microservices</a:t>
            </a:r>
            <a:endParaRPr lang="en-US" sz="1042" dirty="0"/>
          </a:p>
        </p:txBody>
      </p:sp>
      <p:sp>
        <p:nvSpPr>
          <p:cNvPr id="20" name="Text 17"/>
          <p:cNvSpPr/>
          <p:nvPr/>
        </p:nvSpPr>
        <p:spPr>
          <a:xfrm>
            <a:off x="8074223" y="3077865"/>
            <a:ext cx="3336132" cy="425648"/>
          </a:xfrm>
          <a:prstGeom prst="rect">
            <a:avLst/>
          </a:prstGeom>
          <a:noFill/>
          <a:ln/>
        </p:spPr>
        <p:txBody>
          <a:bodyPr wrap="square" lIns="0" tIns="0" rIns="0" bIns="0" rtlCol="0" anchor="t"/>
          <a:lstStyle/>
          <a:p>
            <a:pPr>
              <a:lnSpc>
                <a:spcPts val="1083"/>
              </a:lnSpc>
            </a:pPr>
            <a:r>
              <a:rPr lang="en-US" sz="833" dirty="0">
                <a:solidFill>
                  <a:srgbClr val="3C3939"/>
                </a:solidFill>
                <a:latin typeface="Roboto" pitchFamily="34" charset="0"/>
                <a:ea typeface="Roboto" pitchFamily="34" charset="-122"/>
                <a:cs typeface="Roboto" pitchFamily="34" charset="-120"/>
              </a:rPr>
              <a:t>In a microservices architecture, an API gateway simplifies client access by providing one entry point instead of exposing many separate services.</a:t>
            </a:r>
            <a:endParaRPr lang="en-US" sz="833" dirty="0"/>
          </a:p>
        </p:txBody>
      </p:sp>
      <p:sp>
        <p:nvSpPr>
          <p:cNvPr id="21" name="Shape 18"/>
          <p:cNvSpPr/>
          <p:nvPr/>
        </p:nvSpPr>
        <p:spPr>
          <a:xfrm>
            <a:off x="661492" y="3804731"/>
            <a:ext cx="10869018" cy="19744"/>
          </a:xfrm>
          <a:prstGeom prst="rect">
            <a:avLst/>
          </a:prstGeom>
          <a:solidFill>
            <a:srgbClr val="3C3939">
              <a:alpha val="50000"/>
            </a:srgbClr>
          </a:solidFill>
          <a:ln/>
        </p:spPr>
      </p:sp>
      <p:sp>
        <p:nvSpPr>
          <p:cNvPr id="22" name="Text 19"/>
          <p:cNvSpPr/>
          <p:nvPr/>
        </p:nvSpPr>
        <p:spPr>
          <a:xfrm>
            <a:off x="661492" y="3929162"/>
            <a:ext cx="3659485" cy="201513"/>
          </a:xfrm>
          <a:prstGeom prst="rect">
            <a:avLst/>
          </a:prstGeom>
          <a:noFill/>
          <a:ln/>
        </p:spPr>
        <p:txBody>
          <a:bodyPr wrap="none" lIns="0" tIns="0" rIns="0" bIns="0" rtlCol="0" anchor="t"/>
          <a:lstStyle/>
          <a:p>
            <a:pPr>
              <a:lnSpc>
                <a:spcPts val="1583"/>
              </a:lnSpc>
            </a:pPr>
            <a:r>
              <a:rPr lang="en-US" sz="1250" dirty="0">
                <a:solidFill>
                  <a:srgbClr val="1B1B27"/>
                </a:solidFill>
                <a:latin typeface="Raleway" pitchFamily="34" charset="0"/>
                <a:ea typeface="Raleway" pitchFamily="34" charset="-122"/>
                <a:cs typeface="Raleway" pitchFamily="34" charset="-120"/>
              </a:rPr>
              <a:t>Practical Example: Calling an Endpoint with Fetch</a:t>
            </a:r>
            <a:endParaRPr lang="en-US" sz="1250" dirty="0"/>
          </a:p>
        </p:txBody>
      </p:sp>
      <p:sp>
        <p:nvSpPr>
          <p:cNvPr id="23" name="Text 20"/>
          <p:cNvSpPr/>
          <p:nvPr/>
        </p:nvSpPr>
        <p:spPr>
          <a:xfrm>
            <a:off x="661492" y="4298256"/>
            <a:ext cx="5303441" cy="141883"/>
          </a:xfrm>
          <a:prstGeom prst="rect">
            <a:avLst/>
          </a:prstGeom>
          <a:noFill/>
          <a:ln/>
        </p:spPr>
        <p:txBody>
          <a:bodyPr wrap="none" lIns="0" tIns="0" rIns="0" bIns="0" rtlCol="0" anchor="t"/>
          <a:lstStyle/>
          <a:p>
            <a:pPr>
              <a:lnSpc>
                <a:spcPts val="1083"/>
              </a:lnSpc>
            </a:pPr>
            <a:r>
              <a:rPr lang="en-US" sz="833" dirty="0">
                <a:solidFill>
                  <a:srgbClr val="3C3939"/>
                </a:solidFill>
                <a:latin typeface="Roboto" pitchFamily="34" charset="0"/>
                <a:ea typeface="Roboto" pitchFamily="34" charset="-122"/>
                <a:cs typeface="Roboto" pitchFamily="34" charset="-120"/>
              </a:rPr>
              <a:t>Here is a simple JavaScript example using the Fetch API to call an endpoint:</a:t>
            </a:r>
            <a:endParaRPr lang="en-US" sz="833" dirty="0"/>
          </a:p>
        </p:txBody>
      </p:sp>
      <p:sp>
        <p:nvSpPr>
          <p:cNvPr id="24" name="Shape 21"/>
          <p:cNvSpPr/>
          <p:nvPr/>
        </p:nvSpPr>
        <p:spPr>
          <a:xfrm>
            <a:off x="661492" y="4518719"/>
            <a:ext cx="5303441" cy="728663"/>
          </a:xfrm>
          <a:prstGeom prst="roundRect">
            <a:avLst>
              <a:gd name="adj" fmla="val 6197"/>
            </a:avLst>
          </a:prstGeom>
          <a:solidFill>
            <a:srgbClr val="F2F2F2"/>
          </a:solidFill>
          <a:ln/>
        </p:spPr>
      </p:sp>
      <p:sp>
        <p:nvSpPr>
          <p:cNvPr id="25" name="Shape 22"/>
          <p:cNvSpPr/>
          <p:nvPr/>
        </p:nvSpPr>
        <p:spPr>
          <a:xfrm>
            <a:off x="656133" y="4518719"/>
            <a:ext cx="5314157" cy="728663"/>
          </a:xfrm>
          <a:prstGeom prst="roundRect">
            <a:avLst>
              <a:gd name="adj" fmla="val 2213"/>
            </a:avLst>
          </a:prstGeom>
          <a:solidFill>
            <a:srgbClr val="F2F2F2"/>
          </a:solidFill>
          <a:ln/>
        </p:spPr>
      </p:sp>
      <p:sp>
        <p:nvSpPr>
          <p:cNvPr id="26" name="Text 23"/>
          <p:cNvSpPr/>
          <p:nvPr/>
        </p:nvSpPr>
        <p:spPr>
          <a:xfrm>
            <a:off x="763588" y="4599285"/>
            <a:ext cx="5099248" cy="567532"/>
          </a:xfrm>
          <a:prstGeom prst="rect">
            <a:avLst/>
          </a:prstGeom>
          <a:noFill/>
          <a:ln/>
        </p:spPr>
        <p:txBody>
          <a:bodyPr wrap="square" lIns="0" tIns="0" rIns="0" bIns="0" rtlCol="0" anchor="t"/>
          <a:lstStyle/>
          <a:p>
            <a:pPr>
              <a:lnSpc>
                <a:spcPts val="1083"/>
              </a:lnSpc>
            </a:pPr>
            <a:r>
              <a:rPr lang="en-US" sz="833" dirty="0">
                <a:solidFill>
                  <a:srgbClr val="3C3939"/>
                </a:solidFill>
                <a:highlight>
                  <a:srgbClr val="F2F2F2"/>
                </a:highlight>
                <a:latin typeface="Consolas" pitchFamily="34" charset="0"/>
                <a:ea typeface="Consolas" pitchFamily="34" charset="-122"/>
                <a:cs typeface="Consolas" pitchFamily="34" charset="-120"/>
              </a:rPr>
              <a:t>fetch('https://jsonplaceholder.typicode.com/posts/1')</a:t>
            </a:r>
            <a:endParaRPr lang="en-US" sz="833" dirty="0"/>
          </a:p>
          <a:p>
            <a:pPr>
              <a:lnSpc>
                <a:spcPts val="1083"/>
              </a:lnSpc>
            </a:pPr>
            <a:r>
              <a:rPr lang="en-US" sz="833" dirty="0">
                <a:solidFill>
                  <a:srgbClr val="3C3939"/>
                </a:solidFill>
                <a:highlight>
                  <a:srgbClr val="F2F2F2"/>
                </a:highlight>
                <a:latin typeface="Consolas" pitchFamily="34" charset="0"/>
                <a:ea typeface="Consolas" pitchFamily="34" charset="-122"/>
                <a:cs typeface="Consolas" pitchFamily="34" charset="-120"/>
              </a:rPr>
              <a:t>  .then(response =&gt; response.json())</a:t>
            </a:r>
            <a:endParaRPr lang="en-US" sz="833" dirty="0"/>
          </a:p>
          <a:p>
            <a:pPr>
              <a:lnSpc>
                <a:spcPts val="1083"/>
              </a:lnSpc>
            </a:pPr>
            <a:r>
              <a:rPr lang="en-US" sz="833" dirty="0">
                <a:solidFill>
                  <a:srgbClr val="3C3939"/>
                </a:solidFill>
                <a:highlight>
                  <a:srgbClr val="F2F2F2"/>
                </a:highlight>
                <a:latin typeface="Consolas" pitchFamily="34" charset="0"/>
                <a:ea typeface="Consolas" pitchFamily="34" charset="-122"/>
                <a:cs typeface="Consolas" pitchFamily="34" charset="-120"/>
              </a:rPr>
              <a:t>  .then(data =&gt; console.log(data))</a:t>
            </a:r>
            <a:endParaRPr lang="en-US" sz="833" dirty="0"/>
          </a:p>
          <a:p>
            <a:pPr>
              <a:lnSpc>
                <a:spcPts val="1083"/>
              </a:lnSpc>
            </a:pPr>
            <a:r>
              <a:rPr lang="en-US" sz="833" dirty="0">
                <a:solidFill>
                  <a:srgbClr val="3C3939"/>
                </a:solidFill>
                <a:highlight>
                  <a:srgbClr val="F2F2F2"/>
                </a:highlight>
                <a:latin typeface="Consolas" pitchFamily="34" charset="0"/>
                <a:ea typeface="Consolas" pitchFamily="34" charset="-122"/>
                <a:cs typeface="Consolas" pitchFamily="34" charset="-120"/>
              </a:rPr>
              <a:t>  .catch(error =&gt; console.error('Error:', error));</a:t>
            </a:r>
            <a:endParaRPr lang="en-US" sz="833" dirty="0"/>
          </a:p>
        </p:txBody>
      </p:sp>
      <p:sp>
        <p:nvSpPr>
          <p:cNvPr id="27" name="Text 24"/>
          <p:cNvSpPr/>
          <p:nvPr/>
        </p:nvSpPr>
        <p:spPr>
          <a:xfrm>
            <a:off x="6233419" y="4298256"/>
            <a:ext cx="5303441" cy="141883"/>
          </a:xfrm>
          <a:prstGeom prst="rect">
            <a:avLst/>
          </a:prstGeom>
          <a:noFill/>
          <a:ln/>
        </p:spPr>
        <p:txBody>
          <a:bodyPr wrap="none" lIns="0" tIns="0" rIns="0" bIns="0" rtlCol="0" anchor="t"/>
          <a:lstStyle/>
          <a:p>
            <a:pPr>
              <a:lnSpc>
                <a:spcPts val="1083"/>
              </a:lnSpc>
            </a:pPr>
            <a:r>
              <a:rPr lang="en-US" sz="833" b="1" dirty="0">
                <a:solidFill>
                  <a:srgbClr val="3C3939"/>
                </a:solidFill>
                <a:latin typeface="Roboto" pitchFamily="34" charset="0"/>
                <a:ea typeface="Roboto" pitchFamily="34" charset="-122"/>
                <a:cs typeface="Roboto" pitchFamily="34" charset="-120"/>
              </a:rPr>
              <a:t>Request structure</a:t>
            </a:r>
            <a:endParaRPr lang="en-US" sz="833" dirty="0"/>
          </a:p>
        </p:txBody>
      </p:sp>
      <p:sp>
        <p:nvSpPr>
          <p:cNvPr id="28" name="Text 25"/>
          <p:cNvSpPr/>
          <p:nvPr/>
        </p:nvSpPr>
        <p:spPr>
          <a:xfrm>
            <a:off x="6233419" y="4502944"/>
            <a:ext cx="5303441" cy="640755"/>
          </a:xfrm>
          <a:prstGeom prst="rect">
            <a:avLst/>
          </a:prstGeom>
          <a:noFill/>
          <a:ln/>
        </p:spPr>
        <p:txBody>
          <a:bodyPr wrap="square" lIns="0" tIns="0" rIns="0" bIns="0" rtlCol="0" anchor="t"/>
          <a:lstStyle/>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Method: </a:t>
            </a:r>
            <a:r>
              <a:rPr lang="en-US" sz="833" dirty="0">
                <a:solidFill>
                  <a:srgbClr val="3C3939"/>
                </a:solidFill>
                <a:highlight>
                  <a:srgbClr val="F2F2F2"/>
                </a:highlight>
                <a:latin typeface="Consolas" pitchFamily="34" charset="0"/>
                <a:ea typeface="Consolas" pitchFamily="34" charset="-122"/>
                <a:cs typeface="Consolas" pitchFamily="34" charset="-120"/>
              </a:rPr>
              <a:t>GET</a:t>
            </a:r>
            <a:endParaRPr lang="en-US" sz="833" dirty="0"/>
          </a:p>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URL: </a:t>
            </a:r>
            <a:r>
              <a:rPr lang="en-US" sz="833" dirty="0">
                <a:solidFill>
                  <a:srgbClr val="3C3939"/>
                </a:solidFill>
                <a:highlight>
                  <a:srgbClr val="F2F2F2"/>
                </a:highlight>
                <a:latin typeface="Consolas" pitchFamily="34" charset="0"/>
                <a:ea typeface="Consolas" pitchFamily="34" charset="-122"/>
                <a:cs typeface="Consolas" pitchFamily="34" charset="-120"/>
              </a:rPr>
              <a:t>https://jsonplaceholder.typicode.com/posts/1</a:t>
            </a:r>
            <a:endParaRPr lang="en-US" sz="833" dirty="0"/>
          </a:p>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Headers: optional metadata sent with the request</a:t>
            </a:r>
            <a:endParaRPr lang="en-US" sz="833" dirty="0"/>
          </a:p>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Body: usually empty for GET requests</a:t>
            </a:r>
            <a:endParaRPr lang="en-US" sz="833" dirty="0"/>
          </a:p>
        </p:txBody>
      </p:sp>
      <p:sp>
        <p:nvSpPr>
          <p:cNvPr id="29" name="Text 26"/>
          <p:cNvSpPr/>
          <p:nvPr/>
        </p:nvSpPr>
        <p:spPr>
          <a:xfrm>
            <a:off x="6233419" y="5206504"/>
            <a:ext cx="5303441" cy="141883"/>
          </a:xfrm>
          <a:prstGeom prst="rect">
            <a:avLst/>
          </a:prstGeom>
          <a:noFill/>
          <a:ln/>
        </p:spPr>
        <p:txBody>
          <a:bodyPr wrap="none" lIns="0" tIns="0" rIns="0" bIns="0" rtlCol="0" anchor="t"/>
          <a:lstStyle/>
          <a:p>
            <a:pPr>
              <a:lnSpc>
                <a:spcPts val="1083"/>
              </a:lnSpc>
            </a:pPr>
            <a:r>
              <a:rPr lang="en-US" sz="833" b="1" dirty="0">
                <a:solidFill>
                  <a:srgbClr val="3C3939"/>
                </a:solidFill>
                <a:latin typeface="Roboto" pitchFamily="34" charset="0"/>
                <a:ea typeface="Roboto" pitchFamily="34" charset="-122"/>
                <a:cs typeface="Roboto" pitchFamily="34" charset="-120"/>
              </a:rPr>
              <a:t>Response structure</a:t>
            </a:r>
            <a:endParaRPr lang="en-US" sz="833" dirty="0"/>
          </a:p>
        </p:txBody>
      </p:sp>
      <p:sp>
        <p:nvSpPr>
          <p:cNvPr id="30" name="Text 27"/>
          <p:cNvSpPr/>
          <p:nvPr/>
        </p:nvSpPr>
        <p:spPr>
          <a:xfrm>
            <a:off x="6233419" y="5411193"/>
            <a:ext cx="5303441" cy="474464"/>
          </a:xfrm>
          <a:prstGeom prst="rect">
            <a:avLst/>
          </a:prstGeom>
          <a:noFill/>
          <a:ln/>
        </p:spPr>
        <p:txBody>
          <a:bodyPr wrap="square" lIns="0" tIns="0" rIns="0" bIns="0" rtlCol="0" anchor="t"/>
          <a:lstStyle/>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Status code: indicates success or failure</a:t>
            </a:r>
            <a:endParaRPr lang="en-US" sz="833" dirty="0"/>
          </a:p>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Headers: metadata about the response</a:t>
            </a:r>
            <a:endParaRPr lang="en-US" sz="833" dirty="0"/>
          </a:p>
          <a:p>
            <a:pPr marL="285739" indent="-285739">
              <a:lnSpc>
                <a:spcPts val="1083"/>
              </a:lnSpc>
              <a:buSzPct val="100000"/>
              <a:buChar char="•"/>
            </a:pPr>
            <a:r>
              <a:rPr lang="en-US" sz="833" dirty="0">
                <a:solidFill>
                  <a:srgbClr val="3C3939"/>
                </a:solidFill>
                <a:latin typeface="Roboto" pitchFamily="34" charset="0"/>
                <a:ea typeface="Roboto" pitchFamily="34" charset="-122"/>
                <a:cs typeface="Roboto" pitchFamily="34" charset="-120"/>
              </a:rPr>
              <a:t>Body: the returned data, often in JSON format</a:t>
            </a:r>
            <a:endParaRPr lang="en-US" sz="833" dirty="0"/>
          </a:p>
        </p:txBody>
      </p:sp>
      <p:sp>
        <p:nvSpPr>
          <p:cNvPr id="31" name="Text 28"/>
          <p:cNvSpPr/>
          <p:nvPr/>
        </p:nvSpPr>
        <p:spPr>
          <a:xfrm>
            <a:off x="661492" y="5988645"/>
            <a:ext cx="10869018" cy="141883"/>
          </a:xfrm>
          <a:prstGeom prst="rect">
            <a:avLst/>
          </a:prstGeom>
          <a:noFill/>
          <a:ln/>
        </p:spPr>
        <p:txBody>
          <a:bodyPr wrap="none" lIns="0" tIns="0" rIns="0" bIns="0" rtlCol="0" anchor="t"/>
          <a:lstStyle/>
          <a:p>
            <a:pPr>
              <a:lnSpc>
                <a:spcPts val="1083"/>
              </a:lnSpc>
            </a:pPr>
            <a:r>
              <a:rPr lang="en-US" sz="833" dirty="0">
                <a:solidFill>
                  <a:srgbClr val="3C3939"/>
                </a:solidFill>
                <a:latin typeface="Roboto" pitchFamily="34" charset="0"/>
                <a:ea typeface="Roboto" pitchFamily="34" charset="-122"/>
                <a:cs typeface="Roboto" pitchFamily="34" charset="-120"/>
              </a:rPr>
              <a:t>Together, these ideas show how APIs connect software systems in a structured way: endpoints expose data, gateways organize access, and different API types support different layers of development.</a:t>
            </a:r>
            <a:endParaRPr lang="en-US" sz="833"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806873"/>
            <a:ext cx="8355409"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What is a Web API? Connecting Services Over the Web</a:t>
            </a:r>
            <a:endParaRPr lang="en-US" sz="2583" dirty="0"/>
          </a:p>
        </p:txBody>
      </p:sp>
      <p:sp>
        <p:nvSpPr>
          <p:cNvPr id="3" name="Text 1"/>
          <p:cNvSpPr/>
          <p:nvPr/>
        </p:nvSpPr>
        <p:spPr>
          <a:xfrm>
            <a:off x="661492" y="2551014"/>
            <a:ext cx="10869018"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A Web API is an API that is accessible over the internet, typically using HTTP protocols. It enables communication between client-side applications (like web browsers or mobile apps) and server-side systems. This widespread accessibility is what drives modern interconnected applications.</a:t>
            </a:r>
            <a:endParaRPr lang="en-US" sz="1292" dirty="0"/>
          </a:p>
        </p:txBody>
      </p:sp>
      <p:sp>
        <p:nvSpPr>
          <p:cNvPr id="4" name="Shape 2"/>
          <p:cNvSpPr/>
          <p:nvPr/>
        </p:nvSpPr>
        <p:spPr>
          <a:xfrm>
            <a:off x="661492" y="3266282"/>
            <a:ext cx="3512741" cy="1784846"/>
          </a:xfrm>
          <a:prstGeom prst="roundRect">
            <a:avLst>
              <a:gd name="adj" fmla="val 3892"/>
            </a:avLst>
          </a:prstGeom>
          <a:solidFill>
            <a:srgbClr val="FFFFFF">
              <a:alpha val="95000"/>
            </a:srgbClr>
          </a:solidFill>
          <a:ln w="22860">
            <a:solidFill>
              <a:srgbClr val="C7C7D0"/>
            </a:solidFill>
            <a:prstDash val="solid"/>
          </a:ln>
        </p:spPr>
      </p:sp>
      <p:sp>
        <p:nvSpPr>
          <p:cNvPr id="5" name="Text 3"/>
          <p:cNvSpPr/>
          <p:nvPr/>
        </p:nvSpPr>
        <p:spPr>
          <a:xfrm>
            <a:off x="845840" y="3450630"/>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Client-Server Model</a:t>
            </a:r>
            <a:endParaRPr lang="en-US" sz="1625" dirty="0"/>
          </a:p>
        </p:txBody>
      </p:sp>
      <p:sp>
        <p:nvSpPr>
          <p:cNvPr id="6" name="Text 4"/>
          <p:cNvSpPr/>
          <p:nvPr/>
        </p:nvSpPr>
        <p:spPr>
          <a:xfrm>
            <a:off x="845841" y="3808314"/>
            <a:ext cx="3144044"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Web APIs operate within a client-server architecture, where the client sends requests and the server sends responses.</a:t>
            </a:r>
            <a:endParaRPr lang="en-US" sz="1292" dirty="0"/>
          </a:p>
        </p:txBody>
      </p:sp>
      <p:sp>
        <p:nvSpPr>
          <p:cNvPr id="7" name="Shape 5"/>
          <p:cNvSpPr/>
          <p:nvPr/>
        </p:nvSpPr>
        <p:spPr>
          <a:xfrm>
            <a:off x="4339531" y="3266282"/>
            <a:ext cx="3512840" cy="1784846"/>
          </a:xfrm>
          <a:prstGeom prst="roundRect">
            <a:avLst>
              <a:gd name="adj" fmla="val 3892"/>
            </a:avLst>
          </a:prstGeom>
          <a:solidFill>
            <a:srgbClr val="FFFFFF">
              <a:alpha val="95000"/>
            </a:srgbClr>
          </a:solidFill>
          <a:ln w="22860">
            <a:solidFill>
              <a:srgbClr val="C7C7D0"/>
            </a:solidFill>
            <a:prstDash val="solid"/>
          </a:ln>
        </p:spPr>
      </p:sp>
      <p:sp>
        <p:nvSpPr>
          <p:cNvPr id="8" name="Text 6"/>
          <p:cNvSpPr/>
          <p:nvPr/>
        </p:nvSpPr>
        <p:spPr>
          <a:xfrm>
            <a:off x="4523880" y="3450630"/>
            <a:ext cx="2255639"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HTTP/HTTPS Protocols</a:t>
            </a:r>
            <a:endParaRPr lang="en-US" sz="1625" dirty="0"/>
          </a:p>
        </p:txBody>
      </p:sp>
      <p:sp>
        <p:nvSpPr>
          <p:cNvPr id="9" name="Text 7"/>
          <p:cNvSpPr/>
          <p:nvPr/>
        </p:nvSpPr>
        <p:spPr>
          <a:xfrm>
            <a:off x="4523879" y="3808314"/>
            <a:ext cx="3144143"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Communication primarily occurs via HTTP or the secure HTTPS protocol, ensuring reliable and often encrypted data transfer.</a:t>
            </a:r>
            <a:endParaRPr lang="en-US" sz="1292" dirty="0"/>
          </a:p>
        </p:txBody>
      </p:sp>
      <p:sp>
        <p:nvSpPr>
          <p:cNvPr id="10" name="Shape 8"/>
          <p:cNvSpPr/>
          <p:nvPr/>
        </p:nvSpPr>
        <p:spPr>
          <a:xfrm>
            <a:off x="8017670" y="3266282"/>
            <a:ext cx="3512741" cy="1784846"/>
          </a:xfrm>
          <a:prstGeom prst="roundRect">
            <a:avLst>
              <a:gd name="adj" fmla="val 3892"/>
            </a:avLst>
          </a:prstGeom>
          <a:solidFill>
            <a:srgbClr val="FFFFFF">
              <a:alpha val="95000"/>
            </a:srgbClr>
          </a:solidFill>
          <a:ln w="22860">
            <a:solidFill>
              <a:srgbClr val="C7C7D0"/>
            </a:solidFill>
            <a:prstDash val="solid"/>
          </a:ln>
        </p:spPr>
      </p:sp>
      <p:sp>
        <p:nvSpPr>
          <p:cNvPr id="11" name="Text 9"/>
          <p:cNvSpPr/>
          <p:nvPr/>
        </p:nvSpPr>
        <p:spPr>
          <a:xfrm>
            <a:off x="8202018" y="3450630"/>
            <a:ext cx="2192635"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Standard Data Formats</a:t>
            </a:r>
            <a:endParaRPr lang="en-US" sz="1625" dirty="0"/>
          </a:p>
        </p:txBody>
      </p:sp>
      <p:sp>
        <p:nvSpPr>
          <p:cNvPr id="12" name="Text 10"/>
          <p:cNvSpPr/>
          <p:nvPr/>
        </p:nvSpPr>
        <p:spPr>
          <a:xfrm>
            <a:off x="8202018" y="3808314"/>
            <a:ext cx="3144044"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Data exchanged between client and server is typically formatted using standards like JSON (JavaScript Object Notation) or XML (eXtensible Markup Language).</a:t>
            </a:r>
            <a:endParaRPr lang="en-US" sz="1292"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17934"/>
            <a:ext cx="4849515" cy="392708"/>
          </a:xfrm>
          <a:prstGeom prst="rect">
            <a:avLst/>
          </a:prstGeom>
          <a:noFill/>
          <a:ln/>
        </p:spPr>
        <p:txBody>
          <a:bodyPr wrap="none" lIns="0" tIns="0" rIns="0" bIns="0" rtlCol="0" anchor="t"/>
          <a:lstStyle/>
          <a:p>
            <a:pPr>
              <a:lnSpc>
                <a:spcPts val="3083"/>
              </a:lnSpc>
            </a:pPr>
            <a:r>
              <a:rPr lang="en-US" sz="2458" dirty="0">
                <a:solidFill>
                  <a:srgbClr val="1B1B27"/>
                </a:solidFill>
                <a:latin typeface="Raleway" pitchFamily="34" charset="0"/>
                <a:ea typeface="Raleway" pitchFamily="34" charset="-122"/>
                <a:cs typeface="Raleway" pitchFamily="34" charset="-120"/>
              </a:rPr>
              <a:t>Types of APIs: A Brief Comparison</a:t>
            </a:r>
            <a:endParaRPr lang="en-US" sz="2458" dirty="0"/>
          </a:p>
        </p:txBody>
      </p:sp>
      <p:sp>
        <p:nvSpPr>
          <p:cNvPr id="3" name="Text 1"/>
          <p:cNvSpPr/>
          <p:nvPr/>
        </p:nvSpPr>
        <p:spPr>
          <a:xfrm>
            <a:off x="661492" y="1309093"/>
            <a:ext cx="10869018"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Different API architectural styles offer distinct advantages for various use cases. Understanding these differences helps in choosing the right approach for your project.</a:t>
            </a:r>
            <a:endParaRPr lang="en-US" sz="1208" dirty="0"/>
          </a:p>
        </p:txBody>
      </p:sp>
      <p:sp>
        <p:nvSpPr>
          <p:cNvPr id="4" name="Shape 2"/>
          <p:cNvSpPr/>
          <p:nvPr/>
        </p:nvSpPr>
        <p:spPr>
          <a:xfrm>
            <a:off x="661492" y="1967310"/>
            <a:ext cx="10869018" cy="3614539"/>
          </a:xfrm>
          <a:prstGeom prst="roundRect">
            <a:avLst>
              <a:gd name="adj" fmla="val 1826"/>
            </a:avLst>
          </a:prstGeom>
          <a:noFill/>
          <a:ln w="7620">
            <a:solidFill>
              <a:srgbClr val="000000">
                <a:alpha val="8000"/>
              </a:srgbClr>
            </a:solidFill>
            <a:prstDash val="solid"/>
          </a:ln>
        </p:spPr>
      </p:sp>
      <p:sp>
        <p:nvSpPr>
          <p:cNvPr id="5" name="Shape 3"/>
          <p:cNvSpPr/>
          <p:nvPr/>
        </p:nvSpPr>
        <p:spPr>
          <a:xfrm>
            <a:off x="667842" y="1973659"/>
            <a:ext cx="10856318" cy="682030"/>
          </a:xfrm>
          <a:prstGeom prst="rect">
            <a:avLst/>
          </a:prstGeom>
          <a:solidFill>
            <a:srgbClr val="FFFFFF">
              <a:alpha val="4000"/>
            </a:srgbClr>
          </a:solidFill>
          <a:ln/>
        </p:spPr>
      </p:sp>
      <p:sp>
        <p:nvSpPr>
          <p:cNvPr id="6" name="Text 4"/>
          <p:cNvSpPr/>
          <p:nvPr/>
        </p:nvSpPr>
        <p:spPr>
          <a:xfrm>
            <a:off x="825104" y="2069506"/>
            <a:ext cx="2396728" cy="245169"/>
          </a:xfrm>
          <a:prstGeom prst="rect">
            <a:avLst/>
          </a:prstGeom>
          <a:noFill/>
          <a:ln/>
        </p:spPr>
        <p:txBody>
          <a:bodyPr wrap="none" lIns="0" tIns="0" rIns="0" bIns="0" rtlCol="0" anchor="t"/>
          <a:lstStyle/>
          <a:p>
            <a:pPr>
              <a:lnSpc>
                <a:spcPts val="1917"/>
              </a:lnSpc>
            </a:pPr>
            <a:r>
              <a:rPr lang="en-US" sz="1208" b="1" dirty="0">
                <a:solidFill>
                  <a:srgbClr val="3C3939"/>
                </a:solidFill>
                <a:latin typeface="Roboto" pitchFamily="34" charset="0"/>
                <a:ea typeface="Roboto" pitchFamily="34" charset="-122"/>
                <a:cs typeface="Roboto" pitchFamily="34" charset="-120"/>
              </a:rPr>
              <a:t>Feature</a:t>
            </a:r>
            <a:endParaRPr lang="en-US" sz="1208" dirty="0"/>
          </a:p>
        </p:txBody>
      </p:sp>
      <p:sp>
        <p:nvSpPr>
          <p:cNvPr id="7" name="Text 5"/>
          <p:cNvSpPr/>
          <p:nvPr/>
        </p:nvSpPr>
        <p:spPr>
          <a:xfrm>
            <a:off x="3542308" y="2069506"/>
            <a:ext cx="2936379" cy="245169"/>
          </a:xfrm>
          <a:prstGeom prst="rect">
            <a:avLst/>
          </a:prstGeom>
          <a:noFill/>
          <a:ln/>
        </p:spPr>
        <p:txBody>
          <a:bodyPr wrap="none" lIns="0" tIns="0" rIns="0" bIns="0" rtlCol="0" anchor="t"/>
          <a:lstStyle/>
          <a:p>
            <a:pPr>
              <a:lnSpc>
                <a:spcPts val="1917"/>
              </a:lnSpc>
            </a:pPr>
            <a:r>
              <a:rPr lang="en-US" sz="1208" b="1" dirty="0">
                <a:solidFill>
                  <a:srgbClr val="3C3939"/>
                </a:solidFill>
                <a:latin typeface="Roboto" pitchFamily="34" charset="0"/>
                <a:ea typeface="Roboto" pitchFamily="34" charset="-122"/>
                <a:cs typeface="Roboto" pitchFamily="34" charset="-120"/>
              </a:rPr>
              <a:t>REST (Representational State Transfer)</a:t>
            </a:r>
            <a:endParaRPr lang="en-US" sz="1208" dirty="0"/>
          </a:p>
        </p:txBody>
      </p:sp>
      <p:sp>
        <p:nvSpPr>
          <p:cNvPr id="8" name="Text 6"/>
          <p:cNvSpPr/>
          <p:nvPr/>
        </p:nvSpPr>
        <p:spPr>
          <a:xfrm>
            <a:off x="6799164" y="2069506"/>
            <a:ext cx="2393553" cy="490339"/>
          </a:xfrm>
          <a:prstGeom prst="rect">
            <a:avLst/>
          </a:prstGeom>
          <a:noFill/>
          <a:ln/>
        </p:spPr>
        <p:txBody>
          <a:bodyPr wrap="square" lIns="0" tIns="0" rIns="0" bIns="0" rtlCol="0" anchor="t"/>
          <a:lstStyle/>
          <a:p>
            <a:pPr>
              <a:lnSpc>
                <a:spcPts val="1917"/>
              </a:lnSpc>
            </a:pPr>
            <a:r>
              <a:rPr lang="en-US" sz="1208" b="1" dirty="0">
                <a:solidFill>
                  <a:srgbClr val="3C3939"/>
                </a:solidFill>
                <a:latin typeface="Roboto" pitchFamily="34" charset="0"/>
                <a:ea typeface="Roboto" pitchFamily="34" charset="-122"/>
                <a:cs typeface="Roboto" pitchFamily="34" charset="-120"/>
              </a:rPr>
              <a:t>SOAP (Simple Object Access Protocol)</a:t>
            </a:r>
            <a:endParaRPr lang="en-US" sz="1208" dirty="0"/>
          </a:p>
        </p:txBody>
      </p:sp>
      <p:sp>
        <p:nvSpPr>
          <p:cNvPr id="9" name="Text 7"/>
          <p:cNvSpPr/>
          <p:nvPr/>
        </p:nvSpPr>
        <p:spPr>
          <a:xfrm>
            <a:off x="9513194" y="2069506"/>
            <a:ext cx="1853903" cy="245169"/>
          </a:xfrm>
          <a:prstGeom prst="rect">
            <a:avLst/>
          </a:prstGeom>
          <a:noFill/>
          <a:ln/>
        </p:spPr>
        <p:txBody>
          <a:bodyPr wrap="none" lIns="0" tIns="0" rIns="0" bIns="0" rtlCol="0" anchor="t"/>
          <a:lstStyle/>
          <a:p>
            <a:pPr>
              <a:lnSpc>
                <a:spcPts val="1917"/>
              </a:lnSpc>
            </a:pPr>
            <a:r>
              <a:rPr lang="en-US" sz="1208" b="1" dirty="0">
                <a:solidFill>
                  <a:srgbClr val="3C3939"/>
                </a:solidFill>
                <a:latin typeface="Roboto" pitchFamily="34" charset="0"/>
                <a:ea typeface="Roboto" pitchFamily="34" charset="-122"/>
                <a:cs typeface="Roboto" pitchFamily="34" charset="-120"/>
              </a:rPr>
              <a:t>GraphQL</a:t>
            </a:r>
            <a:endParaRPr lang="en-US" sz="1208" dirty="0"/>
          </a:p>
        </p:txBody>
      </p:sp>
      <p:sp>
        <p:nvSpPr>
          <p:cNvPr id="10" name="Shape 8"/>
          <p:cNvSpPr/>
          <p:nvPr/>
        </p:nvSpPr>
        <p:spPr>
          <a:xfrm>
            <a:off x="667842" y="2655689"/>
            <a:ext cx="10856318" cy="436860"/>
          </a:xfrm>
          <a:prstGeom prst="rect">
            <a:avLst/>
          </a:prstGeom>
          <a:solidFill>
            <a:srgbClr val="000000">
              <a:alpha val="4000"/>
            </a:srgbClr>
          </a:solidFill>
          <a:ln/>
        </p:spPr>
      </p:sp>
      <p:sp>
        <p:nvSpPr>
          <p:cNvPr id="11" name="Text 9"/>
          <p:cNvSpPr/>
          <p:nvPr/>
        </p:nvSpPr>
        <p:spPr>
          <a:xfrm>
            <a:off x="825104" y="2751535"/>
            <a:ext cx="2396728"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Protocol</a:t>
            </a:r>
            <a:endParaRPr lang="en-US" sz="1208" dirty="0"/>
          </a:p>
        </p:txBody>
      </p:sp>
      <p:sp>
        <p:nvSpPr>
          <p:cNvPr id="12" name="Text 10"/>
          <p:cNvSpPr/>
          <p:nvPr/>
        </p:nvSpPr>
        <p:spPr>
          <a:xfrm>
            <a:off x="3542308" y="2751535"/>
            <a:ext cx="2936379"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HTTP/HTTPS</a:t>
            </a:r>
            <a:endParaRPr lang="en-US" sz="1208" dirty="0"/>
          </a:p>
        </p:txBody>
      </p:sp>
      <p:sp>
        <p:nvSpPr>
          <p:cNvPr id="13" name="Text 11"/>
          <p:cNvSpPr/>
          <p:nvPr/>
        </p:nvSpPr>
        <p:spPr>
          <a:xfrm>
            <a:off x="6799164" y="2751535"/>
            <a:ext cx="2393553"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Any (HTTP, SMTP, TCP)</a:t>
            </a:r>
            <a:endParaRPr lang="en-US" sz="1208" dirty="0"/>
          </a:p>
        </p:txBody>
      </p:sp>
      <p:sp>
        <p:nvSpPr>
          <p:cNvPr id="14" name="Text 12"/>
          <p:cNvSpPr/>
          <p:nvPr/>
        </p:nvSpPr>
        <p:spPr>
          <a:xfrm>
            <a:off x="9513194" y="2751535"/>
            <a:ext cx="1853903"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HTTP/HTTPS</a:t>
            </a:r>
            <a:endParaRPr lang="en-US" sz="1208" dirty="0"/>
          </a:p>
        </p:txBody>
      </p:sp>
      <p:sp>
        <p:nvSpPr>
          <p:cNvPr id="15" name="Shape 13"/>
          <p:cNvSpPr/>
          <p:nvPr/>
        </p:nvSpPr>
        <p:spPr>
          <a:xfrm>
            <a:off x="667842" y="3092549"/>
            <a:ext cx="10856318" cy="436860"/>
          </a:xfrm>
          <a:prstGeom prst="rect">
            <a:avLst/>
          </a:prstGeom>
          <a:solidFill>
            <a:srgbClr val="FFFFFF">
              <a:alpha val="4000"/>
            </a:srgbClr>
          </a:solidFill>
          <a:ln/>
        </p:spPr>
      </p:sp>
      <p:sp>
        <p:nvSpPr>
          <p:cNvPr id="16" name="Text 14"/>
          <p:cNvSpPr/>
          <p:nvPr/>
        </p:nvSpPr>
        <p:spPr>
          <a:xfrm>
            <a:off x="825104" y="3188395"/>
            <a:ext cx="2396728"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Data Format</a:t>
            </a:r>
            <a:endParaRPr lang="en-US" sz="1208" dirty="0"/>
          </a:p>
        </p:txBody>
      </p:sp>
      <p:sp>
        <p:nvSpPr>
          <p:cNvPr id="17" name="Text 15"/>
          <p:cNvSpPr/>
          <p:nvPr/>
        </p:nvSpPr>
        <p:spPr>
          <a:xfrm>
            <a:off x="3542308" y="3188395"/>
            <a:ext cx="2936379"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JSON, XML, text</a:t>
            </a:r>
            <a:endParaRPr lang="en-US" sz="1208" dirty="0"/>
          </a:p>
        </p:txBody>
      </p:sp>
      <p:sp>
        <p:nvSpPr>
          <p:cNvPr id="18" name="Text 16"/>
          <p:cNvSpPr/>
          <p:nvPr/>
        </p:nvSpPr>
        <p:spPr>
          <a:xfrm>
            <a:off x="6799164" y="3188395"/>
            <a:ext cx="2393553"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XML (strictly)</a:t>
            </a:r>
            <a:endParaRPr lang="en-US" sz="1208" dirty="0"/>
          </a:p>
        </p:txBody>
      </p:sp>
      <p:sp>
        <p:nvSpPr>
          <p:cNvPr id="19" name="Text 17"/>
          <p:cNvSpPr/>
          <p:nvPr/>
        </p:nvSpPr>
        <p:spPr>
          <a:xfrm>
            <a:off x="9513194" y="3188395"/>
            <a:ext cx="1853903"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JSON</a:t>
            </a:r>
            <a:endParaRPr lang="en-US" sz="1208" dirty="0"/>
          </a:p>
        </p:txBody>
      </p:sp>
      <p:sp>
        <p:nvSpPr>
          <p:cNvPr id="20" name="Shape 18"/>
          <p:cNvSpPr/>
          <p:nvPr/>
        </p:nvSpPr>
        <p:spPr>
          <a:xfrm>
            <a:off x="667842" y="3529409"/>
            <a:ext cx="10856318" cy="682030"/>
          </a:xfrm>
          <a:prstGeom prst="rect">
            <a:avLst/>
          </a:prstGeom>
          <a:solidFill>
            <a:srgbClr val="000000">
              <a:alpha val="4000"/>
            </a:srgbClr>
          </a:solidFill>
          <a:ln/>
        </p:spPr>
      </p:sp>
      <p:sp>
        <p:nvSpPr>
          <p:cNvPr id="21" name="Text 19"/>
          <p:cNvSpPr/>
          <p:nvPr/>
        </p:nvSpPr>
        <p:spPr>
          <a:xfrm>
            <a:off x="825104" y="3625256"/>
            <a:ext cx="2396728"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Flexibility</a:t>
            </a:r>
            <a:endParaRPr lang="en-US" sz="1208" dirty="0"/>
          </a:p>
        </p:txBody>
      </p:sp>
      <p:sp>
        <p:nvSpPr>
          <p:cNvPr id="22" name="Text 20"/>
          <p:cNvSpPr/>
          <p:nvPr/>
        </p:nvSpPr>
        <p:spPr>
          <a:xfrm>
            <a:off x="3542308" y="3625256"/>
            <a:ext cx="2936379"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High (stateless, resource-oriented)</a:t>
            </a:r>
            <a:endParaRPr lang="en-US" sz="1208" dirty="0"/>
          </a:p>
        </p:txBody>
      </p:sp>
      <p:sp>
        <p:nvSpPr>
          <p:cNvPr id="23" name="Text 21"/>
          <p:cNvSpPr/>
          <p:nvPr/>
        </p:nvSpPr>
        <p:spPr>
          <a:xfrm>
            <a:off x="6799164" y="3625256"/>
            <a:ext cx="2393553"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Low (strict standards)</a:t>
            </a:r>
            <a:endParaRPr lang="en-US" sz="1208" dirty="0"/>
          </a:p>
        </p:txBody>
      </p:sp>
      <p:sp>
        <p:nvSpPr>
          <p:cNvPr id="24" name="Text 22"/>
          <p:cNvSpPr/>
          <p:nvPr/>
        </p:nvSpPr>
        <p:spPr>
          <a:xfrm>
            <a:off x="9513194" y="3625256"/>
            <a:ext cx="1853903"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High (client-driven data fetching)</a:t>
            </a:r>
            <a:endParaRPr lang="en-US" sz="1208" dirty="0"/>
          </a:p>
        </p:txBody>
      </p:sp>
      <p:sp>
        <p:nvSpPr>
          <p:cNvPr id="25" name="Shape 23"/>
          <p:cNvSpPr/>
          <p:nvPr/>
        </p:nvSpPr>
        <p:spPr>
          <a:xfrm>
            <a:off x="667842" y="4211439"/>
            <a:ext cx="10856318" cy="682030"/>
          </a:xfrm>
          <a:prstGeom prst="rect">
            <a:avLst/>
          </a:prstGeom>
          <a:solidFill>
            <a:srgbClr val="FFFFFF">
              <a:alpha val="4000"/>
            </a:srgbClr>
          </a:solidFill>
          <a:ln/>
        </p:spPr>
      </p:sp>
      <p:sp>
        <p:nvSpPr>
          <p:cNvPr id="26" name="Text 24"/>
          <p:cNvSpPr/>
          <p:nvPr/>
        </p:nvSpPr>
        <p:spPr>
          <a:xfrm>
            <a:off x="825104" y="4307285"/>
            <a:ext cx="2396728"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Performance</a:t>
            </a:r>
            <a:endParaRPr lang="en-US" sz="1208" dirty="0"/>
          </a:p>
        </p:txBody>
      </p:sp>
      <p:sp>
        <p:nvSpPr>
          <p:cNvPr id="27" name="Text 25"/>
          <p:cNvSpPr/>
          <p:nvPr/>
        </p:nvSpPr>
        <p:spPr>
          <a:xfrm>
            <a:off x="3542308" y="4307285"/>
            <a:ext cx="2936379"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Generally good</a:t>
            </a:r>
            <a:endParaRPr lang="en-US" sz="1208" dirty="0"/>
          </a:p>
        </p:txBody>
      </p:sp>
      <p:sp>
        <p:nvSpPr>
          <p:cNvPr id="28" name="Text 26"/>
          <p:cNvSpPr/>
          <p:nvPr/>
        </p:nvSpPr>
        <p:spPr>
          <a:xfrm>
            <a:off x="6799164" y="4307285"/>
            <a:ext cx="2393553"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Can be slower due to XML overhead</a:t>
            </a:r>
            <a:endParaRPr lang="en-US" sz="1208" dirty="0"/>
          </a:p>
        </p:txBody>
      </p:sp>
      <p:sp>
        <p:nvSpPr>
          <p:cNvPr id="29" name="Text 27"/>
          <p:cNvSpPr/>
          <p:nvPr/>
        </p:nvSpPr>
        <p:spPr>
          <a:xfrm>
            <a:off x="9513194" y="4307285"/>
            <a:ext cx="1853903"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Efficient (fetches only needed data)</a:t>
            </a:r>
            <a:endParaRPr lang="en-US" sz="1208" dirty="0"/>
          </a:p>
        </p:txBody>
      </p:sp>
      <p:sp>
        <p:nvSpPr>
          <p:cNvPr id="30" name="Shape 28"/>
          <p:cNvSpPr/>
          <p:nvPr/>
        </p:nvSpPr>
        <p:spPr>
          <a:xfrm>
            <a:off x="667842" y="4893469"/>
            <a:ext cx="10856318" cy="682030"/>
          </a:xfrm>
          <a:prstGeom prst="rect">
            <a:avLst/>
          </a:prstGeom>
          <a:solidFill>
            <a:srgbClr val="000000">
              <a:alpha val="4000"/>
            </a:srgbClr>
          </a:solidFill>
          <a:ln/>
        </p:spPr>
      </p:sp>
      <p:sp>
        <p:nvSpPr>
          <p:cNvPr id="31" name="Text 29"/>
          <p:cNvSpPr/>
          <p:nvPr/>
        </p:nvSpPr>
        <p:spPr>
          <a:xfrm>
            <a:off x="825104" y="4989315"/>
            <a:ext cx="2396728"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Complexity</a:t>
            </a:r>
            <a:endParaRPr lang="en-US" sz="1208" dirty="0"/>
          </a:p>
        </p:txBody>
      </p:sp>
      <p:sp>
        <p:nvSpPr>
          <p:cNvPr id="32" name="Text 30"/>
          <p:cNvSpPr/>
          <p:nvPr/>
        </p:nvSpPr>
        <p:spPr>
          <a:xfrm>
            <a:off x="3542308" y="4989315"/>
            <a:ext cx="2936379"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Simpler to implement</a:t>
            </a:r>
            <a:endParaRPr lang="en-US" sz="1208" dirty="0"/>
          </a:p>
        </p:txBody>
      </p:sp>
      <p:sp>
        <p:nvSpPr>
          <p:cNvPr id="33" name="Text 31"/>
          <p:cNvSpPr/>
          <p:nvPr/>
        </p:nvSpPr>
        <p:spPr>
          <a:xfrm>
            <a:off x="6799164" y="4989315"/>
            <a:ext cx="2393553"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More complex, heavy tooling</a:t>
            </a:r>
            <a:endParaRPr lang="en-US" sz="1208" dirty="0"/>
          </a:p>
        </p:txBody>
      </p:sp>
      <p:sp>
        <p:nvSpPr>
          <p:cNvPr id="34" name="Text 32"/>
          <p:cNvSpPr/>
          <p:nvPr/>
        </p:nvSpPr>
        <p:spPr>
          <a:xfrm>
            <a:off x="9513194" y="4989315"/>
            <a:ext cx="1853903"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Moderate (requires client-side query language)</a:t>
            </a:r>
            <a:endParaRPr lang="en-US" sz="1208" dirty="0"/>
          </a:p>
        </p:txBody>
      </p:sp>
      <p:sp>
        <p:nvSpPr>
          <p:cNvPr id="35" name="Text 33"/>
          <p:cNvSpPr/>
          <p:nvPr/>
        </p:nvSpPr>
        <p:spPr>
          <a:xfrm>
            <a:off x="661492" y="5749727"/>
            <a:ext cx="10869018"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While REST remains the most popular for web services due to its simplicity, SOAP is favored in enterprise environments requiring strict contracts, and GraphQL offers efficient data retrieval for complex applications.</a:t>
            </a:r>
            <a:endParaRPr lang="en-US" sz="1208"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01155"/>
            <a:ext cx="2977058" cy="372169"/>
          </a:xfrm>
          <a:prstGeom prst="rect">
            <a:avLst/>
          </a:prstGeom>
          <a:noFill/>
          <a:ln/>
        </p:spPr>
        <p:txBody>
          <a:bodyPr wrap="none" lIns="0" tIns="0" rIns="0" bIns="0" rtlCol="0" anchor="t"/>
          <a:lstStyle/>
          <a:p>
            <a:pPr>
              <a:lnSpc>
                <a:spcPts val="2917"/>
              </a:lnSpc>
            </a:pPr>
            <a:r>
              <a:rPr lang="en-US" sz="2333" dirty="0">
                <a:solidFill>
                  <a:srgbClr val="1B1B27"/>
                </a:solidFill>
                <a:latin typeface="Raleway" pitchFamily="34" charset="0"/>
                <a:ea typeface="Raleway" pitchFamily="34" charset="-122"/>
                <a:cs typeface="Raleway" pitchFamily="34" charset="-120"/>
              </a:rPr>
              <a:t>API Architectures</a:t>
            </a:r>
            <a:endParaRPr lang="en-US" sz="2333" dirty="0"/>
          </a:p>
        </p:txBody>
      </p:sp>
      <p:sp>
        <p:nvSpPr>
          <p:cNvPr id="3" name="Text 1"/>
          <p:cNvSpPr/>
          <p:nvPr/>
        </p:nvSpPr>
        <p:spPr>
          <a:xfrm>
            <a:off x="661492" y="1141214"/>
            <a:ext cx="10869018" cy="678657"/>
          </a:xfrm>
          <a:prstGeom prst="rect">
            <a:avLst/>
          </a:prstGeom>
          <a:noFill/>
          <a:ln/>
        </p:spPr>
        <p:txBody>
          <a:bodyPr wrap="square" lIns="0" tIns="0" rIns="0" bIns="0" rtlCol="0" anchor="t"/>
          <a:lstStyle/>
          <a:p>
            <a:pPr>
              <a:lnSpc>
                <a:spcPts val="1750"/>
              </a:lnSpc>
            </a:pPr>
            <a:r>
              <a:rPr lang="en-US" sz="1167" dirty="0">
                <a:solidFill>
                  <a:srgbClr val="3C3939"/>
                </a:solidFill>
                <a:latin typeface="Roboto" pitchFamily="34" charset="0"/>
                <a:ea typeface="Roboto" pitchFamily="34" charset="-122"/>
                <a:cs typeface="Roboto" pitchFamily="34" charset="-120"/>
              </a:rPr>
              <a:t>There isn't a one-size-fits-all best architecture; however, there are characteristics, strengths, and weaknesses. Some of these architectures can also interact; for example, GraphQL can be built on top of REST services. Therefore, it's useful to select the architecture based on the specific needs and characteristics of the project to which it will be applied</a:t>
            </a:r>
            <a:endParaRPr lang="en-US" sz="1167" dirty="0"/>
          </a:p>
        </p:txBody>
      </p:sp>
      <p:pic>
        <p:nvPicPr>
          <p:cNvPr id="4" name="Image 0" descr="preencoded.png"/>
          <p:cNvPicPr>
            <a:picLocks noChangeAspect="1"/>
          </p:cNvPicPr>
          <p:nvPr/>
        </p:nvPicPr>
        <p:blipFill>
          <a:blip r:embed="rId3"/>
          <a:stretch>
            <a:fillRect/>
          </a:stretch>
        </p:blipFill>
        <p:spPr>
          <a:xfrm>
            <a:off x="2374603" y="1970584"/>
            <a:ext cx="7442696" cy="4009231"/>
          </a:xfrm>
          <a:prstGeom prst="rect">
            <a:avLst/>
          </a:prstGeom>
        </p:spPr>
      </p:pic>
      <p:sp>
        <p:nvSpPr>
          <p:cNvPr id="5" name="Text 2"/>
          <p:cNvSpPr/>
          <p:nvPr/>
        </p:nvSpPr>
        <p:spPr>
          <a:xfrm>
            <a:off x="661492" y="6130529"/>
            <a:ext cx="10869018" cy="226219"/>
          </a:xfrm>
          <a:prstGeom prst="rect">
            <a:avLst/>
          </a:prstGeom>
          <a:noFill/>
          <a:ln/>
        </p:spPr>
        <p:txBody>
          <a:bodyPr wrap="none" lIns="0" tIns="0" rIns="0" bIns="0" rtlCol="0" anchor="t"/>
          <a:lstStyle/>
          <a:p>
            <a:pPr>
              <a:lnSpc>
                <a:spcPts val="1750"/>
              </a:lnSpc>
            </a:pPr>
            <a:endParaRPr lang="en-US" sz="1167"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213942"/>
            <a:ext cx="9757569"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HTTP Methods, Request/Response Structure, and Status Codes</a:t>
            </a:r>
            <a:endParaRPr lang="en-US" sz="2583" dirty="0"/>
          </a:p>
        </p:txBody>
      </p:sp>
      <p:sp>
        <p:nvSpPr>
          <p:cNvPr id="3" name="Text 1"/>
          <p:cNvSpPr/>
          <p:nvPr/>
        </p:nvSpPr>
        <p:spPr>
          <a:xfrm>
            <a:off x="661492" y="1958082"/>
            <a:ext cx="10869018"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HTTP methods define the type of action a client wants to perform, while the request and response structure dictates how information is packaged and exchanged. Status codes provide immediate feedback on the outcome of an API call.</a:t>
            </a:r>
            <a:endParaRPr lang="en-US" sz="1292" dirty="0"/>
          </a:p>
        </p:txBody>
      </p:sp>
      <p:sp>
        <p:nvSpPr>
          <p:cNvPr id="4" name="Shape 2"/>
          <p:cNvSpPr/>
          <p:nvPr/>
        </p:nvSpPr>
        <p:spPr>
          <a:xfrm>
            <a:off x="661492" y="2673350"/>
            <a:ext cx="3512741" cy="2520057"/>
          </a:xfrm>
          <a:prstGeom prst="roundRect">
            <a:avLst>
              <a:gd name="adj" fmla="val 2757"/>
            </a:avLst>
          </a:prstGeom>
          <a:solidFill>
            <a:srgbClr val="E1E1EA"/>
          </a:solidFill>
          <a:ln w="7620">
            <a:solidFill>
              <a:srgbClr val="C7C7D0"/>
            </a:solidFill>
            <a:prstDash val="solid"/>
          </a:ln>
        </p:spPr>
      </p:sp>
      <p:sp>
        <p:nvSpPr>
          <p:cNvPr id="5" name="Text 3"/>
          <p:cNvSpPr/>
          <p:nvPr/>
        </p:nvSpPr>
        <p:spPr>
          <a:xfrm>
            <a:off x="833140" y="2844998"/>
            <a:ext cx="2132906"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HTTP Methods (Verbs)</a:t>
            </a:r>
            <a:endParaRPr lang="en-US" sz="1625" dirty="0"/>
          </a:p>
        </p:txBody>
      </p:sp>
      <p:sp>
        <p:nvSpPr>
          <p:cNvPr id="6" name="Text 4"/>
          <p:cNvSpPr/>
          <p:nvPr/>
        </p:nvSpPr>
        <p:spPr>
          <a:xfrm>
            <a:off x="833141" y="3202682"/>
            <a:ext cx="3169444" cy="1819077"/>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GET:</a:t>
            </a:r>
            <a:r>
              <a:rPr lang="en-US" sz="1292" dirty="0">
                <a:solidFill>
                  <a:srgbClr val="3C3939"/>
                </a:solidFill>
                <a:latin typeface="Roboto" pitchFamily="34" charset="0"/>
                <a:ea typeface="Roboto" pitchFamily="34" charset="-122"/>
                <a:cs typeface="Roboto" pitchFamily="34" charset="-120"/>
              </a:rPr>
              <a:t> Retrieve data.</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POST:</a:t>
            </a:r>
            <a:r>
              <a:rPr lang="en-US" sz="1292" dirty="0">
                <a:solidFill>
                  <a:srgbClr val="3C3939"/>
                </a:solidFill>
                <a:latin typeface="Roboto" pitchFamily="34" charset="0"/>
                <a:ea typeface="Roboto" pitchFamily="34" charset="-122"/>
                <a:cs typeface="Roboto" pitchFamily="34" charset="-120"/>
              </a:rPr>
              <a:t> Send new data to the server.</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PUT:</a:t>
            </a:r>
            <a:r>
              <a:rPr lang="en-US" sz="1292" dirty="0">
                <a:solidFill>
                  <a:srgbClr val="3C3939"/>
                </a:solidFill>
                <a:latin typeface="Roboto" pitchFamily="34" charset="0"/>
                <a:ea typeface="Roboto" pitchFamily="34" charset="-122"/>
                <a:cs typeface="Roboto" pitchFamily="34" charset="-120"/>
              </a:rPr>
              <a:t> Update existing data (full replacement).</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PATCH:</a:t>
            </a:r>
            <a:r>
              <a:rPr lang="en-US" sz="1292" dirty="0">
                <a:solidFill>
                  <a:srgbClr val="3C3939"/>
                </a:solidFill>
                <a:latin typeface="Roboto" pitchFamily="34" charset="0"/>
                <a:ea typeface="Roboto" pitchFamily="34" charset="-122"/>
                <a:cs typeface="Roboto" pitchFamily="34" charset="-120"/>
              </a:rPr>
              <a:t> Partially update existing data.</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DELETE:</a:t>
            </a:r>
            <a:r>
              <a:rPr lang="en-US" sz="1292" dirty="0">
                <a:solidFill>
                  <a:srgbClr val="3C3939"/>
                </a:solidFill>
                <a:latin typeface="Roboto" pitchFamily="34" charset="0"/>
                <a:ea typeface="Roboto" pitchFamily="34" charset="-122"/>
                <a:cs typeface="Roboto" pitchFamily="34" charset="-120"/>
              </a:rPr>
              <a:t> Remove data.</a:t>
            </a:r>
            <a:endParaRPr lang="en-US" sz="1292" dirty="0"/>
          </a:p>
        </p:txBody>
      </p:sp>
      <p:sp>
        <p:nvSpPr>
          <p:cNvPr id="7" name="Shape 5"/>
          <p:cNvSpPr/>
          <p:nvPr/>
        </p:nvSpPr>
        <p:spPr>
          <a:xfrm>
            <a:off x="4339531" y="2673350"/>
            <a:ext cx="3512840" cy="2520057"/>
          </a:xfrm>
          <a:prstGeom prst="roundRect">
            <a:avLst>
              <a:gd name="adj" fmla="val 2757"/>
            </a:avLst>
          </a:prstGeom>
          <a:solidFill>
            <a:srgbClr val="E1E1EA"/>
          </a:solidFill>
          <a:ln w="7620">
            <a:solidFill>
              <a:srgbClr val="C7C7D0"/>
            </a:solidFill>
            <a:prstDash val="solid"/>
          </a:ln>
        </p:spPr>
      </p:sp>
      <p:sp>
        <p:nvSpPr>
          <p:cNvPr id="8" name="Text 6"/>
          <p:cNvSpPr/>
          <p:nvPr/>
        </p:nvSpPr>
        <p:spPr>
          <a:xfrm>
            <a:off x="4511180" y="2844998"/>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Request Structure</a:t>
            </a:r>
            <a:endParaRPr lang="en-US" sz="1625" dirty="0"/>
          </a:p>
        </p:txBody>
      </p:sp>
      <p:sp>
        <p:nvSpPr>
          <p:cNvPr id="9" name="Text 7"/>
          <p:cNvSpPr/>
          <p:nvPr/>
        </p:nvSpPr>
        <p:spPr>
          <a:xfrm>
            <a:off x="4511179" y="3202682"/>
            <a:ext cx="3169543" cy="1438771"/>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URL:</a:t>
            </a:r>
            <a:r>
              <a:rPr lang="en-US" sz="1292" dirty="0">
                <a:solidFill>
                  <a:srgbClr val="3C3939"/>
                </a:solidFill>
                <a:latin typeface="Roboto" pitchFamily="34" charset="0"/>
                <a:ea typeface="Roboto" pitchFamily="34" charset="-122"/>
                <a:cs typeface="Roboto" pitchFamily="34" charset="-120"/>
              </a:rPr>
              <a:t> Endpoint for the resource.</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Headers:</a:t>
            </a:r>
            <a:r>
              <a:rPr lang="en-US" sz="1292" dirty="0">
                <a:solidFill>
                  <a:srgbClr val="3C3939"/>
                </a:solidFill>
                <a:latin typeface="Roboto" pitchFamily="34" charset="0"/>
                <a:ea typeface="Roboto" pitchFamily="34" charset="-122"/>
                <a:cs typeface="Roboto" pitchFamily="34" charset="-120"/>
              </a:rPr>
              <a:t> Metadata (e.g., authentication, content type).</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Body:</a:t>
            </a:r>
            <a:r>
              <a:rPr lang="en-US" sz="1292" dirty="0">
                <a:solidFill>
                  <a:srgbClr val="3C3939"/>
                </a:solidFill>
                <a:latin typeface="Roboto" pitchFamily="34" charset="0"/>
                <a:ea typeface="Roboto" pitchFamily="34" charset="-122"/>
                <a:cs typeface="Roboto" pitchFamily="34" charset="-120"/>
              </a:rPr>
              <a:t> Data payload (for POST, PUT, PATCH).</a:t>
            </a:r>
            <a:endParaRPr lang="en-US" sz="1292" dirty="0"/>
          </a:p>
        </p:txBody>
      </p:sp>
      <p:sp>
        <p:nvSpPr>
          <p:cNvPr id="10" name="Shape 8"/>
          <p:cNvSpPr/>
          <p:nvPr/>
        </p:nvSpPr>
        <p:spPr>
          <a:xfrm>
            <a:off x="8017670" y="2673350"/>
            <a:ext cx="3512741" cy="2520057"/>
          </a:xfrm>
          <a:prstGeom prst="roundRect">
            <a:avLst>
              <a:gd name="adj" fmla="val 2757"/>
            </a:avLst>
          </a:prstGeom>
          <a:solidFill>
            <a:srgbClr val="E1E1EA"/>
          </a:solidFill>
          <a:ln w="7620">
            <a:solidFill>
              <a:srgbClr val="C7C7D0"/>
            </a:solidFill>
            <a:prstDash val="solid"/>
          </a:ln>
        </p:spPr>
      </p:sp>
      <p:sp>
        <p:nvSpPr>
          <p:cNvPr id="11" name="Text 9"/>
          <p:cNvSpPr/>
          <p:nvPr/>
        </p:nvSpPr>
        <p:spPr>
          <a:xfrm>
            <a:off x="8189318" y="2844998"/>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Response Structure</a:t>
            </a:r>
            <a:endParaRPr lang="en-US" sz="1625" dirty="0"/>
          </a:p>
        </p:txBody>
      </p:sp>
      <p:sp>
        <p:nvSpPr>
          <p:cNvPr id="12" name="Text 10"/>
          <p:cNvSpPr/>
          <p:nvPr/>
        </p:nvSpPr>
        <p:spPr>
          <a:xfrm>
            <a:off x="8189318" y="3202682"/>
            <a:ext cx="3169444" cy="1438771"/>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Status Code:</a:t>
            </a:r>
            <a:r>
              <a:rPr lang="en-US" sz="1292" dirty="0">
                <a:solidFill>
                  <a:srgbClr val="3C3939"/>
                </a:solidFill>
                <a:latin typeface="Roboto" pitchFamily="34" charset="0"/>
                <a:ea typeface="Roboto" pitchFamily="34" charset="-122"/>
                <a:cs typeface="Roboto" pitchFamily="34" charset="-120"/>
              </a:rPr>
              <a:t> Indicates success, error, etc. (e.g., 200 OK, 404 Not Found).</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Headers:</a:t>
            </a:r>
            <a:r>
              <a:rPr lang="en-US" sz="1292" dirty="0">
                <a:solidFill>
                  <a:srgbClr val="3C3939"/>
                </a:solidFill>
                <a:latin typeface="Roboto" pitchFamily="34" charset="0"/>
                <a:ea typeface="Roboto" pitchFamily="34" charset="-122"/>
                <a:cs typeface="Roboto" pitchFamily="34" charset="-120"/>
              </a:rPr>
              <a:t> Metadata about the response.</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Body:</a:t>
            </a:r>
            <a:r>
              <a:rPr lang="en-US" sz="1292" dirty="0">
                <a:solidFill>
                  <a:srgbClr val="3C3939"/>
                </a:solidFill>
                <a:latin typeface="Roboto" pitchFamily="34" charset="0"/>
                <a:ea typeface="Roboto" pitchFamily="34" charset="-122"/>
                <a:cs typeface="Roboto" pitchFamily="34" charset="-120"/>
              </a:rPr>
              <a:t> Returned data (e.g., JSON, XML).</a:t>
            </a:r>
            <a:endParaRPr lang="en-US" sz="1292" dirty="0"/>
          </a:p>
        </p:txBody>
      </p:sp>
      <p:sp>
        <p:nvSpPr>
          <p:cNvPr id="13" name="Text 11"/>
          <p:cNvSpPr/>
          <p:nvPr/>
        </p:nvSpPr>
        <p:spPr>
          <a:xfrm>
            <a:off x="661492" y="5379442"/>
            <a:ext cx="10869018" cy="264617"/>
          </a:xfrm>
          <a:prstGeom prst="rect">
            <a:avLst/>
          </a:prstGeom>
          <a:noFill/>
          <a:ln/>
        </p:spPr>
        <p:txBody>
          <a:bodyPr wrap="non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Understanding these elements is crucial for effective API interaction and debugging.</a:t>
            </a:r>
            <a:endParaRPr lang="en-US" sz="1292"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289348"/>
            <a:ext cx="8480425"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Why API Integration is Important: Real-World Use Cases</a:t>
            </a:r>
            <a:endParaRPr lang="en-US" sz="2583" dirty="0"/>
          </a:p>
        </p:txBody>
      </p:sp>
      <p:sp>
        <p:nvSpPr>
          <p:cNvPr id="3" name="Text 1"/>
          <p:cNvSpPr/>
          <p:nvPr/>
        </p:nvSpPr>
        <p:spPr>
          <a:xfrm>
            <a:off x="661492" y="2033489"/>
            <a:ext cx="10869018"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API integration is the process of combining different APIs to create new functionalities and streamline operations. It drives digital transformation and enables businesses to build sophisticated, interconnected systems.</a:t>
            </a:r>
            <a:endParaRPr lang="en-US" sz="1292"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92" y="2748757"/>
            <a:ext cx="413444" cy="413444"/>
          </a:xfrm>
          <a:prstGeom prst="rect">
            <a:avLst/>
          </a:prstGeom>
        </p:spPr>
      </p:pic>
      <p:sp>
        <p:nvSpPr>
          <p:cNvPr id="5" name="Text 2"/>
          <p:cNvSpPr/>
          <p:nvPr/>
        </p:nvSpPr>
        <p:spPr>
          <a:xfrm>
            <a:off x="1281609" y="2748757"/>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Payment Gateways</a:t>
            </a:r>
            <a:endParaRPr lang="en-US" sz="1625" dirty="0"/>
          </a:p>
        </p:txBody>
      </p:sp>
      <p:sp>
        <p:nvSpPr>
          <p:cNvPr id="6" name="Text 3"/>
          <p:cNvSpPr/>
          <p:nvPr/>
        </p:nvSpPr>
        <p:spPr>
          <a:xfrm>
            <a:off x="1281609" y="3106440"/>
            <a:ext cx="4711006"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Integrate with Stripe or PayPal to process online transactions securely.</a:t>
            </a:r>
            <a:endParaRPr lang="en-US" sz="1292"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99287" y="2748757"/>
            <a:ext cx="413444" cy="413444"/>
          </a:xfrm>
          <a:prstGeom prst="rect">
            <a:avLst/>
          </a:prstGeom>
        </p:spPr>
      </p:pic>
      <p:sp>
        <p:nvSpPr>
          <p:cNvPr id="8" name="Text 4"/>
          <p:cNvSpPr/>
          <p:nvPr/>
        </p:nvSpPr>
        <p:spPr>
          <a:xfrm>
            <a:off x="6819405" y="2748757"/>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Social Login</a:t>
            </a:r>
            <a:endParaRPr lang="en-US" sz="1625" dirty="0"/>
          </a:p>
        </p:txBody>
      </p:sp>
      <p:sp>
        <p:nvSpPr>
          <p:cNvPr id="9" name="Text 5"/>
          <p:cNvSpPr/>
          <p:nvPr/>
        </p:nvSpPr>
        <p:spPr>
          <a:xfrm>
            <a:off x="6819404" y="3106440"/>
            <a:ext cx="4711105"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Allow users to sign in with their Google, Facebook, or other social media accounts.</a:t>
            </a:r>
            <a:endParaRPr lang="en-US" sz="1292"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92" y="3966370"/>
            <a:ext cx="413444" cy="413444"/>
          </a:xfrm>
          <a:prstGeom prst="rect">
            <a:avLst/>
          </a:prstGeom>
        </p:spPr>
      </p:pic>
      <p:sp>
        <p:nvSpPr>
          <p:cNvPr id="11" name="Text 6"/>
          <p:cNvSpPr/>
          <p:nvPr/>
        </p:nvSpPr>
        <p:spPr>
          <a:xfrm>
            <a:off x="1281609" y="3966369"/>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Weather APIs</a:t>
            </a:r>
            <a:endParaRPr lang="en-US" sz="1625" dirty="0"/>
          </a:p>
        </p:txBody>
      </p:sp>
      <p:sp>
        <p:nvSpPr>
          <p:cNvPr id="12" name="Text 7"/>
          <p:cNvSpPr/>
          <p:nvPr/>
        </p:nvSpPr>
        <p:spPr>
          <a:xfrm>
            <a:off x="1281609" y="4324053"/>
            <a:ext cx="4711006"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Incorporate real-time weather data into travel apps or smart home systems.</a:t>
            </a:r>
            <a:endParaRPr lang="en-US" sz="1292"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99287" y="3966370"/>
            <a:ext cx="413444" cy="413444"/>
          </a:xfrm>
          <a:prstGeom prst="rect">
            <a:avLst/>
          </a:prstGeom>
        </p:spPr>
      </p:pic>
      <p:sp>
        <p:nvSpPr>
          <p:cNvPr id="14" name="Text 8"/>
          <p:cNvSpPr/>
          <p:nvPr/>
        </p:nvSpPr>
        <p:spPr>
          <a:xfrm>
            <a:off x="6819405" y="3966369"/>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Mapping Services</a:t>
            </a:r>
            <a:endParaRPr lang="en-US" sz="1625" dirty="0"/>
          </a:p>
        </p:txBody>
      </p:sp>
      <p:sp>
        <p:nvSpPr>
          <p:cNvPr id="15" name="Text 9"/>
          <p:cNvSpPr/>
          <p:nvPr/>
        </p:nvSpPr>
        <p:spPr>
          <a:xfrm>
            <a:off x="6819404" y="4324053"/>
            <a:ext cx="4711105"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Utilize Google Maps or OpenStreetMap APIs for location-based features.</a:t>
            </a:r>
            <a:endParaRPr lang="en-US" sz="1292" dirty="0"/>
          </a:p>
        </p:txBody>
      </p:sp>
      <p:sp>
        <p:nvSpPr>
          <p:cNvPr id="16" name="Text 10"/>
          <p:cNvSpPr/>
          <p:nvPr/>
        </p:nvSpPr>
        <p:spPr>
          <a:xfrm>
            <a:off x="661492" y="5039320"/>
            <a:ext cx="10869018"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API integration unlocks new business models, improves customer experiences, and automates workflows, making it a cornerstone of modern software development.</a:t>
            </a:r>
            <a:endParaRPr lang="en-US" sz="1292"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366045"/>
            <a:ext cx="6018708"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API Authentication and Tools for Testing</a:t>
            </a:r>
            <a:endParaRPr lang="en-US" sz="2583" dirty="0"/>
          </a:p>
        </p:txBody>
      </p:sp>
      <p:sp>
        <p:nvSpPr>
          <p:cNvPr id="3" name="Text 1"/>
          <p:cNvSpPr/>
          <p:nvPr/>
        </p:nvSpPr>
        <p:spPr>
          <a:xfrm>
            <a:off x="661492" y="2110184"/>
            <a:ext cx="10869018"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Secure API access is paramount, and various authentication methods ensure only authorized entities can interact with an API. Tools simplify the process of testing and interacting with APIs.</a:t>
            </a:r>
            <a:endParaRPr lang="en-US" sz="1292" dirty="0"/>
          </a:p>
        </p:txBody>
      </p:sp>
      <p:sp>
        <p:nvSpPr>
          <p:cNvPr id="4" name="Text 2"/>
          <p:cNvSpPr/>
          <p:nvPr/>
        </p:nvSpPr>
        <p:spPr>
          <a:xfrm>
            <a:off x="661492" y="2990751"/>
            <a:ext cx="2737346" cy="310058"/>
          </a:xfrm>
          <a:prstGeom prst="rect">
            <a:avLst/>
          </a:prstGeom>
          <a:noFill/>
          <a:ln/>
        </p:spPr>
        <p:txBody>
          <a:bodyPr wrap="none" lIns="0" tIns="0" rIns="0" bIns="0" rtlCol="0" anchor="t"/>
          <a:lstStyle/>
          <a:p>
            <a:pPr>
              <a:lnSpc>
                <a:spcPts val="2417"/>
              </a:lnSpc>
            </a:pPr>
            <a:r>
              <a:rPr lang="en-US" sz="1917" dirty="0">
                <a:solidFill>
                  <a:srgbClr val="1B1B27"/>
                </a:solidFill>
                <a:latin typeface="Raleway" pitchFamily="34" charset="0"/>
                <a:ea typeface="Raleway" pitchFamily="34" charset="-122"/>
                <a:cs typeface="Raleway" pitchFamily="34" charset="-120"/>
              </a:rPr>
              <a:t>Authentication Methods</a:t>
            </a:r>
            <a:endParaRPr lang="en-US" sz="1917" dirty="0"/>
          </a:p>
        </p:txBody>
      </p:sp>
      <p:sp>
        <p:nvSpPr>
          <p:cNvPr id="5" name="Text 3"/>
          <p:cNvSpPr/>
          <p:nvPr/>
        </p:nvSpPr>
        <p:spPr>
          <a:xfrm>
            <a:off x="661492" y="3466108"/>
            <a:ext cx="5232797" cy="1968004"/>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API Keys:</a:t>
            </a:r>
            <a:r>
              <a:rPr lang="en-US" sz="1292" dirty="0">
                <a:solidFill>
                  <a:srgbClr val="3C3939"/>
                </a:solidFill>
                <a:latin typeface="Roboto" pitchFamily="34" charset="0"/>
                <a:ea typeface="Roboto" pitchFamily="34" charset="-122"/>
                <a:cs typeface="Roboto" pitchFamily="34" charset="-120"/>
              </a:rPr>
              <a:t> Simple token passed with each request, typically in headers or URL parameters.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OAuth:</a:t>
            </a:r>
            <a:r>
              <a:rPr lang="en-US" sz="1292" dirty="0">
                <a:solidFill>
                  <a:srgbClr val="3C3939"/>
                </a:solidFill>
                <a:latin typeface="Roboto" pitchFamily="34" charset="0"/>
                <a:ea typeface="Roboto" pitchFamily="34" charset="-122"/>
                <a:cs typeface="Roboto" pitchFamily="34" charset="-120"/>
              </a:rPr>
              <a:t> Delegates user authentication to a third-party service, providing secure access without sharing credentials.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JWT (JSON Web Tokens):</a:t>
            </a:r>
            <a:r>
              <a:rPr lang="en-US" sz="1292" dirty="0">
                <a:solidFill>
                  <a:srgbClr val="3C3939"/>
                </a:solidFill>
                <a:latin typeface="Roboto" pitchFamily="34" charset="0"/>
                <a:ea typeface="Roboto" pitchFamily="34" charset="-122"/>
                <a:cs typeface="Roboto" pitchFamily="34" charset="-120"/>
              </a:rPr>
              <a:t> Compact, URL-safe means of representing claims between two parties, often used for authorization.</a:t>
            </a:r>
            <a:endParaRPr lang="en-US" sz="1292" dirty="0"/>
          </a:p>
        </p:txBody>
      </p:sp>
      <p:sp>
        <p:nvSpPr>
          <p:cNvPr id="6" name="Text 4"/>
          <p:cNvSpPr/>
          <p:nvPr/>
        </p:nvSpPr>
        <p:spPr>
          <a:xfrm>
            <a:off x="6304062" y="2990751"/>
            <a:ext cx="3011587" cy="310058"/>
          </a:xfrm>
          <a:prstGeom prst="rect">
            <a:avLst/>
          </a:prstGeom>
          <a:noFill/>
          <a:ln/>
        </p:spPr>
        <p:txBody>
          <a:bodyPr wrap="none" lIns="0" tIns="0" rIns="0" bIns="0" rtlCol="0" anchor="t"/>
          <a:lstStyle/>
          <a:p>
            <a:pPr>
              <a:lnSpc>
                <a:spcPts val="2417"/>
              </a:lnSpc>
            </a:pPr>
            <a:r>
              <a:rPr lang="en-US" sz="1917" dirty="0">
                <a:solidFill>
                  <a:srgbClr val="1B1B27"/>
                </a:solidFill>
                <a:latin typeface="Raleway" pitchFamily="34" charset="0"/>
                <a:ea typeface="Raleway" pitchFamily="34" charset="-122"/>
                <a:cs typeface="Raleway" pitchFamily="34" charset="-120"/>
              </a:rPr>
              <a:t>Testing &amp; Integration Tools</a:t>
            </a:r>
            <a:endParaRPr lang="en-US" sz="1917" dirty="0"/>
          </a:p>
        </p:txBody>
      </p:sp>
      <p:sp>
        <p:nvSpPr>
          <p:cNvPr id="7" name="Text 5"/>
          <p:cNvSpPr/>
          <p:nvPr/>
        </p:nvSpPr>
        <p:spPr>
          <a:xfrm>
            <a:off x="6304062" y="3466108"/>
            <a:ext cx="5232797" cy="1703388"/>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Postman:</a:t>
            </a:r>
            <a:r>
              <a:rPr lang="en-US" sz="1292" dirty="0">
                <a:solidFill>
                  <a:srgbClr val="3C3939"/>
                </a:solidFill>
                <a:latin typeface="Roboto" pitchFamily="34" charset="0"/>
                <a:ea typeface="Roboto" pitchFamily="34" charset="-122"/>
                <a:cs typeface="Roboto" pitchFamily="34" charset="-120"/>
              </a:rPr>
              <a:t> Comprehensive API development environment for designing, testing, and documenting APIs.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cURL:</a:t>
            </a:r>
            <a:r>
              <a:rPr lang="en-US" sz="1292" dirty="0">
                <a:solidFill>
                  <a:srgbClr val="3C3939"/>
                </a:solidFill>
                <a:latin typeface="Roboto" pitchFamily="34" charset="0"/>
                <a:ea typeface="Roboto" pitchFamily="34" charset="-122"/>
                <a:cs typeface="Roboto" pitchFamily="34" charset="-120"/>
              </a:rPr>
              <a:t> Command-line tool for making HTTP requests, useful for quick tests and scripting.</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Swagger/OpenAPI:</a:t>
            </a:r>
            <a:r>
              <a:rPr lang="en-US" sz="1292" dirty="0">
                <a:solidFill>
                  <a:srgbClr val="3C3939"/>
                </a:solidFill>
                <a:latin typeface="Roboto" pitchFamily="34" charset="0"/>
                <a:ea typeface="Roboto" pitchFamily="34" charset="-122"/>
                <a:cs typeface="Roboto" pitchFamily="34" charset="-120"/>
              </a:rPr>
              <a:t> Framework for documenting, visualizing, and interacting with RESTful APIs.</a:t>
            </a:r>
            <a:endParaRPr lang="en-US" sz="1292"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6191" y="478830"/>
            <a:ext cx="4257477" cy="258465"/>
          </a:xfrm>
          <a:prstGeom prst="rect">
            <a:avLst/>
          </a:prstGeom>
          <a:noFill/>
          <a:ln/>
        </p:spPr>
        <p:txBody>
          <a:bodyPr wrap="none" lIns="0" tIns="0" rIns="0" bIns="0" rtlCol="0" anchor="t"/>
          <a:lstStyle/>
          <a:p>
            <a:pPr>
              <a:lnSpc>
                <a:spcPts val="2000"/>
              </a:lnSpc>
            </a:pPr>
            <a:r>
              <a:rPr lang="en-US" sz="1625" dirty="0">
                <a:solidFill>
                  <a:srgbClr val="1B1B27"/>
                </a:solidFill>
                <a:latin typeface="Raleway" pitchFamily="34" charset="0"/>
                <a:ea typeface="Raleway" pitchFamily="34" charset="-122"/>
                <a:cs typeface="Raleway" pitchFamily="34" charset="-120"/>
              </a:rPr>
              <a:t>Introduction to Postman &amp; Example Scenario</a:t>
            </a:r>
            <a:endParaRPr lang="en-US" sz="1625" dirty="0"/>
          </a:p>
        </p:txBody>
      </p:sp>
      <p:sp>
        <p:nvSpPr>
          <p:cNvPr id="3" name="Text 1"/>
          <p:cNvSpPr/>
          <p:nvPr/>
        </p:nvSpPr>
        <p:spPr>
          <a:xfrm>
            <a:off x="636191" y="866478"/>
            <a:ext cx="10919619" cy="134343"/>
          </a:xfrm>
          <a:prstGeom prst="rect">
            <a:avLst/>
          </a:prstGeom>
          <a:noFill/>
          <a:ln/>
        </p:spPr>
        <p:txBody>
          <a:bodyPr wrap="none" lIns="0" tIns="0" rIns="0" bIns="0" rtlCol="0" anchor="t"/>
          <a:lstStyle/>
          <a:p>
            <a:pPr>
              <a:lnSpc>
                <a:spcPts val="1042"/>
              </a:lnSpc>
            </a:pPr>
            <a:r>
              <a:rPr lang="en-US" sz="792" dirty="0">
                <a:solidFill>
                  <a:srgbClr val="3C3939"/>
                </a:solidFill>
                <a:latin typeface="Roboto" pitchFamily="34" charset="0"/>
                <a:ea typeface="Roboto" pitchFamily="34" charset="-122"/>
                <a:cs typeface="Roboto" pitchFamily="34" charset="-120"/>
              </a:rPr>
              <a:t>Postman is an indispensable tool for API developers, offering a user-friendly interface to build, test, and manage API requests. It simplifies complex API interactions.</a:t>
            </a:r>
            <a:endParaRPr lang="en-US" sz="792" dirty="0"/>
          </a:p>
        </p:txBody>
      </p:sp>
      <p:sp>
        <p:nvSpPr>
          <p:cNvPr id="4" name="Shape 2"/>
          <p:cNvSpPr/>
          <p:nvPr/>
        </p:nvSpPr>
        <p:spPr>
          <a:xfrm>
            <a:off x="636191" y="1073448"/>
            <a:ext cx="3596779" cy="1063129"/>
          </a:xfrm>
          <a:prstGeom prst="roundRect">
            <a:avLst>
              <a:gd name="adj" fmla="val 4085"/>
            </a:avLst>
          </a:prstGeom>
          <a:solidFill>
            <a:srgbClr val="E1E1EA"/>
          </a:solidFill>
          <a:ln w="7620">
            <a:solidFill>
              <a:srgbClr val="C7C7D0"/>
            </a:solidFill>
            <a:prstDash val="solid"/>
          </a:ln>
        </p:spPr>
      </p:sp>
      <p:sp>
        <p:nvSpPr>
          <p:cNvPr id="5" name="Shape 3"/>
          <p:cNvSpPr/>
          <p:nvPr/>
        </p:nvSpPr>
        <p:spPr>
          <a:xfrm>
            <a:off x="745927" y="1183184"/>
            <a:ext cx="310158" cy="310158"/>
          </a:xfrm>
          <a:prstGeom prst="roundRect">
            <a:avLst>
              <a:gd name="adj" fmla="val 24565706"/>
            </a:avLst>
          </a:prstGeom>
          <a:solidFill>
            <a:srgbClr val="1B1B27"/>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1255" y="1268512"/>
            <a:ext cx="139502" cy="139502"/>
          </a:xfrm>
          <a:prstGeom prst="rect">
            <a:avLst/>
          </a:prstGeom>
        </p:spPr>
      </p:pic>
      <p:sp>
        <p:nvSpPr>
          <p:cNvPr id="7" name="Text 4"/>
          <p:cNvSpPr/>
          <p:nvPr/>
        </p:nvSpPr>
        <p:spPr>
          <a:xfrm>
            <a:off x="745927" y="1557933"/>
            <a:ext cx="1292324" cy="161528"/>
          </a:xfrm>
          <a:prstGeom prst="rect">
            <a:avLst/>
          </a:prstGeom>
          <a:noFill/>
          <a:ln/>
        </p:spPr>
        <p:txBody>
          <a:bodyPr wrap="none" lIns="0" tIns="0" rIns="0" bIns="0" rtlCol="0" anchor="t"/>
          <a:lstStyle/>
          <a:p>
            <a:pPr>
              <a:lnSpc>
                <a:spcPts val="1250"/>
              </a:lnSpc>
            </a:pPr>
            <a:r>
              <a:rPr lang="en-US" sz="1000" dirty="0">
                <a:solidFill>
                  <a:srgbClr val="3C3939"/>
                </a:solidFill>
                <a:latin typeface="Raleway" pitchFamily="34" charset="0"/>
                <a:ea typeface="Raleway" pitchFamily="34" charset="-122"/>
                <a:cs typeface="Raleway" pitchFamily="34" charset="-120"/>
              </a:rPr>
              <a:t>Request Builder</a:t>
            </a:r>
            <a:endParaRPr lang="en-US" sz="1000" dirty="0"/>
          </a:p>
        </p:txBody>
      </p:sp>
      <p:sp>
        <p:nvSpPr>
          <p:cNvPr id="8" name="Text 5"/>
          <p:cNvSpPr/>
          <p:nvPr/>
        </p:nvSpPr>
        <p:spPr>
          <a:xfrm>
            <a:off x="745927" y="1758156"/>
            <a:ext cx="3377307" cy="268684"/>
          </a:xfrm>
          <a:prstGeom prst="rect">
            <a:avLst/>
          </a:prstGeom>
          <a:noFill/>
          <a:ln/>
        </p:spPr>
        <p:txBody>
          <a:bodyPr wrap="square" lIns="0" tIns="0" rIns="0" bIns="0" rtlCol="0" anchor="t"/>
          <a:lstStyle/>
          <a:p>
            <a:pPr>
              <a:lnSpc>
                <a:spcPts val="1042"/>
              </a:lnSpc>
            </a:pPr>
            <a:r>
              <a:rPr lang="en-US" sz="792" dirty="0">
                <a:solidFill>
                  <a:srgbClr val="3C3939"/>
                </a:solidFill>
                <a:latin typeface="Roboto" pitchFamily="34" charset="0"/>
                <a:ea typeface="Roboto" pitchFamily="34" charset="-122"/>
                <a:cs typeface="Roboto" pitchFamily="34" charset="-120"/>
              </a:rPr>
              <a:t>Easily construct HTTP requests with various methods, headers, and body types.</a:t>
            </a:r>
            <a:endParaRPr lang="en-US" sz="792" dirty="0"/>
          </a:p>
        </p:txBody>
      </p:sp>
      <p:sp>
        <p:nvSpPr>
          <p:cNvPr id="9" name="Shape 6"/>
          <p:cNvSpPr/>
          <p:nvPr/>
        </p:nvSpPr>
        <p:spPr>
          <a:xfrm>
            <a:off x="4297561" y="1073448"/>
            <a:ext cx="3596779" cy="1063129"/>
          </a:xfrm>
          <a:prstGeom prst="roundRect">
            <a:avLst>
              <a:gd name="adj" fmla="val 4085"/>
            </a:avLst>
          </a:prstGeom>
          <a:solidFill>
            <a:srgbClr val="E1E1EA"/>
          </a:solidFill>
          <a:ln w="7620">
            <a:solidFill>
              <a:srgbClr val="C7C7D0"/>
            </a:solidFill>
            <a:prstDash val="solid"/>
          </a:ln>
        </p:spPr>
      </p:sp>
      <p:sp>
        <p:nvSpPr>
          <p:cNvPr id="10" name="Shape 7"/>
          <p:cNvSpPr/>
          <p:nvPr/>
        </p:nvSpPr>
        <p:spPr>
          <a:xfrm>
            <a:off x="4407297" y="1183184"/>
            <a:ext cx="310158" cy="310158"/>
          </a:xfrm>
          <a:prstGeom prst="roundRect">
            <a:avLst>
              <a:gd name="adj" fmla="val 24565706"/>
            </a:avLst>
          </a:prstGeom>
          <a:solidFill>
            <a:srgbClr val="1B1B27"/>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92625" y="1268512"/>
            <a:ext cx="139502" cy="139502"/>
          </a:xfrm>
          <a:prstGeom prst="rect">
            <a:avLst/>
          </a:prstGeom>
        </p:spPr>
      </p:pic>
      <p:sp>
        <p:nvSpPr>
          <p:cNvPr id="12" name="Text 8"/>
          <p:cNvSpPr/>
          <p:nvPr/>
        </p:nvSpPr>
        <p:spPr>
          <a:xfrm>
            <a:off x="4407297" y="1557933"/>
            <a:ext cx="1292324" cy="161528"/>
          </a:xfrm>
          <a:prstGeom prst="rect">
            <a:avLst/>
          </a:prstGeom>
          <a:noFill/>
          <a:ln/>
        </p:spPr>
        <p:txBody>
          <a:bodyPr wrap="none" lIns="0" tIns="0" rIns="0" bIns="0" rtlCol="0" anchor="t"/>
          <a:lstStyle/>
          <a:p>
            <a:pPr>
              <a:lnSpc>
                <a:spcPts val="1250"/>
              </a:lnSpc>
            </a:pPr>
            <a:r>
              <a:rPr lang="en-US" sz="1000" dirty="0">
                <a:solidFill>
                  <a:srgbClr val="3C3939"/>
                </a:solidFill>
                <a:latin typeface="Raleway" pitchFamily="34" charset="0"/>
                <a:ea typeface="Raleway" pitchFamily="34" charset="-122"/>
                <a:cs typeface="Raleway" pitchFamily="34" charset="-120"/>
              </a:rPr>
              <a:t>Testing Features</a:t>
            </a:r>
            <a:endParaRPr lang="en-US" sz="1000" dirty="0"/>
          </a:p>
        </p:txBody>
      </p:sp>
      <p:sp>
        <p:nvSpPr>
          <p:cNvPr id="13" name="Text 9"/>
          <p:cNvSpPr/>
          <p:nvPr/>
        </p:nvSpPr>
        <p:spPr>
          <a:xfrm>
            <a:off x="4407297" y="1758156"/>
            <a:ext cx="3377307" cy="268684"/>
          </a:xfrm>
          <a:prstGeom prst="rect">
            <a:avLst/>
          </a:prstGeom>
          <a:noFill/>
          <a:ln/>
        </p:spPr>
        <p:txBody>
          <a:bodyPr wrap="square" lIns="0" tIns="0" rIns="0" bIns="0" rtlCol="0" anchor="t"/>
          <a:lstStyle/>
          <a:p>
            <a:pPr>
              <a:lnSpc>
                <a:spcPts val="1042"/>
              </a:lnSpc>
            </a:pPr>
            <a:r>
              <a:rPr lang="en-US" sz="792" dirty="0">
                <a:solidFill>
                  <a:srgbClr val="3C3939"/>
                </a:solidFill>
                <a:latin typeface="Roboto" pitchFamily="34" charset="0"/>
                <a:ea typeface="Roboto" pitchFamily="34" charset="-122"/>
                <a:cs typeface="Roboto" pitchFamily="34" charset="-120"/>
              </a:rPr>
              <a:t>Write scripts to validate responses, ensuring API functionality and data integrity.</a:t>
            </a:r>
            <a:endParaRPr lang="en-US" sz="792" dirty="0"/>
          </a:p>
        </p:txBody>
      </p:sp>
      <p:sp>
        <p:nvSpPr>
          <p:cNvPr id="14" name="Shape 10"/>
          <p:cNvSpPr/>
          <p:nvPr/>
        </p:nvSpPr>
        <p:spPr>
          <a:xfrm>
            <a:off x="7958932" y="1073448"/>
            <a:ext cx="3596779" cy="1063129"/>
          </a:xfrm>
          <a:prstGeom prst="roundRect">
            <a:avLst>
              <a:gd name="adj" fmla="val 4085"/>
            </a:avLst>
          </a:prstGeom>
          <a:solidFill>
            <a:srgbClr val="E1E1EA"/>
          </a:solidFill>
          <a:ln w="7620">
            <a:solidFill>
              <a:srgbClr val="C7C7D0"/>
            </a:solidFill>
            <a:prstDash val="solid"/>
          </a:ln>
        </p:spPr>
      </p:sp>
      <p:sp>
        <p:nvSpPr>
          <p:cNvPr id="15" name="Shape 11"/>
          <p:cNvSpPr/>
          <p:nvPr/>
        </p:nvSpPr>
        <p:spPr>
          <a:xfrm>
            <a:off x="8068668" y="1183184"/>
            <a:ext cx="310158" cy="310158"/>
          </a:xfrm>
          <a:prstGeom prst="roundRect">
            <a:avLst>
              <a:gd name="adj" fmla="val 24565706"/>
            </a:avLst>
          </a:prstGeom>
          <a:solidFill>
            <a:srgbClr val="1B1B27"/>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53995" y="1268512"/>
            <a:ext cx="139502" cy="139502"/>
          </a:xfrm>
          <a:prstGeom prst="rect">
            <a:avLst/>
          </a:prstGeom>
        </p:spPr>
      </p:pic>
      <p:sp>
        <p:nvSpPr>
          <p:cNvPr id="17" name="Text 12"/>
          <p:cNvSpPr/>
          <p:nvPr/>
        </p:nvSpPr>
        <p:spPr>
          <a:xfrm>
            <a:off x="8068668" y="1557933"/>
            <a:ext cx="1292324" cy="161528"/>
          </a:xfrm>
          <a:prstGeom prst="rect">
            <a:avLst/>
          </a:prstGeom>
          <a:noFill/>
          <a:ln/>
        </p:spPr>
        <p:txBody>
          <a:bodyPr wrap="none" lIns="0" tIns="0" rIns="0" bIns="0" rtlCol="0" anchor="t"/>
          <a:lstStyle/>
          <a:p>
            <a:pPr>
              <a:lnSpc>
                <a:spcPts val="1250"/>
              </a:lnSpc>
            </a:pPr>
            <a:r>
              <a:rPr lang="en-US" sz="1000" dirty="0">
                <a:solidFill>
                  <a:srgbClr val="3C3939"/>
                </a:solidFill>
                <a:latin typeface="Raleway" pitchFamily="34" charset="0"/>
                <a:ea typeface="Raleway" pitchFamily="34" charset="-122"/>
                <a:cs typeface="Raleway" pitchFamily="34" charset="-120"/>
              </a:rPr>
              <a:t>Collections</a:t>
            </a:r>
            <a:endParaRPr lang="en-US" sz="1000" dirty="0"/>
          </a:p>
        </p:txBody>
      </p:sp>
      <p:sp>
        <p:nvSpPr>
          <p:cNvPr id="18" name="Text 13"/>
          <p:cNvSpPr/>
          <p:nvPr/>
        </p:nvSpPr>
        <p:spPr>
          <a:xfrm>
            <a:off x="8068667" y="1758156"/>
            <a:ext cx="3377307" cy="268684"/>
          </a:xfrm>
          <a:prstGeom prst="rect">
            <a:avLst/>
          </a:prstGeom>
          <a:noFill/>
          <a:ln/>
        </p:spPr>
        <p:txBody>
          <a:bodyPr wrap="square" lIns="0" tIns="0" rIns="0" bIns="0" rtlCol="0" anchor="t"/>
          <a:lstStyle/>
          <a:p>
            <a:pPr>
              <a:lnSpc>
                <a:spcPts val="1042"/>
              </a:lnSpc>
            </a:pPr>
            <a:r>
              <a:rPr lang="en-US" sz="792" dirty="0">
                <a:solidFill>
                  <a:srgbClr val="3C3939"/>
                </a:solidFill>
                <a:latin typeface="Roboto" pitchFamily="34" charset="0"/>
                <a:ea typeface="Roboto" pitchFamily="34" charset="-122"/>
                <a:cs typeface="Roboto" pitchFamily="34" charset="-120"/>
              </a:rPr>
              <a:t>Organize API requests into logical groups for better management and collaboration.</a:t>
            </a:r>
            <a:endParaRPr lang="en-US" sz="792" dirty="0"/>
          </a:p>
        </p:txBody>
      </p:sp>
      <p:sp>
        <p:nvSpPr>
          <p:cNvPr id="19" name="Text 14"/>
          <p:cNvSpPr/>
          <p:nvPr/>
        </p:nvSpPr>
        <p:spPr>
          <a:xfrm>
            <a:off x="636191" y="2233514"/>
            <a:ext cx="2925267" cy="193774"/>
          </a:xfrm>
          <a:prstGeom prst="rect">
            <a:avLst/>
          </a:prstGeom>
          <a:noFill/>
          <a:ln/>
        </p:spPr>
        <p:txBody>
          <a:bodyPr wrap="none" lIns="0" tIns="0" rIns="0" bIns="0" rtlCol="0" anchor="t"/>
          <a:lstStyle/>
          <a:p>
            <a:pPr>
              <a:lnSpc>
                <a:spcPts val="1500"/>
              </a:lnSpc>
            </a:pPr>
            <a:r>
              <a:rPr lang="en-US" sz="1208" dirty="0">
                <a:solidFill>
                  <a:srgbClr val="1B1B27"/>
                </a:solidFill>
                <a:latin typeface="Raleway" pitchFamily="34" charset="0"/>
                <a:ea typeface="Raleway" pitchFamily="34" charset="-122"/>
                <a:cs typeface="Raleway" pitchFamily="34" charset="-120"/>
              </a:rPr>
              <a:t>Example: Fetching User Data from an API</a:t>
            </a:r>
            <a:endParaRPr lang="en-US" sz="1208" dirty="0"/>
          </a:p>
        </p:txBody>
      </p:sp>
      <p:sp>
        <p:nvSpPr>
          <p:cNvPr id="20" name="Shape 15"/>
          <p:cNvSpPr/>
          <p:nvPr/>
        </p:nvSpPr>
        <p:spPr>
          <a:xfrm>
            <a:off x="636191" y="2524224"/>
            <a:ext cx="10919619" cy="3647877"/>
          </a:xfrm>
          <a:prstGeom prst="roundRect">
            <a:avLst>
              <a:gd name="adj" fmla="val 1190"/>
            </a:avLst>
          </a:prstGeom>
          <a:solidFill>
            <a:srgbClr val="F2F2F2"/>
          </a:solidFill>
          <a:ln/>
        </p:spPr>
      </p:sp>
      <p:sp>
        <p:nvSpPr>
          <p:cNvPr id="21" name="Shape 16"/>
          <p:cNvSpPr/>
          <p:nvPr/>
        </p:nvSpPr>
        <p:spPr>
          <a:xfrm>
            <a:off x="631032" y="2524224"/>
            <a:ext cx="10929938" cy="3647877"/>
          </a:xfrm>
          <a:prstGeom prst="roundRect">
            <a:avLst>
              <a:gd name="adj" fmla="val 425"/>
            </a:avLst>
          </a:prstGeom>
          <a:solidFill>
            <a:srgbClr val="F2F2F2"/>
          </a:solidFill>
          <a:ln/>
        </p:spPr>
      </p:sp>
      <p:sp>
        <p:nvSpPr>
          <p:cNvPr id="22" name="Text 17"/>
          <p:cNvSpPr/>
          <p:nvPr/>
        </p:nvSpPr>
        <p:spPr>
          <a:xfrm>
            <a:off x="734418" y="2601714"/>
            <a:ext cx="10723166" cy="3492897"/>
          </a:xfrm>
          <a:prstGeom prst="rect">
            <a:avLst/>
          </a:prstGeom>
          <a:noFill/>
          <a:ln/>
        </p:spPr>
        <p:txBody>
          <a:bodyPr wrap="square" lIns="0" tIns="0" rIns="0" bIns="0" rtlCol="0" anchor="t"/>
          <a:lstStyle/>
          <a:p>
            <a:pPr>
              <a:lnSpc>
                <a:spcPts val="1042"/>
              </a:lnSpc>
            </a:pPr>
            <a:r>
              <a:rPr lang="en-US" sz="792" dirty="0">
                <a:solidFill>
                  <a:srgbClr val="3C3939"/>
                </a:solidFill>
                <a:highlight>
                  <a:srgbClr val="F2F2F2"/>
                </a:highlight>
                <a:latin typeface="Consolas" pitchFamily="34" charset="0"/>
                <a:ea typeface="Consolas" pitchFamily="34" charset="-122"/>
                <a:cs typeface="Consolas" pitchFamily="34" charset="-120"/>
              </a:rPr>
              <a:t>// JavaScript (Node.js) example using 'node-fetch'
const fetch = require('node-fetch');
async function getUser(userId) {
  try {
    const response = await fetch(`https://api.example.com/users/${userId}`, {
      method: 'GET',
      headers: {
        'Authorization': 'Bearer YOUR_AUTH_TOKEN',
        'Content-Type': 'application/json'
      }
    });
    if (!response.ok) {
      throw new Error(`HTTP error! Status: ${response.status}`);
    }
    const data = await response.json();
    console.log(data);
  } catch (error) {
    console.error('Error fetching user:', error);
  }
}
getUser(123);
</a:t>
            </a:r>
            <a:endParaRPr lang="en-US" sz="792" dirty="0"/>
          </a:p>
        </p:txBody>
      </p:sp>
      <p:sp>
        <p:nvSpPr>
          <p:cNvPr id="23" name="Text 18"/>
          <p:cNvSpPr/>
          <p:nvPr/>
        </p:nvSpPr>
        <p:spPr>
          <a:xfrm>
            <a:off x="636191" y="6244729"/>
            <a:ext cx="10919619" cy="134343"/>
          </a:xfrm>
          <a:prstGeom prst="rect">
            <a:avLst/>
          </a:prstGeom>
          <a:noFill/>
          <a:ln/>
        </p:spPr>
        <p:txBody>
          <a:bodyPr wrap="none" lIns="0" tIns="0" rIns="0" bIns="0" rtlCol="0" anchor="t"/>
          <a:lstStyle/>
          <a:p>
            <a:pPr>
              <a:lnSpc>
                <a:spcPts val="1042"/>
              </a:lnSpc>
            </a:pPr>
            <a:r>
              <a:rPr lang="en-US" sz="792" dirty="0">
                <a:solidFill>
                  <a:srgbClr val="3C3939"/>
                </a:solidFill>
                <a:latin typeface="Roboto" pitchFamily="34" charset="0"/>
                <a:ea typeface="Roboto" pitchFamily="34" charset="-122"/>
                <a:cs typeface="Roboto" pitchFamily="34" charset="-120"/>
              </a:rPr>
              <a:t>This example demonstrates a basic GET request to retrieve user data, handling potential network and HTTP errors.</a:t>
            </a:r>
            <a:endParaRPr lang="en-US" sz="792"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043583"/>
            <a:ext cx="7112595"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API Best Practices and Security Considerations</a:t>
            </a:r>
            <a:endParaRPr lang="en-US" sz="2583" dirty="0"/>
          </a:p>
        </p:txBody>
      </p:sp>
      <p:sp>
        <p:nvSpPr>
          <p:cNvPr id="3" name="Text 1"/>
          <p:cNvSpPr/>
          <p:nvPr/>
        </p:nvSpPr>
        <p:spPr>
          <a:xfrm>
            <a:off x="661492" y="1787723"/>
            <a:ext cx="10869018" cy="264617"/>
          </a:xfrm>
          <a:prstGeom prst="rect">
            <a:avLst/>
          </a:prstGeom>
          <a:noFill/>
          <a:ln/>
        </p:spPr>
        <p:txBody>
          <a:bodyPr wrap="non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Effective API design and integration require adherence to best practices, while robust security measures are critical to protect data and systems.</a:t>
            </a:r>
            <a:endParaRPr lang="en-US" sz="1292" dirty="0"/>
          </a:p>
        </p:txBody>
      </p:sp>
      <p:sp>
        <p:nvSpPr>
          <p:cNvPr id="4" name="Text 2"/>
          <p:cNvSpPr/>
          <p:nvPr/>
        </p:nvSpPr>
        <p:spPr>
          <a:xfrm>
            <a:off x="661492" y="2403674"/>
            <a:ext cx="2480866" cy="310058"/>
          </a:xfrm>
          <a:prstGeom prst="rect">
            <a:avLst/>
          </a:prstGeom>
          <a:noFill/>
          <a:ln/>
        </p:spPr>
        <p:txBody>
          <a:bodyPr wrap="none" lIns="0" tIns="0" rIns="0" bIns="0" rtlCol="0" anchor="t"/>
          <a:lstStyle/>
          <a:p>
            <a:pPr>
              <a:lnSpc>
                <a:spcPts val="2417"/>
              </a:lnSpc>
            </a:pPr>
            <a:r>
              <a:rPr lang="en-US" sz="1917" dirty="0">
                <a:solidFill>
                  <a:srgbClr val="1B1B27"/>
                </a:solidFill>
                <a:latin typeface="Raleway" pitchFamily="34" charset="0"/>
                <a:ea typeface="Raleway" pitchFamily="34" charset="-122"/>
                <a:cs typeface="Raleway" pitchFamily="34" charset="-120"/>
              </a:rPr>
              <a:t>Best Practices</a:t>
            </a:r>
            <a:endParaRPr lang="en-US" sz="1917" dirty="0"/>
          </a:p>
        </p:txBody>
      </p:sp>
      <p:sp>
        <p:nvSpPr>
          <p:cNvPr id="5" name="Text 3"/>
          <p:cNvSpPr/>
          <p:nvPr/>
        </p:nvSpPr>
        <p:spPr>
          <a:xfrm>
            <a:off x="661492" y="2879031"/>
            <a:ext cx="5232797" cy="2877543"/>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Clear Documentation:</a:t>
            </a:r>
            <a:r>
              <a:rPr lang="en-US" sz="1292" dirty="0">
                <a:solidFill>
                  <a:srgbClr val="3C3939"/>
                </a:solidFill>
                <a:latin typeface="Roboto" pitchFamily="34" charset="0"/>
                <a:ea typeface="Roboto" pitchFamily="34" charset="-122"/>
                <a:cs typeface="Roboto" pitchFamily="34" charset="-120"/>
              </a:rPr>
              <a:t> Provide comprehensive and up-to-date API documentation.</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Version Control:</a:t>
            </a:r>
            <a:r>
              <a:rPr lang="en-US" sz="1292" dirty="0">
                <a:solidFill>
                  <a:srgbClr val="3C3939"/>
                </a:solidFill>
                <a:latin typeface="Roboto" pitchFamily="34" charset="0"/>
                <a:ea typeface="Roboto" pitchFamily="34" charset="-122"/>
                <a:cs typeface="Roboto" pitchFamily="34" charset="-120"/>
              </a:rPr>
              <a:t> Manage API changes with clear versioning (e.g., /v1, /v2).</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Rate Limiting:</a:t>
            </a:r>
            <a:r>
              <a:rPr lang="en-US" sz="1292" dirty="0">
                <a:solidFill>
                  <a:srgbClr val="3C3939"/>
                </a:solidFill>
                <a:latin typeface="Roboto" pitchFamily="34" charset="0"/>
                <a:ea typeface="Roboto" pitchFamily="34" charset="-122"/>
                <a:cs typeface="Roboto" pitchFamily="34" charset="-120"/>
              </a:rPr>
              <a:t> Prevent abuse and ensure fair usage by limiting requests per user/period.</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Idempotency:</a:t>
            </a:r>
            <a:r>
              <a:rPr lang="en-US" sz="1292" dirty="0">
                <a:solidFill>
                  <a:srgbClr val="3C3939"/>
                </a:solidFill>
                <a:latin typeface="Roboto" pitchFamily="34" charset="0"/>
                <a:ea typeface="Roboto" pitchFamily="34" charset="-122"/>
                <a:cs typeface="Roboto" pitchFamily="34" charset="-120"/>
              </a:rPr>
              <a:t> Ensure repeated requests have the same effect as a single request (for PUT, DELETE).</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Meaningful Status Codes:</a:t>
            </a:r>
            <a:r>
              <a:rPr lang="en-US" sz="1292" dirty="0">
                <a:solidFill>
                  <a:srgbClr val="3C3939"/>
                </a:solidFill>
                <a:latin typeface="Roboto" pitchFamily="34" charset="0"/>
                <a:ea typeface="Roboto" pitchFamily="34" charset="-122"/>
                <a:cs typeface="Roboto" pitchFamily="34" charset="-120"/>
              </a:rPr>
              <a:t> Use standard HTTP status codes to convey outcomes accurately.</a:t>
            </a:r>
            <a:endParaRPr lang="en-US" sz="1292" dirty="0"/>
          </a:p>
        </p:txBody>
      </p:sp>
      <p:sp>
        <p:nvSpPr>
          <p:cNvPr id="6" name="Text 4"/>
          <p:cNvSpPr/>
          <p:nvPr/>
        </p:nvSpPr>
        <p:spPr>
          <a:xfrm>
            <a:off x="6304062" y="2403674"/>
            <a:ext cx="2699941" cy="310058"/>
          </a:xfrm>
          <a:prstGeom prst="rect">
            <a:avLst/>
          </a:prstGeom>
          <a:noFill/>
          <a:ln/>
        </p:spPr>
        <p:txBody>
          <a:bodyPr wrap="none" lIns="0" tIns="0" rIns="0" bIns="0" rtlCol="0" anchor="t"/>
          <a:lstStyle/>
          <a:p>
            <a:pPr>
              <a:lnSpc>
                <a:spcPts val="2417"/>
              </a:lnSpc>
            </a:pPr>
            <a:r>
              <a:rPr lang="en-US" sz="1917" dirty="0">
                <a:solidFill>
                  <a:srgbClr val="1B1B27"/>
                </a:solidFill>
                <a:latin typeface="Raleway" pitchFamily="34" charset="0"/>
                <a:ea typeface="Raleway" pitchFamily="34" charset="-122"/>
                <a:cs typeface="Raleway" pitchFamily="34" charset="-120"/>
              </a:rPr>
              <a:t>Security Considerations</a:t>
            </a:r>
            <a:endParaRPr lang="en-US" sz="1917" dirty="0"/>
          </a:p>
        </p:txBody>
      </p:sp>
      <p:sp>
        <p:nvSpPr>
          <p:cNvPr id="7" name="Text 5"/>
          <p:cNvSpPr/>
          <p:nvPr/>
        </p:nvSpPr>
        <p:spPr>
          <a:xfrm>
            <a:off x="6304062" y="2879031"/>
            <a:ext cx="5232797" cy="2612926"/>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Authentication &amp; Authorization:</a:t>
            </a:r>
            <a:r>
              <a:rPr lang="en-US" sz="1292" dirty="0">
                <a:solidFill>
                  <a:srgbClr val="3C3939"/>
                </a:solidFill>
                <a:latin typeface="Roboto" pitchFamily="34" charset="0"/>
                <a:ea typeface="Roboto" pitchFamily="34" charset="-122"/>
                <a:cs typeface="Roboto" pitchFamily="34" charset="-120"/>
              </a:rPr>
              <a:t> Implement strong mechanisms (OAuth, JWT) to verify user identity and permissions.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Input Validation:</a:t>
            </a:r>
            <a:r>
              <a:rPr lang="en-US" sz="1292" dirty="0">
                <a:solidFill>
                  <a:srgbClr val="3C3939"/>
                </a:solidFill>
                <a:latin typeface="Roboto" pitchFamily="34" charset="0"/>
                <a:ea typeface="Roboto" pitchFamily="34" charset="-122"/>
                <a:cs typeface="Roboto" pitchFamily="34" charset="-120"/>
              </a:rPr>
              <a:t> Sanitize and validate all incoming data to prevent injection attacks.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Encryption (HTTPS):</a:t>
            </a:r>
            <a:r>
              <a:rPr lang="en-US" sz="1292" dirty="0">
                <a:solidFill>
                  <a:srgbClr val="3C3939"/>
                </a:solidFill>
                <a:latin typeface="Roboto" pitchFamily="34" charset="0"/>
                <a:ea typeface="Roboto" pitchFamily="34" charset="-122"/>
                <a:cs typeface="Roboto" pitchFamily="34" charset="-120"/>
              </a:rPr>
              <a:t> Always use HTTPS to encrypt data in transit.</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Error Handling:</a:t>
            </a:r>
            <a:r>
              <a:rPr lang="en-US" sz="1292" dirty="0">
                <a:solidFill>
                  <a:srgbClr val="3C3939"/>
                </a:solidFill>
                <a:latin typeface="Roboto" pitchFamily="34" charset="0"/>
                <a:ea typeface="Roboto" pitchFamily="34" charset="-122"/>
                <a:cs typeface="Roboto" pitchFamily="34" charset="-120"/>
              </a:rPr>
              <a:t> Avoid exposing sensitive information in error messages.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Auditing &amp; Logging:</a:t>
            </a:r>
            <a:r>
              <a:rPr lang="en-US" sz="1292" dirty="0">
                <a:solidFill>
                  <a:srgbClr val="3C3939"/>
                </a:solidFill>
                <a:latin typeface="Roboto" pitchFamily="34" charset="0"/>
                <a:ea typeface="Roboto" pitchFamily="34" charset="-122"/>
                <a:cs typeface="Roboto" pitchFamily="34" charset="-120"/>
              </a:rPr>
              <a:t> Monitor API access and activity for suspicious behavior.</a:t>
            </a:r>
            <a:endParaRPr lang="en-US" sz="1292"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50000"/>
          </a:schemeClr>
        </a:solidFill>
        <a:effectLst/>
      </p:bgPr>
    </p:bg>
    <p:spTree>
      <p:nvGrpSpPr>
        <p:cNvPr id="1" name="">
          <a:extLst>
            <a:ext uri="{FF2B5EF4-FFF2-40B4-BE49-F238E27FC236}">
              <a16:creationId xmlns:a16="http://schemas.microsoft.com/office/drawing/2014/main" id="{3691F0F4-4047-73B7-036D-D009DA85A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5F532-6E50-78F5-287B-48DACCBDEF96}"/>
              </a:ext>
            </a:extLst>
          </p:cNvPr>
          <p:cNvSpPr>
            <a:spLocks noGrp="1"/>
          </p:cNvSpPr>
          <p:nvPr>
            <p:ph type="ctrTitle"/>
          </p:nvPr>
        </p:nvSpPr>
        <p:spPr/>
        <p:txBody>
          <a:bodyPr/>
          <a:lstStyle/>
          <a:p>
            <a:r>
              <a:rPr lang="en-US" b="1" dirty="0"/>
              <a:t>Modern Web Development Practices</a:t>
            </a:r>
          </a:p>
        </p:txBody>
      </p:sp>
      <p:sp>
        <p:nvSpPr>
          <p:cNvPr id="3" name="Subtitle 2">
            <a:extLst>
              <a:ext uri="{FF2B5EF4-FFF2-40B4-BE49-F238E27FC236}">
                <a16:creationId xmlns:a16="http://schemas.microsoft.com/office/drawing/2014/main" id="{15779832-2555-FE66-8C39-A7A8D65BBC5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337058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905570"/>
            <a:ext cx="6473726"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Introduction to Modern Web Development</a:t>
            </a:r>
            <a:endParaRPr lang="en-US" sz="2583" dirty="0"/>
          </a:p>
        </p:txBody>
      </p:sp>
      <p:sp>
        <p:nvSpPr>
          <p:cNvPr id="3" name="Shape 1"/>
          <p:cNvSpPr/>
          <p:nvPr/>
        </p:nvSpPr>
        <p:spPr>
          <a:xfrm>
            <a:off x="661492" y="1649710"/>
            <a:ext cx="5351859" cy="3587453"/>
          </a:xfrm>
          <a:prstGeom prst="roundRect">
            <a:avLst>
              <a:gd name="adj" fmla="val 2549"/>
            </a:avLst>
          </a:prstGeom>
          <a:solidFill>
            <a:srgbClr val="FFFFFF">
              <a:alpha val="95000"/>
            </a:srgbClr>
          </a:solidFill>
          <a:ln w="22860">
            <a:solidFill>
              <a:srgbClr val="C7C7D0"/>
            </a:solidFill>
            <a:prstDash val="solid"/>
          </a:ln>
        </p:spPr>
      </p:sp>
      <p:sp>
        <p:nvSpPr>
          <p:cNvPr id="4" name="Shape 2"/>
          <p:cNvSpPr/>
          <p:nvPr/>
        </p:nvSpPr>
        <p:spPr>
          <a:xfrm>
            <a:off x="642442" y="1649710"/>
            <a:ext cx="76200" cy="3587453"/>
          </a:xfrm>
          <a:prstGeom prst="roundRect">
            <a:avLst>
              <a:gd name="adj" fmla="val 91163"/>
            </a:avLst>
          </a:prstGeom>
          <a:solidFill>
            <a:srgbClr val="1B1B27"/>
          </a:solidFill>
          <a:ln/>
        </p:spPr>
      </p:sp>
      <p:sp>
        <p:nvSpPr>
          <p:cNvPr id="5" name="Text 3"/>
          <p:cNvSpPr/>
          <p:nvPr/>
        </p:nvSpPr>
        <p:spPr>
          <a:xfrm>
            <a:off x="902990" y="1834058"/>
            <a:ext cx="2847182"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Evolution of Web Applications</a:t>
            </a:r>
            <a:endParaRPr lang="en-US" sz="1625" dirty="0"/>
          </a:p>
        </p:txBody>
      </p:sp>
      <p:sp>
        <p:nvSpPr>
          <p:cNvPr id="6" name="Text 4"/>
          <p:cNvSpPr/>
          <p:nvPr/>
        </p:nvSpPr>
        <p:spPr>
          <a:xfrm>
            <a:off x="902990" y="2191743"/>
            <a:ext cx="4926013"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Transitioned from static pages to dynamic, interactive experiences. Modern web apps prioritize rich user interfaces and seamless data exchange.</a:t>
            </a:r>
            <a:endParaRPr lang="en-US" sz="1292" dirty="0"/>
          </a:p>
        </p:txBody>
      </p:sp>
      <p:sp>
        <p:nvSpPr>
          <p:cNvPr id="7" name="Text 5"/>
          <p:cNvSpPr/>
          <p:nvPr/>
        </p:nvSpPr>
        <p:spPr>
          <a:xfrm>
            <a:off x="902990" y="3084810"/>
            <a:ext cx="4926013" cy="1380927"/>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Traditional Web:</a:t>
            </a:r>
            <a:r>
              <a:rPr lang="en-US" sz="1292" dirty="0">
                <a:solidFill>
                  <a:srgbClr val="3C3939"/>
                </a:solidFill>
                <a:latin typeface="Roboto" pitchFamily="34" charset="0"/>
                <a:ea typeface="Roboto" pitchFamily="34" charset="-122"/>
                <a:cs typeface="Roboto" pitchFamily="34" charset="-120"/>
              </a:rPr>
              <a:t> A university course website where submitting an assignment reloads the whole page and sends you to a new confirmation screen.</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Modern Web:</a:t>
            </a:r>
            <a:r>
              <a:rPr lang="en-US" sz="1292" dirty="0">
                <a:solidFill>
                  <a:srgbClr val="3C3939"/>
                </a:solidFill>
                <a:latin typeface="Roboto" pitchFamily="34" charset="0"/>
                <a:ea typeface="Roboto" pitchFamily="34" charset="-122"/>
                <a:cs typeface="Roboto" pitchFamily="34" charset="-120"/>
              </a:rPr>
              <a:t> A food delivery app where changing your cart updates totals instantly without refreshing the page.</a:t>
            </a:r>
            <a:endParaRPr lang="en-US" sz="1292" dirty="0"/>
          </a:p>
        </p:txBody>
      </p:sp>
      <p:sp>
        <p:nvSpPr>
          <p:cNvPr id="8" name="Shape 6"/>
          <p:cNvSpPr/>
          <p:nvPr/>
        </p:nvSpPr>
        <p:spPr>
          <a:xfrm>
            <a:off x="6178650" y="1649710"/>
            <a:ext cx="5351859" cy="3587453"/>
          </a:xfrm>
          <a:prstGeom prst="roundRect">
            <a:avLst>
              <a:gd name="adj" fmla="val 2549"/>
            </a:avLst>
          </a:prstGeom>
          <a:solidFill>
            <a:srgbClr val="FFFFFF">
              <a:alpha val="95000"/>
            </a:srgbClr>
          </a:solidFill>
          <a:ln w="22860">
            <a:solidFill>
              <a:srgbClr val="C7C7D0"/>
            </a:solidFill>
            <a:prstDash val="solid"/>
          </a:ln>
        </p:spPr>
      </p:sp>
      <p:sp>
        <p:nvSpPr>
          <p:cNvPr id="9" name="Shape 7"/>
          <p:cNvSpPr/>
          <p:nvPr/>
        </p:nvSpPr>
        <p:spPr>
          <a:xfrm>
            <a:off x="6159599" y="1649710"/>
            <a:ext cx="76200" cy="3587453"/>
          </a:xfrm>
          <a:prstGeom prst="roundRect">
            <a:avLst>
              <a:gd name="adj" fmla="val 91163"/>
            </a:avLst>
          </a:prstGeom>
          <a:solidFill>
            <a:srgbClr val="1B1B27"/>
          </a:solidFill>
          <a:ln/>
        </p:spPr>
      </p:sp>
      <p:sp>
        <p:nvSpPr>
          <p:cNvPr id="10" name="Text 8"/>
          <p:cNvSpPr/>
          <p:nvPr/>
        </p:nvSpPr>
        <p:spPr>
          <a:xfrm>
            <a:off x="6420148" y="1834058"/>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Key Characteristics</a:t>
            </a:r>
            <a:endParaRPr lang="en-US" sz="1625" dirty="0"/>
          </a:p>
        </p:txBody>
      </p:sp>
      <p:sp>
        <p:nvSpPr>
          <p:cNvPr id="11" name="Text 9"/>
          <p:cNvSpPr/>
          <p:nvPr/>
        </p:nvSpPr>
        <p:spPr>
          <a:xfrm>
            <a:off x="6420148" y="2191743"/>
            <a:ext cx="4926013"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Modern web applications are built for performance, flexibility, and user engagement.</a:t>
            </a:r>
            <a:endParaRPr lang="en-US" sz="1292" dirty="0"/>
          </a:p>
        </p:txBody>
      </p:sp>
      <p:sp>
        <p:nvSpPr>
          <p:cNvPr id="12" name="Text 10"/>
          <p:cNvSpPr/>
          <p:nvPr/>
        </p:nvSpPr>
        <p:spPr>
          <a:xfrm>
            <a:off x="6420148" y="2820193"/>
            <a:ext cx="4926013" cy="2232620"/>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Scalable:</a:t>
            </a:r>
            <a:r>
              <a:rPr lang="en-US" sz="1292" dirty="0">
                <a:solidFill>
                  <a:srgbClr val="3C3939"/>
                </a:solidFill>
                <a:latin typeface="Roboto" pitchFamily="34" charset="0"/>
                <a:ea typeface="Roboto" pitchFamily="34" charset="-122"/>
                <a:cs typeface="Roboto" pitchFamily="34" charset="-120"/>
              </a:rPr>
              <a:t> A streaming platform that can handle millions of users watching the same live event at once.</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Responsive:</a:t>
            </a:r>
            <a:r>
              <a:rPr lang="en-US" sz="1292" dirty="0">
                <a:solidFill>
                  <a:srgbClr val="3C3939"/>
                </a:solidFill>
                <a:latin typeface="Roboto" pitchFamily="34" charset="0"/>
                <a:ea typeface="Roboto" pitchFamily="34" charset="-122"/>
                <a:cs typeface="Roboto" pitchFamily="34" charset="-120"/>
              </a:rPr>
              <a:t> An online banking dashboard that works on a phone during a commute, a laptop at home, and a tablet in a meeting.</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API-Driven:</a:t>
            </a:r>
            <a:r>
              <a:rPr lang="en-US" sz="1292" dirty="0">
                <a:solidFill>
                  <a:srgbClr val="3C3939"/>
                </a:solidFill>
                <a:latin typeface="Roboto" pitchFamily="34" charset="0"/>
                <a:ea typeface="Roboto" pitchFamily="34" charset="-122"/>
                <a:cs typeface="Roboto" pitchFamily="34" charset="-120"/>
              </a:rPr>
              <a:t> A travel booking site that pulls flight prices from one service, hotel availability from another, and payment details from a third.</a:t>
            </a:r>
            <a:endParaRPr lang="en-US" sz="1292" dirty="0"/>
          </a:p>
        </p:txBody>
      </p:sp>
      <p:sp>
        <p:nvSpPr>
          <p:cNvPr id="13" name="Text 11"/>
          <p:cNvSpPr/>
          <p:nvPr/>
        </p:nvSpPr>
        <p:spPr>
          <a:xfrm>
            <a:off x="661492" y="5423198"/>
            <a:ext cx="10869018"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Modern web development emphasizes creating applications that are not only functional but also deliver exceptional user experiences across a diverse range of devices and network conditions.</a:t>
            </a:r>
            <a:endParaRPr lang="en-US" sz="1292"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7958"/>
            <a:ext cx="6515398"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User Experience (UX) &amp; Responsive Design</a:t>
            </a:r>
            <a:endParaRPr lang="en-US" sz="2583" dirty="0"/>
          </a:p>
        </p:txBody>
      </p:sp>
      <p:sp>
        <p:nvSpPr>
          <p:cNvPr id="3" name="Shape 1"/>
          <p:cNvSpPr/>
          <p:nvPr/>
        </p:nvSpPr>
        <p:spPr>
          <a:xfrm>
            <a:off x="661492" y="1232099"/>
            <a:ext cx="3512741" cy="4687293"/>
          </a:xfrm>
          <a:prstGeom prst="roundRect">
            <a:avLst>
              <a:gd name="adj" fmla="val 2603"/>
            </a:avLst>
          </a:prstGeom>
          <a:solidFill>
            <a:srgbClr val="FFFFFF">
              <a:alpha val="95000"/>
            </a:srgbClr>
          </a:solidFill>
          <a:ln w="22860">
            <a:solidFill>
              <a:srgbClr val="C7C7D0"/>
            </a:solidFill>
            <a:prstDash val="solid"/>
          </a:ln>
        </p:spPr>
      </p:sp>
      <p:sp>
        <p:nvSpPr>
          <p:cNvPr id="4" name="Shape 2"/>
          <p:cNvSpPr/>
          <p:nvPr/>
        </p:nvSpPr>
        <p:spPr>
          <a:xfrm>
            <a:off x="642442" y="1232099"/>
            <a:ext cx="76200" cy="4687293"/>
          </a:xfrm>
          <a:prstGeom prst="roundRect">
            <a:avLst>
              <a:gd name="adj" fmla="val 91163"/>
            </a:avLst>
          </a:prstGeom>
          <a:solidFill>
            <a:srgbClr val="1B1B27"/>
          </a:solidFill>
          <a:ln/>
        </p:spPr>
      </p:sp>
      <p:sp>
        <p:nvSpPr>
          <p:cNvPr id="5" name="Text 3"/>
          <p:cNvSpPr/>
          <p:nvPr/>
        </p:nvSpPr>
        <p:spPr>
          <a:xfrm>
            <a:off x="902990" y="1416447"/>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Mobile-First Design</a:t>
            </a:r>
            <a:endParaRPr lang="en-US" sz="1625" dirty="0"/>
          </a:p>
        </p:txBody>
      </p:sp>
      <p:sp>
        <p:nvSpPr>
          <p:cNvPr id="6" name="Text 4"/>
          <p:cNvSpPr/>
          <p:nvPr/>
        </p:nvSpPr>
        <p:spPr>
          <a:xfrm>
            <a:off x="902991" y="1774131"/>
            <a:ext cx="3086894"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Designing for the smallest screen first ensures core content and functionality are prioritized, then progressively enhancing for larger screens.</a:t>
            </a:r>
            <a:endParaRPr lang="en-US" sz="1292" dirty="0"/>
          </a:p>
        </p:txBody>
      </p:sp>
      <p:sp>
        <p:nvSpPr>
          <p:cNvPr id="7" name="Text 5"/>
          <p:cNvSpPr/>
          <p:nvPr/>
        </p:nvSpPr>
        <p:spPr>
          <a:xfrm>
            <a:off x="902991" y="2931815"/>
            <a:ext cx="3086894" cy="1587698"/>
          </a:xfrm>
          <a:prstGeom prst="rect">
            <a:avLst/>
          </a:prstGeom>
          <a:noFill/>
          <a:ln/>
        </p:spPr>
        <p:txBody>
          <a:bodyPr wrap="square" lIns="0" tIns="0" rIns="0" bIns="0" rtlCol="0" anchor="t"/>
          <a:lstStyle/>
          <a:p>
            <a:pPr>
              <a:lnSpc>
                <a:spcPts val="2083"/>
              </a:lnSpc>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Designing a checkout form for mobile first means showing only essential fields like email, card number, and expiry date before adding billing address, coupon code, and shipping notes on larger screens.</a:t>
            </a:r>
            <a:endParaRPr lang="en-US" sz="1292" dirty="0"/>
          </a:p>
        </p:txBody>
      </p:sp>
      <p:sp>
        <p:nvSpPr>
          <p:cNvPr id="8" name="Text 6"/>
          <p:cNvSpPr/>
          <p:nvPr/>
        </p:nvSpPr>
        <p:spPr>
          <a:xfrm>
            <a:off x="902991" y="4618732"/>
            <a:ext cx="3086894" cy="1116310"/>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Principle:</a:t>
            </a:r>
            <a:r>
              <a:rPr lang="en-US" sz="1292" dirty="0">
                <a:solidFill>
                  <a:srgbClr val="3C3939"/>
                </a:solidFill>
                <a:latin typeface="Roboto" pitchFamily="34" charset="0"/>
                <a:ea typeface="Roboto" pitchFamily="34" charset="-122"/>
                <a:cs typeface="Roboto" pitchFamily="34" charset="-120"/>
              </a:rPr>
              <a:t> Start with mobile constraints, then expand.</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Benefit:</a:t>
            </a:r>
            <a:r>
              <a:rPr lang="en-US" sz="1292" dirty="0">
                <a:solidFill>
                  <a:srgbClr val="3C3939"/>
                </a:solidFill>
                <a:latin typeface="Roboto" pitchFamily="34" charset="0"/>
                <a:ea typeface="Roboto" pitchFamily="34" charset="-122"/>
                <a:cs typeface="Roboto" pitchFamily="34" charset="-120"/>
              </a:rPr>
              <a:t> Improved performance on mobile, better content prioritization.</a:t>
            </a:r>
            <a:endParaRPr lang="en-US" sz="1292" dirty="0"/>
          </a:p>
        </p:txBody>
      </p:sp>
      <p:sp>
        <p:nvSpPr>
          <p:cNvPr id="9" name="Shape 7"/>
          <p:cNvSpPr/>
          <p:nvPr/>
        </p:nvSpPr>
        <p:spPr>
          <a:xfrm>
            <a:off x="4339531" y="1232099"/>
            <a:ext cx="3512840" cy="4687293"/>
          </a:xfrm>
          <a:prstGeom prst="roundRect">
            <a:avLst>
              <a:gd name="adj" fmla="val 2603"/>
            </a:avLst>
          </a:prstGeom>
          <a:solidFill>
            <a:srgbClr val="FFFFFF">
              <a:alpha val="95000"/>
            </a:srgbClr>
          </a:solidFill>
          <a:ln w="22860">
            <a:solidFill>
              <a:srgbClr val="C7C7D0"/>
            </a:solidFill>
            <a:prstDash val="solid"/>
          </a:ln>
        </p:spPr>
      </p:sp>
      <p:sp>
        <p:nvSpPr>
          <p:cNvPr id="10" name="Shape 8"/>
          <p:cNvSpPr/>
          <p:nvPr/>
        </p:nvSpPr>
        <p:spPr>
          <a:xfrm>
            <a:off x="4320481" y="1232099"/>
            <a:ext cx="76200" cy="4687293"/>
          </a:xfrm>
          <a:prstGeom prst="roundRect">
            <a:avLst>
              <a:gd name="adj" fmla="val 91163"/>
            </a:avLst>
          </a:prstGeom>
          <a:solidFill>
            <a:srgbClr val="1B1B27"/>
          </a:solidFill>
          <a:ln/>
        </p:spPr>
      </p:sp>
      <p:sp>
        <p:nvSpPr>
          <p:cNvPr id="11" name="Text 9"/>
          <p:cNvSpPr/>
          <p:nvPr/>
        </p:nvSpPr>
        <p:spPr>
          <a:xfrm>
            <a:off x="4581030" y="1416447"/>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Accessibility (WCAG)</a:t>
            </a:r>
            <a:endParaRPr lang="en-US" sz="1625" dirty="0"/>
          </a:p>
        </p:txBody>
      </p:sp>
      <p:sp>
        <p:nvSpPr>
          <p:cNvPr id="12" name="Text 10"/>
          <p:cNvSpPr/>
          <p:nvPr/>
        </p:nvSpPr>
        <p:spPr>
          <a:xfrm>
            <a:off x="4581029" y="1774131"/>
            <a:ext cx="3086993"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Ensuring web applications are usable by everyone, regardless of their abilities or disabilities, adhering to Web Content Accessibility Guidelines.</a:t>
            </a:r>
            <a:endParaRPr lang="en-US" sz="1292" dirty="0"/>
          </a:p>
        </p:txBody>
      </p:sp>
      <p:sp>
        <p:nvSpPr>
          <p:cNvPr id="13" name="Text 11"/>
          <p:cNvSpPr/>
          <p:nvPr/>
        </p:nvSpPr>
        <p:spPr>
          <a:xfrm>
            <a:off x="4581029" y="2931815"/>
            <a:ext cx="3086993" cy="1587698"/>
          </a:xfrm>
          <a:prstGeom prst="rect">
            <a:avLst/>
          </a:prstGeom>
          <a:noFill/>
          <a:ln/>
        </p:spPr>
        <p:txBody>
          <a:bodyPr wrap="square" lIns="0" tIns="0" rIns="0" bIns="0" rtlCol="0" anchor="t"/>
          <a:lstStyle/>
          <a:p>
            <a:pPr>
              <a:lnSpc>
                <a:spcPts val="2083"/>
              </a:lnSpc>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A form that labels every field clearly, supports keyboard-only navigation, and includes descriptive alt text for product images helps a screen-reader user complete an online purchase without assistance.</a:t>
            </a:r>
            <a:endParaRPr lang="en-US" sz="1292" dirty="0"/>
          </a:p>
        </p:txBody>
      </p:sp>
      <p:sp>
        <p:nvSpPr>
          <p:cNvPr id="14" name="Text 12"/>
          <p:cNvSpPr/>
          <p:nvPr/>
        </p:nvSpPr>
        <p:spPr>
          <a:xfrm>
            <a:off x="4581029" y="4618732"/>
            <a:ext cx="3086993" cy="1116310"/>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Key:</a:t>
            </a:r>
            <a:r>
              <a:rPr lang="en-US" sz="1292" dirty="0">
                <a:solidFill>
                  <a:srgbClr val="3C3939"/>
                </a:solidFill>
                <a:latin typeface="Roboto" pitchFamily="34" charset="0"/>
                <a:ea typeface="Roboto" pitchFamily="34" charset="-122"/>
                <a:cs typeface="Roboto" pitchFamily="34" charset="-120"/>
              </a:rPr>
              <a:t> Semantic HTML, keyboard navigation, alt text for images.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Impact:</a:t>
            </a:r>
            <a:r>
              <a:rPr lang="en-US" sz="1292" dirty="0">
                <a:solidFill>
                  <a:srgbClr val="3C3939"/>
                </a:solidFill>
                <a:latin typeface="Roboto" pitchFamily="34" charset="0"/>
                <a:ea typeface="Roboto" pitchFamily="34" charset="-122"/>
                <a:cs typeface="Roboto" pitchFamily="34" charset="-120"/>
              </a:rPr>
              <a:t> Wider audience reach, compliance with legal standards.</a:t>
            </a:r>
            <a:endParaRPr lang="en-US" sz="1292" dirty="0"/>
          </a:p>
        </p:txBody>
      </p:sp>
      <p:sp>
        <p:nvSpPr>
          <p:cNvPr id="15" name="Shape 13"/>
          <p:cNvSpPr/>
          <p:nvPr/>
        </p:nvSpPr>
        <p:spPr>
          <a:xfrm>
            <a:off x="8017670" y="1232099"/>
            <a:ext cx="3512741" cy="4687293"/>
          </a:xfrm>
          <a:prstGeom prst="roundRect">
            <a:avLst>
              <a:gd name="adj" fmla="val 2603"/>
            </a:avLst>
          </a:prstGeom>
          <a:solidFill>
            <a:srgbClr val="FFFFFF">
              <a:alpha val="95000"/>
            </a:srgbClr>
          </a:solidFill>
          <a:ln w="22860">
            <a:solidFill>
              <a:srgbClr val="C7C7D0"/>
            </a:solidFill>
            <a:prstDash val="solid"/>
          </a:ln>
        </p:spPr>
      </p:sp>
      <p:sp>
        <p:nvSpPr>
          <p:cNvPr id="16" name="Shape 14"/>
          <p:cNvSpPr/>
          <p:nvPr/>
        </p:nvSpPr>
        <p:spPr>
          <a:xfrm>
            <a:off x="7998619" y="1232099"/>
            <a:ext cx="76200" cy="4687293"/>
          </a:xfrm>
          <a:prstGeom prst="roundRect">
            <a:avLst>
              <a:gd name="adj" fmla="val 91163"/>
            </a:avLst>
          </a:prstGeom>
          <a:solidFill>
            <a:srgbClr val="1B1B27"/>
          </a:solidFill>
          <a:ln/>
        </p:spPr>
      </p:sp>
      <p:sp>
        <p:nvSpPr>
          <p:cNvPr id="17" name="Text 15"/>
          <p:cNvSpPr/>
          <p:nvPr/>
        </p:nvSpPr>
        <p:spPr>
          <a:xfrm>
            <a:off x="8259168" y="1416447"/>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Tools &amp; Frameworks</a:t>
            </a:r>
            <a:endParaRPr lang="en-US" sz="1625" dirty="0"/>
          </a:p>
        </p:txBody>
      </p:sp>
      <p:sp>
        <p:nvSpPr>
          <p:cNvPr id="18" name="Text 16"/>
          <p:cNvSpPr/>
          <p:nvPr/>
        </p:nvSpPr>
        <p:spPr>
          <a:xfrm>
            <a:off x="8259168" y="1774131"/>
            <a:ext cx="3086894"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Leveraging established libraries and frameworks streamlines responsive and accessible design efforts.</a:t>
            </a:r>
            <a:endParaRPr lang="en-US" sz="1292" dirty="0"/>
          </a:p>
        </p:txBody>
      </p:sp>
      <p:sp>
        <p:nvSpPr>
          <p:cNvPr id="19" name="Text 17"/>
          <p:cNvSpPr/>
          <p:nvPr/>
        </p:nvSpPr>
        <p:spPr>
          <a:xfrm>
            <a:off x="8259168" y="2667199"/>
            <a:ext cx="3086894" cy="1587698"/>
          </a:xfrm>
          <a:prstGeom prst="rect">
            <a:avLst/>
          </a:prstGeom>
          <a:noFill/>
          <a:ln/>
        </p:spPr>
        <p:txBody>
          <a:bodyPr wrap="square" lIns="0" tIns="0" rIns="0" bIns="0" rtlCol="0" anchor="t"/>
          <a:lstStyle/>
          <a:p>
            <a:pPr>
              <a:lnSpc>
                <a:spcPts val="2083"/>
              </a:lnSpc>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A startup building a marketing site might use Bootstrap for a consistent grid and responsive nav bar, while using Tailwind CSS to quickly style buttons, spacing, and cards without writing custom CSS from scratch.</a:t>
            </a:r>
            <a:endParaRPr lang="en-US" sz="1292" dirty="0"/>
          </a:p>
        </p:txBody>
      </p:sp>
      <p:sp>
        <p:nvSpPr>
          <p:cNvPr id="20" name="Text 18"/>
          <p:cNvSpPr/>
          <p:nvPr/>
        </p:nvSpPr>
        <p:spPr>
          <a:xfrm>
            <a:off x="8259168" y="4354116"/>
            <a:ext cx="3086894" cy="1116310"/>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Bootstrap:</a:t>
            </a:r>
            <a:r>
              <a:rPr lang="en-US" sz="1292" dirty="0">
                <a:solidFill>
                  <a:srgbClr val="3C3939"/>
                </a:solidFill>
                <a:latin typeface="Roboto" pitchFamily="34" charset="0"/>
                <a:ea typeface="Roboto" pitchFamily="34" charset="-122"/>
                <a:cs typeface="Roboto" pitchFamily="34" charset="-120"/>
              </a:rPr>
              <a:t> Comprehensive UI framework for responsive layouts.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Tailwind CSS:</a:t>
            </a:r>
            <a:r>
              <a:rPr lang="en-US" sz="1292" dirty="0">
                <a:solidFill>
                  <a:srgbClr val="3C3939"/>
                </a:solidFill>
                <a:latin typeface="Roboto" pitchFamily="34" charset="0"/>
                <a:ea typeface="Roboto" pitchFamily="34" charset="-122"/>
                <a:cs typeface="Roboto" pitchFamily="34" charset="-120"/>
              </a:rPr>
              <a:t> Utility-first CSS framework for rapid UI development.</a:t>
            </a:r>
            <a:endParaRPr lang="en-US" sz="1292" dirty="0"/>
          </a:p>
        </p:txBody>
      </p:sp>
      <p:sp>
        <p:nvSpPr>
          <p:cNvPr id="21" name="Text 19"/>
          <p:cNvSpPr/>
          <p:nvPr/>
        </p:nvSpPr>
        <p:spPr>
          <a:xfrm>
            <a:off x="661492" y="6105426"/>
            <a:ext cx="10869018" cy="264617"/>
          </a:xfrm>
          <a:prstGeom prst="rect">
            <a:avLst/>
          </a:prstGeom>
          <a:noFill/>
          <a:ln/>
        </p:spPr>
        <p:txBody>
          <a:bodyPr wrap="non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A focus on mobile-first and accessibility from the outset leads to more inclusive and performant web applications for all users.</a:t>
            </a:r>
            <a:endParaRPr lang="en-US" sz="1292"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7225" y="461963"/>
            <a:ext cx="3762276" cy="390228"/>
          </a:xfrm>
          <a:prstGeom prst="rect">
            <a:avLst/>
          </a:prstGeom>
          <a:noFill/>
          <a:ln/>
        </p:spPr>
        <p:txBody>
          <a:bodyPr wrap="none" lIns="0" tIns="0" rIns="0" bIns="0" rtlCol="0" anchor="t"/>
          <a:lstStyle/>
          <a:p>
            <a:pPr>
              <a:lnSpc>
                <a:spcPts val="3042"/>
              </a:lnSpc>
            </a:pPr>
            <a:r>
              <a:rPr lang="en-US" sz="2458" dirty="0">
                <a:solidFill>
                  <a:srgbClr val="1B1B27"/>
                </a:solidFill>
                <a:latin typeface="Raleway" pitchFamily="34" charset="0"/>
                <a:ea typeface="Raleway" pitchFamily="34" charset="-122"/>
                <a:cs typeface="Raleway" pitchFamily="34" charset="-120"/>
              </a:rPr>
              <a:t>Performance Optimization</a:t>
            </a:r>
            <a:endParaRPr lang="en-US" sz="2458" dirty="0"/>
          </a:p>
        </p:txBody>
      </p:sp>
      <p:sp>
        <p:nvSpPr>
          <p:cNvPr id="3" name="Text 1"/>
          <p:cNvSpPr/>
          <p:nvPr/>
        </p:nvSpPr>
        <p:spPr>
          <a:xfrm>
            <a:off x="657225" y="1146870"/>
            <a:ext cx="10877550" cy="242689"/>
          </a:xfrm>
          <a:prstGeom prst="rect">
            <a:avLst/>
          </a:prstGeom>
          <a:noFill/>
          <a:ln/>
        </p:spPr>
        <p:txBody>
          <a:bodyPr wrap="none" lIns="0" tIns="0" rIns="0" bIns="0" rtlCol="0" anchor="t"/>
          <a:lstStyle/>
          <a:p>
            <a:pPr>
              <a:lnSpc>
                <a:spcPts val="1875"/>
              </a:lnSpc>
            </a:pPr>
            <a:r>
              <a:rPr lang="en-US" sz="1208" dirty="0">
                <a:solidFill>
                  <a:srgbClr val="3C3939"/>
                </a:solidFill>
                <a:latin typeface="Roboto" pitchFamily="34" charset="0"/>
                <a:ea typeface="Roboto" pitchFamily="34" charset="-122"/>
                <a:cs typeface="Roboto" pitchFamily="34" charset="-120"/>
              </a:rPr>
              <a:t>Optimizing web application performance is crucial for user retention and search engine rankings.</a:t>
            </a:r>
            <a:endParaRPr lang="en-US" sz="1208" dirty="0"/>
          </a:p>
        </p:txBody>
      </p:sp>
      <p:pic>
        <p:nvPicPr>
          <p:cNvPr id="4" name="Image 0" descr="preencoded.png"/>
          <p:cNvPicPr>
            <a:picLocks noChangeAspect="1"/>
          </p:cNvPicPr>
          <p:nvPr/>
        </p:nvPicPr>
        <p:blipFill>
          <a:blip r:embed="rId3"/>
          <a:stretch>
            <a:fillRect/>
          </a:stretch>
        </p:blipFill>
        <p:spPr>
          <a:xfrm>
            <a:off x="657225" y="1555254"/>
            <a:ext cx="3625850" cy="624383"/>
          </a:xfrm>
          <a:prstGeom prst="rect">
            <a:avLst/>
          </a:prstGeom>
        </p:spPr>
      </p:pic>
      <p:sp>
        <p:nvSpPr>
          <p:cNvPr id="5" name="Text 2"/>
          <p:cNvSpPr/>
          <p:nvPr/>
        </p:nvSpPr>
        <p:spPr>
          <a:xfrm>
            <a:off x="813296" y="2326978"/>
            <a:ext cx="1951335" cy="243880"/>
          </a:xfrm>
          <a:prstGeom prst="rect">
            <a:avLst/>
          </a:prstGeom>
          <a:noFill/>
          <a:ln/>
        </p:spPr>
        <p:txBody>
          <a:bodyPr wrap="none" lIns="0" tIns="0" rIns="0" bIns="0" rtlCol="0" anchor="t"/>
          <a:lstStyle/>
          <a:p>
            <a:pPr>
              <a:lnSpc>
                <a:spcPts val="1917"/>
              </a:lnSpc>
            </a:pPr>
            <a:r>
              <a:rPr lang="en-US" sz="1500" dirty="0">
                <a:solidFill>
                  <a:srgbClr val="3C3939"/>
                </a:solidFill>
                <a:latin typeface="Raleway" pitchFamily="34" charset="0"/>
                <a:ea typeface="Raleway" pitchFamily="34" charset="-122"/>
                <a:cs typeface="Raleway" pitchFamily="34" charset="-120"/>
              </a:rPr>
              <a:t>Lazy Loading</a:t>
            </a:r>
            <a:endParaRPr lang="en-US" sz="1500" dirty="0"/>
          </a:p>
        </p:txBody>
      </p:sp>
      <p:sp>
        <p:nvSpPr>
          <p:cNvPr id="6" name="Text 3"/>
          <p:cNvSpPr/>
          <p:nvPr/>
        </p:nvSpPr>
        <p:spPr>
          <a:xfrm>
            <a:off x="813296" y="2659261"/>
            <a:ext cx="3313708" cy="728068"/>
          </a:xfrm>
          <a:prstGeom prst="rect">
            <a:avLst/>
          </a:prstGeom>
          <a:noFill/>
          <a:ln/>
        </p:spPr>
        <p:txBody>
          <a:bodyPr wrap="square" lIns="0" tIns="0" rIns="0" bIns="0" rtlCol="0" anchor="t"/>
          <a:lstStyle/>
          <a:p>
            <a:pPr>
              <a:lnSpc>
                <a:spcPts val="1875"/>
              </a:lnSpc>
            </a:pPr>
            <a:r>
              <a:rPr lang="en-US" sz="1208" dirty="0">
                <a:solidFill>
                  <a:srgbClr val="3C3939"/>
                </a:solidFill>
                <a:latin typeface="Roboto" pitchFamily="34" charset="0"/>
                <a:ea typeface="Roboto" pitchFamily="34" charset="-122"/>
                <a:cs typeface="Roboto" pitchFamily="34" charset="-120"/>
              </a:rPr>
              <a:t>Deferring the loading of non-critical resources until they are needed, reducing initial page load time.</a:t>
            </a:r>
            <a:endParaRPr lang="en-US" sz="1208" dirty="0"/>
          </a:p>
        </p:txBody>
      </p:sp>
      <p:sp>
        <p:nvSpPr>
          <p:cNvPr id="7" name="Text 4"/>
          <p:cNvSpPr/>
          <p:nvPr/>
        </p:nvSpPr>
        <p:spPr>
          <a:xfrm>
            <a:off x="813296" y="3475732"/>
            <a:ext cx="3313708" cy="970757"/>
          </a:xfrm>
          <a:prstGeom prst="rect">
            <a:avLst/>
          </a:prstGeom>
          <a:noFill/>
          <a:ln/>
        </p:spPr>
        <p:txBody>
          <a:bodyPr wrap="square" lIns="0" tIns="0" rIns="0" bIns="0" rtlCol="0" anchor="t"/>
          <a:lstStyle/>
          <a:p>
            <a:pPr marL="285739" indent="-285739">
              <a:lnSpc>
                <a:spcPts val="1875"/>
              </a:lnSpc>
              <a:buSzPct val="100000"/>
              <a:buChar char="•"/>
            </a:pPr>
            <a:r>
              <a:rPr lang="en-US" sz="1208" b="1" dirty="0">
                <a:solidFill>
                  <a:srgbClr val="3C3939"/>
                </a:solidFill>
                <a:latin typeface="Roboto" pitchFamily="34" charset="0"/>
                <a:ea typeface="Roboto" pitchFamily="34" charset="-122"/>
                <a:cs typeface="Roboto" pitchFamily="34" charset="-120"/>
              </a:rPr>
              <a:t>Example:</a:t>
            </a:r>
            <a:r>
              <a:rPr lang="en-US" sz="1208" dirty="0">
                <a:solidFill>
                  <a:srgbClr val="3C3939"/>
                </a:solidFill>
                <a:latin typeface="Roboto" pitchFamily="34" charset="0"/>
                <a:ea typeface="Roboto" pitchFamily="34" charset="-122"/>
                <a:cs typeface="Roboto" pitchFamily="34" charset="-120"/>
              </a:rPr>
              <a:t> An e-commerce product page loads the hero image and price first, then fetches product reviews and related items only when the shopper scrolls down.</a:t>
            </a:r>
            <a:endParaRPr lang="en-US" sz="1208" dirty="0"/>
          </a:p>
        </p:txBody>
      </p:sp>
      <p:pic>
        <p:nvPicPr>
          <p:cNvPr id="8" name="Image 1" descr="preencoded.png"/>
          <p:cNvPicPr>
            <a:picLocks noChangeAspect="1"/>
          </p:cNvPicPr>
          <p:nvPr/>
        </p:nvPicPr>
        <p:blipFill>
          <a:blip r:embed="rId4"/>
          <a:stretch>
            <a:fillRect/>
          </a:stretch>
        </p:blipFill>
        <p:spPr>
          <a:xfrm>
            <a:off x="4283075" y="1555254"/>
            <a:ext cx="3625850" cy="624383"/>
          </a:xfrm>
          <a:prstGeom prst="rect">
            <a:avLst/>
          </a:prstGeom>
        </p:spPr>
      </p:pic>
      <p:sp>
        <p:nvSpPr>
          <p:cNvPr id="9" name="Text 5"/>
          <p:cNvSpPr/>
          <p:nvPr/>
        </p:nvSpPr>
        <p:spPr>
          <a:xfrm>
            <a:off x="4439146" y="2326978"/>
            <a:ext cx="1951335" cy="243880"/>
          </a:xfrm>
          <a:prstGeom prst="rect">
            <a:avLst/>
          </a:prstGeom>
          <a:noFill/>
          <a:ln/>
        </p:spPr>
        <p:txBody>
          <a:bodyPr wrap="none" lIns="0" tIns="0" rIns="0" bIns="0" rtlCol="0" anchor="t"/>
          <a:lstStyle/>
          <a:p>
            <a:pPr>
              <a:lnSpc>
                <a:spcPts val="1917"/>
              </a:lnSpc>
            </a:pPr>
            <a:r>
              <a:rPr lang="en-US" sz="1500" dirty="0">
                <a:solidFill>
                  <a:srgbClr val="3C3939"/>
                </a:solidFill>
                <a:latin typeface="Raleway" pitchFamily="34" charset="0"/>
                <a:ea typeface="Raleway" pitchFamily="34" charset="-122"/>
                <a:cs typeface="Raleway" pitchFamily="34" charset="-120"/>
              </a:rPr>
              <a:t>Code Splitting</a:t>
            </a:r>
            <a:endParaRPr lang="en-US" sz="1500" dirty="0"/>
          </a:p>
        </p:txBody>
      </p:sp>
      <p:sp>
        <p:nvSpPr>
          <p:cNvPr id="10" name="Text 6"/>
          <p:cNvSpPr/>
          <p:nvPr/>
        </p:nvSpPr>
        <p:spPr>
          <a:xfrm>
            <a:off x="4439146" y="2659261"/>
            <a:ext cx="3313708" cy="728068"/>
          </a:xfrm>
          <a:prstGeom prst="rect">
            <a:avLst/>
          </a:prstGeom>
          <a:noFill/>
          <a:ln/>
        </p:spPr>
        <p:txBody>
          <a:bodyPr wrap="square" lIns="0" tIns="0" rIns="0" bIns="0" rtlCol="0" anchor="t"/>
          <a:lstStyle/>
          <a:p>
            <a:pPr>
              <a:lnSpc>
                <a:spcPts val="1875"/>
              </a:lnSpc>
            </a:pPr>
            <a:r>
              <a:rPr lang="en-US" sz="1208" dirty="0">
                <a:solidFill>
                  <a:srgbClr val="3C3939"/>
                </a:solidFill>
                <a:latin typeface="Roboto" pitchFamily="34" charset="0"/>
                <a:ea typeface="Roboto" pitchFamily="34" charset="-122"/>
                <a:cs typeface="Roboto" pitchFamily="34" charset="-120"/>
              </a:rPr>
              <a:t>Breaking code into smaller bundles that can be loaded on demand, improving startup performance.</a:t>
            </a:r>
            <a:endParaRPr lang="en-US" sz="1208" dirty="0"/>
          </a:p>
        </p:txBody>
      </p:sp>
      <p:sp>
        <p:nvSpPr>
          <p:cNvPr id="11" name="Text 7"/>
          <p:cNvSpPr/>
          <p:nvPr/>
        </p:nvSpPr>
        <p:spPr>
          <a:xfrm>
            <a:off x="4439146" y="3475732"/>
            <a:ext cx="3313708" cy="970757"/>
          </a:xfrm>
          <a:prstGeom prst="rect">
            <a:avLst/>
          </a:prstGeom>
          <a:noFill/>
          <a:ln/>
        </p:spPr>
        <p:txBody>
          <a:bodyPr wrap="square" lIns="0" tIns="0" rIns="0" bIns="0" rtlCol="0" anchor="t"/>
          <a:lstStyle/>
          <a:p>
            <a:pPr marL="285739" indent="-285739">
              <a:lnSpc>
                <a:spcPts val="1875"/>
              </a:lnSpc>
              <a:buSzPct val="100000"/>
              <a:buChar char="•"/>
            </a:pPr>
            <a:r>
              <a:rPr lang="en-US" sz="1208" b="1" dirty="0">
                <a:solidFill>
                  <a:srgbClr val="3C3939"/>
                </a:solidFill>
                <a:latin typeface="Roboto" pitchFamily="34" charset="0"/>
                <a:ea typeface="Roboto" pitchFamily="34" charset="-122"/>
                <a:cs typeface="Roboto" pitchFamily="34" charset="-120"/>
              </a:rPr>
              <a:t>Example:</a:t>
            </a:r>
            <a:r>
              <a:rPr lang="en-US" sz="1208" dirty="0">
                <a:solidFill>
                  <a:srgbClr val="3C3939"/>
                </a:solidFill>
                <a:latin typeface="Roboto" pitchFamily="34" charset="0"/>
                <a:ea typeface="Roboto" pitchFamily="34" charset="-122"/>
                <a:cs typeface="Roboto" pitchFamily="34" charset="-120"/>
              </a:rPr>
              <a:t> A dashboard loads the main navigation and summary metrics first, then downloads the analytics chart code only when a user opens the Reports page.</a:t>
            </a:r>
            <a:endParaRPr lang="en-US" sz="1208" dirty="0"/>
          </a:p>
        </p:txBody>
      </p:sp>
      <p:pic>
        <p:nvPicPr>
          <p:cNvPr id="12" name="Image 2" descr="preencoded.png"/>
          <p:cNvPicPr>
            <a:picLocks noChangeAspect="1"/>
          </p:cNvPicPr>
          <p:nvPr/>
        </p:nvPicPr>
        <p:blipFill>
          <a:blip r:embed="rId5"/>
          <a:stretch>
            <a:fillRect/>
          </a:stretch>
        </p:blipFill>
        <p:spPr>
          <a:xfrm>
            <a:off x="7908925" y="1555254"/>
            <a:ext cx="3625850" cy="624383"/>
          </a:xfrm>
          <a:prstGeom prst="rect">
            <a:avLst/>
          </a:prstGeom>
        </p:spPr>
      </p:pic>
      <p:sp>
        <p:nvSpPr>
          <p:cNvPr id="13" name="Text 8"/>
          <p:cNvSpPr/>
          <p:nvPr/>
        </p:nvSpPr>
        <p:spPr>
          <a:xfrm>
            <a:off x="8064996" y="2326978"/>
            <a:ext cx="1951335" cy="243880"/>
          </a:xfrm>
          <a:prstGeom prst="rect">
            <a:avLst/>
          </a:prstGeom>
          <a:noFill/>
          <a:ln/>
        </p:spPr>
        <p:txBody>
          <a:bodyPr wrap="none" lIns="0" tIns="0" rIns="0" bIns="0" rtlCol="0" anchor="t"/>
          <a:lstStyle/>
          <a:p>
            <a:pPr>
              <a:lnSpc>
                <a:spcPts val="1917"/>
              </a:lnSpc>
            </a:pPr>
            <a:r>
              <a:rPr lang="en-US" sz="1500" dirty="0">
                <a:solidFill>
                  <a:srgbClr val="3C3939"/>
                </a:solidFill>
                <a:latin typeface="Raleway" pitchFamily="34" charset="0"/>
                <a:ea typeface="Raleway" pitchFamily="34" charset="-122"/>
                <a:cs typeface="Raleway" pitchFamily="34" charset="-120"/>
              </a:rPr>
              <a:t>Caching Strategies</a:t>
            </a:r>
            <a:endParaRPr lang="en-US" sz="1500" dirty="0"/>
          </a:p>
        </p:txBody>
      </p:sp>
      <p:sp>
        <p:nvSpPr>
          <p:cNvPr id="14" name="Text 9"/>
          <p:cNvSpPr/>
          <p:nvPr/>
        </p:nvSpPr>
        <p:spPr>
          <a:xfrm>
            <a:off x="8064996" y="2659261"/>
            <a:ext cx="3313708" cy="728068"/>
          </a:xfrm>
          <a:prstGeom prst="rect">
            <a:avLst/>
          </a:prstGeom>
          <a:noFill/>
          <a:ln/>
        </p:spPr>
        <p:txBody>
          <a:bodyPr wrap="square" lIns="0" tIns="0" rIns="0" bIns="0" rtlCol="0" anchor="t"/>
          <a:lstStyle/>
          <a:p>
            <a:pPr>
              <a:lnSpc>
                <a:spcPts val="1875"/>
              </a:lnSpc>
            </a:pPr>
            <a:r>
              <a:rPr lang="en-US" sz="1208" dirty="0">
                <a:solidFill>
                  <a:srgbClr val="3C3939"/>
                </a:solidFill>
                <a:latin typeface="Roboto" pitchFamily="34" charset="0"/>
                <a:ea typeface="Roboto" pitchFamily="34" charset="-122"/>
                <a:cs typeface="Roboto" pitchFamily="34" charset="-120"/>
              </a:rPr>
              <a:t>Storing frequently accessed data or resources locally to reduce server requests and improve load times.</a:t>
            </a:r>
            <a:endParaRPr lang="en-US" sz="1208" dirty="0"/>
          </a:p>
        </p:txBody>
      </p:sp>
      <p:sp>
        <p:nvSpPr>
          <p:cNvPr id="15" name="Text 10"/>
          <p:cNvSpPr/>
          <p:nvPr/>
        </p:nvSpPr>
        <p:spPr>
          <a:xfrm>
            <a:off x="8064996" y="3475732"/>
            <a:ext cx="3313708" cy="970757"/>
          </a:xfrm>
          <a:prstGeom prst="rect">
            <a:avLst/>
          </a:prstGeom>
          <a:noFill/>
          <a:ln/>
        </p:spPr>
        <p:txBody>
          <a:bodyPr wrap="square" lIns="0" tIns="0" rIns="0" bIns="0" rtlCol="0" anchor="t"/>
          <a:lstStyle/>
          <a:p>
            <a:pPr marL="285739" indent="-285739">
              <a:lnSpc>
                <a:spcPts val="1875"/>
              </a:lnSpc>
              <a:buSzPct val="100000"/>
              <a:buChar char="•"/>
            </a:pPr>
            <a:r>
              <a:rPr lang="en-US" sz="1208" b="1" dirty="0">
                <a:solidFill>
                  <a:srgbClr val="3C3939"/>
                </a:solidFill>
                <a:latin typeface="Roboto" pitchFamily="34" charset="0"/>
                <a:ea typeface="Roboto" pitchFamily="34" charset="-122"/>
                <a:cs typeface="Roboto" pitchFamily="34" charset="-120"/>
              </a:rPr>
              <a:t>Example:</a:t>
            </a:r>
            <a:r>
              <a:rPr lang="en-US" sz="1208" dirty="0">
                <a:solidFill>
                  <a:srgbClr val="3C3939"/>
                </a:solidFill>
                <a:latin typeface="Roboto" pitchFamily="34" charset="0"/>
                <a:ea typeface="Roboto" pitchFamily="34" charset="-122"/>
                <a:cs typeface="Roboto" pitchFamily="34" charset="-120"/>
              </a:rPr>
              <a:t> A news site keeps the homepage articles and logo files in the browser cache, so repeat visits open faster without re-downloading the same content.</a:t>
            </a:r>
            <a:endParaRPr lang="en-US" sz="1208" dirty="0"/>
          </a:p>
        </p:txBody>
      </p:sp>
      <p:sp>
        <p:nvSpPr>
          <p:cNvPr id="16" name="Shape 11"/>
          <p:cNvSpPr/>
          <p:nvPr/>
        </p:nvSpPr>
        <p:spPr>
          <a:xfrm>
            <a:off x="657225" y="4768255"/>
            <a:ext cx="10877550" cy="1219398"/>
          </a:xfrm>
          <a:prstGeom prst="roundRect">
            <a:avLst>
              <a:gd name="adj" fmla="val 5377"/>
            </a:avLst>
          </a:prstGeom>
          <a:solidFill>
            <a:srgbClr val="FFFFFF">
              <a:alpha val="95000"/>
            </a:srgbClr>
          </a:solidFill>
          <a:ln w="22860">
            <a:solidFill>
              <a:srgbClr val="C7C7D0"/>
            </a:solidFill>
            <a:prstDash val="solid"/>
          </a:ln>
        </p:spPr>
      </p:sp>
      <p:sp>
        <p:nvSpPr>
          <p:cNvPr id="17" name="Text 12"/>
          <p:cNvSpPr/>
          <p:nvPr/>
        </p:nvSpPr>
        <p:spPr>
          <a:xfrm>
            <a:off x="832346" y="4943376"/>
            <a:ext cx="1951335" cy="243880"/>
          </a:xfrm>
          <a:prstGeom prst="rect">
            <a:avLst/>
          </a:prstGeom>
          <a:noFill/>
          <a:ln/>
        </p:spPr>
        <p:txBody>
          <a:bodyPr wrap="none" lIns="0" tIns="0" rIns="0" bIns="0" rtlCol="0" anchor="t"/>
          <a:lstStyle/>
          <a:p>
            <a:pPr>
              <a:lnSpc>
                <a:spcPts val="1917"/>
              </a:lnSpc>
            </a:pPr>
            <a:r>
              <a:rPr lang="en-US" sz="1500" dirty="0">
                <a:solidFill>
                  <a:srgbClr val="3C3939"/>
                </a:solidFill>
                <a:latin typeface="Raleway" pitchFamily="34" charset="0"/>
                <a:ea typeface="Raleway" pitchFamily="34" charset="-122"/>
                <a:cs typeface="Raleway" pitchFamily="34" charset="-120"/>
              </a:rPr>
              <a:t>Tools</a:t>
            </a:r>
            <a:endParaRPr lang="en-US" sz="1500" dirty="0"/>
          </a:p>
        </p:txBody>
      </p:sp>
      <p:sp>
        <p:nvSpPr>
          <p:cNvPr id="18" name="Text 13"/>
          <p:cNvSpPr/>
          <p:nvPr/>
        </p:nvSpPr>
        <p:spPr>
          <a:xfrm>
            <a:off x="832346" y="5275659"/>
            <a:ext cx="10527308" cy="536873"/>
          </a:xfrm>
          <a:prstGeom prst="rect">
            <a:avLst/>
          </a:prstGeom>
          <a:noFill/>
          <a:ln/>
        </p:spPr>
        <p:txBody>
          <a:bodyPr wrap="square" lIns="0" tIns="0" rIns="0" bIns="0" rtlCol="0" anchor="t"/>
          <a:lstStyle/>
          <a:p>
            <a:pPr marL="285739" indent="-285739">
              <a:lnSpc>
                <a:spcPts val="1875"/>
              </a:lnSpc>
              <a:buSzPct val="100000"/>
              <a:buChar char="•"/>
            </a:pPr>
            <a:r>
              <a:rPr lang="en-US" sz="1208" b="1" dirty="0">
                <a:solidFill>
                  <a:srgbClr val="3C3939"/>
                </a:solidFill>
                <a:latin typeface="Roboto" pitchFamily="34" charset="0"/>
                <a:ea typeface="Roboto" pitchFamily="34" charset="-122"/>
                <a:cs typeface="Roboto" pitchFamily="34" charset="-120"/>
              </a:rPr>
              <a:t>Webpack/Vite:</a:t>
            </a:r>
            <a:r>
              <a:rPr lang="en-US" sz="1208" dirty="0">
                <a:solidFill>
                  <a:srgbClr val="3C3939"/>
                </a:solidFill>
                <a:latin typeface="Roboto" pitchFamily="34" charset="0"/>
                <a:ea typeface="Roboto" pitchFamily="34" charset="-122"/>
                <a:cs typeface="Roboto" pitchFamily="34" charset="-120"/>
              </a:rPr>
              <a:t> Module bundlers for code splitting and optimization.</a:t>
            </a:r>
            <a:endParaRPr lang="en-US" sz="1208" dirty="0"/>
          </a:p>
          <a:p>
            <a:pPr marL="285739" indent="-285739">
              <a:lnSpc>
                <a:spcPts val="1875"/>
              </a:lnSpc>
              <a:buSzPct val="100000"/>
              <a:buChar char="•"/>
            </a:pPr>
            <a:r>
              <a:rPr lang="en-US" sz="1208" b="1" dirty="0">
                <a:solidFill>
                  <a:srgbClr val="3C3939"/>
                </a:solidFill>
                <a:latin typeface="Roboto" pitchFamily="34" charset="0"/>
                <a:ea typeface="Roboto" pitchFamily="34" charset="-122"/>
                <a:cs typeface="Roboto" pitchFamily="34" charset="-120"/>
              </a:rPr>
              <a:t>Google Lighthouse:</a:t>
            </a:r>
            <a:r>
              <a:rPr lang="en-US" sz="1208" dirty="0">
                <a:solidFill>
                  <a:srgbClr val="3C3939"/>
                </a:solidFill>
                <a:latin typeface="Roboto" pitchFamily="34" charset="0"/>
                <a:ea typeface="Roboto" pitchFamily="34" charset="-122"/>
                <a:cs typeface="Roboto" pitchFamily="34" charset="-120"/>
              </a:rPr>
              <a:t> Auditing tool for performance, accessibility, SEO, and best practices.</a:t>
            </a:r>
            <a:endParaRPr lang="en-US" sz="1208" dirty="0"/>
          </a:p>
        </p:txBody>
      </p:sp>
      <p:sp>
        <p:nvSpPr>
          <p:cNvPr id="19" name="Text 14"/>
          <p:cNvSpPr/>
          <p:nvPr/>
        </p:nvSpPr>
        <p:spPr>
          <a:xfrm>
            <a:off x="657225" y="6153349"/>
            <a:ext cx="10877550" cy="242689"/>
          </a:xfrm>
          <a:prstGeom prst="rect">
            <a:avLst/>
          </a:prstGeom>
          <a:noFill/>
          <a:ln/>
        </p:spPr>
        <p:txBody>
          <a:bodyPr wrap="none" lIns="0" tIns="0" rIns="0" bIns="0" rtlCol="0" anchor="t"/>
          <a:lstStyle/>
          <a:p>
            <a:pPr>
              <a:lnSpc>
                <a:spcPts val="1875"/>
              </a:lnSpc>
            </a:pPr>
            <a:r>
              <a:rPr lang="en-US" sz="1208" dirty="0">
                <a:solidFill>
                  <a:srgbClr val="3C3939"/>
                </a:solidFill>
                <a:latin typeface="Roboto" pitchFamily="34" charset="0"/>
                <a:ea typeface="Roboto" pitchFamily="34" charset="-122"/>
                <a:cs typeface="Roboto" pitchFamily="34" charset="-120"/>
              </a:rPr>
              <a:t>Implementing these techniques significantly enhances the speed and responsiveness of web applications, leading to a better user experience.</a:t>
            </a:r>
            <a:endParaRPr lang="en-US" sz="1208"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54236"/>
            <a:ext cx="3495179"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Security Best Practices</a:t>
            </a:r>
            <a:endParaRPr lang="en-US" sz="2583" dirty="0"/>
          </a:p>
        </p:txBody>
      </p:sp>
      <p:sp>
        <p:nvSpPr>
          <p:cNvPr id="3" name="Text 1"/>
          <p:cNvSpPr/>
          <p:nvPr/>
        </p:nvSpPr>
        <p:spPr>
          <a:xfrm>
            <a:off x="661492" y="1298377"/>
            <a:ext cx="10869018" cy="264617"/>
          </a:xfrm>
          <a:prstGeom prst="rect">
            <a:avLst/>
          </a:prstGeom>
          <a:noFill/>
          <a:ln/>
        </p:spPr>
        <p:txBody>
          <a:bodyPr wrap="non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Protecting web applications from vulnerabilities is paramount to safeguarding user data and maintaining trust.</a:t>
            </a:r>
            <a:endParaRPr lang="en-US" sz="1292" dirty="0"/>
          </a:p>
        </p:txBody>
      </p:sp>
      <p:sp>
        <p:nvSpPr>
          <p:cNvPr id="4" name="Shape 2"/>
          <p:cNvSpPr/>
          <p:nvPr/>
        </p:nvSpPr>
        <p:spPr>
          <a:xfrm>
            <a:off x="661492" y="1749028"/>
            <a:ext cx="3512741" cy="4103985"/>
          </a:xfrm>
          <a:prstGeom prst="roundRect">
            <a:avLst>
              <a:gd name="adj" fmla="val 1978"/>
            </a:avLst>
          </a:prstGeom>
          <a:solidFill>
            <a:srgbClr val="E1E1EA"/>
          </a:solidFill>
          <a:ln w="7620">
            <a:solidFill>
              <a:srgbClr val="C7C7D0"/>
            </a:solidFill>
            <a:prstDash val="solid"/>
          </a:ln>
        </p:spPr>
      </p:sp>
      <p:sp>
        <p:nvSpPr>
          <p:cNvPr id="5" name="Text 3"/>
          <p:cNvSpPr/>
          <p:nvPr/>
        </p:nvSpPr>
        <p:spPr>
          <a:xfrm>
            <a:off x="833141" y="1920677"/>
            <a:ext cx="3064569"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Secure Communication (HTTPS)</a:t>
            </a:r>
            <a:endParaRPr lang="en-US" sz="1625" dirty="0"/>
          </a:p>
        </p:txBody>
      </p:sp>
      <p:sp>
        <p:nvSpPr>
          <p:cNvPr id="6" name="Text 4"/>
          <p:cNvSpPr/>
          <p:nvPr/>
        </p:nvSpPr>
        <p:spPr>
          <a:xfrm>
            <a:off x="833141" y="2278361"/>
            <a:ext cx="3169444"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Encrypts data in transit between the user's browser and the web server, preventing eavesdropping and tampering.</a:t>
            </a:r>
            <a:endParaRPr lang="en-US" sz="1292" dirty="0"/>
          </a:p>
        </p:txBody>
      </p:sp>
      <p:sp>
        <p:nvSpPr>
          <p:cNvPr id="7" name="Text 5"/>
          <p:cNvSpPr/>
          <p:nvPr/>
        </p:nvSpPr>
        <p:spPr>
          <a:xfrm>
            <a:off x="833141" y="3171428"/>
            <a:ext cx="3169444" cy="2232620"/>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Mechanism:</a:t>
            </a:r>
            <a:r>
              <a:rPr lang="en-US" sz="1292" dirty="0">
                <a:solidFill>
                  <a:srgbClr val="3C3939"/>
                </a:solidFill>
                <a:latin typeface="Roboto" pitchFamily="34" charset="0"/>
                <a:ea typeface="Roboto" pitchFamily="34" charset="-122"/>
                <a:cs typeface="Roboto" pitchFamily="34" charset="-120"/>
              </a:rPr>
              <a:t> TLS/SSL certificates.</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Benefit:</a:t>
            </a:r>
            <a:r>
              <a:rPr lang="en-US" sz="1292" dirty="0">
                <a:solidFill>
                  <a:srgbClr val="3C3939"/>
                </a:solidFill>
                <a:latin typeface="Roboto" pitchFamily="34" charset="0"/>
                <a:ea typeface="Roboto" pitchFamily="34" charset="-122"/>
                <a:cs typeface="Roboto" pitchFamily="34" charset="-120"/>
              </a:rPr>
              <a:t> Data integrity and confidentiality.</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A banking site uses HTTPS so a customer entering their account number and password on public Wi‑Fi cannot have that information read or altered by someone on the network.</a:t>
            </a:r>
            <a:endParaRPr lang="en-US" sz="1292" dirty="0"/>
          </a:p>
        </p:txBody>
      </p:sp>
      <p:sp>
        <p:nvSpPr>
          <p:cNvPr id="8" name="Shape 6"/>
          <p:cNvSpPr/>
          <p:nvPr/>
        </p:nvSpPr>
        <p:spPr>
          <a:xfrm>
            <a:off x="4339531" y="1749028"/>
            <a:ext cx="3512840" cy="4103985"/>
          </a:xfrm>
          <a:prstGeom prst="roundRect">
            <a:avLst>
              <a:gd name="adj" fmla="val 1977"/>
            </a:avLst>
          </a:prstGeom>
          <a:solidFill>
            <a:srgbClr val="E1E1EA"/>
          </a:solidFill>
          <a:ln w="7620">
            <a:solidFill>
              <a:srgbClr val="C7C7D0"/>
            </a:solidFill>
            <a:prstDash val="solid"/>
          </a:ln>
        </p:spPr>
      </p:sp>
      <p:sp>
        <p:nvSpPr>
          <p:cNvPr id="9" name="Text 7"/>
          <p:cNvSpPr/>
          <p:nvPr/>
        </p:nvSpPr>
        <p:spPr>
          <a:xfrm>
            <a:off x="4511179" y="1920677"/>
            <a:ext cx="2810967"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Input Validation &amp; Sanitization</a:t>
            </a:r>
            <a:endParaRPr lang="en-US" sz="1625" dirty="0"/>
          </a:p>
        </p:txBody>
      </p:sp>
      <p:sp>
        <p:nvSpPr>
          <p:cNvPr id="10" name="Text 8"/>
          <p:cNvSpPr/>
          <p:nvPr/>
        </p:nvSpPr>
        <p:spPr>
          <a:xfrm>
            <a:off x="4511179" y="2278361"/>
            <a:ext cx="3169543"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Ensuring user-supplied data conforms to expected formats and stripping malicious characters to prevent injection attacks.</a:t>
            </a:r>
            <a:endParaRPr lang="en-US" sz="1292" dirty="0"/>
          </a:p>
        </p:txBody>
      </p:sp>
      <p:sp>
        <p:nvSpPr>
          <p:cNvPr id="11" name="Text 9"/>
          <p:cNvSpPr/>
          <p:nvPr/>
        </p:nvSpPr>
        <p:spPr>
          <a:xfrm>
            <a:off x="4511179" y="3171428"/>
            <a:ext cx="3169543" cy="2509937"/>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Prevention:</a:t>
            </a:r>
            <a:r>
              <a:rPr lang="en-US" sz="1292" dirty="0">
                <a:solidFill>
                  <a:srgbClr val="3C3939"/>
                </a:solidFill>
                <a:latin typeface="Roboto" pitchFamily="34" charset="0"/>
                <a:ea typeface="Roboto" pitchFamily="34" charset="-122"/>
                <a:cs typeface="Roboto" pitchFamily="34" charset="-120"/>
              </a:rPr>
              <a:t> XSS (Cross-Site Scripting), SQL Injection.</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Method:</a:t>
            </a:r>
            <a:r>
              <a:rPr lang="en-US" sz="1292" dirty="0">
                <a:solidFill>
                  <a:srgbClr val="3C3939"/>
                </a:solidFill>
                <a:latin typeface="Roboto" pitchFamily="34" charset="0"/>
                <a:ea typeface="Roboto" pitchFamily="34" charset="-122"/>
                <a:cs typeface="Roboto" pitchFamily="34" charset="-120"/>
              </a:rPr>
              <a:t> Validate both client-side and server-side.</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A comment form rejects a script tag like </a:t>
            </a:r>
            <a:r>
              <a:rPr lang="en-US" sz="1292" dirty="0">
                <a:solidFill>
                  <a:srgbClr val="3C3939"/>
                </a:solidFill>
                <a:highlight>
                  <a:srgbClr val="F2F2F2"/>
                </a:highlight>
                <a:latin typeface="Consolas" pitchFamily="34" charset="0"/>
                <a:ea typeface="Consolas" pitchFamily="34" charset="-122"/>
                <a:cs typeface="Consolas" pitchFamily="34" charset="-120"/>
              </a:rPr>
              <a:t>&lt;script&gt;alert('hi')&lt;/script&gt;</a:t>
            </a:r>
            <a:r>
              <a:rPr lang="en-US" sz="1292" dirty="0">
                <a:solidFill>
                  <a:srgbClr val="3C3939"/>
                </a:solidFill>
                <a:latin typeface="Roboto" pitchFamily="34" charset="0"/>
                <a:ea typeface="Roboto" pitchFamily="34" charset="-122"/>
                <a:cs typeface="Roboto" pitchFamily="34" charset="-120"/>
              </a:rPr>
              <a:t> and only allows plain text, so the comment cannot run code on other users' browsers.</a:t>
            </a:r>
            <a:endParaRPr lang="en-US" sz="1292" dirty="0"/>
          </a:p>
        </p:txBody>
      </p:sp>
      <p:sp>
        <p:nvSpPr>
          <p:cNvPr id="12" name="Shape 10"/>
          <p:cNvSpPr/>
          <p:nvPr/>
        </p:nvSpPr>
        <p:spPr>
          <a:xfrm>
            <a:off x="8017670" y="1749028"/>
            <a:ext cx="3512741" cy="4103985"/>
          </a:xfrm>
          <a:prstGeom prst="roundRect">
            <a:avLst>
              <a:gd name="adj" fmla="val 1978"/>
            </a:avLst>
          </a:prstGeom>
          <a:solidFill>
            <a:srgbClr val="E1E1EA"/>
          </a:solidFill>
          <a:ln w="7620">
            <a:solidFill>
              <a:srgbClr val="C7C7D0"/>
            </a:solidFill>
            <a:prstDash val="solid"/>
          </a:ln>
        </p:spPr>
      </p:sp>
      <p:sp>
        <p:nvSpPr>
          <p:cNvPr id="13" name="Text 11"/>
          <p:cNvSpPr/>
          <p:nvPr/>
        </p:nvSpPr>
        <p:spPr>
          <a:xfrm>
            <a:off x="8189318" y="1920677"/>
            <a:ext cx="2886670"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Authentication &amp; Authorization</a:t>
            </a:r>
            <a:endParaRPr lang="en-US" sz="1625" dirty="0"/>
          </a:p>
        </p:txBody>
      </p:sp>
      <p:sp>
        <p:nvSpPr>
          <p:cNvPr id="14" name="Text 12"/>
          <p:cNvSpPr/>
          <p:nvPr/>
        </p:nvSpPr>
        <p:spPr>
          <a:xfrm>
            <a:off x="8189318" y="2278361"/>
            <a:ext cx="3169444"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Verifying user identity and controlling access to resources based on permissions.</a:t>
            </a:r>
            <a:endParaRPr lang="en-US" sz="1292" dirty="0"/>
          </a:p>
        </p:txBody>
      </p:sp>
      <p:sp>
        <p:nvSpPr>
          <p:cNvPr id="15" name="Text 13"/>
          <p:cNvSpPr/>
          <p:nvPr/>
        </p:nvSpPr>
        <p:spPr>
          <a:xfrm>
            <a:off x="8189318" y="3171428"/>
            <a:ext cx="3169444" cy="2497237"/>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Tokens:</a:t>
            </a:r>
            <a:r>
              <a:rPr lang="en-US" sz="1292" dirty="0">
                <a:solidFill>
                  <a:srgbClr val="3C3939"/>
                </a:solidFill>
                <a:latin typeface="Roboto" pitchFamily="34" charset="0"/>
                <a:ea typeface="Roboto" pitchFamily="34" charset="-122"/>
                <a:cs typeface="Roboto" pitchFamily="34" charset="-120"/>
              </a:rPr>
              <a:t> JWT (JSON Web Tokens) for stateless authentication.</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Protocols:</a:t>
            </a:r>
            <a:r>
              <a:rPr lang="en-US" sz="1292" dirty="0">
                <a:solidFill>
                  <a:srgbClr val="3C3939"/>
                </a:solidFill>
                <a:latin typeface="Roboto" pitchFamily="34" charset="0"/>
                <a:ea typeface="Roboto" pitchFamily="34" charset="-122"/>
                <a:cs typeface="Roboto" pitchFamily="34" charset="-120"/>
              </a:rPr>
              <a:t> OAuth for delegated authorization.</a:t>
            </a:r>
            <a:endParaRPr lang="en-US" sz="1292" dirty="0"/>
          </a:p>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In an HR portal, an employee can view their own pay stub after logging in, but only a manager with the correct role can access team salary reports.</a:t>
            </a:r>
            <a:endParaRPr lang="en-US" sz="1292" dirty="0"/>
          </a:p>
        </p:txBody>
      </p:sp>
      <p:sp>
        <p:nvSpPr>
          <p:cNvPr id="16" name="Text 14"/>
          <p:cNvSpPr/>
          <p:nvPr/>
        </p:nvSpPr>
        <p:spPr>
          <a:xfrm>
            <a:off x="661492" y="6039048"/>
            <a:ext cx="10869018" cy="264617"/>
          </a:xfrm>
          <a:prstGeom prst="rect">
            <a:avLst/>
          </a:prstGeom>
          <a:noFill/>
          <a:ln/>
        </p:spPr>
        <p:txBody>
          <a:bodyPr wrap="non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Proactive security measures are fundamental to building trustworthy and resilient web applications that protect against common threats.</a:t>
            </a:r>
            <a:endParaRPr lang="en-US" sz="1292"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56233"/>
            <a:ext cx="4136232" cy="351433"/>
          </a:xfrm>
          <a:prstGeom prst="rect">
            <a:avLst/>
          </a:prstGeom>
          <a:noFill/>
          <a:ln/>
        </p:spPr>
        <p:txBody>
          <a:bodyPr wrap="none" lIns="0" tIns="0" rIns="0" bIns="0" rtlCol="0" anchor="t"/>
          <a:lstStyle/>
          <a:p>
            <a:pPr>
              <a:lnSpc>
                <a:spcPts val="2750"/>
              </a:lnSpc>
            </a:pPr>
            <a:r>
              <a:rPr lang="en-US" sz="2208" dirty="0">
                <a:solidFill>
                  <a:srgbClr val="1B1B27"/>
                </a:solidFill>
                <a:latin typeface="Raleway" pitchFamily="34" charset="0"/>
                <a:ea typeface="Raleway" pitchFamily="34" charset="-122"/>
                <a:cs typeface="Raleway" pitchFamily="34" charset="-120"/>
              </a:rPr>
              <a:t>Component-Based Architecture</a:t>
            </a:r>
            <a:endParaRPr lang="en-US" sz="2208" dirty="0"/>
          </a:p>
        </p:txBody>
      </p:sp>
      <p:sp>
        <p:nvSpPr>
          <p:cNvPr id="3" name="Text 1"/>
          <p:cNvSpPr/>
          <p:nvPr/>
        </p:nvSpPr>
        <p:spPr>
          <a:xfrm>
            <a:off x="661492" y="1246584"/>
            <a:ext cx="10869018" cy="208062"/>
          </a:xfrm>
          <a:prstGeom prst="rect">
            <a:avLst/>
          </a:prstGeom>
          <a:noFill/>
          <a:ln/>
        </p:spPr>
        <p:txBody>
          <a:bodyPr wrap="non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Modern front-end development is heavily influenced by the component-based paradigm, promoting modularity and reusability.</a:t>
            </a:r>
            <a:endParaRPr lang="en-US" sz="1083" dirty="0"/>
          </a:p>
        </p:txBody>
      </p:sp>
      <p:sp>
        <p:nvSpPr>
          <p:cNvPr id="4" name="Shape 2"/>
          <p:cNvSpPr/>
          <p:nvPr/>
        </p:nvSpPr>
        <p:spPr>
          <a:xfrm>
            <a:off x="661492" y="1588988"/>
            <a:ext cx="3543300" cy="1417142"/>
          </a:xfrm>
          <a:prstGeom prst="roundRect">
            <a:avLst>
              <a:gd name="adj" fmla="val 4167"/>
            </a:avLst>
          </a:prstGeom>
          <a:solidFill>
            <a:srgbClr val="E1E1EA"/>
          </a:solidFill>
          <a:ln w="7620">
            <a:solidFill>
              <a:srgbClr val="C7C7D0"/>
            </a:solidFill>
            <a:prstDash val="solid"/>
          </a:ln>
        </p:spPr>
      </p:sp>
      <p:sp>
        <p:nvSpPr>
          <p:cNvPr id="5" name="Text 3"/>
          <p:cNvSpPr/>
          <p:nvPr/>
        </p:nvSpPr>
        <p:spPr>
          <a:xfrm>
            <a:off x="808335" y="1735832"/>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Modularization</a:t>
            </a:r>
            <a:endParaRPr lang="en-US" sz="1375" dirty="0"/>
          </a:p>
        </p:txBody>
      </p:sp>
      <p:sp>
        <p:nvSpPr>
          <p:cNvPr id="6" name="Text 4"/>
          <p:cNvSpPr/>
          <p:nvPr/>
        </p:nvSpPr>
        <p:spPr>
          <a:xfrm>
            <a:off x="808335" y="2027039"/>
            <a:ext cx="3249613"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A product page is built from separate components for the header, product gallery, price block, reviews, and related items, so each part can be updated independently.</a:t>
            </a:r>
            <a:endParaRPr lang="en-US" sz="1083" dirty="0"/>
          </a:p>
        </p:txBody>
      </p:sp>
      <p:sp>
        <p:nvSpPr>
          <p:cNvPr id="7" name="Shape 5"/>
          <p:cNvSpPr/>
          <p:nvPr/>
        </p:nvSpPr>
        <p:spPr>
          <a:xfrm>
            <a:off x="4324251" y="1588988"/>
            <a:ext cx="3543399" cy="1417142"/>
          </a:xfrm>
          <a:prstGeom prst="roundRect">
            <a:avLst>
              <a:gd name="adj" fmla="val 4167"/>
            </a:avLst>
          </a:prstGeom>
          <a:solidFill>
            <a:srgbClr val="E1E1EA"/>
          </a:solidFill>
          <a:ln w="7620">
            <a:solidFill>
              <a:srgbClr val="C7C7D0"/>
            </a:solidFill>
            <a:prstDash val="solid"/>
          </a:ln>
        </p:spPr>
      </p:sp>
      <p:sp>
        <p:nvSpPr>
          <p:cNvPr id="8" name="Text 6"/>
          <p:cNvSpPr/>
          <p:nvPr/>
        </p:nvSpPr>
        <p:spPr>
          <a:xfrm>
            <a:off x="4471094" y="1735832"/>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Reusability</a:t>
            </a:r>
            <a:endParaRPr lang="en-US" sz="1375" dirty="0"/>
          </a:p>
        </p:txBody>
      </p:sp>
      <p:sp>
        <p:nvSpPr>
          <p:cNvPr id="9" name="Text 7"/>
          <p:cNvSpPr/>
          <p:nvPr/>
        </p:nvSpPr>
        <p:spPr>
          <a:xfrm>
            <a:off x="4471094" y="2027039"/>
            <a:ext cx="3249712"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The same button component is used for “Add to Cart,” “Save for Later,” and “Checkout” across multiple pages, keeping spacing, color, and behavior consistent.</a:t>
            </a:r>
            <a:endParaRPr lang="en-US" sz="1083" dirty="0"/>
          </a:p>
        </p:txBody>
      </p:sp>
      <p:sp>
        <p:nvSpPr>
          <p:cNvPr id="10" name="Shape 8"/>
          <p:cNvSpPr/>
          <p:nvPr/>
        </p:nvSpPr>
        <p:spPr>
          <a:xfrm>
            <a:off x="7987110" y="1588988"/>
            <a:ext cx="3543399" cy="1417142"/>
          </a:xfrm>
          <a:prstGeom prst="roundRect">
            <a:avLst>
              <a:gd name="adj" fmla="val 4167"/>
            </a:avLst>
          </a:prstGeom>
          <a:solidFill>
            <a:srgbClr val="E1E1EA"/>
          </a:solidFill>
          <a:ln w="7620">
            <a:solidFill>
              <a:srgbClr val="C7C7D0"/>
            </a:solidFill>
            <a:prstDash val="solid"/>
          </a:ln>
        </p:spPr>
      </p:sp>
      <p:sp>
        <p:nvSpPr>
          <p:cNvPr id="11" name="Text 9"/>
          <p:cNvSpPr/>
          <p:nvPr/>
        </p:nvSpPr>
        <p:spPr>
          <a:xfrm>
            <a:off x="8133954" y="1735832"/>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Maintainability</a:t>
            </a:r>
            <a:endParaRPr lang="en-US" sz="1375" dirty="0"/>
          </a:p>
        </p:txBody>
      </p:sp>
      <p:sp>
        <p:nvSpPr>
          <p:cNvPr id="12" name="Text 10"/>
          <p:cNvSpPr/>
          <p:nvPr/>
        </p:nvSpPr>
        <p:spPr>
          <a:xfrm>
            <a:off x="8133953" y="2027039"/>
            <a:ext cx="3249712"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If the company changes its card design, updating one shared product-card component automatically refreshes every product listing without editing each page separately.</a:t>
            </a:r>
            <a:endParaRPr lang="en-US" sz="1083" dirty="0"/>
          </a:p>
        </p:txBody>
      </p:sp>
      <p:sp>
        <p:nvSpPr>
          <p:cNvPr id="13" name="Text 11"/>
          <p:cNvSpPr/>
          <p:nvPr/>
        </p:nvSpPr>
        <p:spPr>
          <a:xfrm>
            <a:off x="661492" y="3140472"/>
            <a:ext cx="10869018" cy="208062"/>
          </a:xfrm>
          <a:prstGeom prst="rect">
            <a:avLst/>
          </a:prstGeom>
          <a:noFill/>
          <a:ln/>
        </p:spPr>
        <p:txBody>
          <a:bodyPr wrap="non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This architectural approach breaks down UIs into independent, reusable pieces, making development more efficient and scalable.</a:t>
            </a:r>
            <a:endParaRPr lang="en-US" sz="1083" dirty="0"/>
          </a:p>
        </p:txBody>
      </p:sp>
      <p:sp>
        <p:nvSpPr>
          <p:cNvPr id="14" name="Shape 12"/>
          <p:cNvSpPr/>
          <p:nvPr/>
        </p:nvSpPr>
        <p:spPr>
          <a:xfrm>
            <a:off x="661492" y="3482876"/>
            <a:ext cx="5374779" cy="421680"/>
          </a:xfrm>
          <a:prstGeom prst="roundRect">
            <a:avLst>
              <a:gd name="adj" fmla="val 480088"/>
            </a:avLst>
          </a:prstGeom>
          <a:solidFill>
            <a:srgbClr val="E1E1EA"/>
          </a:solidFill>
          <a:ln w="7620">
            <a:solidFill>
              <a:srgbClr val="C7C7D0"/>
            </a:solidFill>
            <a:prstDash val="solid"/>
          </a:ln>
        </p:spPr>
      </p:sp>
      <p:sp>
        <p:nvSpPr>
          <p:cNvPr id="15" name="Text 13"/>
          <p:cNvSpPr/>
          <p:nvPr/>
        </p:nvSpPr>
        <p:spPr>
          <a:xfrm>
            <a:off x="3243461" y="3561953"/>
            <a:ext cx="210840" cy="263525"/>
          </a:xfrm>
          <a:prstGeom prst="rect">
            <a:avLst/>
          </a:prstGeom>
          <a:noFill/>
          <a:ln/>
        </p:spPr>
        <p:txBody>
          <a:bodyPr wrap="none" lIns="0" tIns="0" rIns="0" bIns="0" rtlCol="0" anchor="t"/>
          <a:lstStyle/>
          <a:p>
            <a:pPr>
              <a:lnSpc>
                <a:spcPts val="1625"/>
              </a:lnSpc>
            </a:pPr>
            <a:r>
              <a:rPr lang="en-US" sz="1625" dirty="0">
                <a:solidFill>
                  <a:srgbClr val="3C3939"/>
                </a:solidFill>
                <a:latin typeface="Raleway" pitchFamily="34" charset="0"/>
                <a:ea typeface="Raleway" pitchFamily="34" charset="-122"/>
                <a:cs typeface="Raleway" pitchFamily="34" charset="-120"/>
              </a:rPr>
              <a:t>1</a:t>
            </a:r>
            <a:endParaRPr lang="en-US" sz="1625" dirty="0"/>
          </a:p>
        </p:txBody>
      </p:sp>
      <p:sp>
        <p:nvSpPr>
          <p:cNvPr id="16" name="Text 14"/>
          <p:cNvSpPr/>
          <p:nvPr/>
        </p:nvSpPr>
        <p:spPr>
          <a:xfrm>
            <a:off x="801986" y="4024015"/>
            <a:ext cx="1853704"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Reusable Components</a:t>
            </a:r>
            <a:endParaRPr lang="en-US" sz="1375" dirty="0"/>
          </a:p>
        </p:txBody>
      </p:sp>
      <p:sp>
        <p:nvSpPr>
          <p:cNvPr id="17" name="Text 15"/>
          <p:cNvSpPr/>
          <p:nvPr/>
        </p:nvSpPr>
        <p:spPr>
          <a:xfrm>
            <a:off x="801985" y="4315222"/>
            <a:ext cx="5093792"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A login form, search bar, and notification banner are built once and reused across desktop, tablet, and mobile views.</a:t>
            </a:r>
            <a:endParaRPr lang="en-US" sz="1083" dirty="0"/>
          </a:p>
        </p:txBody>
      </p:sp>
      <p:sp>
        <p:nvSpPr>
          <p:cNvPr id="18" name="Text 16"/>
          <p:cNvSpPr/>
          <p:nvPr/>
        </p:nvSpPr>
        <p:spPr>
          <a:xfrm>
            <a:off x="801985" y="4802982"/>
            <a:ext cx="5093792" cy="208062"/>
          </a:xfrm>
          <a:prstGeom prst="rect">
            <a:avLst/>
          </a:prstGeom>
          <a:noFill/>
          <a:ln/>
        </p:spPr>
        <p:txBody>
          <a:bodyPr wrap="none" lIns="0" tIns="0" rIns="0" bIns="0" rtlCol="0" anchor="t"/>
          <a:lstStyle/>
          <a:p>
            <a:pPr marL="285739" indent="-285739">
              <a:lnSpc>
                <a:spcPts val="1625"/>
              </a:lnSpc>
              <a:buSzPct val="100000"/>
              <a:buChar char="•"/>
            </a:pPr>
            <a:r>
              <a:rPr lang="en-US" sz="1083" b="1" dirty="0">
                <a:solidFill>
                  <a:srgbClr val="3C3939"/>
                </a:solidFill>
                <a:latin typeface="Roboto" pitchFamily="34" charset="0"/>
                <a:ea typeface="Roboto" pitchFamily="34" charset="-122"/>
                <a:cs typeface="Roboto" pitchFamily="34" charset="-120"/>
              </a:rPr>
              <a:t>Benefits:</a:t>
            </a:r>
            <a:r>
              <a:rPr lang="en-US" sz="1083" dirty="0">
                <a:solidFill>
                  <a:srgbClr val="3C3939"/>
                </a:solidFill>
                <a:latin typeface="Roboto" pitchFamily="34" charset="0"/>
                <a:ea typeface="Roboto" pitchFamily="34" charset="-122"/>
                <a:cs typeface="Roboto" pitchFamily="34" charset="-120"/>
              </a:rPr>
              <a:t> Faster development, consistent UI, easier debugging.</a:t>
            </a:r>
            <a:endParaRPr lang="en-US" sz="1083" dirty="0"/>
          </a:p>
        </p:txBody>
      </p:sp>
      <p:sp>
        <p:nvSpPr>
          <p:cNvPr id="19" name="Shape 17"/>
          <p:cNvSpPr/>
          <p:nvPr/>
        </p:nvSpPr>
        <p:spPr>
          <a:xfrm>
            <a:off x="6155731" y="3482876"/>
            <a:ext cx="5374779" cy="421680"/>
          </a:xfrm>
          <a:prstGeom prst="roundRect">
            <a:avLst>
              <a:gd name="adj" fmla="val 480088"/>
            </a:avLst>
          </a:prstGeom>
          <a:solidFill>
            <a:srgbClr val="E1E1EA"/>
          </a:solidFill>
          <a:ln w="7620">
            <a:solidFill>
              <a:srgbClr val="C7C7D0"/>
            </a:solidFill>
            <a:prstDash val="solid"/>
          </a:ln>
        </p:spPr>
      </p:sp>
      <p:sp>
        <p:nvSpPr>
          <p:cNvPr id="20" name="Text 18"/>
          <p:cNvSpPr/>
          <p:nvPr/>
        </p:nvSpPr>
        <p:spPr>
          <a:xfrm>
            <a:off x="8737699" y="3561953"/>
            <a:ext cx="210840" cy="263525"/>
          </a:xfrm>
          <a:prstGeom prst="rect">
            <a:avLst/>
          </a:prstGeom>
          <a:noFill/>
          <a:ln/>
        </p:spPr>
        <p:txBody>
          <a:bodyPr wrap="none" lIns="0" tIns="0" rIns="0" bIns="0" rtlCol="0" anchor="t"/>
          <a:lstStyle/>
          <a:p>
            <a:pPr>
              <a:lnSpc>
                <a:spcPts val="1625"/>
              </a:lnSpc>
            </a:pPr>
            <a:r>
              <a:rPr lang="en-US" sz="1625" dirty="0">
                <a:solidFill>
                  <a:srgbClr val="3C3939"/>
                </a:solidFill>
                <a:latin typeface="Raleway" pitchFamily="34" charset="0"/>
                <a:ea typeface="Raleway" pitchFamily="34" charset="-122"/>
                <a:cs typeface="Raleway" pitchFamily="34" charset="-120"/>
              </a:rPr>
              <a:t>2</a:t>
            </a:r>
            <a:endParaRPr lang="en-US" sz="1625" dirty="0"/>
          </a:p>
        </p:txBody>
      </p:sp>
      <p:sp>
        <p:nvSpPr>
          <p:cNvPr id="21" name="Text 19"/>
          <p:cNvSpPr/>
          <p:nvPr/>
        </p:nvSpPr>
        <p:spPr>
          <a:xfrm>
            <a:off x="6296224" y="4024015"/>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Popular Frameworks</a:t>
            </a:r>
            <a:endParaRPr lang="en-US" sz="1375" dirty="0"/>
          </a:p>
        </p:txBody>
      </p:sp>
      <p:sp>
        <p:nvSpPr>
          <p:cNvPr id="22" name="Text 20"/>
          <p:cNvSpPr/>
          <p:nvPr/>
        </p:nvSpPr>
        <p:spPr>
          <a:xfrm>
            <a:off x="6296223" y="4315222"/>
            <a:ext cx="5093792" cy="624185"/>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A team building an e-commerce app might choose React for interactive product filters, Angular for a large enterprise dashboard, or Vue for a lightweight marketing site.</a:t>
            </a:r>
            <a:endParaRPr lang="en-US" sz="1083" dirty="0"/>
          </a:p>
        </p:txBody>
      </p:sp>
      <p:sp>
        <p:nvSpPr>
          <p:cNvPr id="23" name="Text 21"/>
          <p:cNvSpPr/>
          <p:nvPr/>
        </p:nvSpPr>
        <p:spPr>
          <a:xfrm>
            <a:off x="6296223" y="5011044"/>
            <a:ext cx="5093792" cy="707728"/>
          </a:xfrm>
          <a:prstGeom prst="rect">
            <a:avLst/>
          </a:prstGeom>
          <a:noFill/>
          <a:ln/>
        </p:spPr>
        <p:txBody>
          <a:bodyPr wrap="square" lIns="0" tIns="0" rIns="0" bIns="0" rtlCol="0" anchor="t"/>
          <a:lstStyle/>
          <a:p>
            <a:pPr marL="285739" indent="-285739">
              <a:lnSpc>
                <a:spcPts val="1625"/>
              </a:lnSpc>
              <a:buSzPct val="100000"/>
              <a:buChar char="•"/>
            </a:pPr>
            <a:r>
              <a:rPr lang="en-US" sz="1083" b="1" dirty="0">
                <a:solidFill>
                  <a:srgbClr val="3C3939"/>
                </a:solidFill>
                <a:latin typeface="Roboto" pitchFamily="34" charset="0"/>
                <a:ea typeface="Roboto" pitchFamily="34" charset="-122"/>
                <a:cs typeface="Roboto" pitchFamily="34" charset="-120"/>
              </a:rPr>
              <a:t>React:</a:t>
            </a:r>
            <a:r>
              <a:rPr lang="en-US" sz="1083" dirty="0">
                <a:solidFill>
                  <a:srgbClr val="3C3939"/>
                </a:solidFill>
                <a:latin typeface="Roboto" pitchFamily="34" charset="0"/>
                <a:ea typeface="Roboto" pitchFamily="34" charset="-122"/>
                <a:cs typeface="Roboto" pitchFamily="34" charset="-120"/>
              </a:rPr>
              <a:t> Declarative, component-based library maintained by Facebook.</a:t>
            </a:r>
            <a:endParaRPr lang="en-US" sz="1083" dirty="0"/>
          </a:p>
          <a:p>
            <a:pPr marL="285739" indent="-285739">
              <a:lnSpc>
                <a:spcPts val="1625"/>
              </a:lnSpc>
              <a:buSzPct val="100000"/>
              <a:buChar char="•"/>
            </a:pPr>
            <a:r>
              <a:rPr lang="en-US" sz="1083" b="1" dirty="0">
                <a:solidFill>
                  <a:srgbClr val="3C3939"/>
                </a:solidFill>
                <a:latin typeface="Roboto" pitchFamily="34" charset="0"/>
                <a:ea typeface="Roboto" pitchFamily="34" charset="-122"/>
                <a:cs typeface="Roboto" pitchFamily="34" charset="-120"/>
              </a:rPr>
              <a:t>Angular:</a:t>
            </a:r>
            <a:r>
              <a:rPr lang="en-US" sz="1083" dirty="0">
                <a:solidFill>
                  <a:srgbClr val="3C3939"/>
                </a:solidFill>
                <a:latin typeface="Roboto" pitchFamily="34" charset="0"/>
                <a:ea typeface="Roboto" pitchFamily="34" charset="-122"/>
                <a:cs typeface="Roboto" pitchFamily="34" charset="-120"/>
              </a:rPr>
              <a:t> Comprehensive, opinionated framework maintained by Google.</a:t>
            </a:r>
            <a:endParaRPr lang="en-US" sz="1083" dirty="0"/>
          </a:p>
          <a:p>
            <a:pPr marL="285739" indent="-285739">
              <a:lnSpc>
                <a:spcPts val="1625"/>
              </a:lnSpc>
              <a:buSzPct val="100000"/>
              <a:buChar char="•"/>
            </a:pPr>
            <a:r>
              <a:rPr lang="en-US" sz="1083" b="1" dirty="0">
                <a:solidFill>
                  <a:srgbClr val="3C3939"/>
                </a:solidFill>
                <a:latin typeface="Roboto" pitchFamily="34" charset="0"/>
                <a:ea typeface="Roboto" pitchFamily="34" charset="-122"/>
                <a:cs typeface="Roboto" pitchFamily="34" charset="-120"/>
              </a:rPr>
              <a:t>Vue:</a:t>
            </a:r>
            <a:r>
              <a:rPr lang="en-US" sz="1083" dirty="0">
                <a:solidFill>
                  <a:srgbClr val="3C3939"/>
                </a:solidFill>
                <a:latin typeface="Roboto" pitchFamily="34" charset="0"/>
                <a:ea typeface="Roboto" pitchFamily="34" charset="-122"/>
                <a:cs typeface="Roboto" pitchFamily="34" charset="-120"/>
              </a:rPr>
              <a:t> Progressive, approachable framework for building user interfaces.</a:t>
            </a:r>
            <a:endParaRPr lang="en-US" sz="1083" dirty="0"/>
          </a:p>
        </p:txBody>
      </p:sp>
      <p:sp>
        <p:nvSpPr>
          <p:cNvPr id="24" name="Text 22"/>
          <p:cNvSpPr/>
          <p:nvPr/>
        </p:nvSpPr>
        <p:spPr>
          <a:xfrm>
            <a:off x="661492" y="5993607"/>
            <a:ext cx="10869018" cy="208062"/>
          </a:xfrm>
          <a:prstGeom prst="rect">
            <a:avLst/>
          </a:prstGeom>
          <a:noFill/>
          <a:ln/>
        </p:spPr>
        <p:txBody>
          <a:bodyPr wrap="non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Adopting a component-based approach significantly improves code organization, collaboration, and the overall quality of web applications.</a:t>
            </a:r>
            <a:endParaRPr lang="en-US" sz="1083"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44314"/>
            <a:ext cx="3505696" cy="392708"/>
          </a:xfrm>
          <a:prstGeom prst="rect">
            <a:avLst/>
          </a:prstGeom>
          <a:noFill/>
          <a:ln/>
        </p:spPr>
        <p:txBody>
          <a:bodyPr wrap="none" lIns="0" tIns="0" rIns="0" bIns="0" rtlCol="0" anchor="t"/>
          <a:lstStyle/>
          <a:p>
            <a:pPr>
              <a:lnSpc>
                <a:spcPts val="3083"/>
              </a:lnSpc>
            </a:pPr>
            <a:r>
              <a:rPr lang="en-US" sz="2458" dirty="0">
                <a:solidFill>
                  <a:srgbClr val="1B1B27"/>
                </a:solidFill>
                <a:latin typeface="Raleway" pitchFamily="34" charset="0"/>
                <a:ea typeface="Raleway" pitchFamily="34" charset="-122"/>
                <a:cs typeface="Raleway" pitchFamily="34" charset="-120"/>
              </a:rPr>
              <a:t>API Design &amp; Integration</a:t>
            </a:r>
            <a:endParaRPr lang="en-US" sz="2458" dirty="0"/>
          </a:p>
        </p:txBody>
      </p:sp>
      <p:sp>
        <p:nvSpPr>
          <p:cNvPr id="3" name="Text 1"/>
          <p:cNvSpPr/>
          <p:nvPr/>
        </p:nvSpPr>
        <p:spPr>
          <a:xfrm>
            <a:off x="661492" y="1235472"/>
            <a:ext cx="10869018"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APIs (Application Programming Interfaces) are the backbone of modern web applications, enabling communication between different services and systems.</a:t>
            </a:r>
            <a:endParaRPr lang="en-US" sz="1208" dirty="0"/>
          </a:p>
        </p:txBody>
      </p:sp>
      <p:sp>
        <p:nvSpPr>
          <p:cNvPr id="4" name="Shape 2"/>
          <p:cNvSpPr/>
          <p:nvPr/>
        </p:nvSpPr>
        <p:spPr>
          <a:xfrm>
            <a:off x="661492" y="1648520"/>
            <a:ext cx="5359896" cy="2854424"/>
          </a:xfrm>
          <a:prstGeom prst="roundRect">
            <a:avLst>
              <a:gd name="adj" fmla="val 13211"/>
            </a:avLst>
          </a:prstGeom>
          <a:solidFill>
            <a:srgbClr val="E1E1EA"/>
          </a:solidFill>
          <a:ln w="7620">
            <a:solidFill>
              <a:srgbClr val="C7C7D0"/>
            </a:solidFill>
            <a:prstDash val="solid"/>
          </a:ln>
        </p:spPr>
      </p:sp>
      <p:sp>
        <p:nvSpPr>
          <p:cNvPr id="5" name="Text 3"/>
          <p:cNvSpPr/>
          <p:nvPr/>
        </p:nvSpPr>
        <p:spPr>
          <a:xfrm>
            <a:off x="824905" y="1811932"/>
            <a:ext cx="3461941"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REST (Representational State Transfer)</a:t>
            </a:r>
            <a:endParaRPr lang="en-US" sz="1542" dirty="0"/>
          </a:p>
        </p:txBody>
      </p:sp>
      <p:sp>
        <p:nvSpPr>
          <p:cNvPr id="6" name="Text 4"/>
          <p:cNvSpPr/>
          <p:nvPr/>
        </p:nvSpPr>
        <p:spPr>
          <a:xfrm>
            <a:off x="824906" y="2146995"/>
            <a:ext cx="5033069"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 widely adopted architectural style for distributed hypermedia systems. Uses standard HTTP methods (GET, POST, PUT, DELETE).</a:t>
            </a:r>
            <a:endParaRPr lang="en-US" sz="1208" dirty="0"/>
          </a:p>
        </p:txBody>
      </p:sp>
      <p:sp>
        <p:nvSpPr>
          <p:cNvPr id="7" name="Text 5"/>
          <p:cNvSpPr/>
          <p:nvPr/>
        </p:nvSpPr>
        <p:spPr>
          <a:xfrm>
            <a:off x="824906" y="2726830"/>
            <a:ext cx="5033069" cy="503039"/>
          </a:xfrm>
          <a:prstGeom prst="rect">
            <a:avLst/>
          </a:prstGeom>
          <a:noFill/>
          <a:ln/>
        </p:spPr>
        <p:txBody>
          <a:bodyPr wrap="square" lIns="0" tIns="0" rIns="0" bIns="0" rtlCol="0" anchor="t"/>
          <a:lstStyle/>
          <a:p>
            <a:pPr>
              <a:lnSpc>
                <a:spcPts val="1917"/>
              </a:lnSpc>
            </a:pPr>
            <a:r>
              <a:rPr lang="en-US" sz="1208" b="1" dirty="0">
                <a:solidFill>
                  <a:srgbClr val="3C3939"/>
                </a:solidFill>
                <a:latin typeface="Roboto" pitchFamily="34" charset="0"/>
                <a:ea typeface="Roboto" pitchFamily="34" charset="-122"/>
                <a:cs typeface="Roboto" pitchFamily="34" charset="-120"/>
              </a:rPr>
              <a:t>Example:</a:t>
            </a:r>
            <a:r>
              <a:rPr lang="en-US" sz="1208" dirty="0">
                <a:solidFill>
                  <a:srgbClr val="3C3939"/>
                </a:solidFill>
                <a:latin typeface="Roboto" pitchFamily="34" charset="0"/>
                <a:ea typeface="Roboto" pitchFamily="34" charset="-122"/>
                <a:cs typeface="Roboto" pitchFamily="34" charset="-120"/>
              </a:rPr>
              <a:t> A bookstore app uses </a:t>
            </a:r>
            <a:r>
              <a:rPr lang="en-US" sz="1208" dirty="0">
                <a:solidFill>
                  <a:srgbClr val="3C3939"/>
                </a:solidFill>
                <a:highlight>
                  <a:srgbClr val="F2F2F2"/>
                </a:highlight>
                <a:latin typeface="Consolas" pitchFamily="34" charset="0"/>
                <a:ea typeface="Consolas" pitchFamily="34" charset="-122"/>
                <a:cs typeface="Consolas" pitchFamily="34" charset="-120"/>
              </a:rPr>
              <a:t>GET /books</a:t>
            </a:r>
            <a:r>
              <a:rPr lang="en-US" sz="1208" dirty="0">
                <a:solidFill>
                  <a:srgbClr val="3C3939"/>
                </a:solidFill>
                <a:latin typeface="Roboto" pitchFamily="34" charset="0"/>
                <a:ea typeface="Roboto" pitchFamily="34" charset="-122"/>
                <a:cs typeface="Roboto" pitchFamily="34" charset="-120"/>
              </a:rPr>
              <a:t> to load the catalog, </a:t>
            </a:r>
            <a:r>
              <a:rPr lang="en-US" sz="1208" dirty="0">
                <a:solidFill>
                  <a:srgbClr val="3C3939"/>
                </a:solidFill>
                <a:highlight>
                  <a:srgbClr val="F2F2F2"/>
                </a:highlight>
                <a:latin typeface="Consolas" pitchFamily="34" charset="0"/>
                <a:ea typeface="Consolas" pitchFamily="34" charset="-122"/>
                <a:cs typeface="Consolas" pitchFamily="34" charset="-120"/>
              </a:rPr>
              <a:t>POST /orders</a:t>
            </a:r>
            <a:r>
              <a:rPr lang="en-US" sz="1208" dirty="0">
                <a:solidFill>
                  <a:srgbClr val="3C3939"/>
                </a:solidFill>
                <a:latin typeface="Roboto" pitchFamily="34" charset="0"/>
                <a:ea typeface="Roboto" pitchFamily="34" charset="-122"/>
                <a:cs typeface="Roboto" pitchFamily="34" charset="-120"/>
              </a:rPr>
              <a:t> to place a new order, and </a:t>
            </a:r>
            <a:r>
              <a:rPr lang="en-US" sz="1208" dirty="0">
                <a:solidFill>
                  <a:srgbClr val="3C3939"/>
                </a:solidFill>
                <a:highlight>
                  <a:srgbClr val="F2F2F2"/>
                </a:highlight>
                <a:latin typeface="Consolas" pitchFamily="34" charset="0"/>
                <a:ea typeface="Consolas" pitchFamily="34" charset="-122"/>
                <a:cs typeface="Consolas" pitchFamily="34" charset="-120"/>
              </a:rPr>
              <a:t>DELETE /cart/123</a:t>
            </a:r>
            <a:r>
              <a:rPr lang="en-US" sz="1208" dirty="0">
                <a:solidFill>
                  <a:srgbClr val="3C3939"/>
                </a:solidFill>
                <a:latin typeface="Roboto" pitchFamily="34" charset="0"/>
                <a:ea typeface="Roboto" pitchFamily="34" charset="-122"/>
                <a:cs typeface="Roboto" pitchFamily="34" charset="-120"/>
              </a:rPr>
              <a:t> to remove an item.</a:t>
            </a:r>
            <a:endParaRPr lang="en-US" sz="1208" dirty="0"/>
          </a:p>
        </p:txBody>
      </p:sp>
      <p:sp>
        <p:nvSpPr>
          <p:cNvPr id="8" name="Text 6"/>
          <p:cNvSpPr/>
          <p:nvPr/>
        </p:nvSpPr>
        <p:spPr>
          <a:xfrm>
            <a:off x="824906" y="3319364"/>
            <a:ext cx="5033069" cy="542528"/>
          </a:xfrm>
          <a:prstGeom prst="rect">
            <a:avLst/>
          </a:prstGeom>
          <a:noFill/>
          <a:ln/>
        </p:spPr>
        <p:txBody>
          <a:bodyPr wrap="square" lIns="0" tIns="0" rIns="0" bIns="0" rtlCol="0" anchor="t"/>
          <a:lstStyle/>
          <a:p>
            <a:pPr marL="285739" indent="-285739">
              <a:lnSpc>
                <a:spcPts val="1917"/>
              </a:lnSpc>
              <a:buSzPct val="100000"/>
              <a:buChar char="•"/>
            </a:pPr>
            <a:r>
              <a:rPr lang="en-US" sz="1208" b="1" dirty="0">
                <a:solidFill>
                  <a:srgbClr val="3C3939"/>
                </a:solidFill>
                <a:latin typeface="Roboto" pitchFamily="34" charset="0"/>
                <a:ea typeface="Roboto" pitchFamily="34" charset="-122"/>
                <a:cs typeface="Roboto" pitchFamily="34" charset="-120"/>
              </a:rPr>
              <a:t>Characteristics:</a:t>
            </a:r>
            <a:r>
              <a:rPr lang="en-US" sz="1208" dirty="0">
                <a:solidFill>
                  <a:srgbClr val="3C3939"/>
                </a:solidFill>
                <a:latin typeface="Roboto" pitchFamily="34" charset="0"/>
                <a:ea typeface="Roboto" pitchFamily="34" charset="-122"/>
                <a:cs typeface="Roboto" pitchFamily="34" charset="-120"/>
              </a:rPr>
              <a:t> Stateless, client-server separation, cacheable.</a:t>
            </a:r>
            <a:endParaRPr lang="en-US" sz="1208" dirty="0"/>
          </a:p>
          <a:p>
            <a:pPr marL="285739" indent="-285739">
              <a:lnSpc>
                <a:spcPts val="1917"/>
              </a:lnSpc>
              <a:buSzPct val="100000"/>
              <a:buChar char="•"/>
            </a:pPr>
            <a:r>
              <a:rPr lang="en-US" sz="1208" b="1" dirty="0">
                <a:solidFill>
                  <a:srgbClr val="3C3939"/>
                </a:solidFill>
                <a:latin typeface="Roboto" pitchFamily="34" charset="0"/>
                <a:ea typeface="Roboto" pitchFamily="34" charset="-122"/>
                <a:cs typeface="Roboto" pitchFamily="34" charset="-120"/>
              </a:rPr>
              <a:t>Use Case:</a:t>
            </a:r>
            <a:r>
              <a:rPr lang="en-US" sz="1208" dirty="0">
                <a:solidFill>
                  <a:srgbClr val="3C3939"/>
                </a:solidFill>
                <a:latin typeface="Roboto" pitchFamily="34" charset="0"/>
                <a:ea typeface="Roboto" pitchFamily="34" charset="-122"/>
                <a:cs typeface="Roboto" pitchFamily="34" charset="-120"/>
              </a:rPr>
              <a:t> Traditional web services, public APIs.</a:t>
            </a:r>
            <a:endParaRPr lang="en-US" sz="1208" dirty="0"/>
          </a:p>
        </p:txBody>
      </p:sp>
      <p:sp>
        <p:nvSpPr>
          <p:cNvPr id="9" name="Shape 7"/>
          <p:cNvSpPr/>
          <p:nvPr/>
        </p:nvSpPr>
        <p:spPr>
          <a:xfrm>
            <a:off x="6170613" y="1648520"/>
            <a:ext cx="5359896" cy="2854424"/>
          </a:xfrm>
          <a:prstGeom prst="roundRect">
            <a:avLst>
              <a:gd name="adj" fmla="val 13211"/>
            </a:avLst>
          </a:prstGeom>
          <a:solidFill>
            <a:srgbClr val="E1E1EA"/>
          </a:solidFill>
          <a:ln w="7620">
            <a:solidFill>
              <a:srgbClr val="C7C7D0"/>
            </a:solidFill>
            <a:prstDash val="solid"/>
          </a:ln>
        </p:spPr>
      </p:sp>
      <p:sp>
        <p:nvSpPr>
          <p:cNvPr id="10" name="Text 8"/>
          <p:cNvSpPr/>
          <p:nvPr/>
        </p:nvSpPr>
        <p:spPr>
          <a:xfrm>
            <a:off x="6334026" y="1811932"/>
            <a:ext cx="1964035"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GraphQL</a:t>
            </a:r>
            <a:endParaRPr lang="en-US" sz="1542" dirty="0"/>
          </a:p>
        </p:txBody>
      </p:sp>
      <p:sp>
        <p:nvSpPr>
          <p:cNvPr id="11" name="Text 9"/>
          <p:cNvSpPr/>
          <p:nvPr/>
        </p:nvSpPr>
        <p:spPr>
          <a:xfrm>
            <a:off x="6334026" y="2146994"/>
            <a:ext cx="5033069" cy="73550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 query language for APIs and a runtime for fulfilling those queries with your existing data. Allows clients to request exactly what data they need.</a:t>
            </a:r>
            <a:endParaRPr lang="en-US" sz="1208" dirty="0"/>
          </a:p>
        </p:txBody>
      </p:sp>
      <p:sp>
        <p:nvSpPr>
          <p:cNvPr id="12" name="Text 10"/>
          <p:cNvSpPr/>
          <p:nvPr/>
        </p:nvSpPr>
        <p:spPr>
          <a:xfrm>
            <a:off x="6334026" y="2971999"/>
            <a:ext cx="5033069" cy="735508"/>
          </a:xfrm>
          <a:prstGeom prst="rect">
            <a:avLst/>
          </a:prstGeom>
          <a:noFill/>
          <a:ln/>
        </p:spPr>
        <p:txBody>
          <a:bodyPr wrap="square" lIns="0" tIns="0" rIns="0" bIns="0" rtlCol="0" anchor="t"/>
          <a:lstStyle/>
          <a:p>
            <a:pPr>
              <a:lnSpc>
                <a:spcPts val="1917"/>
              </a:lnSpc>
            </a:pPr>
            <a:r>
              <a:rPr lang="en-US" sz="1208" b="1" dirty="0">
                <a:solidFill>
                  <a:srgbClr val="3C3939"/>
                </a:solidFill>
                <a:latin typeface="Roboto" pitchFamily="34" charset="0"/>
                <a:ea typeface="Roboto" pitchFamily="34" charset="-122"/>
                <a:cs typeface="Roboto" pitchFamily="34" charset="-120"/>
              </a:rPr>
              <a:t>Example:</a:t>
            </a:r>
            <a:r>
              <a:rPr lang="en-US" sz="1208" dirty="0">
                <a:solidFill>
                  <a:srgbClr val="3C3939"/>
                </a:solidFill>
                <a:latin typeface="Roboto" pitchFamily="34" charset="0"/>
                <a:ea typeface="Roboto" pitchFamily="34" charset="-122"/>
                <a:cs typeface="Roboto" pitchFamily="34" charset="-120"/>
              </a:rPr>
              <a:t> A product page asks for the item name, price, review count, and seller rating in one request instead of making separate calls for each piece of data.</a:t>
            </a:r>
            <a:endParaRPr lang="en-US" sz="1208" dirty="0"/>
          </a:p>
        </p:txBody>
      </p:sp>
      <p:sp>
        <p:nvSpPr>
          <p:cNvPr id="13" name="Text 11"/>
          <p:cNvSpPr/>
          <p:nvPr/>
        </p:nvSpPr>
        <p:spPr>
          <a:xfrm>
            <a:off x="6334026" y="3797003"/>
            <a:ext cx="5033069" cy="542528"/>
          </a:xfrm>
          <a:prstGeom prst="rect">
            <a:avLst/>
          </a:prstGeom>
          <a:noFill/>
          <a:ln/>
        </p:spPr>
        <p:txBody>
          <a:bodyPr wrap="square" lIns="0" tIns="0" rIns="0" bIns="0" rtlCol="0" anchor="t"/>
          <a:lstStyle/>
          <a:p>
            <a:pPr marL="285739" indent="-285739">
              <a:lnSpc>
                <a:spcPts val="1917"/>
              </a:lnSpc>
              <a:buSzPct val="100000"/>
              <a:buChar char="•"/>
            </a:pPr>
            <a:r>
              <a:rPr lang="en-US" sz="1208" b="1" dirty="0">
                <a:solidFill>
                  <a:srgbClr val="3C3939"/>
                </a:solidFill>
                <a:latin typeface="Roboto" pitchFamily="34" charset="0"/>
                <a:ea typeface="Roboto" pitchFamily="34" charset="-122"/>
                <a:cs typeface="Roboto" pitchFamily="34" charset="-120"/>
              </a:rPr>
              <a:t>Benefits:</a:t>
            </a:r>
            <a:r>
              <a:rPr lang="en-US" sz="1208" dirty="0">
                <a:solidFill>
                  <a:srgbClr val="3C3939"/>
                </a:solidFill>
                <a:latin typeface="Roboto" pitchFamily="34" charset="0"/>
                <a:ea typeface="Roboto" pitchFamily="34" charset="-122"/>
                <a:cs typeface="Roboto" pitchFamily="34" charset="-120"/>
              </a:rPr>
              <a:t> Reduces over-fetching/under-fetching, single endpoint.</a:t>
            </a:r>
            <a:endParaRPr lang="en-US" sz="1208" dirty="0"/>
          </a:p>
          <a:p>
            <a:pPr marL="285739" indent="-285739">
              <a:lnSpc>
                <a:spcPts val="1917"/>
              </a:lnSpc>
              <a:buSzPct val="100000"/>
              <a:buChar char="•"/>
            </a:pPr>
            <a:r>
              <a:rPr lang="en-US" sz="1208" b="1" dirty="0">
                <a:solidFill>
                  <a:srgbClr val="3C3939"/>
                </a:solidFill>
                <a:latin typeface="Roboto" pitchFamily="34" charset="0"/>
                <a:ea typeface="Roboto" pitchFamily="34" charset="-122"/>
                <a:cs typeface="Roboto" pitchFamily="34" charset="-120"/>
              </a:rPr>
              <a:t>Use Case:</a:t>
            </a:r>
            <a:r>
              <a:rPr lang="en-US" sz="1208" dirty="0">
                <a:solidFill>
                  <a:srgbClr val="3C3939"/>
                </a:solidFill>
                <a:latin typeface="Roboto" pitchFamily="34" charset="0"/>
                <a:ea typeface="Roboto" pitchFamily="34" charset="-122"/>
                <a:cs typeface="Roboto" pitchFamily="34" charset="-120"/>
              </a:rPr>
              <a:t> Complex data requirements, mobile apps.</a:t>
            </a:r>
            <a:endParaRPr lang="en-US" sz="1208" dirty="0"/>
          </a:p>
        </p:txBody>
      </p:sp>
      <p:sp>
        <p:nvSpPr>
          <p:cNvPr id="14" name="Text 12"/>
          <p:cNvSpPr/>
          <p:nvPr/>
        </p:nvSpPr>
        <p:spPr>
          <a:xfrm>
            <a:off x="661492" y="4670822"/>
            <a:ext cx="10869018" cy="245169"/>
          </a:xfrm>
          <a:prstGeom prst="rect">
            <a:avLst/>
          </a:prstGeom>
          <a:noFill/>
          <a:ln/>
        </p:spPr>
        <p:txBody>
          <a:bodyPr wrap="non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The choice between REST and GraphQL depends on project requirements, data complexity, and client needs.</a:t>
            </a:r>
            <a:endParaRPr lang="en-US" sz="1208" dirty="0"/>
          </a:p>
        </p:txBody>
      </p:sp>
      <p:sp>
        <p:nvSpPr>
          <p:cNvPr id="15" name="Shape 13"/>
          <p:cNvSpPr/>
          <p:nvPr/>
        </p:nvSpPr>
        <p:spPr>
          <a:xfrm>
            <a:off x="661492" y="5083869"/>
            <a:ext cx="10869018" cy="1229817"/>
          </a:xfrm>
          <a:prstGeom prst="roundRect">
            <a:avLst>
              <a:gd name="adj" fmla="val 5366"/>
            </a:avLst>
          </a:prstGeom>
          <a:solidFill>
            <a:srgbClr val="FFFFFF">
              <a:alpha val="95000"/>
            </a:srgbClr>
          </a:solidFill>
          <a:ln w="22860">
            <a:solidFill>
              <a:srgbClr val="C7C7D0"/>
            </a:solidFill>
            <a:prstDash val="solid"/>
          </a:ln>
        </p:spPr>
      </p:sp>
      <p:sp>
        <p:nvSpPr>
          <p:cNvPr id="16" name="Text 14"/>
          <p:cNvSpPr/>
          <p:nvPr/>
        </p:nvSpPr>
        <p:spPr>
          <a:xfrm>
            <a:off x="837605" y="5259982"/>
            <a:ext cx="2405956"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Tools for API Development</a:t>
            </a:r>
            <a:endParaRPr lang="en-US" sz="1542" dirty="0"/>
          </a:p>
        </p:txBody>
      </p:sp>
      <p:sp>
        <p:nvSpPr>
          <p:cNvPr id="17" name="Text 15"/>
          <p:cNvSpPr/>
          <p:nvPr/>
        </p:nvSpPr>
        <p:spPr>
          <a:xfrm>
            <a:off x="837605" y="5595044"/>
            <a:ext cx="10516791" cy="542528"/>
          </a:xfrm>
          <a:prstGeom prst="rect">
            <a:avLst/>
          </a:prstGeom>
          <a:noFill/>
          <a:ln/>
        </p:spPr>
        <p:txBody>
          <a:bodyPr wrap="square" lIns="0" tIns="0" rIns="0" bIns="0" rtlCol="0" anchor="t"/>
          <a:lstStyle/>
          <a:p>
            <a:pPr marL="285739" indent="-285739">
              <a:lnSpc>
                <a:spcPts val="1917"/>
              </a:lnSpc>
              <a:buSzPct val="100000"/>
              <a:buChar char="•"/>
            </a:pPr>
            <a:r>
              <a:rPr lang="en-US" sz="1208" b="1" dirty="0">
                <a:solidFill>
                  <a:srgbClr val="3C3939"/>
                </a:solidFill>
                <a:latin typeface="Roboto" pitchFamily="34" charset="0"/>
                <a:ea typeface="Roboto" pitchFamily="34" charset="-122"/>
                <a:cs typeface="Roboto" pitchFamily="34" charset="-120"/>
              </a:rPr>
              <a:t>Postman:</a:t>
            </a:r>
            <a:r>
              <a:rPr lang="en-US" sz="1208" dirty="0">
                <a:solidFill>
                  <a:srgbClr val="3C3939"/>
                </a:solidFill>
                <a:latin typeface="Roboto" pitchFamily="34" charset="0"/>
                <a:ea typeface="Roboto" pitchFamily="34" charset="-122"/>
                <a:cs typeface="Roboto" pitchFamily="34" charset="-120"/>
              </a:rPr>
              <a:t> Widely used for API testing, documentation, and development.</a:t>
            </a:r>
            <a:endParaRPr lang="en-US" sz="1208" dirty="0"/>
          </a:p>
          <a:p>
            <a:pPr marL="285739" indent="-285739">
              <a:lnSpc>
                <a:spcPts val="1917"/>
              </a:lnSpc>
              <a:buSzPct val="100000"/>
              <a:buChar char="•"/>
            </a:pPr>
            <a:r>
              <a:rPr lang="en-US" sz="1208" b="1" dirty="0">
                <a:solidFill>
                  <a:srgbClr val="3C3939"/>
                </a:solidFill>
                <a:latin typeface="Roboto" pitchFamily="34" charset="0"/>
                <a:ea typeface="Roboto" pitchFamily="34" charset="-122"/>
                <a:cs typeface="Roboto" pitchFamily="34" charset="-120"/>
              </a:rPr>
              <a:t>Swagger (OpenAPI):</a:t>
            </a:r>
            <a:r>
              <a:rPr lang="en-US" sz="1208" dirty="0">
                <a:solidFill>
                  <a:srgbClr val="3C3939"/>
                </a:solidFill>
                <a:latin typeface="Roboto" pitchFamily="34" charset="0"/>
                <a:ea typeface="Roboto" pitchFamily="34" charset="-122"/>
                <a:cs typeface="Roboto" pitchFamily="34" charset="-120"/>
              </a:rPr>
              <a:t> Framework for documenting, designing, and consuming RESTful APIs.</a:t>
            </a:r>
            <a:endParaRPr lang="en-US" sz="1208"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71215"/>
            <a:ext cx="3442196" cy="351433"/>
          </a:xfrm>
          <a:prstGeom prst="rect">
            <a:avLst/>
          </a:prstGeom>
          <a:noFill/>
          <a:ln/>
        </p:spPr>
        <p:txBody>
          <a:bodyPr wrap="none" lIns="0" tIns="0" rIns="0" bIns="0" rtlCol="0" anchor="t"/>
          <a:lstStyle/>
          <a:p>
            <a:pPr>
              <a:lnSpc>
                <a:spcPts val="2750"/>
              </a:lnSpc>
            </a:pPr>
            <a:r>
              <a:rPr lang="en-US" sz="2208" dirty="0">
                <a:solidFill>
                  <a:srgbClr val="1B1B27"/>
                </a:solidFill>
                <a:latin typeface="Raleway" pitchFamily="34" charset="0"/>
                <a:ea typeface="Raleway" pitchFamily="34" charset="-122"/>
                <a:cs typeface="Raleway" pitchFamily="34" charset="-120"/>
              </a:rPr>
              <a:t>CI/CD &amp; DevOps Practices</a:t>
            </a:r>
            <a:endParaRPr lang="en-US" sz="2208" dirty="0"/>
          </a:p>
        </p:txBody>
      </p:sp>
      <p:sp>
        <p:nvSpPr>
          <p:cNvPr id="3" name="Text 1"/>
          <p:cNvSpPr/>
          <p:nvPr/>
        </p:nvSpPr>
        <p:spPr>
          <a:xfrm>
            <a:off x="661492" y="1261567"/>
            <a:ext cx="10869018"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CI/CD (Continuous Integration/Continuous Deployment) and DevOps practices are crucial for accelerating software delivery, improving quality, and fostering collaboration across development and operations teams.</a:t>
            </a:r>
            <a:endParaRPr lang="en-US" sz="1083" dirty="0"/>
          </a:p>
        </p:txBody>
      </p:sp>
      <p:sp>
        <p:nvSpPr>
          <p:cNvPr id="4" name="Shape 2"/>
          <p:cNvSpPr/>
          <p:nvPr/>
        </p:nvSpPr>
        <p:spPr>
          <a:xfrm>
            <a:off x="661492" y="1812032"/>
            <a:ext cx="3543300" cy="2554486"/>
          </a:xfrm>
          <a:prstGeom prst="roundRect">
            <a:avLst>
              <a:gd name="adj" fmla="val 3580"/>
            </a:avLst>
          </a:prstGeom>
          <a:solidFill>
            <a:srgbClr val="FFFFFF">
              <a:alpha val="95000"/>
            </a:srgbClr>
          </a:solidFill>
          <a:ln w="22860">
            <a:solidFill>
              <a:srgbClr val="C7C7D0"/>
            </a:solidFill>
            <a:prstDash val="solid"/>
          </a:ln>
        </p:spPr>
      </p:sp>
      <p:sp>
        <p:nvSpPr>
          <p:cNvPr id="5" name="Shape 3"/>
          <p:cNvSpPr/>
          <p:nvPr/>
        </p:nvSpPr>
        <p:spPr>
          <a:xfrm>
            <a:off x="642442" y="1812032"/>
            <a:ext cx="76200" cy="2554486"/>
          </a:xfrm>
          <a:prstGeom prst="roundRect">
            <a:avLst>
              <a:gd name="adj" fmla="val 77488"/>
            </a:avLst>
          </a:prstGeom>
          <a:solidFill>
            <a:srgbClr val="1B1B27"/>
          </a:solidFill>
          <a:ln/>
        </p:spPr>
      </p:sp>
      <p:sp>
        <p:nvSpPr>
          <p:cNvPr id="6" name="Text 4"/>
          <p:cNvSpPr/>
          <p:nvPr/>
        </p:nvSpPr>
        <p:spPr>
          <a:xfrm>
            <a:off x="878185" y="1971576"/>
            <a:ext cx="2142728"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Continuous Integration (CI)</a:t>
            </a:r>
            <a:endParaRPr lang="en-US" sz="1375" dirty="0"/>
          </a:p>
        </p:txBody>
      </p:sp>
      <p:sp>
        <p:nvSpPr>
          <p:cNvPr id="7" name="Text 5"/>
          <p:cNvSpPr/>
          <p:nvPr/>
        </p:nvSpPr>
        <p:spPr>
          <a:xfrm>
            <a:off x="878185" y="2262783"/>
            <a:ext cx="3167063" cy="624185"/>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Continuous Integration (CI) focuses on frequently merging code changes into a central repository, followed by automated builds and tests.</a:t>
            </a:r>
            <a:endParaRPr lang="en-US" sz="1083" dirty="0"/>
          </a:p>
        </p:txBody>
      </p:sp>
      <p:sp>
        <p:nvSpPr>
          <p:cNvPr id="8" name="Text 6"/>
          <p:cNvSpPr/>
          <p:nvPr/>
        </p:nvSpPr>
        <p:spPr>
          <a:xfrm>
            <a:off x="878185" y="2958604"/>
            <a:ext cx="3167063" cy="1040308"/>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A developer pushes code to GitHub. Automated tests run immediately, checking for syntax errors and unit test failures. If tests fail, the developer gets notified within seconds and can fix the issue before it reaches the main branch.</a:t>
            </a:r>
            <a:endParaRPr lang="en-US" sz="1083" dirty="0"/>
          </a:p>
        </p:txBody>
      </p:sp>
      <p:sp>
        <p:nvSpPr>
          <p:cNvPr id="9" name="Shape 7"/>
          <p:cNvSpPr/>
          <p:nvPr/>
        </p:nvSpPr>
        <p:spPr>
          <a:xfrm>
            <a:off x="4324251" y="1812032"/>
            <a:ext cx="3543399" cy="2554486"/>
          </a:xfrm>
          <a:prstGeom prst="roundRect">
            <a:avLst>
              <a:gd name="adj" fmla="val 3580"/>
            </a:avLst>
          </a:prstGeom>
          <a:solidFill>
            <a:srgbClr val="FFFFFF">
              <a:alpha val="95000"/>
            </a:srgbClr>
          </a:solidFill>
          <a:ln w="22860">
            <a:solidFill>
              <a:srgbClr val="C7C7D0"/>
            </a:solidFill>
            <a:prstDash val="solid"/>
          </a:ln>
        </p:spPr>
      </p:sp>
      <p:sp>
        <p:nvSpPr>
          <p:cNvPr id="10" name="Shape 8"/>
          <p:cNvSpPr/>
          <p:nvPr/>
        </p:nvSpPr>
        <p:spPr>
          <a:xfrm>
            <a:off x="4305201" y="1812032"/>
            <a:ext cx="76200" cy="2554486"/>
          </a:xfrm>
          <a:prstGeom prst="roundRect">
            <a:avLst>
              <a:gd name="adj" fmla="val 77488"/>
            </a:avLst>
          </a:prstGeom>
          <a:solidFill>
            <a:srgbClr val="1B1B27"/>
          </a:solidFill>
          <a:ln/>
        </p:spPr>
      </p:sp>
      <p:sp>
        <p:nvSpPr>
          <p:cNvPr id="11" name="Text 9"/>
          <p:cNvSpPr/>
          <p:nvPr/>
        </p:nvSpPr>
        <p:spPr>
          <a:xfrm>
            <a:off x="4540944" y="1971576"/>
            <a:ext cx="2353668"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Continuous Deployment (CD)</a:t>
            </a:r>
            <a:endParaRPr lang="en-US" sz="1375" dirty="0"/>
          </a:p>
        </p:txBody>
      </p:sp>
      <p:sp>
        <p:nvSpPr>
          <p:cNvPr id="12" name="Text 10"/>
          <p:cNvSpPr/>
          <p:nvPr/>
        </p:nvSpPr>
        <p:spPr>
          <a:xfrm>
            <a:off x="4540944" y="2262782"/>
            <a:ext cx="3167162"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Continuous Deployment (CD) extends CI by automatically releasing validated changes to production, ensuring rapid and reliable software delivery.</a:t>
            </a:r>
            <a:endParaRPr lang="en-US" sz="1083" dirty="0"/>
          </a:p>
        </p:txBody>
      </p:sp>
      <p:sp>
        <p:nvSpPr>
          <p:cNvPr id="13" name="Text 11"/>
          <p:cNvSpPr/>
          <p:nvPr/>
        </p:nvSpPr>
        <p:spPr>
          <a:xfrm>
            <a:off x="4540944" y="3166666"/>
            <a:ext cx="3167162" cy="1040308"/>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After code passes all tests, it's automatically deployed to a staging environment for QA testing. Once approved, it goes live to production without manual intervention, reducing deployment time from hours to minutes.</a:t>
            </a:r>
            <a:endParaRPr lang="en-US" sz="1083" dirty="0"/>
          </a:p>
        </p:txBody>
      </p:sp>
      <p:sp>
        <p:nvSpPr>
          <p:cNvPr id="14" name="Shape 12"/>
          <p:cNvSpPr/>
          <p:nvPr/>
        </p:nvSpPr>
        <p:spPr>
          <a:xfrm>
            <a:off x="7987110" y="1812032"/>
            <a:ext cx="3543399" cy="2554486"/>
          </a:xfrm>
          <a:prstGeom prst="roundRect">
            <a:avLst>
              <a:gd name="adj" fmla="val 3580"/>
            </a:avLst>
          </a:prstGeom>
          <a:solidFill>
            <a:srgbClr val="FFFFFF">
              <a:alpha val="95000"/>
            </a:srgbClr>
          </a:solidFill>
          <a:ln w="22860">
            <a:solidFill>
              <a:srgbClr val="C7C7D0"/>
            </a:solidFill>
            <a:prstDash val="solid"/>
          </a:ln>
        </p:spPr>
      </p:sp>
      <p:sp>
        <p:nvSpPr>
          <p:cNvPr id="15" name="Shape 13"/>
          <p:cNvSpPr/>
          <p:nvPr/>
        </p:nvSpPr>
        <p:spPr>
          <a:xfrm>
            <a:off x="7968059" y="1812032"/>
            <a:ext cx="76200" cy="2554486"/>
          </a:xfrm>
          <a:prstGeom prst="roundRect">
            <a:avLst>
              <a:gd name="adj" fmla="val 77488"/>
            </a:avLst>
          </a:prstGeom>
          <a:solidFill>
            <a:srgbClr val="1B1B27"/>
          </a:solidFill>
          <a:ln/>
        </p:spPr>
      </p:sp>
      <p:sp>
        <p:nvSpPr>
          <p:cNvPr id="16" name="Text 14"/>
          <p:cNvSpPr/>
          <p:nvPr/>
        </p:nvSpPr>
        <p:spPr>
          <a:xfrm>
            <a:off x="8203804" y="1971576"/>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Automation Pipelines</a:t>
            </a:r>
            <a:endParaRPr lang="en-US" sz="1375" dirty="0"/>
          </a:p>
        </p:txBody>
      </p:sp>
      <p:sp>
        <p:nvSpPr>
          <p:cNvPr id="17" name="Text 15"/>
          <p:cNvSpPr/>
          <p:nvPr/>
        </p:nvSpPr>
        <p:spPr>
          <a:xfrm>
            <a:off x="8203803" y="2262783"/>
            <a:ext cx="3167162" cy="624185"/>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Automation pipelines orchestrate the entire CI/CD process, defining a series of automated steps for building, testing, and deploying software.</a:t>
            </a:r>
            <a:endParaRPr lang="en-US" sz="1083" dirty="0"/>
          </a:p>
        </p:txBody>
      </p:sp>
      <p:sp>
        <p:nvSpPr>
          <p:cNvPr id="18" name="Text 16"/>
          <p:cNvSpPr/>
          <p:nvPr/>
        </p:nvSpPr>
        <p:spPr>
          <a:xfrm>
            <a:off x="8203803" y="2958604"/>
            <a:ext cx="3167162" cy="832247"/>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A pipeline might include: code commit → run linters → execute unit tests → build Docker image → push to registry → deploy to staging → run integration tests → deploy to production.</a:t>
            </a:r>
            <a:endParaRPr lang="en-US" sz="1083" dirty="0"/>
          </a:p>
        </p:txBody>
      </p:sp>
      <p:sp>
        <p:nvSpPr>
          <p:cNvPr id="19" name="Text 17"/>
          <p:cNvSpPr/>
          <p:nvPr/>
        </p:nvSpPr>
        <p:spPr>
          <a:xfrm>
            <a:off x="661492" y="4500860"/>
            <a:ext cx="10869018" cy="208062"/>
          </a:xfrm>
          <a:prstGeom prst="rect">
            <a:avLst/>
          </a:prstGeom>
          <a:noFill/>
          <a:ln/>
        </p:spPr>
        <p:txBody>
          <a:bodyPr wrap="non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These practices are supported by powerful tools that automate and streamline the development workflow.</a:t>
            </a:r>
            <a:endParaRPr lang="en-US" sz="1083" dirty="0"/>
          </a:p>
        </p:txBody>
      </p:sp>
      <p:sp>
        <p:nvSpPr>
          <p:cNvPr id="20" name="Shape 18"/>
          <p:cNvSpPr/>
          <p:nvPr/>
        </p:nvSpPr>
        <p:spPr>
          <a:xfrm>
            <a:off x="661492" y="4843264"/>
            <a:ext cx="5374779" cy="1001018"/>
          </a:xfrm>
          <a:prstGeom prst="roundRect">
            <a:avLst>
              <a:gd name="adj" fmla="val 5899"/>
            </a:avLst>
          </a:prstGeom>
          <a:solidFill>
            <a:srgbClr val="E1E1EA"/>
          </a:solidFill>
          <a:ln w="7620">
            <a:solidFill>
              <a:srgbClr val="C7C7D0"/>
            </a:solidFill>
            <a:prstDash val="solid"/>
          </a:ln>
        </p:spPr>
      </p:sp>
      <p:sp>
        <p:nvSpPr>
          <p:cNvPr id="21" name="Text 19"/>
          <p:cNvSpPr/>
          <p:nvPr/>
        </p:nvSpPr>
        <p:spPr>
          <a:xfrm>
            <a:off x="808335" y="4990108"/>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GitHub Actions</a:t>
            </a:r>
            <a:endParaRPr lang="en-US" sz="1375" dirty="0"/>
          </a:p>
        </p:txBody>
      </p:sp>
      <p:sp>
        <p:nvSpPr>
          <p:cNvPr id="22" name="Text 20"/>
          <p:cNvSpPr/>
          <p:nvPr/>
        </p:nvSpPr>
        <p:spPr>
          <a:xfrm>
            <a:off x="808335" y="5281315"/>
            <a:ext cx="5081092"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A workflow that runs npm test on every pull request and blocks merging if tests fail</a:t>
            </a:r>
            <a:endParaRPr lang="en-US" sz="1083" dirty="0"/>
          </a:p>
        </p:txBody>
      </p:sp>
      <p:sp>
        <p:nvSpPr>
          <p:cNvPr id="23" name="Shape 21"/>
          <p:cNvSpPr/>
          <p:nvPr/>
        </p:nvSpPr>
        <p:spPr>
          <a:xfrm>
            <a:off x="6155731" y="4843264"/>
            <a:ext cx="5374779" cy="1001018"/>
          </a:xfrm>
          <a:prstGeom prst="roundRect">
            <a:avLst>
              <a:gd name="adj" fmla="val 5899"/>
            </a:avLst>
          </a:prstGeom>
          <a:solidFill>
            <a:srgbClr val="E1E1EA"/>
          </a:solidFill>
          <a:ln w="7620">
            <a:solidFill>
              <a:srgbClr val="C7C7D0"/>
            </a:solidFill>
            <a:prstDash val="solid"/>
          </a:ln>
        </p:spPr>
      </p:sp>
      <p:sp>
        <p:nvSpPr>
          <p:cNvPr id="24" name="Text 22"/>
          <p:cNvSpPr/>
          <p:nvPr/>
        </p:nvSpPr>
        <p:spPr>
          <a:xfrm>
            <a:off x="6302574" y="4990108"/>
            <a:ext cx="1757263" cy="219571"/>
          </a:xfrm>
          <a:prstGeom prst="rect">
            <a:avLst/>
          </a:prstGeom>
          <a:noFill/>
          <a:ln/>
        </p:spPr>
        <p:txBody>
          <a:bodyPr wrap="none" lIns="0" tIns="0" rIns="0" bIns="0" rtlCol="0" anchor="t"/>
          <a:lstStyle/>
          <a:p>
            <a:pPr>
              <a:lnSpc>
                <a:spcPts val="1708"/>
              </a:lnSpc>
            </a:pPr>
            <a:r>
              <a:rPr lang="en-US" sz="1375" dirty="0">
                <a:solidFill>
                  <a:srgbClr val="3C3939"/>
                </a:solidFill>
                <a:latin typeface="Raleway" pitchFamily="34" charset="0"/>
                <a:ea typeface="Raleway" pitchFamily="34" charset="-122"/>
                <a:cs typeface="Raleway" pitchFamily="34" charset="-120"/>
              </a:rPr>
              <a:t>Jenkins</a:t>
            </a:r>
            <a:endParaRPr lang="en-US" sz="1375" dirty="0"/>
          </a:p>
        </p:txBody>
      </p:sp>
      <p:sp>
        <p:nvSpPr>
          <p:cNvPr id="25" name="Text 23"/>
          <p:cNvSpPr/>
          <p:nvPr/>
        </p:nvSpPr>
        <p:spPr>
          <a:xfrm>
            <a:off x="6302573" y="5281315"/>
            <a:ext cx="5081092" cy="416123"/>
          </a:xfrm>
          <a:prstGeom prst="rect">
            <a:avLst/>
          </a:prstGeom>
          <a:noFill/>
          <a:ln/>
        </p:spPr>
        <p:txBody>
          <a:bodyPr wrap="squar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Example: A pipeline that builds, tests, and deploys a Node.js app to AWS every time code is pushed to the main branch</a:t>
            </a:r>
            <a:endParaRPr lang="en-US" sz="1083" dirty="0"/>
          </a:p>
        </p:txBody>
      </p:sp>
      <p:sp>
        <p:nvSpPr>
          <p:cNvPr id="26" name="Text 24"/>
          <p:cNvSpPr/>
          <p:nvPr/>
        </p:nvSpPr>
        <p:spPr>
          <a:xfrm>
            <a:off x="661492" y="5978624"/>
            <a:ext cx="10869018" cy="208062"/>
          </a:xfrm>
          <a:prstGeom prst="rect">
            <a:avLst/>
          </a:prstGeom>
          <a:noFill/>
          <a:ln/>
        </p:spPr>
        <p:txBody>
          <a:bodyPr wrap="none" lIns="0" tIns="0" rIns="0" bIns="0" rtlCol="0" anchor="t"/>
          <a:lstStyle/>
          <a:p>
            <a:pPr>
              <a:lnSpc>
                <a:spcPts val="1625"/>
              </a:lnSpc>
            </a:pPr>
            <a:r>
              <a:rPr lang="en-US" sz="1083" dirty="0">
                <a:solidFill>
                  <a:srgbClr val="3C3939"/>
                </a:solidFill>
                <a:latin typeface="Roboto" pitchFamily="34" charset="0"/>
                <a:ea typeface="Roboto" pitchFamily="34" charset="-122"/>
                <a:cs typeface="Roboto" pitchFamily="34" charset="-120"/>
              </a:rPr>
              <a:t>Adopting CI/CD and DevOps principles enables teams to deliver high-quality software faster and more reliably, fostering a culture of continuous improvement.</a:t>
            </a:r>
            <a:endParaRPr lang="en-US" sz="1083"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1054696"/>
            <a:ext cx="4229001" cy="413444"/>
          </a:xfrm>
          <a:prstGeom prst="rect">
            <a:avLst/>
          </a:prstGeom>
          <a:noFill/>
          <a:ln/>
        </p:spPr>
        <p:txBody>
          <a:bodyPr wrap="none" lIns="0" tIns="0" rIns="0" bIns="0" rtlCol="0" anchor="t"/>
          <a:lstStyle/>
          <a:p>
            <a:pPr>
              <a:lnSpc>
                <a:spcPts val="3250"/>
              </a:lnSpc>
            </a:pPr>
            <a:r>
              <a:rPr lang="en-US" sz="2583" dirty="0">
                <a:solidFill>
                  <a:srgbClr val="1B1B27"/>
                </a:solidFill>
                <a:latin typeface="Raleway" pitchFamily="34" charset="0"/>
                <a:ea typeface="Raleway" pitchFamily="34" charset="-122"/>
                <a:cs typeface="Raleway" pitchFamily="34" charset="-120"/>
              </a:rPr>
              <a:t>Testing &amp; Quality Assurance</a:t>
            </a:r>
            <a:endParaRPr lang="en-US" sz="2583" dirty="0"/>
          </a:p>
        </p:txBody>
      </p:sp>
      <p:sp>
        <p:nvSpPr>
          <p:cNvPr id="3" name="Text 1"/>
          <p:cNvSpPr/>
          <p:nvPr/>
        </p:nvSpPr>
        <p:spPr>
          <a:xfrm>
            <a:off x="661492" y="1798836"/>
            <a:ext cx="10869018" cy="264617"/>
          </a:xfrm>
          <a:prstGeom prst="rect">
            <a:avLst/>
          </a:prstGeom>
          <a:noFill/>
          <a:ln/>
        </p:spPr>
        <p:txBody>
          <a:bodyPr wrap="non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Comprehensive testing is critical for delivering high-quality, reliable web applications and preventing regressions.</a:t>
            </a:r>
            <a:endParaRPr lang="en-US" sz="1292" dirty="0"/>
          </a:p>
        </p:txBody>
      </p:sp>
      <p:sp>
        <p:nvSpPr>
          <p:cNvPr id="4" name="Shape 2"/>
          <p:cNvSpPr/>
          <p:nvPr/>
        </p:nvSpPr>
        <p:spPr>
          <a:xfrm>
            <a:off x="642442" y="2230438"/>
            <a:ext cx="38100" cy="2876550"/>
          </a:xfrm>
          <a:prstGeom prst="rect">
            <a:avLst/>
          </a:prstGeom>
          <a:solidFill>
            <a:srgbClr val="1B1B27"/>
          </a:solidFill>
          <a:ln/>
        </p:spPr>
      </p:sp>
      <p:sp>
        <p:nvSpPr>
          <p:cNvPr id="5" name="Text 3"/>
          <p:cNvSpPr/>
          <p:nvPr/>
        </p:nvSpPr>
        <p:spPr>
          <a:xfrm>
            <a:off x="864890" y="2249488"/>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Unit Testing</a:t>
            </a:r>
            <a:endParaRPr lang="en-US" sz="1625" dirty="0"/>
          </a:p>
        </p:txBody>
      </p:sp>
      <p:sp>
        <p:nvSpPr>
          <p:cNvPr id="6" name="Text 4"/>
          <p:cNvSpPr/>
          <p:nvPr/>
        </p:nvSpPr>
        <p:spPr>
          <a:xfrm>
            <a:off x="864891" y="2607171"/>
            <a:ext cx="3281759"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Tests individual units or components of code in isolation (e.g., a single function, a React component). Ensures each part works as expected.</a:t>
            </a:r>
            <a:endParaRPr lang="en-US" sz="1292" dirty="0"/>
          </a:p>
        </p:txBody>
      </p:sp>
      <p:sp>
        <p:nvSpPr>
          <p:cNvPr id="7" name="Text 5"/>
          <p:cNvSpPr/>
          <p:nvPr/>
        </p:nvSpPr>
        <p:spPr>
          <a:xfrm>
            <a:off x="864891" y="3764856"/>
            <a:ext cx="3281759" cy="1058466"/>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Testing a login form validator to confirm it rejects empty passwords, flags invalid email formats, and accepts a correctly formatted input.</a:t>
            </a:r>
            <a:endParaRPr lang="en-US" sz="1292" dirty="0"/>
          </a:p>
        </p:txBody>
      </p:sp>
      <p:sp>
        <p:nvSpPr>
          <p:cNvPr id="8" name="Shape 6"/>
          <p:cNvSpPr/>
          <p:nvPr/>
        </p:nvSpPr>
        <p:spPr>
          <a:xfrm>
            <a:off x="4334272" y="2230438"/>
            <a:ext cx="38100" cy="2876550"/>
          </a:xfrm>
          <a:prstGeom prst="rect">
            <a:avLst/>
          </a:prstGeom>
          <a:solidFill>
            <a:srgbClr val="1B1B27"/>
          </a:solidFill>
          <a:ln/>
        </p:spPr>
      </p:sp>
      <p:sp>
        <p:nvSpPr>
          <p:cNvPr id="9" name="Text 7"/>
          <p:cNvSpPr/>
          <p:nvPr/>
        </p:nvSpPr>
        <p:spPr>
          <a:xfrm>
            <a:off x="4556720" y="2249488"/>
            <a:ext cx="2067421"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Integration Testing</a:t>
            </a:r>
            <a:endParaRPr lang="en-US" sz="1625" dirty="0"/>
          </a:p>
        </p:txBody>
      </p:sp>
      <p:sp>
        <p:nvSpPr>
          <p:cNvPr id="10" name="Text 8"/>
          <p:cNvSpPr/>
          <p:nvPr/>
        </p:nvSpPr>
        <p:spPr>
          <a:xfrm>
            <a:off x="4556720" y="2607171"/>
            <a:ext cx="3281858" cy="793849"/>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Verifies that different modules or services used in your application (e.g., front-end with back-end API) interact correctly.</a:t>
            </a:r>
            <a:endParaRPr lang="en-US" sz="1292" dirty="0"/>
          </a:p>
        </p:txBody>
      </p:sp>
      <p:sp>
        <p:nvSpPr>
          <p:cNvPr id="11" name="Text 9"/>
          <p:cNvSpPr/>
          <p:nvPr/>
        </p:nvSpPr>
        <p:spPr>
          <a:xfrm>
            <a:off x="4556720" y="3500239"/>
            <a:ext cx="3281858" cy="1323082"/>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Checking that a shopping cart page correctly sends item data to the payment API, receives a success response, and updates the order status in the database.</a:t>
            </a:r>
            <a:endParaRPr lang="en-US" sz="1292" dirty="0"/>
          </a:p>
        </p:txBody>
      </p:sp>
      <p:sp>
        <p:nvSpPr>
          <p:cNvPr id="12" name="Shape 10"/>
          <p:cNvSpPr/>
          <p:nvPr/>
        </p:nvSpPr>
        <p:spPr>
          <a:xfrm>
            <a:off x="8026202" y="2230438"/>
            <a:ext cx="38100" cy="2876550"/>
          </a:xfrm>
          <a:prstGeom prst="rect">
            <a:avLst/>
          </a:prstGeom>
          <a:solidFill>
            <a:srgbClr val="1B1B27"/>
          </a:solidFill>
          <a:ln/>
        </p:spPr>
      </p:sp>
      <p:sp>
        <p:nvSpPr>
          <p:cNvPr id="13" name="Text 11"/>
          <p:cNvSpPr/>
          <p:nvPr/>
        </p:nvSpPr>
        <p:spPr>
          <a:xfrm>
            <a:off x="8248650" y="2249488"/>
            <a:ext cx="2368947" cy="258465"/>
          </a:xfrm>
          <a:prstGeom prst="rect">
            <a:avLst/>
          </a:prstGeom>
          <a:noFill/>
          <a:ln/>
        </p:spPr>
        <p:txBody>
          <a:bodyPr wrap="none" lIns="0" tIns="0" rIns="0" bIns="0" rtlCol="0" anchor="t"/>
          <a:lstStyle/>
          <a:p>
            <a:pPr>
              <a:lnSpc>
                <a:spcPts val="2000"/>
              </a:lnSpc>
            </a:pPr>
            <a:r>
              <a:rPr lang="en-US" sz="1625" dirty="0">
                <a:solidFill>
                  <a:srgbClr val="3C3939"/>
                </a:solidFill>
                <a:latin typeface="Raleway" pitchFamily="34" charset="0"/>
                <a:ea typeface="Raleway" pitchFamily="34" charset="-122"/>
                <a:cs typeface="Raleway" pitchFamily="34" charset="-120"/>
              </a:rPr>
              <a:t>End-to-End (E2E) Testing</a:t>
            </a:r>
            <a:endParaRPr lang="en-US" sz="1625" dirty="0"/>
          </a:p>
        </p:txBody>
      </p:sp>
      <p:sp>
        <p:nvSpPr>
          <p:cNvPr id="14" name="Text 12"/>
          <p:cNvSpPr/>
          <p:nvPr/>
        </p:nvSpPr>
        <p:spPr>
          <a:xfrm>
            <a:off x="8248650" y="2607171"/>
            <a:ext cx="3281858" cy="1058466"/>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Simulates real user scenarios by testing the entire application flow from start to finish, including UI interactions and database operations.</a:t>
            </a:r>
            <a:endParaRPr lang="en-US" sz="1292" dirty="0"/>
          </a:p>
        </p:txBody>
      </p:sp>
      <p:sp>
        <p:nvSpPr>
          <p:cNvPr id="15" name="Text 13"/>
          <p:cNvSpPr/>
          <p:nvPr/>
        </p:nvSpPr>
        <p:spPr>
          <a:xfrm>
            <a:off x="8248650" y="3764856"/>
            <a:ext cx="3281858" cy="1323082"/>
          </a:xfrm>
          <a:prstGeom prst="rect">
            <a:avLst/>
          </a:prstGeom>
          <a:noFill/>
          <a:ln/>
        </p:spPr>
        <p:txBody>
          <a:bodyPr wrap="square" lIns="0" tIns="0" rIns="0" bIns="0" rtlCol="0" anchor="t"/>
          <a:lstStyle/>
          <a:p>
            <a:pPr marL="285739" indent="-285739">
              <a:lnSpc>
                <a:spcPts val="2083"/>
              </a:lnSpc>
              <a:buSzPct val="100000"/>
              <a:buChar char="•"/>
            </a:pPr>
            <a:r>
              <a:rPr lang="en-US" sz="1292" b="1" dirty="0">
                <a:solidFill>
                  <a:srgbClr val="3C3939"/>
                </a:solidFill>
                <a:latin typeface="Roboto" pitchFamily="34" charset="0"/>
                <a:ea typeface="Roboto" pitchFamily="34" charset="-122"/>
                <a:cs typeface="Roboto" pitchFamily="34" charset="-120"/>
              </a:rPr>
              <a:t>Example:</a:t>
            </a:r>
            <a:r>
              <a:rPr lang="en-US" sz="1292" dirty="0">
                <a:solidFill>
                  <a:srgbClr val="3C3939"/>
                </a:solidFill>
                <a:latin typeface="Roboto" pitchFamily="34" charset="0"/>
                <a:ea typeface="Roboto" pitchFamily="34" charset="-122"/>
                <a:cs typeface="Roboto" pitchFamily="34" charset="-120"/>
              </a:rPr>
              <a:t> Running a full checkout flow where a user signs in, adds a product to the cart, enters shipping details, pays with a test card, and receives an order confirmation screen.</a:t>
            </a:r>
            <a:endParaRPr lang="en-US" sz="1292" dirty="0"/>
          </a:p>
        </p:txBody>
      </p:sp>
      <p:sp>
        <p:nvSpPr>
          <p:cNvPr id="16" name="Text 14"/>
          <p:cNvSpPr/>
          <p:nvPr/>
        </p:nvSpPr>
        <p:spPr>
          <a:xfrm>
            <a:off x="661492" y="5273973"/>
            <a:ext cx="10869018" cy="529233"/>
          </a:xfrm>
          <a:prstGeom prst="rect">
            <a:avLst/>
          </a:prstGeom>
          <a:noFill/>
          <a:ln/>
        </p:spPr>
        <p:txBody>
          <a:bodyPr wrap="square" lIns="0" tIns="0" rIns="0" bIns="0" rtlCol="0" anchor="t"/>
          <a:lstStyle/>
          <a:p>
            <a:pPr>
              <a:lnSpc>
                <a:spcPts val="2083"/>
              </a:lnSpc>
            </a:pPr>
            <a:r>
              <a:rPr lang="en-US" sz="1292" dirty="0">
                <a:solidFill>
                  <a:srgbClr val="3C3939"/>
                </a:solidFill>
                <a:latin typeface="Roboto" pitchFamily="34" charset="0"/>
                <a:ea typeface="Roboto" pitchFamily="34" charset="-122"/>
                <a:cs typeface="Roboto" pitchFamily="34" charset="-120"/>
              </a:rPr>
              <a:t>Each testing type plays a vital role in ensuring the correctness and stability of a web application. A robust testing strategy leads to fewer bugs, faster development cycles, and increased confidence in deployment.</a:t>
            </a:r>
            <a:endParaRPr lang="en-US" sz="1292"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43421"/>
            <a:ext cx="3928070" cy="490934"/>
          </a:xfrm>
          <a:prstGeom prst="rect">
            <a:avLst/>
          </a:prstGeom>
          <a:noFill/>
          <a:ln/>
        </p:spPr>
        <p:txBody>
          <a:bodyPr wrap="none" lIns="0" tIns="0" rIns="0" bIns="0" rtlCol="0" anchor="t"/>
          <a:lstStyle/>
          <a:p>
            <a:pPr>
              <a:lnSpc>
                <a:spcPts val="3833"/>
              </a:lnSpc>
            </a:pPr>
            <a:r>
              <a:rPr lang="en-US" sz="3083" dirty="0">
                <a:solidFill>
                  <a:srgbClr val="1B1B27"/>
                </a:solidFill>
                <a:latin typeface="Raleway" pitchFamily="34" charset="0"/>
                <a:ea typeface="Raleway" pitchFamily="34" charset="-122"/>
                <a:cs typeface="Raleway" pitchFamily="34" charset="-120"/>
              </a:rPr>
              <a:t>Modern Trends</a:t>
            </a:r>
            <a:endParaRPr lang="en-US" sz="3083" dirty="0"/>
          </a:p>
        </p:txBody>
      </p:sp>
      <p:sp>
        <p:nvSpPr>
          <p:cNvPr id="3" name="Shape 1"/>
          <p:cNvSpPr/>
          <p:nvPr/>
        </p:nvSpPr>
        <p:spPr>
          <a:xfrm>
            <a:off x="661492" y="1332806"/>
            <a:ext cx="2605286" cy="1642963"/>
          </a:xfrm>
          <a:prstGeom prst="roundRect">
            <a:avLst>
              <a:gd name="adj" fmla="val 4017"/>
            </a:avLst>
          </a:prstGeom>
          <a:solidFill>
            <a:srgbClr val="E1E1EA"/>
          </a:solidFill>
          <a:ln w="7620">
            <a:solidFill>
              <a:srgbClr val="C7C7D0"/>
            </a:solidFill>
            <a:prstDash val="solid"/>
          </a:ln>
        </p:spPr>
      </p:sp>
      <p:sp>
        <p:nvSpPr>
          <p:cNvPr id="4" name="Text 2"/>
          <p:cNvSpPr/>
          <p:nvPr/>
        </p:nvSpPr>
        <p:spPr>
          <a:xfrm>
            <a:off x="824906" y="1496219"/>
            <a:ext cx="2278459" cy="491133"/>
          </a:xfrm>
          <a:prstGeom prst="rect">
            <a:avLst/>
          </a:prstGeom>
          <a:noFill/>
          <a:ln/>
        </p:spPr>
        <p:txBody>
          <a:bodyPr wrap="squar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Progressive Web Apps (PWAs)</a:t>
            </a:r>
            <a:endParaRPr lang="en-US" sz="1542" dirty="0"/>
          </a:p>
        </p:txBody>
      </p:sp>
      <p:sp>
        <p:nvSpPr>
          <p:cNvPr id="5" name="Text 3"/>
          <p:cNvSpPr/>
          <p:nvPr/>
        </p:nvSpPr>
        <p:spPr>
          <a:xfrm>
            <a:off x="824906" y="2076847"/>
            <a:ext cx="2278459"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 news app works offline and syncs when back online.</a:t>
            </a:r>
            <a:endParaRPr lang="en-US" sz="1208" dirty="0"/>
          </a:p>
        </p:txBody>
      </p:sp>
      <p:sp>
        <p:nvSpPr>
          <p:cNvPr id="6" name="Shape 4"/>
          <p:cNvSpPr/>
          <p:nvPr/>
        </p:nvSpPr>
        <p:spPr>
          <a:xfrm>
            <a:off x="3416003" y="1332806"/>
            <a:ext cx="2605385" cy="1642963"/>
          </a:xfrm>
          <a:prstGeom prst="roundRect">
            <a:avLst>
              <a:gd name="adj" fmla="val 4017"/>
            </a:avLst>
          </a:prstGeom>
          <a:solidFill>
            <a:srgbClr val="E1E1EA"/>
          </a:solidFill>
          <a:ln w="7620">
            <a:solidFill>
              <a:srgbClr val="C7C7D0"/>
            </a:solidFill>
            <a:prstDash val="solid"/>
          </a:ln>
        </p:spPr>
      </p:sp>
      <p:sp>
        <p:nvSpPr>
          <p:cNvPr id="7" name="Text 5"/>
          <p:cNvSpPr/>
          <p:nvPr/>
        </p:nvSpPr>
        <p:spPr>
          <a:xfrm>
            <a:off x="3579416" y="1496219"/>
            <a:ext cx="2278558" cy="491133"/>
          </a:xfrm>
          <a:prstGeom prst="rect">
            <a:avLst/>
          </a:prstGeom>
          <a:noFill/>
          <a:ln/>
        </p:spPr>
        <p:txBody>
          <a:bodyPr wrap="squar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Client-Side Rendering (CSR)</a:t>
            </a:r>
            <a:endParaRPr lang="en-US" sz="1542" dirty="0"/>
          </a:p>
        </p:txBody>
      </p:sp>
      <p:sp>
        <p:nvSpPr>
          <p:cNvPr id="8" name="Text 6"/>
          <p:cNvSpPr/>
          <p:nvPr/>
        </p:nvSpPr>
        <p:spPr>
          <a:xfrm>
            <a:off x="3579416" y="2076847"/>
            <a:ext cx="2278558" cy="73550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 social media feed loads in the browser with instant interactions.</a:t>
            </a:r>
            <a:endParaRPr lang="en-US" sz="1208" dirty="0"/>
          </a:p>
        </p:txBody>
      </p:sp>
      <p:sp>
        <p:nvSpPr>
          <p:cNvPr id="9" name="Shape 7"/>
          <p:cNvSpPr/>
          <p:nvPr/>
        </p:nvSpPr>
        <p:spPr>
          <a:xfrm>
            <a:off x="6170613" y="1332806"/>
            <a:ext cx="2605286" cy="1642963"/>
          </a:xfrm>
          <a:prstGeom prst="roundRect">
            <a:avLst>
              <a:gd name="adj" fmla="val 4017"/>
            </a:avLst>
          </a:prstGeom>
          <a:solidFill>
            <a:srgbClr val="E1E1EA"/>
          </a:solidFill>
          <a:ln w="7620">
            <a:solidFill>
              <a:srgbClr val="C7C7D0"/>
            </a:solidFill>
            <a:prstDash val="solid"/>
          </a:ln>
        </p:spPr>
      </p:sp>
      <p:sp>
        <p:nvSpPr>
          <p:cNvPr id="10" name="Text 8"/>
          <p:cNvSpPr/>
          <p:nvPr/>
        </p:nvSpPr>
        <p:spPr>
          <a:xfrm>
            <a:off x="6334026" y="1496219"/>
            <a:ext cx="2278459" cy="491133"/>
          </a:xfrm>
          <a:prstGeom prst="rect">
            <a:avLst/>
          </a:prstGeom>
          <a:noFill/>
          <a:ln/>
        </p:spPr>
        <p:txBody>
          <a:bodyPr wrap="squar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Server-Side Rendering (SSR)</a:t>
            </a:r>
            <a:endParaRPr lang="en-US" sz="1542" dirty="0"/>
          </a:p>
        </p:txBody>
      </p:sp>
      <p:sp>
        <p:nvSpPr>
          <p:cNvPr id="11" name="Text 9"/>
          <p:cNvSpPr/>
          <p:nvPr/>
        </p:nvSpPr>
        <p:spPr>
          <a:xfrm>
            <a:off x="6334026" y="2076847"/>
            <a:ext cx="2278459"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An e-commerce page renders on the server for faster loading.</a:t>
            </a:r>
            <a:endParaRPr lang="en-US" sz="1208" dirty="0"/>
          </a:p>
        </p:txBody>
      </p:sp>
      <p:sp>
        <p:nvSpPr>
          <p:cNvPr id="12" name="Shape 10"/>
          <p:cNvSpPr/>
          <p:nvPr/>
        </p:nvSpPr>
        <p:spPr>
          <a:xfrm>
            <a:off x="8925123" y="1332806"/>
            <a:ext cx="2605385" cy="1642963"/>
          </a:xfrm>
          <a:prstGeom prst="roundRect">
            <a:avLst>
              <a:gd name="adj" fmla="val 4017"/>
            </a:avLst>
          </a:prstGeom>
          <a:solidFill>
            <a:srgbClr val="E1E1EA"/>
          </a:solidFill>
          <a:ln w="7620">
            <a:solidFill>
              <a:srgbClr val="C7C7D0"/>
            </a:solidFill>
            <a:prstDash val="solid"/>
          </a:ln>
        </p:spPr>
      </p:sp>
      <p:sp>
        <p:nvSpPr>
          <p:cNvPr id="13" name="Text 11"/>
          <p:cNvSpPr/>
          <p:nvPr/>
        </p:nvSpPr>
        <p:spPr>
          <a:xfrm>
            <a:off x="9088537" y="1496219"/>
            <a:ext cx="2278558" cy="491133"/>
          </a:xfrm>
          <a:prstGeom prst="rect">
            <a:avLst/>
          </a:prstGeom>
          <a:noFill/>
          <a:ln/>
        </p:spPr>
        <p:txBody>
          <a:bodyPr wrap="squar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Static Site Generation (SSG)</a:t>
            </a:r>
            <a:endParaRPr lang="en-US" sz="1542" dirty="0"/>
          </a:p>
        </p:txBody>
      </p:sp>
      <p:sp>
        <p:nvSpPr>
          <p:cNvPr id="14" name="Text 12"/>
          <p:cNvSpPr/>
          <p:nvPr/>
        </p:nvSpPr>
        <p:spPr>
          <a:xfrm>
            <a:off x="9088537" y="2076847"/>
            <a:ext cx="2278558"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 blog pre-builds pages at build time for instant loading.</a:t>
            </a:r>
            <a:endParaRPr lang="en-US" sz="1208" dirty="0"/>
          </a:p>
        </p:txBody>
      </p:sp>
      <p:sp>
        <p:nvSpPr>
          <p:cNvPr id="15" name="Shape 13"/>
          <p:cNvSpPr/>
          <p:nvPr/>
        </p:nvSpPr>
        <p:spPr>
          <a:xfrm>
            <a:off x="661492" y="3124994"/>
            <a:ext cx="2605286" cy="1642963"/>
          </a:xfrm>
          <a:prstGeom prst="roundRect">
            <a:avLst>
              <a:gd name="adj" fmla="val 4017"/>
            </a:avLst>
          </a:prstGeom>
          <a:solidFill>
            <a:srgbClr val="E1E1EA"/>
          </a:solidFill>
          <a:ln w="7620">
            <a:solidFill>
              <a:srgbClr val="C7C7D0"/>
            </a:solidFill>
            <a:prstDash val="solid"/>
          </a:ln>
        </p:spPr>
      </p:sp>
      <p:sp>
        <p:nvSpPr>
          <p:cNvPr id="16" name="Text 14"/>
          <p:cNvSpPr/>
          <p:nvPr/>
        </p:nvSpPr>
        <p:spPr>
          <a:xfrm>
            <a:off x="824905" y="3288407"/>
            <a:ext cx="1964035"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Microservices</a:t>
            </a:r>
            <a:endParaRPr lang="en-US" sz="1542" dirty="0"/>
          </a:p>
        </p:txBody>
      </p:sp>
      <p:sp>
        <p:nvSpPr>
          <p:cNvPr id="17" name="Text 15"/>
          <p:cNvSpPr/>
          <p:nvPr/>
        </p:nvSpPr>
        <p:spPr>
          <a:xfrm>
            <a:off x="824906" y="3623469"/>
            <a:ext cx="2278459" cy="73550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 streaming app splits auth, video, and payments into separate services.</a:t>
            </a:r>
            <a:endParaRPr lang="en-US" sz="1208" dirty="0"/>
          </a:p>
        </p:txBody>
      </p:sp>
      <p:sp>
        <p:nvSpPr>
          <p:cNvPr id="18" name="Shape 16"/>
          <p:cNvSpPr/>
          <p:nvPr/>
        </p:nvSpPr>
        <p:spPr>
          <a:xfrm>
            <a:off x="3416003" y="3124994"/>
            <a:ext cx="2605385" cy="1642963"/>
          </a:xfrm>
          <a:prstGeom prst="roundRect">
            <a:avLst>
              <a:gd name="adj" fmla="val 4017"/>
            </a:avLst>
          </a:prstGeom>
          <a:solidFill>
            <a:srgbClr val="E1E1EA"/>
          </a:solidFill>
          <a:ln w="7620">
            <a:solidFill>
              <a:srgbClr val="C7C7D0"/>
            </a:solidFill>
            <a:prstDash val="solid"/>
          </a:ln>
        </p:spPr>
      </p:sp>
      <p:sp>
        <p:nvSpPr>
          <p:cNvPr id="19" name="Text 17"/>
          <p:cNvSpPr/>
          <p:nvPr/>
        </p:nvSpPr>
        <p:spPr>
          <a:xfrm>
            <a:off x="3579416" y="3288407"/>
            <a:ext cx="2266156"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Containerization (Docker)</a:t>
            </a:r>
            <a:endParaRPr lang="en-US" sz="1542" dirty="0"/>
          </a:p>
        </p:txBody>
      </p:sp>
      <p:sp>
        <p:nvSpPr>
          <p:cNvPr id="20" name="Text 18"/>
          <p:cNvSpPr/>
          <p:nvPr/>
        </p:nvSpPr>
        <p:spPr>
          <a:xfrm>
            <a:off x="3579416" y="3623469"/>
            <a:ext cx="2278558" cy="73550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Containers package apps with dependencies for consistent deployment.</a:t>
            </a:r>
            <a:endParaRPr lang="en-US" sz="1208" dirty="0"/>
          </a:p>
        </p:txBody>
      </p:sp>
      <p:sp>
        <p:nvSpPr>
          <p:cNvPr id="21" name="Shape 19"/>
          <p:cNvSpPr/>
          <p:nvPr/>
        </p:nvSpPr>
        <p:spPr>
          <a:xfrm>
            <a:off x="6170613" y="3124994"/>
            <a:ext cx="2605286" cy="1642963"/>
          </a:xfrm>
          <a:prstGeom prst="roundRect">
            <a:avLst>
              <a:gd name="adj" fmla="val 4017"/>
            </a:avLst>
          </a:prstGeom>
          <a:solidFill>
            <a:srgbClr val="E1E1EA"/>
          </a:solidFill>
          <a:ln w="7620">
            <a:solidFill>
              <a:srgbClr val="C7C7D0"/>
            </a:solidFill>
            <a:prstDash val="solid"/>
          </a:ln>
        </p:spPr>
      </p:sp>
      <p:sp>
        <p:nvSpPr>
          <p:cNvPr id="22" name="Text 20"/>
          <p:cNvSpPr/>
          <p:nvPr/>
        </p:nvSpPr>
        <p:spPr>
          <a:xfrm>
            <a:off x="6334026" y="3288407"/>
            <a:ext cx="2086074"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WebAssembly (WASM)</a:t>
            </a:r>
            <a:endParaRPr lang="en-US" sz="1542" dirty="0"/>
          </a:p>
        </p:txBody>
      </p:sp>
      <p:sp>
        <p:nvSpPr>
          <p:cNvPr id="23" name="Text 21"/>
          <p:cNvSpPr/>
          <p:nvPr/>
        </p:nvSpPr>
        <p:spPr>
          <a:xfrm>
            <a:off x="6334026" y="3623469"/>
            <a:ext cx="2278459"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Photo editing runs at near-native speeds in the browser.</a:t>
            </a:r>
            <a:endParaRPr lang="en-US" sz="1208" dirty="0"/>
          </a:p>
        </p:txBody>
      </p:sp>
      <p:sp>
        <p:nvSpPr>
          <p:cNvPr id="24" name="Shape 22"/>
          <p:cNvSpPr/>
          <p:nvPr/>
        </p:nvSpPr>
        <p:spPr>
          <a:xfrm>
            <a:off x="8925123" y="3124994"/>
            <a:ext cx="2605385" cy="1642963"/>
          </a:xfrm>
          <a:prstGeom prst="roundRect">
            <a:avLst>
              <a:gd name="adj" fmla="val 4017"/>
            </a:avLst>
          </a:prstGeom>
          <a:solidFill>
            <a:srgbClr val="E1E1EA"/>
          </a:solidFill>
          <a:ln w="7620">
            <a:solidFill>
              <a:srgbClr val="C7C7D0"/>
            </a:solidFill>
            <a:prstDash val="solid"/>
          </a:ln>
        </p:spPr>
      </p:sp>
      <p:sp>
        <p:nvSpPr>
          <p:cNvPr id="25" name="Text 23"/>
          <p:cNvSpPr/>
          <p:nvPr/>
        </p:nvSpPr>
        <p:spPr>
          <a:xfrm>
            <a:off x="9088537" y="3288407"/>
            <a:ext cx="2278558" cy="491133"/>
          </a:xfrm>
          <a:prstGeom prst="rect">
            <a:avLst/>
          </a:prstGeom>
          <a:noFill/>
          <a:ln/>
        </p:spPr>
        <p:txBody>
          <a:bodyPr wrap="squar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Meta-Frameworks (Next.js, Nuxt, SvelteKit)</a:t>
            </a:r>
            <a:endParaRPr lang="en-US" sz="1542" dirty="0"/>
          </a:p>
        </p:txBody>
      </p:sp>
      <p:sp>
        <p:nvSpPr>
          <p:cNvPr id="26" name="Text 24"/>
          <p:cNvSpPr/>
          <p:nvPr/>
        </p:nvSpPr>
        <p:spPr>
          <a:xfrm>
            <a:off x="9088537" y="3869035"/>
            <a:ext cx="2278558" cy="73550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Next.js and Nuxt combine frontend and backend in one codebase.</a:t>
            </a:r>
            <a:endParaRPr lang="en-US" sz="1208" dirty="0"/>
          </a:p>
        </p:txBody>
      </p:sp>
      <p:sp>
        <p:nvSpPr>
          <p:cNvPr id="27" name="Shape 25"/>
          <p:cNvSpPr/>
          <p:nvPr/>
        </p:nvSpPr>
        <p:spPr>
          <a:xfrm>
            <a:off x="661492" y="4917182"/>
            <a:ext cx="2605286" cy="1397397"/>
          </a:xfrm>
          <a:prstGeom prst="roundRect">
            <a:avLst>
              <a:gd name="adj" fmla="val 4723"/>
            </a:avLst>
          </a:prstGeom>
          <a:solidFill>
            <a:srgbClr val="E1E1EA"/>
          </a:solidFill>
          <a:ln w="7620">
            <a:solidFill>
              <a:srgbClr val="C7C7D0"/>
            </a:solidFill>
            <a:prstDash val="solid"/>
          </a:ln>
        </p:spPr>
      </p:sp>
      <p:sp>
        <p:nvSpPr>
          <p:cNvPr id="28" name="Text 26"/>
          <p:cNvSpPr/>
          <p:nvPr/>
        </p:nvSpPr>
        <p:spPr>
          <a:xfrm>
            <a:off x="824906" y="5080595"/>
            <a:ext cx="2105124"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Serverless Architecture</a:t>
            </a:r>
            <a:endParaRPr lang="en-US" sz="1542" dirty="0"/>
          </a:p>
        </p:txBody>
      </p:sp>
      <p:sp>
        <p:nvSpPr>
          <p:cNvPr id="29" name="Text 27"/>
          <p:cNvSpPr/>
          <p:nvPr/>
        </p:nvSpPr>
        <p:spPr>
          <a:xfrm>
            <a:off x="824906" y="5415657"/>
            <a:ext cx="2278459"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Functions scale automatically without managing servers.</a:t>
            </a:r>
            <a:endParaRPr lang="en-US" sz="1208" dirty="0"/>
          </a:p>
        </p:txBody>
      </p:sp>
      <p:sp>
        <p:nvSpPr>
          <p:cNvPr id="30" name="Shape 28"/>
          <p:cNvSpPr/>
          <p:nvPr/>
        </p:nvSpPr>
        <p:spPr>
          <a:xfrm>
            <a:off x="3416003" y="4917182"/>
            <a:ext cx="2605385" cy="1397397"/>
          </a:xfrm>
          <a:prstGeom prst="roundRect">
            <a:avLst>
              <a:gd name="adj" fmla="val 4723"/>
            </a:avLst>
          </a:prstGeom>
          <a:solidFill>
            <a:srgbClr val="E1E1EA"/>
          </a:solidFill>
          <a:ln w="7620">
            <a:solidFill>
              <a:srgbClr val="C7C7D0"/>
            </a:solidFill>
            <a:prstDash val="solid"/>
          </a:ln>
        </p:spPr>
      </p:sp>
      <p:sp>
        <p:nvSpPr>
          <p:cNvPr id="31" name="Text 29"/>
          <p:cNvSpPr/>
          <p:nvPr/>
        </p:nvSpPr>
        <p:spPr>
          <a:xfrm>
            <a:off x="3579416" y="5080595"/>
            <a:ext cx="2060178"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API-First Development</a:t>
            </a:r>
            <a:endParaRPr lang="en-US" sz="1542" dirty="0"/>
          </a:p>
        </p:txBody>
      </p:sp>
      <p:sp>
        <p:nvSpPr>
          <p:cNvPr id="32" name="Text 30"/>
          <p:cNvSpPr/>
          <p:nvPr/>
        </p:nvSpPr>
        <p:spPr>
          <a:xfrm>
            <a:off x="3579416" y="5415657"/>
            <a:ext cx="2278558" cy="73550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APIs are designed first, then frontend and backend are built around them.</a:t>
            </a:r>
            <a:endParaRPr lang="en-US" sz="1208" dirty="0"/>
          </a:p>
        </p:txBody>
      </p:sp>
      <p:sp>
        <p:nvSpPr>
          <p:cNvPr id="33" name="Shape 31"/>
          <p:cNvSpPr/>
          <p:nvPr/>
        </p:nvSpPr>
        <p:spPr>
          <a:xfrm>
            <a:off x="6170613" y="4917182"/>
            <a:ext cx="2605286" cy="1397397"/>
          </a:xfrm>
          <a:prstGeom prst="roundRect">
            <a:avLst>
              <a:gd name="adj" fmla="val 4723"/>
            </a:avLst>
          </a:prstGeom>
          <a:solidFill>
            <a:srgbClr val="E1E1EA"/>
          </a:solidFill>
          <a:ln w="7620">
            <a:solidFill>
              <a:srgbClr val="C7C7D0"/>
            </a:solidFill>
            <a:prstDash val="solid"/>
          </a:ln>
        </p:spPr>
      </p:sp>
      <p:sp>
        <p:nvSpPr>
          <p:cNvPr id="34" name="Text 32"/>
          <p:cNvSpPr/>
          <p:nvPr/>
        </p:nvSpPr>
        <p:spPr>
          <a:xfrm>
            <a:off x="6334026" y="5080595"/>
            <a:ext cx="1964035"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Modern Tech Stacks </a:t>
            </a:r>
            <a:endParaRPr lang="en-US" sz="1542" dirty="0"/>
          </a:p>
        </p:txBody>
      </p:sp>
      <p:sp>
        <p:nvSpPr>
          <p:cNvPr id="35" name="Text 33"/>
          <p:cNvSpPr/>
          <p:nvPr/>
        </p:nvSpPr>
        <p:spPr>
          <a:xfrm>
            <a:off x="6334026" y="5415657"/>
            <a:ext cx="2278459" cy="73550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MERN, MEAN and SERN enable full-stack development with consistent JavaScript.</a:t>
            </a:r>
            <a:endParaRPr lang="en-US" sz="1208" dirty="0"/>
          </a:p>
        </p:txBody>
      </p:sp>
      <p:sp>
        <p:nvSpPr>
          <p:cNvPr id="36" name="Shape 34"/>
          <p:cNvSpPr/>
          <p:nvPr/>
        </p:nvSpPr>
        <p:spPr>
          <a:xfrm>
            <a:off x="8925123" y="4917182"/>
            <a:ext cx="2605385" cy="1397397"/>
          </a:xfrm>
          <a:prstGeom prst="roundRect">
            <a:avLst>
              <a:gd name="adj" fmla="val 4723"/>
            </a:avLst>
          </a:prstGeom>
          <a:solidFill>
            <a:srgbClr val="E1E1EA"/>
          </a:solidFill>
          <a:ln w="7620">
            <a:solidFill>
              <a:srgbClr val="C7C7D0"/>
            </a:solidFill>
            <a:prstDash val="solid"/>
          </a:ln>
        </p:spPr>
      </p:sp>
      <p:sp>
        <p:nvSpPr>
          <p:cNvPr id="37" name="Text 35"/>
          <p:cNvSpPr/>
          <p:nvPr/>
        </p:nvSpPr>
        <p:spPr>
          <a:xfrm>
            <a:off x="9088537" y="5080595"/>
            <a:ext cx="2095897"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Monorepo Architecture</a:t>
            </a:r>
            <a:endParaRPr lang="en-US" sz="1542" dirty="0"/>
          </a:p>
        </p:txBody>
      </p:sp>
      <p:sp>
        <p:nvSpPr>
          <p:cNvPr id="38" name="Text 36"/>
          <p:cNvSpPr/>
          <p:nvPr/>
        </p:nvSpPr>
        <p:spPr>
          <a:xfrm>
            <a:off x="9088537" y="5415657"/>
            <a:ext cx="2278558"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Multiple projects share one repository with shared tooling.</a:t>
            </a:r>
            <a:endParaRPr lang="en-US" sz="1208"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45009"/>
            <a:ext cx="5323483" cy="392708"/>
          </a:xfrm>
          <a:prstGeom prst="rect">
            <a:avLst/>
          </a:prstGeom>
          <a:noFill/>
          <a:ln/>
        </p:spPr>
        <p:txBody>
          <a:bodyPr wrap="none" lIns="0" tIns="0" rIns="0" bIns="0" rtlCol="0" anchor="t"/>
          <a:lstStyle/>
          <a:p>
            <a:pPr>
              <a:lnSpc>
                <a:spcPts val="3083"/>
              </a:lnSpc>
            </a:pPr>
            <a:r>
              <a:rPr lang="en-US" sz="2458" dirty="0">
                <a:solidFill>
                  <a:srgbClr val="1B1B27"/>
                </a:solidFill>
                <a:latin typeface="Raleway" pitchFamily="34" charset="0"/>
                <a:ea typeface="Raleway" pitchFamily="34" charset="-122"/>
                <a:cs typeface="Raleway" pitchFamily="34" charset="-120"/>
              </a:rPr>
              <a:t>Key Takeaways &amp; Industry Relevance</a:t>
            </a:r>
            <a:endParaRPr lang="en-US" sz="2458" dirty="0"/>
          </a:p>
        </p:txBody>
      </p:sp>
      <p:sp>
        <p:nvSpPr>
          <p:cNvPr id="3" name="Text 1"/>
          <p:cNvSpPr/>
          <p:nvPr/>
        </p:nvSpPr>
        <p:spPr>
          <a:xfrm>
            <a:off x="1985170" y="1624012"/>
            <a:ext cx="2303859" cy="245567"/>
          </a:xfrm>
          <a:prstGeom prst="rect">
            <a:avLst/>
          </a:prstGeom>
          <a:noFill/>
          <a:ln/>
        </p:spPr>
        <p:txBody>
          <a:bodyPr wrap="none" lIns="0" tIns="0" rIns="0" bIns="0" rtlCol="0" anchor="t"/>
          <a:lstStyle/>
          <a:p>
            <a:pPr algn="r">
              <a:lnSpc>
                <a:spcPts val="1917"/>
              </a:lnSpc>
            </a:pPr>
            <a:r>
              <a:rPr lang="en-US" sz="1542" dirty="0">
                <a:solidFill>
                  <a:srgbClr val="3C3939"/>
                </a:solidFill>
                <a:latin typeface="Raleway" pitchFamily="34" charset="0"/>
                <a:ea typeface="Raleway" pitchFamily="34" charset="-122"/>
                <a:cs typeface="Raleway" pitchFamily="34" charset="-120"/>
              </a:rPr>
              <a:t>Continuous Improvement</a:t>
            </a:r>
            <a:endParaRPr lang="en-US" sz="1542" dirty="0"/>
          </a:p>
        </p:txBody>
      </p:sp>
      <p:sp>
        <p:nvSpPr>
          <p:cNvPr id="4" name="Text 2"/>
          <p:cNvSpPr/>
          <p:nvPr/>
        </p:nvSpPr>
        <p:spPr>
          <a:xfrm>
            <a:off x="661492" y="1959074"/>
            <a:ext cx="3627537" cy="980678"/>
          </a:xfrm>
          <a:prstGeom prst="rect">
            <a:avLst/>
          </a:prstGeom>
          <a:noFill/>
          <a:ln/>
        </p:spPr>
        <p:txBody>
          <a:bodyPr wrap="square" lIns="0" tIns="0" rIns="0" bIns="0" rtlCol="0" anchor="t"/>
          <a:lstStyle/>
          <a:p>
            <a:pPr algn="r">
              <a:lnSpc>
                <a:spcPts val="1917"/>
              </a:lnSpc>
            </a:pPr>
            <a:r>
              <a:rPr lang="en-US" sz="1208" dirty="0">
                <a:solidFill>
                  <a:srgbClr val="3C3939"/>
                </a:solidFill>
                <a:latin typeface="Roboto" pitchFamily="34" charset="0"/>
                <a:ea typeface="Roboto" pitchFamily="34" charset="-122"/>
                <a:cs typeface="Roboto" pitchFamily="34" charset="-120"/>
              </a:rPr>
              <a:t>Example: A product team reviews weekly bug reports and user feedback, then ships small updates every sprint to improve reliability and add missing features.</a:t>
            </a:r>
            <a:endParaRPr lang="en-US" sz="1208" dirty="0"/>
          </a:p>
        </p:txBody>
      </p:sp>
      <p:pic>
        <p:nvPicPr>
          <p:cNvPr id="5" name="Image 0" descr="preencoded.png"/>
          <p:cNvPicPr>
            <a:picLocks noChangeAspect="1"/>
          </p:cNvPicPr>
          <p:nvPr/>
        </p:nvPicPr>
        <p:blipFill>
          <a:blip r:embed="rId3"/>
          <a:stretch>
            <a:fillRect/>
          </a:stretch>
        </p:blipFill>
        <p:spPr>
          <a:xfrm>
            <a:off x="4289029" y="1638400"/>
            <a:ext cx="3613944" cy="3613944"/>
          </a:xfrm>
          <a:prstGeom prst="rect">
            <a:avLst/>
          </a:prstGeom>
        </p:spPr>
      </p:pic>
      <p:sp>
        <p:nvSpPr>
          <p:cNvPr id="6" name="Text 3"/>
          <p:cNvSpPr/>
          <p:nvPr/>
        </p:nvSpPr>
        <p:spPr>
          <a:xfrm>
            <a:off x="7902972" y="1236167"/>
            <a:ext cx="1964035"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User-Centric Design</a:t>
            </a:r>
            <a:endParaRPr lang="en-US" sz="1542" dirty="0"/>
          </a:p>
        </p:txBody>
      </p:sp>
      <p:sp>
        <p:nvSpPr>
          <p:cNvPr id="7" name="Text 4"/>
          <p:cNvSpPr/>
          <p:nvPr/>
        </p:nvSpPr>
        <p:spPr>
          <a:xfrm>
            <a:off x="7902972" y="1571229"/>
            <a:ext cx="3627537" cy="98067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Example: An online checkout flow keeps the most important steps visible on every screen, making it easy for shoppers to complete purchases quickly on mobile or desktop.</a:t>
            </a:r>
            <a:endParaRPr lang="en-US" sz="1208" dirty="0"/>
          </a:p>
        </p:txBody>
      </p:sp>
      <p:pic>
        <p:nvPicPr>
          <p:cNvPr id="8" name="Image 1" descr="preencoded.png"/>
          <p:cNvPicPr>
            <a:picLocks noChangeAspect="1"/>
          </p:cNvPicPr>
          <p:nvPr/>
        </p:nvPicPr>
        <p:blipFill>
          <a:blip r:embed="rId4"/>
          <a:stretch>
            <a:fillRect/>
          </a:stretch>
        </p:blipFill>
        <p:spPr>
          <a:xfrm>
            <a:off x="4289029" y="1638400"/>
            <a:ext cx="3613944" cy="3613944"/>
          </a:xfrm>
          <a:prstGeom prst="rect">
            <a:avLst/>
          </a:prstGeom>
        </p:spPr>
      </p:pic>
      <p:sp>
        <p:nvSpPr>
          <p:cNvPr id="9" name="Text 5"/>
          <p:cNvSpPr/>
          <p:nvPr/>
        </p:nvSpPr>
        <p:spPr>
          <a:xfrm>
            <a:off x="8217198" y="2787551"/>
            <a:ext cx="1964035"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Security First</a:t>
            </a:r>
            <a:endParaRPr lang="en-US" sz="1542" dirty="0"/>
          </a:p>
        </p:txBody>
      </p:sp>
      <p:sp>
        <p:nvSpPr>
          <p:cNvPr id="10" name="Text 6"/>
          <p:cNvSpPr/>
          <p:nvPr/>
        </p:nvSpPr>
        <p:spPr>
          <a:xfrm>
            <a:off x="8217198" y="3122613"/>
            <a:ext cx="3313311" cy="98067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Example: A banking app requires multi-factor authentication, encrypts stored data, and validates all form inputs before allowing a transfer to go through.</a:t>
            </a:r>
            <a:endParaRPr lang="en-US" sz="1208" dirty="0"/>
          </a:p>
        </p:txBody>
      </p:sp>
      <p:pic>
        <p:nvPicPr>
          <p:cNvPr id="11" name="Image 2" descr="preencoded.png"/>
          <p:cNvPicPr>
            <a:picLocks noChangeAspect="1"/>
          </p:cNvPicPr>
          <p:nvPr/>
        </p:nvPicPr>
        <p:blipFill>
          <a:blip r:embed="rId5"/>
          <a:stretch>
            <a:fillRect/>
          </a:stretch>
        </p:blipFill>
        <p:spPr>
          <a:xfrm>
            <a:off x="4289029" y="1638400"/>
            <a:ext cx="3613944" cy="3613944"/>
          </a:xfrm>
          <a:prstGeom prst="rect">
            <a:avLst/>
          </a:prstGeom>
        </p:spPr>
      </p:pic>
      <p:sp>
        <p:nvSpPr>
          <p:cNvPr id="12" name="Text 7"/>
          <p:cNvSpPr/>
          <p:nvPr/>
        </p:nvSpPr>
        <p:spPr>
          <a:xfrm>
            <a:off x="7902972" y="4338935"/>
            <a:ext cx="1964035" cy="245567"/>
          </a:xfrm>
          <a:prstGeom prst="rect">
            <a:avLst/>
          </a:prstGeom>
          <a:noFill/>
          <a:ln/>
        </p:spPr>
        <p:txBody>
          <a:bodyPr wrap="none" lIns="0" tIns="0" rIns="0" bIns="0" rtlCol="0" anchor="t"/>
          <a:lstStyle/>
          <a:p>
            <a:pPr>
              <a:lnSpc>
                <a:spcPts val="1917"/>
              </a:lnSpc>
            </a:pPr>
            <a:r>
              <a:rPr lang="en-US" sz="1542" dirty="0">
                <a:solidFill>
                  <a:srgbClr val="3C3939"/>
                </a:solidFill>
                <a:latin typeface="Raleway" pitchFamily="34" charset="0"/>
                <a:ea typeface="Raleway" pitchFamily="34" charset="-122"/>
                <a:cs typeface="Raleway" pitchFamily="34" charset="-120"/>
              </a:rPr>
              <a:t>Modular &amp; Scalable</a:t>
            </a:r>
            <a:endParaRPr lang="en-US" sz="1542" dirty="0"/>
          </a:p>
        </p:txBody>
      </p:sp>
      <p:sp>
        <p:nvSpPr>
          <p:cNvPr id="13" name="Text 8"/>
          <p:cNvSpPr/>
          <p:nvPr/>
        </p:nvSpPr>
        <p:spPr>
          <a:xfrm>
            <a:off x="7902972" y="4673997"/>
            <a:ext cx="3627537" cy="980678"/>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Example: A streaming platform builds reusable components for search, playback, and recommendations so new features can be added without rewriting the whole interface.</a:t>
            </a:r>
            <a:endParaRPr lang="en-US" sz="1208" dirty="0"/>
          </a:p>
        </p:txBody>
      </p:sp>
      <p:pic>
        <p:nvPicPr>
          <p:cNvPr id="14" name="Image 3" descr="preencoded.png"/>
          <p:cNvPicPr>
            <a:picLocks noChangeAspect="1"/>
          </p:cNvPicPr>
          <p:nvPr/>
        </p:nvPicPr>
        <p:blipFill>
          <a:blip r:embed="rId6"/>
          <a:stretch>
            <a:fillRect/>
          </a:stretch>
        </p:blipFill>
        <p:spPr>
          <a:xfrm>
            <a:off x="4289029" y="1638400"/>
            <a:ext cx="3613944" cy="3613944"/>
          </a:xfrm>
          <a:prstGeom prst="rect">
            <a:avLst/>
          </a:prstGeom>
        </p:spPr>
      </p:pic>
      <p:sp>
        <p:nvSpPr>
          <p:cNvPr id="15" name="Text 9"/>
          <p:cNvSpPr/>
          <p:nvPr/>
        </p:nvSpPr>
        <p:spPr>
          <a:xfrm>
            <a:off x="2264172" y="3951089"/>
            <a:ext cx="2024857" cy="245567"/>
          </a:xfrm>
          <a:prstGeom prst="rect">
            <a:avLst/>
          </a:prstGeom>
          <a:noFill/>
          <a:ln/>
        </p:spPr>
        <p:txBody>
          <a:bodyPr wrap="none" lIns="0" tIns="0" rIns="0" bIns="0" rtlCol="0" anchor="t"/>
          <a:lstStyle/>
          <a:p>
            <a:pPr algn="r">
              <a:lnSpc>
                <a:spcPts val="1917"/>
              </a:lnSpc>
            </a:pPr>
            <a:r>
              <a:rPr lang="en-US" sz="1542" dirty="0">
                <a:solidFill>
                  <a:srgbClr val="3C3939"/>
                </a:solidFill>
                <a:latin typeface="Raleway" pitchFamily="34" charset="0"/>
                <a:ea typeface="Raleway" pitchFamily="34" charset="-122"/>
                <a:cs typeface="Raleway" pitchFamily="34" charset="-120"/>
              </a:rPr>
              <a:t>Automated Workflows</a:t>
            </a:r>
            <a:endParaRPr lang="en-US" sz="1542" dirty="0"/>
          </a:p>
        </p:txBody>
      </p:sp>
      <p:sp>
        <p:nvSpPr>
          <p:cNvPr id="16" name="Text 10"/>
          <p:cNvSpPr/>
          <p:nvPr/>
        </p:nvSpPr>
        <p:spPr>
          <a:xfrm>
            <a:off x="661492" y="4286151"/>
            <a:ext cx="3627537" cy="980678"/>
          </a:xfrm>
          <a:prstGeom prst="rect">
            <a:avLst/>
          </a:prstGeom>
          <a:noFill/>
          <a:ln/>
        </p:spPr>
        <p:txBody>
          <a:bodyPr wrap="square" lIns="0" tIns="0" rIns="0" bIns="0" rtlCol="0" anchor="t"/>
          <a:lstStyle/>
          <a:p>
            <a:pPr algn="r">
              <a:lnSpc>
                <a:spcPts val="1917"/>
              </a:lnSpc>
            </a:pPr>
            <a:r>
              <a:rPr lang="en-US" sz="1208" dirty="0">
                <a:solidFill>
                  <a:srgbClr val="3C3939"/>
                </a:solidFill>
                <a:latin typeface="Roboto" pitchFamily="34" charset="0"/>
                <a:ea typeface="Roboto" pitchFamily="34" charset="-122"/>
                <a:cs typeface="Roboto" pitchFamily="34" charset="-120"/>
              </a:rPr>
              <a:t>Example: Every code change triggers automated tests and a deployment pipeline, so a bug is caught before it reaches production and a successful release goes live faster.</a:t>
            </a:r>
            <a:endParaRPr lang="en-US" sz="1208" dirty="0"/>
          </a:p>
        </p:txBody>
      </p:sp>
      <p:pic>
        <p:nvPicPr>
          <p:cNvPr id="17" name="Image 4" descr="preencoded.png"/>
          <p:cNvPicPr>
            <a:picLocks noChangeAspect="1"/>
          </p:cNvPicPr>
          <p:nvPr/>
        </p:nvPicPr>
        <p:blipFill>
          <a:blip r:embed="rId7"/>
          <a:stretch>
            <a:fillRect/>
          </a:stretch>
        </p:blipFill>
        <p:spPr>
          <a:xfrm>
            <a:off x="4289029" y="1638400"/>
            <a:ext cx="3613944" cy="3613944"/>
          </a:xfrm>
          <a:prstGeom prst="rect">
            <a:avLst/>
          </a:prstGeom>
        </p:spPr>
      </p:pic>
      <p:sp>
        <p:nvSpPr>
          <p:cNvPr id="18" name="Text 11"/>
          <p:cNvSpPr/>
          <p:nvPr/>
        </p:nvSpPr>
        <p:spPr>
          <a:xfrm>
            <a:off x="661492" y="5822554"/>
            <a:ext cx="10869018" cy="490339"/>
          </a:xfrm>
          <a:prstGeom prst="rect">
            <a:avLst/>
          </a:prstGeom>
          <a:noFill/>
          <a:ln/>
        </p:spPr>
        <p:txBody>
          <a:bodyPr wrap="square" lIns="0" tIns="0" rIns="0" bIns="0" rtlCol="0" anchor="t"/>
          <a:lstStyle/>
          <a:p>
            <a:pPr>
              <a:lnSpc>
                <a:spcPts val="1917"/>
              </a:lnSpc>
            </a:pPr>
            <a:r>
              <a:rPr lang="en-US" sz="1208" dirty="0">
                <a:solidFill>
                  <a:srgbClr val="3C3939"/>
                </a:solidFill>
                <a:latin typeface="Roboto" pitchFamily="34" charset="0"/>
                <a:ea typeface="Roboto" pitchFamily="34" charset="-122"/>
                <a:cs typeface="Roboto" pitchFamily="34" charset="-120"/>
              </a:rPr>
              <a:t>Mastering these modern practices will equip you with the skills demanded by today's leading technology companies, enabling you to build impactful and sustainable web solutions.</a:t>
            </a:r>
            <a:endParaRPr lang="en-US" sz="120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731</TotalTime>
  <Words>9443</Words>
  <Application>Microsoft Office PowerPoint</Application>
  <PresentationFormat>Widescreen</PresentationFormat>
  <Paragraphs>746</Paragraphs>
  <Slides>44</Slides>
  <Notes>40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44</vt:i4>
      </vt:variant>
    </vt:vector>
  </HeadingPairs>
  <TitlesOfParts>
    <vt:vector size="53" baseType="lpstr">
      <vt:lpstr>Arial</vt:lpstr>
      <vt:lpstr>Calibri</vt:lpstr>
      <vt:lpstr>Calibri Light</vt:lpstr>
      <vt:lpstr>Consolas</vt:lpstr>
      <vt:lpstr>Courier New</vt:lpstr>
      <vt:lpstr>Raleway</vt:lpstr>
      <vt:lpstr>Roboto</vt:lpstr>
      <vt:lpstr>Office Theme</vt:lpstr>
      <vt:lpstr>1_Office Theme</vt:lpstr>
      <vt:lpstr>Web Testing and Debugging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Deployment and Hosting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Web API and Integration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Modern Web Development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Saad</dc:creator>
  <cp:lastModifiedBy>Saad</cp:lastModifiedBy>
  <cp:revision>8</cp:revision>
  <dcterms:created xsi:type="dcterms:W3CDTF">2026-03-19T14:49:55Z</dcterms:created>
  <dcterms:modified xsi:type="dcterms:W3CDTF">2026-03-20T04:50:48Z</dcterms:modified>
</cp:coreProperties>
</file>