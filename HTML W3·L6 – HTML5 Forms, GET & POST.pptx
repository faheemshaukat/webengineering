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lecture matches the course card’s Lecture 7 (HTML5 forms, GET and POST data, CLO 1 and 2). It is the bridge between the front end and the back end: everything students build here is processed with PHP in Weeks 10 and 11 and with Laravel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is dense; keep each control slide to about two minutes and let the lab consolidate. The Assignment 1 brief at the end corresponds to the course card’s Assignment 1 in Week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02 is a classic exam question for CLO 1. Outcome 04 touches CLO 3: forms are where user experience is most often won or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To reserve space and prevent layout shift while it loads. 2 Empty alt marks a decorative image to skip; a missing alt is an error and screen readers may read the file name. 3 title. 4 GET and POST (also PUT, DELETE, HEAD). 5 After the question mark. Questions 4 and 5 deliberately set up today’s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request–response cycle from Week 2, now driven by the user. Emphasise the division of labour: today we build stages 1 and 2; Weeks 10 and 11 build stage 3 with PHP and MySQL; JavaScript in Week 9 adds richer validation in stage 1. Without a server, submitting a form just reloads the page with the data in the URL, which we will observe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 element is an invisible container: it gives no visual box. action is relative or absolute, exactly like the paths from Lecture 3. Method values are case-insensitive; convention is lowercase in HTML. register.php does not exist yet; students will write it in Week 10. Submitting to the same page is the standard PHP pattern called a self-processing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concept of the lecture. id is for the label and CSS; name is for the server. A missing name is the number one reason students say “my PHP gets nothing” in Week 10. URL encoding converts reserved characters, linking back to the URL lecture. The PHP line previews Week 10; do not go deeper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Exam-ready rule: if the request only reads data and repeating it is harmless, use GET; if it changes data or carries sensitive information, use POST. Note that POST is not encrypted; it merely keeps data out of the URL. Only HTTPS encrypts it. The browser warns about resubmitting when you refresh a page that was the result of a POST, a practical sign of the difference. PHP also has $_REQUEST, which reads both, as listed in the course outline.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reconnects to the HTTP message format from Week 2: request line, headers, blank line, body. Content-Length is the byte count of the body, 34 here. In the demo, students see exactly these in the DevTools Network tab: the Headers sub-tab and the Payload sub-tab. Long lines are wrapped on the slide for readability; in real messages each header is a single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the right type costs nothing and gives free validation plus the correct mobile keyboard, a big UX win (CLO 3). Demonstrate on a phone if possible. An unknown type falls back to text, so new types are safe to use. type="password" only hides characters on screen; it does not encrypt.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click target: click the words I accept the rules and watch the box tick. Name and id often share the same value, but they do different jobs: id links to the label, name goes to the server. Lighthouse flags form elements without associated labels as an accessibility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bug: writing the closing textarea on a new line with indentation, so the textarea starts filled with spaces and the placeholder never appears. Use textarea for comments, addresses, feedback; use input type text for one-line answers. Line breaks typed by the user are submitted as encoded newlines (%0D%0A).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question on your existing slide: what happens if you repeat the same name in radio controls? That is exactly what makes them a group. Different names would let users pick both. Always set value; without it the browser sends on. checked is a boolean attribute setting the default. The [] naming convention is PHP-specific and previews arrays in Week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select when the list is fixed and long (more than about five options); for two to five options, radio buttons show every choice at once and are usually easier to use. The empty-value first option combined with required forces a real choice. optgroup labels cannot be selected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same form in Chrome, Firefox and a phone to show how pickers differ. Point out the submitted format: date always arrives as ISO YYYY-MM-DD regardless of how it is displayed, which makes server-side processing reliable. A range slider shows no number by default; JavaScript or an output element can display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multipart enctype, the browser sends only the file name, not its contents; a very common Week 10 bug. accept is only a hint for the file picker; the server must still check file type and size. Demonstrate editing a hidden field value in DevTools to prove it cannot be trusted. Hidden fields are typical for IDs of a record being edited and CSRF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Pressing Enter in a text field also triggers the form’s submit button. Reset buttons are discouraged in UX guidance because users press them by accident and lose everything. A submit button can carry its own name and value, and formaction or formmethod to override the form for that one button, useful for Save draft versus Publish.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radio or checkbox group without a fieldset is a common accessibility failure: the screen reader says Morning, radio button, without saying what the question was. Long forms split into fieldsets are also easier to scan, which is a UX win. This matches the grouping slide in your existing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Ten-minute timer. After the break, Part B starts with validation, then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pattern matches a Pakistani mobile number written as 03XX-XXXXXXX; it is anchored automatically, so the whole value must match. The title text appears in the error bubble to explain the format. Test each rule live: submit empty, type two letters, type age 70. JavaScript validation in Week 9 adds custom messages and real-time feedback, and server validation in Week 10 is still mandatory.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readonly versus disabled is a favourite exam question: both block editing, but only readonly values reach the server, and disabled fields are also skipped by the Tab key. autocomplete tokens such as name, email, tel, street-address and new-password help password managers and save users time. Never use autofocus on more than one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bridge to CLO 3: examining user requirements and improving based on UX. aria-describedby makes a screen reader announce the hint after the label. Red asterisks alone fail people with colour blindness and screen-reader users. Ask students to critique the university admission form against these six points as homework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open a required field in DevTools, delete the required attribute, submit an empty form. The lesson: client-side checks improve experience, server-side checks provide security. XSS and SQL injection are covered when PHP and MySQL arrive in Weeks 10 and 11, and Laravel’s @csrf directive in Week 13 to 14. This is a key web engineering idea for CLO 1: the web’s open architecture means the server must defend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httpbin.org is a public request-inspection service that echoes back what it receives as JSON; check that it is reachable from the lab network beforehand, otherwise rely on the DevTools Network tab alone (the request is still visible even if the server returns an error). Tick Preserve log in the Network tab so the request survives the page navigation.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answer: POST with enctype multipart/form-data, because a file is uploaded and personal data should not appear in the URL; GET cannot send file contents. Students keep this file: in Week 10 they write register.php to process it, and in Week 11 they save it to MySQL. Marking guide: structure and fieldsets 2, correct controls 3, labels and accessibility 2, validation 1, method and enctype justified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Nothing; controls without name are not submitted. 2 (a) GET, (b) POST, (c) POST. 3 The same name attribute. 4 method="post" and enctype="multipart/form-data" (plus an input type file with a name). 5 readonly is sent; disabled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a two-minute module review and a revision map for Quiz 1 and the midterm. Every student’s web-lab1 folder is now a complete, valid, semantic multi-page site with a gallery, a timetable and a registration form, which is the raw material for CSS in Week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corresponds to Assignment 1 on the course card (Week 4). Fill in the due date and marks before presenting. The rubric weights are a suggested starting point; adjust them to your assessment plan. Students may reuse their lab files, which rewards consistent lab work. Remind them of the plagiarism policy: collaboration is fine, but each submission must be their own code, and media must be original or credited. CSS is not required; this site becomes the base for Assignment 2 styling.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HTML module by telling students that HTML structure is the foundation for everything that follows: CSS selects these elements, JavaScript manipulates this DOM, PHP receives these forms, and Laravel Blade generates this markup.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620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31901"/>
            <a:ext cx="10566400" cy="4013299"/>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620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31901"/>
            <a:ext cx="10566400" cy="4013299"/>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2.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2.xml"/><Relationship Id="rId5"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9E64"/>
                </a:solidFill>
                <a:latin typeface="IBM Plex Sans" pitchFamily="34" charset="0"/>
                <a:ea typeface="IBM Plex Sans" pitchFamily="34" charset="-122"/>
                <a:cs typeface="IBM Plex Sans" pitchFamily="34" charset="-120"/>
              </a:rPr>
              <a:t>CSC-312 WEB ENGINEERING · HTML MODULE</a:t>
            </a:r>
            <a:endParaRPr lang="en-US" sz="1400" dirty="0"/>
          </a:p>
        </p:txBody>
      </p:sp>
      <p:sp>
        <p:nvSpPr>
          <p:cNvPr id="3" name="Text 1"/>
          <p:cNvSpPr/>
          <p:nvPr/>
        </p:nvSpPr>
        <p:spPr>
          <a:xfrm>
            <a:off x="812800" y="121404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0C3"/>
                </a:solidFill>
                <a:latin typeface="IBM Plex Mono" pitchFamily="49" charset="0"/>
                <a:ea typeface="IBM Plex Mono" pitchFamily="49" charset="-122"/>
                <a:cs typeface="IBM Plex Mono" pitchFamily="49" charset="-120"/>
              </a:rPr>
              <a:t>Week 3 · Lecture 6 of 6</a:t>
            </a:r>
            <a:endParaRPr lang="en-US" sz="1600" dirty="0"/>
          </a:p>
        </p:txBody>
      </p:sp>
      <p:sp>
        <p:nvSpPr>
          <p:cNvPr id="4" name="Text 2"/>
          <p:cNvSpPr/>
          <p:nvPr>
            <p:ph type="title"/>
          </p:nvPr>
        </p:nvSpPr>
        <p:spPr>
          <a:xfrm>
            <a:off x="812800" y="258574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5F0"/>
                </a:solidFill>
                <a:latin typeface="IBM Plex Sans" pitchFamily="34" charset="0"/>
                <a:ea typeface="IBM Plex Sans" pitchFamily="34" charset="-122"/>
                <a:cs typeface="IBM Plex Sans" pitchFamily="34" charset="-120"/>
              </a:rPr>
              <a:t>HTML5 Forms,</a:t>
            </a:r>
            <a:endParaRPr lang="en-US" sz="6000" dirty="0"/>
          </a:p>
          <a:p>
            <a:pPr algn="l" indent="0" marL="0">
              <a:lnSpc>
                <a:spcPts val="6300"/>
              </a:lnSpc>
              <a:buNone/>
            </a:pPr>
            <a:r>
              <a:rPr lang="en-US" sz="6000" b="1" i="0" dirty="0">
                <a:solidFill>
                  <a:srgbClr val="F7F5F0"/>
                </a:solidFill>
                <a:latin typeface="IBM Plex Sans" pitchFamily="34" charset="0"/>
                <a:ea typeface="IBM Plex Sans" pitchFamily="34" charset="-122"/>
                <a:cs typeface="IBM Plex Sans" pitchFamily="34" charset="-120"/>
              </a:rPr>
              <a:t>GET &amp; POST</a:t>
            </a:r>
            <a:endParaRPr lang="en-US" sz="6000" dirty="0"/>
          </a:p>
        </p:txBody>
      </p:sp>
      <p:sp>
        <p:nvSpPr>
          <p:cNvPr id="5" name="Text 3"/>
          <p:cNvSpPr/>
          <p:nvPr/>
        </p:nvSpPr>
        <p:spPr>
          <a:xfrm>
            <a:off x="812800" y="438914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4E0"/>
                </a:solidFill>
                <a:latin typeface="IBM Plex Sans" pitchFamily="34" charset="0"/>
                <a:ea typeface="IBM Plex Sans" pitchFamily="34" charset="-122"/>
                <a:cs typeface="IBM Plex Sans" pitchFamily="34" charset="-120"/>
              </a:rPr>
              <a:t>Collecting user input and sending it to the server</a:t>
            </a:r>
            <a:endParaRPr lang="en-US" sz="1800" dirty="0"/>
          </a:p>
        </p:txBody>
      </p:sp>
      <p:sp>
        <p:nvSpPr>
          <p:cNvPr id="6" name="Text 4"/>
          <p:cNvSpPr/>
          <p:nvPr/>
        </p:nvSpPr>
        <p:spPr>
          <a:xfrm>
            <a:off x="812800" y="5796359"/>
            <a:ext cx="501360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4E0"/>
                </a:solidFill>
                <a:latin typeface="IBM Plex Sans" pitchFamily="34" charset="0"/>
                <a:ea typeface="IBM Plex Sans" pitchFamily="34" charset="-122"/>
                <a:cs typeface="IBM Plex Sans" pitchFamily="34" charset="-120"/>
              </a:rPr>
              <a:t>Dr. Faheem Shaukat · BSCS 6th Semester · Fall 2026</a:t>
            </a:r>
            <a:endParaRPr lang="en-US" sz="1400" dirty="0"/>
          </a:p>
        </p:txBody>
      </p:sp>
      <p:sp>
        <p:nvSpPr>
          <p:cNvPr id="7" name="Text 5"/>
          <p:cNvSpPr/>
          <p:nvPr/>
        </p:nvSpPr>
        <p:spPr>
          <a:xfrm>
            <a:off x="8818880" y="5796359"/>
            <a:ext cx="2560320" cy="27424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FF9E64"/>
                </a:solidFill>
                <a:latin typeface="IBM Plex Mono" pitchFamily="49" charset="0"/>
                <a:ea typeface="IBM Plex Mono" pitchFamily="49" charset="-122"/>
                <a:cs typeface="IBM Plex Mono" pitchFamily="49" charset="-120"/>
              </a:rPr>
              <a:t>&lt;form method="post"&gt;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TODAY’S 2-HOUR PLAN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Agenda</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01"/>
          <a:ext cx="10553700" cy="2476500"/>
        </p:xfrm>
        <a:graphic>
          <a:graphicData uri="http://schemas.openxmlformats.org/drawingml/2006/table">
            <a:tbl>
              <a:tblPr/>
              <a:tblGrid>
                <a:gridCol w="1899666"/>
                <a:gridCol w="3166110"/>
                <a:gridCol w="5487924"/>
              </a:tblGrid>
              <a:tr h="412750">
                <a:tc>
                  <a:txBody>
                    <a:bodyPr/>
                    <a:lstStyle/>
                    <a:p>
                      <a:pPr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Time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Segment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What we do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4127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0:00 – 0:10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Recap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Media and head metadata</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0:10 – 0:55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Part A · Theory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How forms work, GET vs POST, every form control</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0:55 – 1:05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9B9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9B9AE"/>
                      </a:solidFill>
                      <a:prstDash val="solid"/>
                      <a:round/>
                      <a:headEnd type="none" w="med" len="med"/>
                      <a:tailEnd type="none" w="med" len="med"/>
                    </a:lnB>
                    <a:solidFill>
                      <a:srgbClr val="FCE7DA"/>
                    </a:solidFill>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Break</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9B9AE"/>
                      </a:solidFill>
                      <a:prstDash val="solid"/>
                      <a:round/>
                      <a:headEnd type="none" w="med" len="med"/>
                      <a:tailEnd type="none" w="med" len="med"/>
                    </a:lnL>
                    <a:lnR w="12700" cap="flat" cmpd="sng" algn="ctr">
                      <a:solidFill>
                        <a:srgbClr val="C9B9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9B9AE"/>
                      </a:solidFill>
                      <a:prstDash val="solid"/>
                      <a:round/>
                      <a:headEnd type="none" w="med" len="med"/>
                      <a:tailEnd type="none" w="med" len="med"/>
                    </a:lnB>
                    <a:solidFill>
                      <a:srgbClr val="FCE7DA"/>
                    </a:solidFill>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10 minutes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9B9AE"/>
                      </a:solidFill>
                      <a:prstDash val="solid"/>
                      <a:round/>
                      <a:headEnd type="none" w="med" len="med"/>
                      <a:tailEnd type="none" w="med" len="med"/>
                    </a:lnL>
                    <a:lnR w="12700" cap="flat" cmpd="sng" algn="ctr">
                      <a:solidFill>
                        <a:srgbClr val="C9B9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9B9AE"/>
                      </a:solidFill>
                      <a:prstDash val="solid"/>
                      <a:round/>
                      <a:headEnd type="none" w="med" len="med"/>
                      <a:tailEnd type="none" w="med" len="med"/>
                    </a:lnB>
                    <a:solidFill>
                      <a:srgbClr val="FCE7DA"/>
                    </a:solidFill>
                  </a:tcPr>
                </a:tc>
              </a:tr>
              <a:tr h="4127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1:05 – 1:45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9B9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Part B · Hands-on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9B9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Validation, accessibility, security, registration form lab</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9B9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1:45 – 2:00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Wrap-up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Quick check, module review, Assignment 1 brief</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6 — HTML5 Forms, GET &amp; POST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LEARNING OUTCOMES · CLO 1, CLO 2, CLO 3</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By the end of today you can…</a:t>
            </a:r>
            <a:endParaRPr lang="en-US" sz="3200" dirty="0"/>
          </a:p>
        </p:txBody>
      </p:sp>
      <p:sp>
        <p:nvSpPr>
          <p:cNvPr id="4" name="Shape 2"/>
          <p:cNvSpPr/>
          <p:nvPr/>
        </p:nvSpPr>
        <p:spPr>
          <a:xfrm>
            <a:off x="815975" y="1984276"/>
            <a:ext cx="5200650" cy="1333500"/>
          </a:xfrm>
          <a:prstGeom prst="roundRect">
            <a:avLst>
              <a:gd name="adj" fmla="val 7381"/>
            </a:avLst>
          </a:prstGeom>
          <a:solidFill>
            <a:srgbClr val="FFFDF9"/>
          </a:solidFill>
          <a:ln w="6350">
            <a:solidFill>
              <a:srgbClr val="E4E0D8"/>
            </a:solidFill>
            <a:prstDash val="solid"/>
          </a:ln>
        </p:spPr>
      </p:sp>
      <p:sp>
        <p:nvSpPr>
          <p:cNvPr id="5" name="Text 3"/>
          <p:cNvSpPr/>
          <p:nvPr/>
        </p:nvSpPr>
        <p:spPr>
          <a:xfrm>
            <a:off x="1022350" y="2190651"/>
            <a:ext cx="493153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410C"/>
                </a:solidFill>
                <a:latin typeface="IBM Plex Sans" pitchFamily="34" charset="0"/>
                <a:ea typeface="IBM Plex Sans" pitchFamily="34" charset="-122"/>
                <a:cs typeface="IBM Plex Sans" pitchFamily="34" charset="-120"/>
              </a:rPr>
              <a:t>01</a:t>
            </a:r>
            <a:endParaRPr lang="en-US" sz="2000" dirty="0"/>
          </a:p>
        </p:txBody>
      </p:sp>
      <p:sp>
        <p:nvSpPr>
          <p:cNvPr id="6" name="Text 4"/>
          <p:cNvSpPr/>
          <p:nvPr/>
        </p:nvSpPr>
        <p:spPr>
          <a:xfrm>
            <a:off x="1022350" y="2597051"/>
            <a:ext cx="493153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A37"/>
                </a:solidFill>
                <a:latin typeface="IBM Plex Sans" pitchFamily="34" charset="0"/>
                <a:ea typeface="IBM Plex Sans" pitchFamily="34" charset="-122"/>
                <a:cs typeface="IBM Plex Sans" pitchFamily="34" charset="-120"/>
              </a:rPr>
              <a:t>Explain how form data travels to a server as name–value pairs</a:t>
            </a:r>
            <a:endParaRPr lang="en-US" sz="1500" dirty="0"/>
          </a:p>
        </p:txBody>
      </p:sp>
      <p:sp>
        <p:nvSpPr>
          <p:cNvPr id="7" name="Shape 5"/>
          <p:cNvSpPr/>
          <p:nvPr/>
        </p:nvSpPr>
        <p:spPr>
          <a:xfrm>
            <a:off x="6175375" y="1984276"/>
            <a:ext cx="5200650" cy="1333500"/>
          </a:xfrm>
          <a:prstGeom prst="roundRect">
            <a:avLst>
              <a:gd name="adj" fmla="val 7381"/>
            </a:avLst>
          </a:prstGeom>
          <a:solidFill>
            <a:srgbClr val="FFFDF9"/>
          </a:solidFill>
          <a:ln w="6350">
            <a:solidFill>
              <a:srgbClr val="E4E0D8"/>
            </a:solidFill>
            <a:prstDash val="solid"/>
          </a:ln>
        </p:spPr>
      </p:sp>
      <p:sp>
        <p:nvSpPr>
          <p:cNvPr id="8" name="Text 6"/>
          <p:cNvSpPr/>
          <p:nvPr/>
        </p:nvSpPr>
        <p:spPr>
          <a:xfrm>
            <a:off x="6381750" y="2190651"/>
            <a:ext cx="493153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410C"/>
                </a:solidFill>
                <a:latin typeface="IBM Plex Sans" pitchFamily="34" charset="0"/>
                <a:ea typeface="IBM Plex Sans" pitchFamily="34" charset="-122"/>
                <a:cs typeface="IBM Plex Sans" pitchFamily="34" charset="-120"/>
              </a:rPr>
              <a:t>02</a:t>
            </a:r>
            <a:endParaRPr lang="en-US" sz="2000" dirty="0"/>
          </a:p>
        </p:txBody>
      </p:sp>
      <p:sp>
        <p:nvSpPr>
          <p:cNvPr id="9" name="Text 7"/>
          <p:cNvSpPr/>
          <p:nvPr/>
        </p:nvSpPr>
        <p:spPr>
          <a:xfrm>
            <a:off x="6381750" y="2597051"/>
            <a:ext cx="493153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A37"/>
                </a:solidFill>
                <a:latin typeface="IBM Plex Sans" pitchFamily="34" charset="0"/>
                <a:ea typeface="IBM Plex Sans" pitchFamily="34" charset="-122"/>
                <a:cs typeface="IBM Plex Sans" pitchFamily="34" charset="-120"/>
              </a:rPr>
              <a:t>Choose correctly between GET and POST, and justify the choice</a:t>
            </a:r>
            <a:endParaRPr lang="en-US" sz="1500" dirty="0"/>
          </a:p>
        </p:txBody>
      </p:sp>
      <p:sp>
        <p:nvSpPr>
          <p:cNvPr id="10" name="Shape 8"/>
          <p:cNvSpPr/>
          <p:nvPr/>
        </p:nvSpPr>
        <p:spPr>
          <a:xfrm>
            <a:off x="815975" y="3476526"/>
            <a:ext cx="5200650" cy="1333500"/>
          </a:xfrm>
          <a:prstGeom prst="roundRect">
            <a:avLst>
              <a:gd name="adj" fmla="val 7381"/>
            </a:avLst>
          </a:prstGeom>
          <a:solidFill>
            <a:srgbClr val="FFFDF9"/>
          </a:solidFill>
          <a:ln w="6350">
            <a:solidFill>
              <a:srgbClr val="E4E0D8"/>
            </a:solidFill>
            <a:prstDash val="solid"/>
          </a:ln>
        </p:spPr>
      </p:sp>
      <p:sp>
        <p:nvSpPr>
          <p:cNvPr id="11" name="Text 9"/>
          <p:cNvSpPr/>
          <p:nvPr/>
        </p:nvSpPr>
        <p:spPr>
          <a:xfrm>
            <a:off x="1022350" y="3682901"/>
            <a:ext cx="493153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410C"/>
                </a:solidFill>
                <a:latin typeface="IBM Plex Sans" pitchFamily="34" charset="0"/>
                <a:ea typeface="IBM Plex Sans" pitchFamily="34" charset="-122"/>
                <a:cs typeface="IBM Plex Sans" pitchFamily="34" charset="-120"/>
              </a:rPr>
              <a:t>03</a:t>
            </a:r>
            <a:endParaRPr lang="en-US" sz="2000" dirty="0"/>
          </a:p>
        </p:txBody>
      </p:sp>
      <p:sp>
        <p:nvSpPr>
          <p:cNvPr id="12" name="Text 10"/>
          <p:cNvSpPr/>
          <p:nvPr/>
        </p:nvSpPr>
        <p:spPr>
          <a:xfrm>
            <a:off x="1022350" y="4089301"/>
            <a:ext cx="493153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A37"/>
                </a:solidFill>
                <a:latin typeface="IBM Plex Sans" pitchFamily="34" charset="0"/>
                <a:ea typeface="IBM Plex Sans" pitchFamily="34" charset="-122"/>
                <a:cs typeface="IBM Plex Sans" pitchFamily="34" charset="-120"/>
              </a:rPr>
              <a:t>Build forms with every major control, label and HTML5 input type</a:t>
            </a:r>
            <a:endParaRPr lang="en-US" sz="1500" dirty="0"/>
          </a:p>
        </p:txBody>
      </p:sp>
      <p:sp>
        <p:nvSpPr>
          <p:cNvPr id="13" name="Shape 11"/>
          <p:cNvSpPr/>
          <p:nvPr/>
        </p:nvSpPr>
        <p:spPr>
          <a:xfrm>
            <a:off x="6175375" y="3476526"/>
            <a:ext cx="5200650" cy="1333500"/>
          </a:xfrm>
          <a:prstGeom prst="roundRect">
            <a:avLst>
              <a:gd name="adj" fmla="val 7381"/>
            </a:avLst>
          </a:prstGeom>
          <a:solidFill>
            <a:srgbClr val="FFFDF9"/>
          </a:solidFill>
          <a:ln w="6350">
            <a:solidFill>
              <a:srgbClr val="E4E0D8"/>
            </a:solidFill>
            <a:prstDash val="solid"/>
          </a:ln>
        </p:spPr>
      </p:sp>
      <p:sp>
        <p:nvSpPr>
          <p:cNvPr id="14" name="Text 12"/>
          <p:cNvSpPr/>
          <p:nvPr/>
        </p:nvSpPr>
        <p:spPr>
          <a:xfrm>
            <a:off x="6381750" y="3682901"/>
            <a:ext cx="493153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410C"/>
                </a:solidFill>
                <a:latin typeface="IBM Plex Sans" pitchFamily="34" charset="0"/>
                <a:ea typeface="IBM Plex Sans" pitchFamily="34" charset="-122"/>
                <a:cs typeface="IBM Plex Sans" pitchFamily="34" charset="-120"/>
              </a:rPr>
              <a:t>04</a:t>
            </a:r>
            <a:endParaRPr lang="en-US" sz="2000" dirty="0"/>
          </a:p>
        </p:txBody>
      </p:sp>
      <p:sp>
        <p:nvSpPr>
          <p:cNvPr id="15" name="Text 13"/>
          <p:cNvSpPr/>
          <p:nvPr/>
        </p:nvSpPr>
        <p:spPr>
          <a:xfrm>
            <a:off x="6381750" y="4089301"/>
            <a:ext cx="493153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A37"/>
                </a:solidFill>
                <a:latin typeface="IBM Plex Sans" pitchFamily="34" charset="0"/>
                <a:ea typeface="IBM Plex Sans" pitchFamily="34" charset="-122"/>
                <a:cs typeface="IBM Plex Sans" pitchFamily="34" charset="-120"/>
              </a:rPr>
              <a:t>Add built-in validation and make forms accessible and safe</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6 — HTML5 Forms, GET &amp; POST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RECAP · 10 MIN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Media and metadata in five questions</a:t>
            </a:r>
            <a:endParaRPr lang="en-US" sz="3200" dirty="0"/>
          </a:p>
        </p:txBody>
      </p:sp>
      <p:sp>
        <p:nvSpPr>
          <p:cNvPr id="4" name="Text 2"/>
          <p:cNvSpPr/>
          <p:nvPr/>
        </p:nvSpPr>
        <p:spPr>
          <a:xfrm>
            <a:off x="812800" y="19811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2410C"/>
                </a:solidFill>
                <a:latin typeface="IBM Plex Sans" pitchFamily="34" charset="0"/>
                <a:ea typeface="IBM Plex Sans" pitchFamily="34" charset="-122"/>
                <a:cs typeface="IBM Plex Sans" pitchFamily="34" charset="-120"/>
              </a:rPr>
              <a:t>1.</a:t>
            </a:r>
            <a:r>
              <a:rPr lang="en-US" sz="1500" dirty="0">
                <a:solidFill>
                  <a:srgbClr val="1F2A37"/>
                </a:solidFill>
                <a:latin typeface="IBM Plex Sans" pitchFamily="34" charset="0"/>
                <a:ea typeface="IBM Plex Sans" pitchFamily="34" charset="-122"/>
                <a:cs typeface="IBM Plex Sans" pitchFamily="34" charset="-120"/>
              </a:rPr>
              <a:t> Why should img always have width and height?</a:t>
            </a:r>
            <a:endParaRPr lang="en-US" sz="1500" dirty="0"/>
          </a:p>
        </p:txBody>
      </p:sp>
      <p:sp>
        <p:nvSpPr>
          <p:cNvPr id="5" name="Text 3"/>
          <p:cNvSpPr/>
          <p:nvPr/>
        </p:nvSpPr>
        <p:spPr>
          <a:xfrm>
            <a:off x="812800" y="23748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2410C"/>
                </a:solidFill>
                <a:latin typeface="IBM Plex Sans" pitchFamily="34" charset="0"/>
                <a:ea typeface="IBM Plex Sans" pitchFamily="34" charset="-122"/>
                <a:cs typeface="IBM Plex Sans" pitchFamily="34" charset="-120"/>
              </a:rPr>
              <a:t>2.</a:t>
            </a:r>
            <a:r>
              <a:rPr lang="en-US" sz="1500" dirty="0">
                <a:solidFill>
                  <a:srgbClr val="1F2A37"/>
                </a:solidFill>
                <a:latin typeface="IBM Plex Sans" pitchFamily="34" charset="0"/>
                <a:ea typeface="IBM Plex Sans" pitchFamily="34" charset="-122"/>
                <a:cs typeface="IBM Plex Sans" pitchFamily="34" charset="-120"/>
              </a:rPr>
              <a:t> What is the difference between alt="" and no alt at all?</a:t>
            </a:r>
            <a:endParaRPr lang="en-US" sz="1500" dirty="0"/>
          </a:p>
        </p:txBody>
      </p:sp>
      <p:sp>
        <p:nvSpPr>
          <p:cNvPr id="6" name="Text 4"/>
          <p:cNvSpPr/>
          <p:nvPr/>
        </p:nvSpPr>
        <p:spPr>
          <a:xfrm>
            <a:off x="812800" y="27685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2410C"/>
                </a:solidFill>
                <a:latin typeface="IBM Plex Sans" pitchFamily="34" charset="0"/>
                <a:ea typeface="IBM Plex Sans" pitchFamily="34" charset="-122"/>
                <a:cs typeface="IBM Plex Sans" pitchFamily="34" charset="-120"/>
              </a:rPr>
              <a:t>3.</a:t>
            </a:r>
            <a:r>
              <a:rPr lang="en-US" sz="1500" dirty="0">
                <a:solidFill>
                  <a:srgbClr val="1F2A37"/>
                </a:solidFill>
                <a:latin typeface="IBM Plex Sans" pitchFamily="34" charset="0"/>
                <a:ea typeface="IBM Plex Sans" pitchFamily="34" charset="-122"/>
                <a:cs typeface="IBM Plex Sans" pitchFamily="34" charset="-120"/>
              </a:rPr>
              <a:t> Which attribute is required on every iframe for accessibility?</a:t>
            </a:r>
            <a:endParaRPr lang="en-US" sz="1500" dirty="0"/>
          </a:p>
        </p:txBody>
      </p:sp>
      <p:sp>
        <p:nvSpPr>
          <p:cNvPr id="7" name="Text 5"/>
          <p:cNvSpPr/>
          <p:nvPr/>
        </p:nvSpPr>
        <p:spPr>
          <a:xfrm>
            <a:off x="812800" y="31622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2410C"/>
                </a:solidFill>
                <a:latin typeface="IBM Plex Sans" pitchFamily="34" charset="0"/>
                <a:ea typeface="IBM Plex Sans" pitchFamily="34" charset="-122"/>
                <a:cs typeface="IBM Plex Sans" pitchFamily="34" charset="-120"/>
              </a:rPr>
              <a:t>4.</a:t>
            </a:r>
            <a:r>
              <a:rPr lang="en-US" sz="1500" dirty="0">
                <a:solidFill>
                  <a:srgbClr val="1F2A37"/>
                </a:solidFill>
                <a:latin typeface="IBM Plex Sans" pitchFamily="34" charset="0"/>
                <a:ea typeface="IBM Plex Sans" pitchFamily="34" charset="-122"/>
                <a:cs typeface="IBM Plex Sans" pitchFamily="34" charset="-120"/>
              </a:rPr>
              <a:t> Name two HTTP request methods from Week 2.</a:t>
            </a:r>
            <a:endParaRPr lang="en-US" sz="1500" dirty="0"/>
          </a:p>
        </p:txBody>
      </p:sp>
      <p:sp>
        <p:nvSpPr>
          <p:cNvPr id="8" name="Text 6"/>
          <p:cNvSpPr/>
          <p:nvPr/>
        </p:nvSpPr>
        <p:spPr>
          <a:xfrm>
            <a:off x="812800" y="35559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2410C"/>
                </a:solidFill>
                <a:latin typeface="IBM Plex Sans" pitchFamily="34" charset="0"/>
                <a:ea typeface="IBM Plex Sans" pitchFamily="34" charset="-122"/>
                <a:cs typeface="IBM Plex Sans" pitchFamily="34" charset="-120"/>
              </a:rPr>
              <a:t>5.</a:t>
            </a:r>
            <a:r>
              <a:rPr lang="en-US" sz="1500" dirty="0">
                <a:solidFill>
                  <a:srgbClr val="1F2A37"/>
                </a:solidFill>
                <a:latin typeface="IBM Plex Sans" pitchFamily="34" charset="0"/>
                <a:ea typeface="IBM Plex Sans" pitchFamily="34" charset="-122"/>
                <a:cs typeface="IBM Plex Sans" pitchFamily="34" charset="-120"/>
              </a:rPr>
              <a:t> Where in a URL does a query string start?</a:t>
            </a:r>
            <a:endParaRPr lang="en-US" sz="15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6 — HTML5 Forms, GET &amp; POST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CONCEPTS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How a form works, end to end</a:t>
            </a:r>
            <a:endParaRPr lang="en-US" sz="3200" dirty="0"/>
          </a:p>
        </p:txBody>
      </p:sp>
      <p:sp>
        <p:nvSpPr>
          <p:cNvPr id="4" name="Shape 2"/>
          <p:cNvSpPr/>
          <p:nvPr/>
        </p:nvSpPr>
        <p:spPr>
          <a:xfrm>
            <a:off x="812800" y="1987451"/>
            <a:ext cx="2209800" cy="1351161"/>
          </a:xfrm>
          <a:prstGeom prst="roundRect">
            <a:avLst>
              <a:gd name="adj" fmla="val 7519"/>
            </a:avLst>
          </a:prstGeom>
          <a:solidFill>
            <a:srgbClr val="16202E"/>
          </a:solidFill>
          <a:ln/>
        </p:spPr>
      </p:sp>
      <p:sp>
        <p:nvSpPr>
          <p:cNvPr id="5" name="Text 3"/>
          <p:cNvSpPr/>
          <p:nvPr/>
        </p:nvSpPr>
        <p:spPr>
          <a:xfrm>
            <a:off x="990600" y="2165251"/>
            <a:ext cx="190982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9E64"/>
                </a:solidFill>
                <a:latin typeface="IBM Plex Sans" pitchFamily="34" charset="0"/>
                <a:ea typeface="IBM Plex Sans" pitchFamily="34" charset="-122"/>
                <a:cs typeface="IBM Plex Sans" pitchFamily="34" charset="-120"/>
              </a:rPr>
              <a:t>1 · BROWSER</a:t>
            </a:r>
            <a:endParaRPr lang="en-US" sz="1200" dirty="0"/>
          </a:p>
        </p:txBody>
      </p:sp>
      <p:sp>
        <p:nvSpPr>
          <p:cNvPr id="6" name="Text 4"/>
          <p:cNvSpPr/>
          <p:nvPr/>
        </p:nvSpPr>
        <p:spPr>
          <a:xfrm>
            <a:off x="990600" y="2442071"/>
            <a:ext cx="20320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7F5F0"/>
                </a:solidFill>
                <a:latin typeface="IBM Plex Sans" pitchFamily="34" charset="0"/>
                <a:ea typeface="IBM Plex Sans" pitchFamily="34" charset="-122"/>
                <a:cs typeface="IBM Plex Sans" pitchFamily="34" charset="-120"/>
              </a:rPr>
              <a:t>User fills in the form</a:t>
            </a:r>
            <a:endParaRPr lang="en-US" sz="1500" dirty="0"/>
          </a:p>
        </p:txBody>
      </p:sp>
      <p:sp>
        <p:nvSpPr>
          <p:cNvPr id="7" name="Text 5"/>
          <p:cNvSpPr/>
          <p:nvPr/>
        </p:nvSpPr>
        <p:spPr>
          <a:xfrm>
            <a:off x="990600" y="2734171"/>
            <a:ext cx="19098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4E0"/>
                </a:solidFill>
                <a:latin typeface="IBM Plex Sans" pitchFamily="34" charset="0"/>
                <a:ea typeface="IBM Plex Sans" pitchFamily="34" charset="-122"/>
                <a:cs typeface="IBM Plex Sans" pitchFamily="34" charset="-120"/>
              </a:rPr>
              <a:t>HTML controls, built-in validation</a:t>
            </a:r>
            <a:endParaRPr lang="en-US" sz="1200" dirty="0"/>
          </a:p>
        </p:txBody>
      </p:sp>
      <p:pic>
        <p:nvPicPr>
          <p:cNvPr id="8" name="Image 0" descr="arrow-right">    </p:cNvPr>
          <p:cNvPicPr>
            <a:picLocks noChangeAspect="1"/>
          </p:cNvPicPr>
          <p:nvPr/>
        </p:nvPicPr>
        <p:blipFill>
          <a:blip r:embed="rId1"/>
          <a:srcRect l="0" r="0" t="0" b="0"/>
          <a:stretch/>
        </p:blipFill>
        <p:spPr>
          <a:xfrm>
            <a:off x="3124200" y="2574131"/>
            <a:ext cx="355600" cy="177800"/>
          </a:xfrm>
          <a:prstGeom prst="rect">
            <a:avLst/>
          </a:prstGeom>
        </p:spPr>
      </p:pic>
      <p:sp>
        <p:nvSpPr>
          <p:cNvPr id="9" name="Shape 6"/>
          <p:cNvSpPr/>
          <p:nvPr/>
        </p:nvSpPr>
        <p:spPr>
          <a:xfrm>
            <a:off x="3587750" y="2087761"/>
            <a:ext cx="2222500" cy="1150541"/>
          </a:xfrm>
          <a:prstGeom prst="roundRect">
            <a:avLst>
              <a:gd name="adj" fmla="val 8279"/>
            </a:avLst>
          </a:prstGeom>
          <a:solidFill>
            <a:srgbClr val="FFFDF9"/>
          </a:solidFill>
          <a:ln w="12700">
            <a:solidFill>
              <a:srgbClr val="C2410C"/>
            </a:solidFill>
            <a:prstDash val="solid"/>
          </a:ln>
        </p:spPr>
      </p:sp>
      <p:sp>
        <p:nvSpPr>
          <p:cNvPr id="10" name="Text 7"/>
          <p:cNvSpPr/>
          <p:nvPr/>
        </p:nvSpPr>
        <p:spPr>
          <a:xfrm>
            <a:off x="3771900" y="2271911"/>
            <a:ext cx="190982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BM Plex Sans" pitchFamily="34" charset="0"/>
                <a:ea typeface="IBM Plex Sans" pitchFamily="34" charset="-122"/>
                <a:cs typeface="IBM Plex Sans" pitchFamily="34" charset="-120"/>
              </a:rPr>
              <a:t>2 · HTTP REQUEST</a:t>
            </a:r>
            <a:endParaRPr lang="en-US" sz="1200" dirty="0"/>
          </a:p>
        </p:txBody>
      </p:sp>
      <p:sp>
        <p:nvSpPr>
          <p:cNvPr id="11" name="Text 8"/>
          <p:cNvSpPr/>
          <p:nvPr/>
        </p:nvSpPr>
        <p:spPr>
          <a:xfrm>
            <a:off x="3771900" y="2548731"/>
            <a:ext cx="190982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GET or POST</a:t>
            </a:r>
            <a:endParaRPr lang="en-US" sz="1500" dirty="0"/>
          </a:p>
        </p:txBody>
      </p:sp>
      <p:sp>
        <p:nvSpPr>
          <p:cNvPr id="12" name="Text 9"/>
          <p:cNvSpPr/>
          <p:nvPr/>
        </p:nvSpPr>
        <p:spPr>
          <a:xfrm>
            <a:off x="3771900" y="2840831"/>
            <a:ext cx="1909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IBM Plex Mono" pitchFamily="49" charset="0"/>
                <a:ea typeface="IBM Plex Mono" pitchFamily="49" charset="-122"/>
                <a:cs typeface="IBM Plex Mono" pitchFamily="49" charset="-120"/>
              </a:rPr>
              <a:t>name=Ali&amp;course=web</a:t>
            </a:r>
            <a:endParaRPr lang="en-US" sz="1200" dirty="0"/>
          </a:p>
        </p:txBody>
      </p:sp>
      <p:pic>
        <p:nvPicPr>
          <p:cNvPr id="13" name="Image 1" descr="arrow-right">    </p:cNvPr>
          <p:cNvPicPr>
            <a:picLocks noChangeAspect="1"/>
          </p:cNvPicPr>
          <p:nvPr/>
        </p:nvPicPr>
        <p:blipFill>
          <a:blip r:embed="rId2"/>
          <a:srcRect l="0" r="0" t="0" b="0"/>
          <a:stretch/>
        </p:blipFill>
        <p:spPr>
          <a:xfrm>
            <a:off x="5918200" y="2574131"/>
            <a:ext cx="355600" cy="177800"/>
          </a:xfrm>
          <a:prstGeom prst="rect">
            <a:avLst/>
          </a:prstGeom>
        </p:spPr>
      </p:pic>
      <p:sp>
        <p:nvSpPr>
          <p:cNvPr id="14" name="Shape 10"/>
          <p:cNvSpPr/>
          <p:nvPr/>
        </p:nvSpPr>
        <p:spPr>
          <a:xfrm>
            <a:off x="6378575" y="1984276"/>
            <a:ext cx="2216150" cy="1357511"/>
          </a:xfrm>
          <a:prstGeom prst="roundRect">
            <a:avLst>
              <a:gd name="adj" fmla="val 7250"/>
            </a:avLst>
          </a:prstGeom>
          <a:solidFill>
            <a:srgbClr val="FFFDF9"/>
          </a:solidFill>
          <a:ln w="6350">
            <a:solidFill>
              <a:srgbClr val="E4E0D8"/>
            </a:solidFill>
            <a:prstDash val="solid"/>
          </a:ln>
        </p:spPr>
      </p:sp>
      <p:sp>
        <p:nvSpPr>
          <p:cNvPr id="15" name="Text 11"/>
          <p:cNvSpPr/>
          <p:nvPr/>
        </p:nvSpPr>
        <p:spPr>
          <a:xfrm>
            <a:off x="6559550" y="2165251"/>
            <a:ext cx="190982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4ED8"/>
                </a:solidFill>
                <a:latin typeface="IBM Plex Sans" pitchFamily="34" charset="0"/>
                <a:ea typeface="IBM Plex Sans" pitchFamily="34" charset="-122"/>
                <a:cs typeface="IBM Plex Sans" pitchFamily="34" charset="-120"/>
              </a:rPr>
              <a:t>3 · SERVER</a:t>
            </a:r>
            <a:endParaRPr lang="en-US" sz="1200" dirty="0"/>
          </a:p>
        </p:txBody>
      </p:sp>
      <p:sp>
        <p:nvSpPr>
          <p:cNvPr id="16" name="Text 12"/>
          <p:cNvSpPr/>
          <p:nvPr/>
        </p:nvSpPr>
        <p:spPr>
          <a:xfrm>
            <a:off x="6559550" y="2442071"/>
            <a:ext cx="190982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Script processes it</a:t>
            </a:r>
            <a:endParaRPr lang="en-US" sz="1500" dirty="0"/>
          </a:p>
        </p:txBody>
      </p:sp>
      <p:sp>
        <p:nvSpPr>
          <p:cNvPr id="17" name="Text 13"/>
          <p:cNvSpPr/>
          <p:nvPr/>
        </p:nvSpPr>
        <p:spPr>
          <a:xfrm>
            <a:off x="6559550" y="2734171"/>
            <a:ext cx="19098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IBM Plex Sans" pitchFamily="34" charset="0"/>
                <a:ea typeface="IBM Plex Sans" pitchFamily="34" charset="-122"/>
                <a:cs typeface="IBM Plex Sans" pitchFamily="34" charset="-120"/>
              </a:rPr>
              <a:t>PHP: validate, save to MySQL (Weeks 10–11)</a:t>
            </a:r>
            <a:endParaRPr lang="en-US" sz="1200" dirty="0"/>
          </a:p>
        </p:txBody>
      </p:sp>
      <p:pic>
        <p:nvPicPr>
          <p:cNvPr id="18" name="Image 2" descr="arrow-right">    </p:cNvPr>
          <p:cNvPicPr>
            <a:picLocks noChangeAspect="1"/>
          </p:cNvPicPr>
          <p:nvPr/>
        </p:nvPicPr>
        <p:blipFill>
          <a:blip r:embed="rId3"/>
          <a:srcRect l="0" r="0" t="0" b="0"/>
          <a:stretch/>
        </p:blipFill>
        <p:spPr>
          <a:xfrm>
            <a:off x="8699500" y="2574131"/>
            <a:ext cx="355600" cy="177800"/>
          </a:xfrm>
          <a:prstGeom prst="rect">
            <a:avLst/>
          </a:prstGeom>
        </p:spPr>
      </p:pic>
      <p:sp>
        <p:nvSpPr>
          <p:cNvPr id="19" name="Shape 14"/>
          <p:cNvSpPr/>
          <p:nvPr/>
        </p:nvSpPr>
        <p:spPr>
          <a:xfrm>
            <a:off x="9159875" y="1984276"/>
            <a:ext cx="2216150" cy="1357511"/>
          </a:xfrm>
          <a:prstGeom prst="roundRect">
            <a:avLst>
              <a:gd name="adj" fmla="val 7250"/>
            </a:avLst>
          </a:prstGeom>
          <a:solidFill>
            <a:srgbClr val="FFFDF9"/>
          </a:solidFill>
          <a:ln w="6350">
            <a:solidFill>
              <a:srgbClr val="E4E0D8"/>
            </a:solidFill>
            <a:prstDash val="solid"/>
          </a:ln>
        </p:spPr>
      </p:sp>
      <p:sp>
        <p:nvSpPr>
          <p:cNvPr id="20" name="Text 15"/>
          <p:cNvSpPr/>
          <p:nvPr/>
        </p:nvSpPr>
        <p:spPr>
          <a:xfrm>
            <a:off x="9340850" y="2165251"/>
            <a:ext cx="190982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4ED8"/>
                </a:solidFill>
                <a:latin typeface="IBM Plex Sans" pitchFamily="34" charset="0"/>
                <a:ea typeface="IBM Plex Sans" pitchFamily="34" charset="-122"/>
                <a:cs typeface="IBM Plex Sans" pitchFamily="34" charset="-120"/>
              </a:rPr>
              <a:t>4 · RESPONSE</a:t>
            </a:r>
            <a:endParaRPr lang="en-US" sz="1200" dirty="0"/>
          </a:p>
        </p:txBody>
      </p:sp>
      <p:sp>
        <p:nvSpPr>
          <p:cNvPr id="21" name="Text 16"/>
          <p:cNvSpPr/>
          <p:nvPr/>
        </p:nvSpPr>
        <p:spPr>
          <a:xfrm>
            <a:off x="9340850" y="2442071"/>
            <a:ext cx="190982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New HTML page</a:t>
            </a:r>
            <a:endParaRPr lang="en-US" sz="1500" dirty="0"/>
          </a:p>
        </p:txBody>
      </p:sp>
      <p:sp>
        <p:nvSpPr>
          <p:cNvPr id="22" name="Text 17"/>
          <p:cNvSpPr/>
          <p:nvPr/>
        </p:nvSpPr>
        <p:spPr>
          <a:xfrm>
            <a:off x="9340850" y="2734171"/>
            <a:ext cx="19098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IBM Plex Sans" pitchFamily="34" charset="0"/>
                <a:ea typeface="IBM Plex Sans" pitchFamily="34" charset="-122"/>
                <a:cs typeface="IBM Plex Sans" pitchFamily="34" charset="-120"/>
              </a:rPr>
              <a:t>“Thank you, Ali — registration received”</a:t>
            </a:r>
            <a:endParaRPr lang="en-US" sz="1200" dirty="0"/>
          </a:p>
        </p:txBody>
      </p:sp>
      <p:sp>
        <p:nvSpPr>
          <p:cNvPr id="23" name="Text 18"/>
          <p:cNvSpPr/>
          <p:nvPr/>
        </p:nvSpPr>
        <p:spPr>
          <a:xfrm>
            <a:off x="812800" y="359896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HTML builds the form.</a:t>
            </a:r>
            <a:r>
              <a:rPr lang="en-US" sz="1500" dirty="0">
                <a:solidFill>
                  <a:srgbClr val="1F2A37"/>
                </a:solidFill>
                <a:latin typeface="IBM Plex Sans" pitchFamily="34" charset="0"/>
                <a:ea typeface="IBM Plex Sans" pitchFamily="34" charset="-122"/>
                <a:cs typeface="IBM Plex Sans" pitchFamily="34" charset="-120"/>
              </a:rPr>
              <a:t> It cannot process data by itself — a server-side program must receive it.</a:t>
            </a:r>
            <a:endParaRPr lang="en-US" sz="1500" dirty="0"/>
          </a:p>
        </p:txBody>
      </p:sp>
      <p:sp>
        <p:nvSpPr>
          <p:cNvPr id="24"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6 — HTML5 Forms, GET &amp; POST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THE FORM ELEMENT</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form: where and how to send the data</a:t>
            </a:r>
            <a:endParaRPr lang="en-US" sz="3200" dirty="0"/>
          </a:p>
        </p:txBody>
      </p:sp>
      <p:sp>
        <p:nvSpPr>
          <p:cNvPr id="4" name="Text 2"/>
          <p:cNvSpPr/>
          <p:nvPr/>
        </p:nvSpPr>
        <p:spPr>
          <a:xfrm>
            <a:off x="812800" y="1981101"/>
            <a:ext cx="5842000" cy="1941711"/>
          </a:xfrm>
          <a:prstGeom prst="roundRect">
            <a:avLst>
              <a:gd name="adj" fmla="val 5232"/>
            </a:avLst>
          </a:prstGeom>
          <a:solidFill>
            <a:srgbClr val="1B2430"/>
          </a:solidFill>
          <a:ln/>
        </p:spPr>
        <p:txBody>
          <a:bodyPr wrap="square" lIns="224242" tIns="173442" rIns="64222" bIns="148042" rtlCol="0" anchor="t">
            <a:normAutofit/>
          </a:bodyPr>
          <a:lstStyle/>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&lt;form</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action</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"register.php"</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method</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"post"</a:t>
            </a:r>
            <a:r>
              <a:rPr lang="en-US" sz="1300" dirty="0">
                <a:solidFill>
                  <a:srgbClr val="FF9E64"/>
                </a:solidFill>
                <a:latin typeface="IBM Plex Mono" pitchFamily="49" charset="0"/>
                <a:ea typeface="IBM Plex Mono" pitchFamily="49" charset="-122"/>
                <a:cs typeface="IBM Plex Mono" pitchFamily="49" charset="-120"/>
              </a:rPr>
              <a:t>&gt;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&lt;label</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for</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"email"</a:t>
            </a:r>
            <a:r>
              <a:rPr lang="en-US" sz="1300" dirty="0">
                <a:solidFill>
                  <a:srgbClr val="FF9E64"/>
                </a:solidFill>
                <a:latin typeface="IBM Plex Mono" pitchFamily="49" charset="0"/>
                <a:ea typeface="IBM Plex Mono" pitchFamily="49" charset="-122"/>
                <a:cs typeface="IBM Plex Mono" pitchFamily="49" charset="-120"/>
              </a:rPr>
              <a:t>&gt;</a:t>
            </a:r>
            <a:r>
              <a:rPr lang="en-US" sz="1300" dirty="0">
                <a:solidFill>
                  <a:srgbClr val="E6EDF3"/>
                </a:solidFill>
                <a:latin typeface="IBM Plex Mono" pitchFamily="49" charset="0"/>
                <a:ea typeface="IBM Plex Mono" pitchFamily="49" charset="-122"/>
                <a:cs typeface="IBM Plex Mono" pitchFamily="49" charset="-120"/>
              </a:rPr>
              <a:t>Email</a:t>
            </a:r>
            <a:r>
              <a:rPr lang="en-US" sz="1300" dirty="0">
                <a:solidFill>
                  <a:srgbClr val="FF9E64"/>
                </a:solidFill>
                <a:latin typeface="IBM Plex Mono" pitchFamily="49" charset="0"/>
                <a:ea typeface="IBM Plex Mono" pitchFamily="49" charset="-122"/>
                <a:cs typeface="IBM Plex Mono" pitchFamily="49" charset="-120"/>
              </a:rPr>
              <a:t>&lt;/label&gt;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&lt;input</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type</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"email"</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id</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"email"</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name</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"email"</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required</a:t>
            </a:r>
            <a:r>
              <a:rPr lang="en-US" sz="1300" dirty="0">
                <a:solidFill>
                  <a:srgbClr val="FF9E64"/>
                </a:solidFill>
                <a:latin typeface="IBM Plex Mono" pitchFamily="49" charset="0"/>
                <a:ea typeface="IBM Plex Mono" pitchFamily="49" charset="-122"/>
                <a:cs typeface="IBM Plex Mono" pitchFamily="49" charset="-120"/>
              </a:rPr>
              <a:t>&gt;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&lt;button</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type</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"submit"</a:t>
            </a:r>
            <a:r>
              <a:rPr lang="en-US" sz="1300" dirty="0">
                <a:solidFill>
                  <a:srgbClr val="FF9E64"/>
                </a:solidFill>
                <a:latin typeface="IBM Plex Mono" pitchFamily="49" charset="0"/>
                <a:ea typeface="IBM Plex Mono" pitchFamily="49" charset="-122"/>
                <a:cs typeface="IBM Plex Mono" pitchFamily="49" charset="-120"/>
              </a:rPr>
              <a:t>&gt;</a:t>
            </a:r>
            <a:r>
              <a:rPr lang="en-US" sz="1300" dirty="0">
                <a:solidFill>
                  <a:srgbClr val="E6EDF3"/>
                </a:solidFill>
                <a:latin typeface="IBM Plex Mono" pitchFamily="49" charset="0"/>
                <a:ea typeface="IBM Plex Mono" pitchFamily="49" charset="-122"/>
                <a:cs typeface="IBM Plex Mono" pitchFamily="49" charset="-120"/>
              </a:rPr>
              <a:t>Register</a:t>
            </a:r>
            <a:r>
              <a:rPr lang="en-US" sz="1300" dirty="0">
                <a:solidFill>
                  <a:srgbClr val="FF9E64"/>
                </a:solidFill>
                <a:latin typeface="IBM Plex Mono" pitchFamily="49" charset="0"/>
                <a:ea typeface="IBM Plex Mono" pitchFamily="49" charset="-122"/>
                <a:cs typeface="IBM Plex Mono" pitchFamily="49" charset="-120"/>
              </a:rPr>
              <a:t>&lt;/button&gt;</a:t>
            </a: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&lt;/form&gt;</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921500" y="1993801"/>
          <a:ext cx="4457700" cy="2617788"/>
        </p:xfrm>
        <a:graphic>
          <a:graphicData uri="http://schemas.openxmlformats.org/drawingml/2006/table">
            <a:tbl>
              <a:tblPr/>
              <a:tblGrid>
                <a:gridCol w="1604772"/>
                <a:gridCol w="2852928"/>
              </a:tblGrid>
              <a:tr h="359271">
                <a:tc>
                  <a:txBody>
                    <a:bodyPr/>
                    <a:lstStyle/>
                    <a:p>
                      <a:pPr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Attribute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Meaning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590352">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action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URL of the program that receives the data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method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get (default) or post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590352">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enctype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How data is encoded; needed for files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autocomplete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on / off for the whole form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novalidate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Skip built-in validation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6" name="Text 3"/>
          <p:cNvSpPr/>
          <p:nvPr/>
        </p:nvSpPr>
        <p:spPr>
          <a:xfrm>
            <a:off x="812800" y="4865588"/>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467"/>
                </a:solidFill>
                <a:latin typeface="IBM Plex Sans" pitchFamily="34" charset="0"/>
                <a:ea typeface="IBM Plex Sans" pitchFamily="34" charset="-122"/>
                <a:cs typeface="IBM Plex Sans" pitchFamily="34" charset="-120"/>
              </a:rPr>
              <a:t>No action? The form submits to the </a:t>
            </a:r>
            <a:r>
              <a:rPr lang="en-US" sz="1400" b="1" dirty="0">
                <a:solidFill>
                  <a:srgbClr val="475467"/>
                </a:solidFill>
                <a:latin typeface="IBM Plex Sans" pitchFamily="34" charset="0"/>
                <a:ea typeface="IBM Plex Sans" pitchFamily="34" charset="-122"/>
                <a:cs typeface="IBM Plex Sans" pitchFamily="34" charset="-120"/>
              </a:rPr>
              <a:t>current page</a:t>
            </a:r>
            <a:r>
              <a:rPr lang="en-US" sz="1400" dirty="0">
                <a:solidFill>
                  <a:srgbClr val="475467"/>
                </a:solidFill>
                <a:latin typeface="IBM Plex Sans" pitchFamily="34" charset="0"/>
                <a:ea typeface="IBM Plex Sans" pitchFamily="34" charset="-122"/>
                <a:cs typeface="IBM Plex Sans" pitchFamily="34" charset="-120"/>
              </a:rPr>
              <a:t>. Forms can’t be nested inside other forms.</a:t>
            </a:r>
            <a:endParaRPr lang="en-US" sz="14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6 — HTML5 Forms, GET &amp; POST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CONCEPTS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Every control sends a name = value pair</a:t>
            </a:r>
            <a:endParaRPr lang="en-US" sz="3200" dirty="0"/>
          </a:p>
        </p:txBody>
      </p:sp>
      <p:sp>
        <p:nvSpPr>
          <p:cNvPr id="4" name="Text 2"/>
          <p:cNvSpPr/>
          <p:nvPr/>
        </p:nvSpPr>
        <p:spPr>
          <a:xfrm>
            <a:off x="812800" y="1981101"/>
            <a:ext cx="5130800" cy="1818283"/>
          </a:xfrm>
          <a:prstGeom prst="roundRect">
            <a:avLst>
              <a:gd name="adj" fmla="val 5588"/>
            </a:avLst>
          </a:prstGeom>
          <a:solidFill>
            <a:srgbClr val="1B2430"/>
          </a:solidFill>
          <a:ln/>
        </p:spPr>
        <p:txBody>
          <a:bodyPr wrap="square" lIns="198842" tIns="148042" rIns="58634" bIns="122642" rtlCol="0" anchor="t">
            <a:normAutofit/>
          </a:bodyPr>
          <a:lstStyle/>
          <a:p>
            <a:pPr algn="l" indent="0" marL="0">
              <a:lnSpc>
                <a:spcPts val="1920"/>
              </a:lnSpc>
              <a:buNone/>
            </a:pPr>
            <a:r>
              <a:rPr lang="en-US" sz="1200" dirty="0">
                <a:solidFill>
                  <a:srgbClr val="FF9E64"/>
                </a:solidFill>
                <a:latin typeface="IBM Plex Mono" pitchFamily="49" charset="0"/>
                <a:ea typeface="IBM Plex Mono" pitchFamily="49" charset="-122"/>
                <a:cs typeface="IBM Plex Mono" pitchFamily="49" charset="-120"/>
              </a:rPr>
              <a:t>&lt;input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name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"fullname"</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920"/>
              </a:lnSpc>
              <a:buNone/>
            </a:pPr>
            <a:r>
              <a:rPr lang="en-US" sz="1200" dirty="0">
                <a:solidFill>
                  <a:srgbClr val="8B98A9"/>
                </a:solidFill>
                <a:latin typeface="IBM Plex Mono" pitchFamily="49" charset="0"/>
                <a:ea typeface="IBM Plex Mono" pitchFamily="49" charset="-122"/>
                <a:cs typeface="IBM Plex Mono" pitchFamily="49" charset="-120"/>
              </a:rPr>
              <a:t>user types: Ali Khan</a:t>
            </a:r>
            <a:endParaRPr lang="en-US" sz="1200" dirty="0"/>
          </a:p>
          <a:p>
            <a:pPr algn="l" indent="0" marL="0">
              <a:lnSpc>
                <a:spcPts val="1920"/>
              </a:lnSpc>
              <a:buNone/>
            </a:pPr>
            <a:r>
              <a:rPr lang="en-US" sz="1200" dirty="0">
                <a:solidFill>
                  <a:srgbClr val="FF9E64"/>
                </a:solidFill>
                <a:latin typeface="IBM Plex Mono" pitchFamily="49" charset="0"/>
                <a:ea typeface="IBM Plex Mono" pitchFamily="49" charset="-122"/>
                <a:cs typeface="IBM Plex Mono" pitchFamily="49" charset="-120"/>
              </a:rPr>
              <a:t>&lt;input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name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"email"</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920"/>
              </a:lnSpc>
              <a:buNone/>
            </a:pPr>
            <a:r>
              <a:rPr lang="en-US" sz="1200" dirty="0">
                <a:solidFill>
                  <a:srgbClr val="8B98A9"/>
                </a:solidFill>
                <a:latin typeface="IBM Plex Mono" pitchFamily="49" charset="0"/>
                <a:ea typeface="IBM Plex Mono" pitchFamily="49" charset="-122"/>
                <a:cs typeface="IBM Plex Mono" pitchFamily="49" charset="-120"/>
              </a:rPr>
              <a:t>user types: ali@mail.com</a:t>
            </a:r>
            <a:endParaRPr lang="en-US" sz="1200" dirty="0"/>
          </a:p>
          <a:p>
            <a:pPr algn="l" indent="0" marL="0">
              <a:lnSpc>
                <a:spcPts val="1920"/>
              </a:lnSpc>
              <a:buNone/>
            </a:pPr>
            <a:r>
              <a:rPr lang="en-US" sz="1200" dirty="0">
                <a:solidFill>
                  <a:srgbClr val="FF9E64"/>
                </a:solidFill>
                <a:latin typeface="IBM Plex Mono" pitchFamily="49" charset="0"/>
                <a:ea typeface="IBM Plex Mono" pitchFamily="49" charset="-122"/>
                <a:cs typeface="IBM Plex Mono" pitchFamily="49" charset="-120"/>
              </a:rPr>
              <a:t>&lt;select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name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"course"</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920"/>
              </a:lnSpc>
              <a:buNone/>
            </a:pPr>
            <a:r>
              <a:rPr lang="en-US" sz="1200" dirty="0">
                <a:solidFill>
                  <a:srgbClr val="8B98A9"/>
                </a:solidFill>
                <a:latin typeface="IBM Plex Mono" pitchFamily="49" charset="0"/>
                <a:ea typeface="IBM Plex Mono" pitchFamily="49" charset="-122"/>
                <a:cs typeface="IBM Plex Mono" pitchFamily="49" charset="-120"/>
              </a:rPr>
              <a:t>user picks: value="web"</a:t>
            </a:r>
            <a:endParaRPr lang="en-US" sz="1200" dirty="0"/>
          </a:p>
        </p:txBody>
      </p:sp>
      <p:pic>
        <p:nvPicPr>
          <p:cNvPr id="5" name="Image 0" descr="arrow-right">    </p:cNvPr>
          <p:cNvPicPr>
            <a:picLocks noChangeAspect="1"/>
          </p:cNvPicPr>
          <p:nvPr/>
        </p:nvPicPr>
        <p:blipFill>
          <a:blip r:embed="rId1"/>
          <a:srcRect l="0" r="0" t="0" b="0"/>
          <a:stretch/>
        </p:blipFill>
        <p:spPr>
          <a:xfrm>
            <a:off x="6096000" y="2775942"/>
            <a:ext cx="457200" cy="228600"/>
          </a:xfrm>
          <a:prstGeom prst="rect">
            <a:avLst/>
          </a:prstGeom>
        </p:spPr>
      </p:pic>
      <p:sp>
        <p:nvSpPr>
          <p:cNvPr id="6" name="Text 3"/>
          <p:cNvSpPr/>
          <p:nvPr/>
        </p:nvSpPr>
        <p:spPr>
          <a:xfrm>
            <a:off x="6705600" y="2184102"/>
            <a:ext cx="481380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75467"/>
                </a:solidFill>
                <a:latin typeface="IBM Plex Sans" pitchFamily="34" charset="0"/>
                <a:ea typeface="IBM Plex Sans" pitchFamily="34" charset="-122"/>
                <a:cs typeface="IBM Plex Sans" pitchFamily="34" charset="-120"/>
              </a:rPr>
              <a:t>Sent to the server (URL-encoded)</a:t>
            </a:r>
            <a:endParaRPr lang="en-US" sz="1300" dirty="0"/>
          </a:p>
        </p:txBody>
      </p:sp>
      <p:sp>
        <p:nvSpPr>
          <p:cNvPr id="7" name="Text 4"/>
          <p:cNvSpPr/>
          <p:nvPr/>
        </p:nvSpPr>
        <p:spPr>
          <a:xfrm>
            <a:off x="6705600" y="2491383"/>
            <a:ext cx="4673600" cy="1104900"/>
          </a:xfrm>
          <a:prstGeom prst="roundRect">
            <a:avLst>
              <a:gd name="adj" fmla="val 6897"/>
            </a:avLst>
          </a:prstGeom>
          <a:solidFill>
            <a:srgbClr val="FCE7DA"/>
          </a:solidFill>
          <a:ln/>
        </p:spPr>
        <p:txBody>
          <a:bodyPr wrap="square" lIns="155482" tIns="130082" rIns="25942" bIns="104682" rtlCol="0" anchor="t">
            <a:normAutofit/>
          </a:bodyPr>
          <a:lstStyle/>
          <a:p>
            <a:pPr algn="l" indent="0" marL="0">
              <a:lnSpc>
                <a:spcPts val="2100"/>
              </a:lnSpc>
              <a:buNone/>
            </a:pPr>
            <a:r>
              <a:rPr lang="en-US" sz="1400" dirty="0">
                <a:solidFill>
                  <a:srgbClr val="16202E"/>
                </a:solidFill>
                <a:latin typeface="IBM Plex Mono" pitchFamily="49" charset="0"/>
                <a:ea typeface="IBM Plex Mono" pitchFamily="49" charset="-122"/>
                <a:cs typeface="IBM Plex Mono" pitchFamily="49" charset="-120"/>
              </a:rPr>
              <a:t>fullname=Ali+Khan&amp;</a:t>
            </a:r>
            <a:endParaRPr lang="en-US" sz="1400" dirty="0"/>
          </a:p>
          <a:p>
            <a:pPr algn="l" indent="0" marL="0">
              <a:lnSpc>
                <a:spcPts val="2100"/>
              </a:lnSpc>
              <a:buNone/>
            </a:pPr>
            <a:r>
              <a:rPr lang="en-US" sz="1400" dirty="0">
                <a:solidFill>
                  <a:srgbClr val="16202E"/>
                </a:solidFill>
                <a:latin typeface="IBM Plex Mono" pitchFamily="49" charset="0"/>
                <a:ea typeface="IBM Plex Mono" pitchFamily="49" charset="-122"/>
                <a:cs typeface="IBM Plex Mono" pitchFamily="49" charset="-120"/>
              </a:rPr>
              <a:t>email=ali%40mail.com&amp;</a:t>
            </a:r>
            <a:endParaRPr lang="en-US" sz="1400" dirty="0"/>
          </a:p>
          <a:p>
            <a:pPr algn="l" indent="0" marL="0">
              <a:lnSpc>
                <a:spcPts val="2100"/>
              </a:lnSpc>
              <a:buNone/>
            </a:pPr>
            <a:r>
              <a:rPr lang="en-US" sz="1400" dirty="0">
                <a:solidFill>
                  <a:srgbClr val="16202E"/>
                </a:solidFill>
                <a:latin typeface="IBM Plex Mono" pitchFamily="49" charset="0"/>
                <a:ea typeface="IBM Plex Mono" pitchFamily="49" charset="-122"/>
                <a:cs typeface="IBM Plex Mono" pitchFamily="49" charset="-120"/>
              </a:rPr>
              <a:t>course=web</a:t>
            </a:r>
            <a:endParaRPr lang="en-US" sz="1400" dirty="0"/>
          </a:p>
        </p:txBody>
      </p:sp>
      <p:sp>
        <p:nvSpPr>
          <p:cNvPr id="8" name="Text 5"/>
          <p:cNvSpPr/>
          <p:nvPr/>
        </p:nvSpPr>
        <p:spPr>
          <a:xfrm>
            <a:off x="815975" y="4056559"/>
            <a:ext cx="3414117" cy="773311"/>
          </a:xfrm>
          <a:prstGeom prst="roundRect">
            <a:avLst>
              <a:gd name="adj" fmla="val 12728"/>
            </a:avLst>
          </a:prstGeom>
          <a:solidFill>
            <a:srgbClr val="FFFDF9"/>
          </a:solidFill>
          <a:ln w="6350">
            <a:solidFill>
              <a:srgbClr val="E4E0D8"/>
            </a:solidFill>
            <a:prstDash val="solid"/>
          </a:ln>
        </p:spPr>
        <p:txBody>
          <a:bodyPr wrap="square" lIns="126747" tIns="126747" rIns="33658" bIns="101347" rtlCol="0" anchor="t">
            <a:normAutofit/>
          </a:bodyPr>
          <a:lstStyle/>
          <a:p>
            <a:pPr algn="l"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No name, no data.</a:t>
            </a:r>
            <a:r>
              <a:rPr lang="en-US" sz="1300" dirty="0">
                <a:solidFill>
                  <a:srgbClr val="1F2A37"/>
                </a:solidFill>
                <a:latin typeface="IBM Plex Sans" pitchFamily="34" charset="0"/>
                <a:ea typeface="IBM Plex Sans" pitchFamily="34" charset="-122"/>
                <a:cs typeface="IBM Plex Sans" pitchFamily="34" charset="-120"/>
              </a:rPr>
              <a:t> A control without name is not sent at all.</a:t>
            </a:r>
            <a:endParaRPr lang="en-US" sz="1300" dirty="0"/>
          </a:p>
        </p:txBody>
      </p:sp>
      <p:sp>
        <p:nvSpPr>
          <p:cNvPr id="9" name="Text 6"/>
          <p:cNvSpPr/>
          <p:nvPr/>
        </p:nvSpPr>
        <p:spPr>
          <a:xfrm>
            <a:off x="4388842" y="4056559"/>
            <a:ext cx="3414216" cy="773311"/>
          </a:xfrm>
          <a:prstGeom prst="roundRect">
            <a:avLst>
              <a:gd name="adj" fmla="val 12728"/>
            </a:avLst>
          </a:prstGeom>
          <a:solidFill>
            <a:srgbClr val="FFFDF9"/>
          </a:solidFill>
          <a:ln w="6350">
            <a:solidFill>
              <a:srgbClr val="E4E0D8"/>
            </a:solidFill>
            <a:prstDash val="solid"/>
          </a:ln>
        </p:spPr>
        <p:txBody>
          <a:bodyPr wrap="square" lIns="126747" tIns="126747" rIns="33655" bIns="101347" rtlCol="0" anchor="t">
            <a:normAutofit/>
          </a:bodyPr>
          <a:lstStyle/>
          <a:p>
            <a:pPr algn="l"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&amp;</a:t>
            </a:r>
            <a:r>
              <a:rPr lang="en-US" sz="1300" dirty="0">
                <a:solidFill>
                  <a:srgbClr val="1F2A37"/>
                </a:solidFill>
                <a:latin typeface="IBM Plex Sans" pitchFamily="34" charset="0"/>
                <a:ea typeface="IBM Plex Sans" pitchFamily="34" charset="-122"/>
                <a:cs typeface="IBM Plex Sans" pitchFamily="34" charset="-120"/>
              </a:rPr>
              <a:t> separates pairs; space → </a:t>
            </a:r>
            <a:r>
              <a:rPr lang="en-US" sz="1300" b="1" dirty="0">
                <a:solidFill>
                  <a:srgbClr val="1F2A37"/>
                </a:solidFill>
                <a:latin typeface="IBM Plex Sans" pitchFamily="34" charset="0"/>
                <a:ea typeface="IBM Plex Sans" pitchFamily="34" charset="-122"/>
                <a:cs typeface="IBM Plex Sans" pitchFamily="34" charset="-120"/>
              </a:rPr>
              <a:t>+</a:t>
            </a:r>
            <a:r>
              <a:rPr lang="en-US" sz="1300" dirty="0">
                <a:solidFill>
                  <a:srgbClr val="1F2A37"/>
                </a:solidFill>
                <a:latin typeface="IBM Plex Sans" pitchFamily="34" charset="0"/>
                <a:ea typeface="IBM Plex Sans" pitchFamily="34" charset="-122"/>
                <a:cs typeface="IBM Plex Sans" pitchFamily="34" charset="-120"/>
              </a:rPr>
              <a:t>; @ → </a:t>
            </a:r>
            <a:r>
              <a:rPr lang="en-US" sz="1300" b="1" dirty="0">
                <a:solidFill>
                  <a:srgbClr val="1F2A37"/>
                </a:solidFill>
                <a:latin typeface="IBM Plex Sans" pitchFamily="34" charset="0"/>
                <a:ea typeface="IBM Plex Sans" pitchFamily="34" charset="-122"/>
                <a:cs typeface="IBM Plex Sans" pitchFamily="34" charset="-120"/>
              </a:rPr>
              <a:t>%40</a:t>
            </a:r>
            <a:r>
              <a:rPr lang="en-US" sz="1300" dirty="0">
                <a:solidFill>
                  <a:srgbClr val="1F2A37"/>
                </a:solidFill>
                <a:latin typeface="IBM Plex Sans" pitchFamily="34" charset="0"/>
                <a:ea typeface="IBM Plex Sans" pitchFamily="34" charset="-122"/>
                <a:cs typeface="IBM Plex Sans" pitchFamily="34" charset="-120"/>
              </a:rPr>
              <a:t>.</a:t>
            </a:r>
            <a:endParaRPr lang="en-US" sz="1300" dirty="0"/>
          </a:p>
        </p:txBody>
      </p:sp>
      <p:sp>
        <p:nvSpPr>
          <p:cNvPr id="10" name="Text 7"/>
          <p:cNvSpPr/>
          <p:nvPr/>
        </p:nvSpPr>
        <p:spPr>
          <a:xfrm>
            <a:off x="7961809" y="4056559"/>
            <a:ext cx="3414216" cy="773311"/>
          </a:xfrm>
          <a:prstGeom prst="roundRect">
            <a:avLst>
              <a:gd name="adj" fmla="val 12728"/>
            </a:avLst>
          </a:prstGeom>
          <a:solidFill>
            <a:srgbClr val="FFFDF9"/>
          </a:solidFill>
          <a:ln w="6350">
            <a:solidFill>
              <a:srgbClr val="E4E0D8"/>
            </a:solidFill>
            <a:prstDash val="solid"/>
          </a:ln>
        </p:spPr>
        <p:txBody>
          <a:bodyPr wrap="square" lIns="126747" tIns="126747" rIns="33655" bIns="101347"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In PHP: </a:t>
            </a:r>
            <a:r>
              <a:rPr lang="en-US" sz="1300" b="1" dirty="0">
                <a:solidFill>
                  <a:srgbClr val="1F2A37"/>
                </a:solidFill>
                <a:latin typeface="IBM Plex Sans" pitchFamily="34" charset="0"/>
                <a:ea typeface="IBM Plex Sans" pitchFamily="34" charset="-122"/>
                <a:cs typeface="IBM Plex Sans" pitchFamily="34" charset="-120"/>
              </a:rPr>
              <a:t>$_POST['email']</a:t>
            </a:r>
            <a:r>
              <a:rPr lang="en-US" sz="1300" dirty="0">
                <a:solidFill>
                  <a:srgbClr val="1F2A37"/>
                </a:solidFill>
                <a:latin typeface="IBM Plex Sans" pitchFamily="34" charset="0"/>
                <a:ea typeface="IBM Plex Sans" pitchFamily="34" charset="-122"/>
                <a:cs typeface="IBM Plex Sans" pitchFamily="34" charset="-120"/>
              </a:rPr>
              <a:t> reads the value by its name.</a:t>
            </a:r>
            <a:endParaRPr lang="en-US" sz="1300" dirty="0"/>
          </a:p>
        </p:txBody>
      </p:sp>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6 — HTML5 Forms, GET &amp; POST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GET VS POST</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Two ways to send form data</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01"/>
          <a:ext cx="10553700" cy="2980531"/>
        </p:xfrm>
        <a:graphic>
          <a:graphicData uri="http://schemas.openxmlformats.org/drawingml/2006/table">
            <a:tbl>
              <a:tblPr/>
              <a:tblGrid>
                <a:gridCol w="2532888"/>
                <a:gridCol w="4010406"/>
                <a:gridCol w="4010406"/>
              </a:tblGrid>
              <a:tr h="372566">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Aspect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GET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POST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Where the data goes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In the URL query string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In the request body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Visible / bookmarkable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Yes — URL, history, logs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No — not in the URL</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Size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Limited by URL length</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No practical limit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Files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Cannot upload</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Yes, with multipart/form-data</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Meaning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Retrieve; safe to repeat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Create or change data</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Use for</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Search, filters, pages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Login, sign-up, payments, uploads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In PHP (Week 10)</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$_GET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$_POST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6 — HTML5 Forms, GET &amp; POST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GET VS POST</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What actually travels over HTTP</a:t>
            </a:r>
            <a:endParaRPr lang="en-US" sz="3200" dirty="0"/>
          </a:p>
        </p:txBody>
      </p:sp>
      <p:sp>
        <p:nvSpPr>
          <p:cNvPr id="4" name="Text 2"/>
          <p:cNvSpPr/>
          <p:nvPr/>
        </p:nvSpPr>
        <p:spPr>
          <a:xfrm>
            <a:off x="812800" y="1981101"/>
            <a:ext cx="533704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GET — search form</a:t>
            </a:r>
            <a:endParaRPr lang="en-US" sz="1400" dirty="0"/>
          </a:p>
        </p:txBody>
      </p:sp>
      <p:sp>
        <p:nvSpPr>
          <p:cNvPr id="5" name="Text 3"/>
          <p:cNvSpPr/>
          <p:nvPr/>
        </p:nvSpPr>
        <p:spPr>
          <a:xfrm>
            <a:off x="812800" y="2331541"/>
            <a:ext cx="5181600" cy="1574502"/>
          </a:xfrm>
          <a:prstGeom prst="roundRect">
            <a:avLst>
              <a:gd name="adj" fmla="val 6453"/>
            </a:avLst>
          </a:prstGeom>
          <a:solidFill>
            <a:srgbClr val="1B2430"/>
          </a:solidFill>
          <a:ln/>
        </p:spPr>
        <p:txBody>
          <a:bodyPr wrap="square" lIns="173442" tIns="148042" rIns="30186" bIns="122642" rtlCol="0" anchor="t">
            <a:normAutofit/>
          </a:bodyPr>
          <a:lstStyle/>
          <a:p>
            <a:pPr algn="l" indent="0" marL="0">
              <a:lnSpc>
                <a:spcPts val="1920"/>
              </a:lnSpc>
              <a:buNone/>
            </a:pPr>
            <a:r>
              <a:rPr lang="en-US" sz="1200" dirty="0">
                <a:solidFill>
                  <a:srgbClr val="FF9E64"/>
                </a:solidFill>
                <a:latin typeface="IBM Plex Mono" pitchFamily="49" charset="0"/>
                <a:ea typeface="IBM Plex Mono" pitchFamily="49" charset="-122"/>
                <a:cs typeface="IBM Plex Mono" pitchFamily="49" charset="-120"/>
              </a:rPr>
              <a:t>GET</a:t>
            </a:r>
            <a:r>
              <a:rPr lang="en-US" sz="1200" dirty="0">
                <a:solidFill>
                  <a:srgbClr val="E6EDF3"/>
                </a:solidFill>
                <a:latin typeface="IBM Plex Mono" pitchFamily="49" charset="0"/>
                <a:ea typeface="IBM Plex Mono" pitchFamily="49" charset="-122"/>
                <a:cs typeface="IBM Plex Mono" pitchFamily="49" charset="-120"/>
              </a:rPr>
              <a:t> /search.php</a:t>
            </a:r>
            <a:r>
              <a:rPr lang="en-US" sz="1200" dirty="0">
                <a:solidFill>
                  <a:srgbClr val="9ECE6A"/>
                </a:solidFill>
                <a:latin typeface="IBM Plex Mono" pitchFamily="49" charset="0"/>
                <a:ea typeface="IBM Plex Mono" pitchFamily="49" charset="-122"/>
                <a:cs typeface="IBM Plex Mono" pitchFamily="49" charset="-120"/>
              </a:rPr>
              <a:t>?q=html+forms&amp;page=2</a:t>
            </a:r>
            <a:endParaRPr lang="en-US" sz="1200" dirty="0"/>
          </a:p>
          <a:p>
            <a:pPr algn="l" indent="0" marL="0">
              <a:lnSpc>
                <a:spcPts val="1920"/>
              </a:lnSpc>
              <a:buNone/>
            </a:pPr>
            <a:r>
              <a:rPr lang="en-US" sz="1200" dirty="0">
                <a:solidFill>
                  <a:srgbClr val="E6EDF3"/>
                </a:solidFill>
                <a:latin typeface="IBM Plex Mono" pitchFamily="49" charset="0"/>
                <a:ea typeface="IBM Plex Mono" pitchFamily="49" charset="-122"/>
                <a:cs typeface="IBM Plex Mono" pitchFamily="49" charset="-120"/>
              </a:rPr>
              <a:t>    HTTP/1.1</a:t>
            </a:r>
            <a:endParaRPr lang="en-US" sz="1200" dirty="0"/>
          </a:p>
          <a:p>
            <a:pPr algn="l" indent="0" marL="0">
              <a:lnSpc>
                <a:spcPts val="1920"/>
              </a:lnSpc>
              <a:buNone/>
            </a:pPr>
            <a:r>
              <a:rPr lang="en-US" sz="1200" dirty="0">
                <a:solidFill>
                  <a:srgbClr val="E6EDF3"/>
                </a:solidFill>
                <a:latin typeface="IBM Plex Mono" pitchFamily="49" charset="0"/>
                <a:ea typeface="IBM Plex Mono" pitchFamily="49" charset="-122"/>
                <a:cs typeface="IBM Plex Mono" pitchFamily="49" charset="-120"/>
              </a:rPr>
              <a:t>Host: example.com</a:t>
            </a:r>
            <a:endParaRPr lang="en-US" sz="1200" dirty="0"/>
          </a:p>
          <a:p>
            <a:pPr algn="l" indent="0" marL="0">
              <a:lnSpc>
                <a:spcPts val="1920"/>
              </a:lnSpc>
              <a:buNone/>
            </a:pPr>
            <a:endParaRPr lang="en-US" sz="1200" dirty="0"/>
          </a:p>
          <a:p>
            <a:pPr algn="l" indent="0" marL="0">
              <a:lnSpc>
                <a:spcPts val="1920"/>
              </a:lnSpc>
              <a:buNone/>
            </a:pPr>
            <a:r>
              <a:rPr lang="en-US" sz="1200" dirty="0">
                <a:solidFill>
                  <a:srgbClr val="8B98A9"/>
                </a:solidFill>
                <a:latin typeface="IBM Plex Mono" pitchFamily="49" charset="0"/>
                <a:ea typeface="IBM Plex Mono" pitchFamily="49" charset="-122"/>
                <a:cs typeface="IBM Plex Mono" pitchFamily="49" charset="-120"/>
              </a:rPr>
              <a:t>(no body)</a:t>
            </a:r>
            <a:endParaRPr lang="en-US" sz="1200" dirty="0"/>
          </a:p>
        </p:txBody>
      </p:sp>
      <p:sp>
        <p:nvSpPr>
          <p:cNvPr id="6" name="Text 4"/>
          <p:cNvSpPr/>
          <p:nvPr/>
        </p:nvSpPr>
        <p:spPr>
          <a:xfrm>
            <a:off x="812800" y="4007644"/>
            <a:ext cx="533704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The data is part of the address — you can copy and share the link.</a:t>
            </a:r>
            <a:endParaRPr lang="en-US" sz="1300" dirty="0"/>
          </a:p>
        </p:txBody>
      </p:sp>
      <p:sp>
        <p:nvSpPr>
          <p:cNvPr id="7" name="Text 5"/>
          <p:cNvSpPr/>
          <p:nvPr/>
        </p:nvSpPr>
        <p:spPr>
          <a:xfrm>
            <a:off x="6197600" y="1981101"/>
            <a:ext cx="533704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POST — registration form</a:t>
            </a:r>
            <a:endParaRPr lang="en-US" sz="1400" dirty="0"/>
          </a:p>
        </p:txBody>
      </p:sp>
      <p:sp>
        <p:nvSpPr>
          <p:cNvPr id="8" name="Text 6"/>
          <p:cNvSpPr/>
          <p:nvPr/>
        </p:nvSpPr>
        <p:spPr>
          <a:xfrm>
            <a:off x="6197600" y="2331541"/>
            <a:ext cx="5181600" cy="2062063"/>
          </a:xfrm>
          <a:prstGeom prst="roundRect">
            <a:avLst>
              <a:gd name="adj" fmla="val 4927"/>
            </a:avLst>
          </a:prstGeom>
          <a:solidFill>
            <a:srgbClr val="1B2430"/>
          </a:solidFill>
          <a:ln/>
        </p:spPr>
        <p:txBody>
          <a:bodyPr wrap="square" lIns="173442" tIns="148042" rIns="30186" bIns="122642" rtlCol="0" anchor="t">
            <a:normAutofit/>
          </a:bodyPr>
          <a:lstStyle/>
          <a:p>
            <a:pPr algn="l" indent="0" marL="0">
              <a:lnSpc>
                <a:spcPts val="1920"/>
              </a:lnSpc>
              <a:buNone/>
            </a:pPr>
            <a:r>
              <a:rPr lang="en-US" sz="1200" dirty="0">
                <a:solidFill>
                  <a:srgbClr val="FF9E64"/>
                </a:solidFill>
                <a:latin typeface="IBM Plex Mono" pitchFamily="49" charset="0"/>
                <a:ea typeface="IBM Plex Mono" pitchFamily="49" charset="-122"/>
                <a:cs typeface="IBM Plex Mono" pitchFamily="49" charset="-120"/>
              </a:rPr>
              <a:t>POST</a:t>
            </a:r>
            <a:r>
              <a:rPr lang="en-US" sz="1200" dirty="0">
                <a:solidFill>
                  <a:srgbClr val="E6EDF3"/>
                </a:solidFill>
                <a:latin typeface="IBM Plex Mono" pitchFamily="49" charset="0"/>
                <a:ea typeface="IBM Plex Mono" pitchFamily="49" charset="-122"/>
                <a:cs typeface="IBM Plex Mono" pitchFamily="49" charset="-120"/>
              </a:rPr>
              <a:t> /register.php HTTP/1.1</a:t>
            </a:r>
            <a:endParaRPr lang="en-US" sz="1200" dirty="0"/>
          </a:p>
          <a:p>
            <a:pPr algn="l" indent="0" marL="0">
              <a:lnSpc>
                <a:spcPts val="1920"/>
              </a:lnSpc>
              <a:buNone/>
            </a:pPr>
            <a:r>
              <a:rPr lang="en-US" sz="1200" dirty="0">
                <a:solidFill>
                  <a:srgbClr val="E6EDF3"/>
                </a:solidFill>
                <a:latin typeface="IBM Plex Mono" pitchFamily="49" charset="0"/>
                <a:ea typeface="IBM Plex Mono" pitchFamily="49" charset="-122"/>
                <a:cs typeface="IBM Plex Mono" pitchFamily="49" charset="-120"/>
              </a:rPr>
              <a:t>Host: example.com</a:t>
            </a:r>
            <a:endParaRPr lang="en-US" sz="1200" dirty="0"/>
          </a:p>
          <a:p>
            <a:pPr algn="l" indent="0" marL="0">
              <a:lnSpc>
                <a:spcPts val="1920"/>
              </a:lnSpc>
              <a:buNone/>
            </a:pPr>
            <a:r>
              <a:rPr lang="en-US" sz="1200" dirty="0">
                <a:solidFill>
                  <a:srgbClr val="E6EDF3"/>
                </a:solidFill>
                <a:latin typeface="IBM Plex Mono" pitchFamily="49" charset="0"/>
                <a:ea typeface="IBM Plex Mono" pitchFamily="49" charset="-122"/>
                <a:cs typeface="IBM Plex Mono" pitchFamily="49" charset="-120"/>
              </a:rPr>
              <a:t>Content-Type: application/</a:t>
            </a:r>
            <a:endParaRPr lang="en-US" sz="1200" dirty="0"/>
          </a:p>
          <a:p>
            <a:pPr algn="l" indent="0" marL="0">
              <a:lnSpc>
                <a:spcPts val="1920"/>
              </a:lnSpc>
              <a:buNone/>
            </a:pPr>
            <a:r>
              <a:rPr lang="en-US" sz="1200" dirty="0">
                <a:solidFill>
                  <a:srgbClr val="E6EDF3"/>
                </a:solidFill>
                <a:latin typeface="IBM Plex Mono" pitchFamily="49" charset="0"/>
                <a:ea typeface="IBM Plex Mono" pitchFamily="49" charset="-122"/>
                <a:cs typeface="IBM Plex Mono" pitchFamily="49" charset="-120"/>
              </a:rPr>
              <a:t>  x-www-form-urlencoded</a:t>
            </a:r>
            <a:endParaRPr lang="en-US" sz="1200" dirty="0"/>
          </a:p>
          <a:p>
            <a:pPr algn="l" indent="0" marL="0">
              <a:lnSpc>
                <a:spcPts val="1920"/>
              </a:lnSpc>
              <a:buNone/>
            </a:pPr>
            <a:r>
              <a:rPr lang="en-US" sz="1200" dirty="0">
                <a:solidFill>
                  <a:srgbClr val="E6EDF3"/>
                </a:solidFill>
                <a:latin typeface="IBM Plex Mono" pitchFamily="49" charset="0"/>
                <a:ea typeface="IBM Plex Mono" pitchFamily="49" charset="-122"/>
                <a:cs typeface="IBM Plex Mono" pitchFamily="49" charset="-120"/>
              </a:rPr>
              <a:t>Content-Length: 34</a:t>
            </a:r>
            <a:endParaRPr lang="en-US" sz="1200" dirty="0"/>
          </a:p>
          <a:p>
            <a:pPr algn="l" indent="0" marL="0">
              <a:lnSpc>
                <a:spcPts val="1920"/>
              </a:lnSpc>
              <a:buNone/>
            </a:pPr>
            <a:endParaRPr lang="en-US" sz="1200" dirty="0"/>
          </a:p>
          <a:p>
            <a:pPr algn="l" indent="0" marL="0">
              <a:lnSpc>
                <a:spcPts val="1920"/>
              </a:lnSpc>
              <a:buNone/>
            </a:pPr>
            <a:r>
              <a:rPr lang="en-US" sz="1200" dirty="0">
                <a:solidFill>
                  <a:srgbClr val="9ECE6A"/>
                </a:solidFill>
                <a:latin typeface="IBM Plex Mono" pitchFamily="49" charset="0"/>
                <a:ea typeface="IBM Plex Mono" pitchFamily="49" charset="-122"/>
                <a:cs typeface="IBM Plex Mono" pitchFamily="49" charset="-120"/>
              </a:rPr>
              <a:t>name=Ali+Khan&amp;email=ali%40mail.com</a:t>
            </a:r>
            <a:endParaRPr lang="en-US" sz="1200" dirty="0"/>
          </a:p>
        </p:txBody>
      </p:sp>
      <p:sp>
        <p:nvSpPr>
          <p:cNvPr id="9" name="Text 7"/>
          <p:cNvSpPr/>
          <p:nvPr/>
        </p:nvSpPr>
        <p:spPr>
          <a:xfrm>
            <a:off x="6197600" y="4495205"/>
            <a:ext cx="533704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The data is in the body after the blank line.</a:t>
            </a:r>
            <a:endParaRPr lang="en-US" sz="13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6 — HTML5 Forms, GET &amp; POST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CONTROLS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Text-like input types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01"/>
          <a:ext cx="6337300" cy="2874169"/>
        </p:xfrm>
        <a:graphic>
          <a:graphicData uri="http://schemas.openxmlformats.org/drawingml/2006/table">
            <a:tbl>
              <a:tblPr/>
              <a:tblGrid>
                <a:gridCol w="1520952"/>
                <a:gridCol w="4816348"/>
              </a:tblGrid>
              <a:tr h="359271">
                <a:tc>
                  <a:txBody>
                    <a:bodyPr/>
                    <a:lstStyle/>
                    <a:p>
                      <a:pPr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type=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Behaviour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text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Single line of text (the default)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password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Characters masked; still plain text in transit without HTTPS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email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Checks for an @ address; email keyboard on phones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tel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Phone keypad on mobile; no format check by itself</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url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Requires a full URL with scheme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number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Spinner, min/max/step; numeric keypad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search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Text with a clear (×) button in some browsers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7416800" y="1981101"/>
            <a:ext cx="3962400" cy="2062063"/>
          </a:xfrm>
          <a:prstGeom prst="roundRect">
            <a:avLst>
              <a:gd name="adj" fmla="val 4927"/>
            </a:avLst>
          </a:prstGeom>
          <a:solidFill>
            <a:srgbClr val="1B2430"/>
          </a:solidFill>
          <a:ln/>
        </p:spPr>
        <p:txBody>
          <a:bodyPr wrap="square" lIns="173442" tIns="148042" rIns="66762" bIns="122642" rtlCol="0" anchor="t">
            <a:normAutofit/>
          </a:bodyPr>
          <a:lstStyle/>
          <a:p>
            <a:pPr algn="l" indent="0" marL="0">
              <a:lnSpc>
                <a:spcPts val="1920"/>
              </a:lnSpc>
              <a:buNone/>
            </a:pPr>
            <a:r>
              <a:rPr lang="en-US" sz="1200" dirty="0">
                <a:solidFill>
                  <a:srgbClr val="FF9E64"/>
                </a:solidFill>
                <a:latin typeface="IBM Plex Mono" pitchFamily="49" charset="0"/>
                <a:ea typeface="IBM Plex Mono" pitchFamily="49" charset="-122"/>
                <a:cs typeface="IBM Plex Mono" pitchFamily="49" charset="-120"/>
              </a:rPr>
              <a:t>&lt;input</a:t>
            </a:r>
            <a:endParaRPr lang="en-US" sz="1200" dirty="0"/>
          </a:p>
          <a:p>
            <a:pPr algn="l" indent="0" marL="0">
              <a:lnSpc>
                <a:spcPts val="192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type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"email"</a:t>
            </a:r>
            <a:endParaRPr lang="en-US" sz="1200" dirty="0"/>
          </a:p>
          <a:p>
            <a:pPr algn="l" indent="0" marL="0">
              <a:lnSpc>
                <a:spcPts val="192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id</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"email"</a:t>
            </a:r>
            <a:endParaRPr lang="en-US" sz="1200" dirty="0"/>
          </a:p>
          <a:p>
            <a:pPr algn="l" indent="0" marL="0">
              <a:lnSpc>
                <a:spcPts val="192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name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"email"</a:t>
            </a:r>
            <a:endParaRPr lang="en-US" sz="1200" dirty="0"/>
          </a:p>
          <a:p>
            <a:pPr algn="l" indent="0" marL="0">
              <a:lnSpc>
                <a:spcPts val="192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placeholder</a:t>
            </a:r>
            <a:r>
              <a:rPr lang="en-US" sz="1200" dirty="0">
                <a:solidFill>
                  <a:srgbClr val="E6EDF3"/>
                </a:solidFill>
                <a:latin typeface="IBM Plex Mono" pitchFamily="49" charset="0"/>
                <a:ea typeface="IBM Plex Mono" pitchFamily="49" charset="-122"/>
                <a:cs typeface="IBM Plex Mono" pitchFamily="49" charset="-120"/>
              </a:rPr>
              <a:t>=</a:t>
            </a:r>
            <a:endParaRPr lang="en-US" sz="1200" dirty="0"/>
          </a:p>
          <a:p>
            <a:pPr algn="l" indent="0" marL="0">
              <a:lnSpc>
                <a:spcPts val="192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9ECE6A"/>
                </a:solidFill>
                <a:latin typeface="IBM Plex Mono" pitchFamily="49" charset="0"/>
                <a:ea typeface="IBM Plex Mono" pitchFamily="49" charset="-122"/>
                <a:cs typeface="IBM Plex Mono" pitchFamily="49" charset="-120"/>
              </a:rPr>
              <a:t>"you@example.com"</a:t>
            </a:r>
            <a:endParaRPr lang="en-US" sz="1200" dirty="0"/>
          </a:p>
          <a:p>
            <a:pPr algn="l" indent="0" marL="0">
              <a:lnSpc>
                <a:spcPts val="192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required</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6 — HTML5 Forms, GET &amp; POST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CONTROLS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Every control needs a label</a:t>
            </a:r>
            <a:endParaRPr lang="en-US" sz="3200" dirty="0"/>
          </a:p>
        </p:txBody>
      </p:sp>
      <p:sp>
        <p:nvSpPr>
          <p:cNvPr id="4" name="Text 2"/>
          <p:cNvSpPr/>
          <p:nvPr/>
        </p:nvSpPr>
        <p:spPr>
          <a:xfrm>
            <a:off x="812800" y="1981101"/>
            <a:ext cx="533704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E"/>
                </a:solidFill>
                <a:latin typeface="IBM Plex Sans" pitchFamily="34" charset="0"/>
                <a:ea typeface="IBM Plex Sans" pitchFamily="34" charset="-122"/>
                <a:cs typeface="IBM Plex Sans" pitchFamily="34" charset="-120"/>
              </a:rPr>
              <a:t>Explicit: for + id</a:t>
            </a:r>
            <a:endParaRPr lang="en-US" sz="1500" dirty="0"/>
          </a:p>
        </p:txBody>
      </p:sp>
      <p:sp>
        <p:nvSpPr>
          <p:cNvPr id="5" name="Text 3"/>
          <p:cNvSpPr/>
          <p:nvPr/>
        </p:nvSpPr>
        <p:spPr>
          <a:xfrm>
            <a:off x="812800" y="2311301"/>
            <a:ext cx="5181600" cy="1086941"/>
          </a:xfrm>
          <a:prstGeom prst="roundRect">
            <a:avLst>
              <a:gd name="adj" fmla="val 9347"/>
            </a:avLst>
          </a:prstGeom>
          <a:solidFill>
            <a:srgbClr val="1B2430"/>
          </a:solidFill>
          <a:ln/>
        </p:spPr>
        <p:txBody>
          <a:bodyPr wrap="square" lIns="173442" tIns="148042" rIns="30186" bIns="122642" rtlCol="0" anchor="t">
            <a:normAutofit/>
          </a:bodyPr>
          <a:lstStyle/>
          <a:p>
            <a:pPr algn="l" indent="0" marL="0">
              <a:lnSpc>
                <a:spcPts val="1920"/>
              </a:lnSpc>
              <a:buNone/>
            </a:pPr>
            <a:r>
              <a:rPr lang="en-US" sz="1200" dirty="0">
                <a:solidFill>
                  <a:srgbClr val="FF9E64"/>
                </a:solidFill>
                <a:latin typeface="IBM Plex Mono" pitchFamily="49" charset="0"/>
                <a:ea typeface="IBM Plex Mono" pitchFamily="49" charset="-122"/>
                <a:cs typeface="IBM Plex Mono" pitchFamily="49" charset="-120"/>
              </a:rPr>
              <a:t>&lt;label</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for</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"sid"</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Student ID</a:t>
            </a:r>
            <a:r>
              <a:rPr lang="en-US" sz="1200" dirty="0">
                <a:solidFill>
                  <a:srgbClr val="FF9E64"/>
                </a:solidFill>
                <a:latin typeface="IBM Plex Mono" pitchFamily="49" charset="0"/>
                <a:ea typeface="IBM Plex Mono" pitchFamily="49" charset="-122"/>
                <a:cs typeface="IBM Plex Mono" pitchFamily="49" charset="-120"/>
              </a:rPr>
              <a:t>&lt;/label&gt;</a:t>
            </a:r>
            <a:endParaRPr lang="en-US" sz="1200" dirty="0"/>
          </a:p>
          <a:p>
            <a:pPr algn="l" indent="0" marL="0">
              <a:lnSpc>
                <a:spcPts val="1920"/>
              </a:lnSpc>
              <a:buNone/>
            </a:pPr>
            <a:r>
              <a:rPr lang="en-US" sz="1200" dirty="0">
                <a:solidFill>
                  <a:srgbClr val="FF9E64"/>
                </a:solidFill>
                <a:latin typeface="IBM Plex Mono" pitchFamily="49" charset="0"/>
                <a:ea typeface="IBM Plex Mono" pitchFamily="49" charset="-122"/>
                <a:cs typeface="IBM Plex Mono" pitchFamily="49" charset="-120"/>
              </a:rPr>
              <a:t>&lt;input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type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"text"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id</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"sid"</a:t>
            </a:r>
            <a:endParaRPr lang="en-US" sz="1200" dirty="0"/>
          </a:p>
          <a:p>
            <a:pPr algn="l" indent="0" marL="0">
              <a:lnSpc>
                <a:spcPts val="192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name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"student_id"</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p:txBody>
      </p:sp>
      <p:sp>
        <p:nvSpPr>
          <p:cNvPr id="6" name="Text 4"/>
          <p:cNvSpPr/>
          <p:nvPr/>
        </p:nvSpPr>
        <p:spPr>
          <a:xfrm>
            <a:off x="812800" y="3499842"/>
            <a:ext cx="533704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for must match the input’s id exactly.</a:t>
            </a:r>
            <a:endParaRPr lang="en-US" sz="1300" dirty="0"/>
          </a:p>
        </p:txBody>
      </p:sp>
      <p:sp>
        <p:nvSpPr>
          <p:cNvPr id="7" name="Text 5"/>
          <p:cNvSpPr/>
          <p:nvPr/>
        </p:nvSpPr>
        <p:spPr>
          <a:xfrm>
            <a:off x="6197600" y="1981101"/>
            <a:ext cx="533704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E"/>
                </a:solidFill>
                <a:latin typeface="IBM Plex Sans" pitchFamily="34" charset="0"/>
                <a:ea typeface="IBM Plex Sans" pitchFamily="34" charset="-122"/>
                <a:cs typeface="IBM Plex Sans" pitchFamily="34" charset="-120"/>
              </a:rPr>
              <a:t>Implicit: wrapping</a:t>
            </a:r>
            <a:endParaRPr lang="en-US" sz="1500" dirty="0"/>
          </a:p>
        </p:txBody>
      </p:sp>
      <p:sp>
        <p:nvSpPr>
          <p:cNvPr id="8" name="Text 6"/>
          <p:cNvSpPr/>
          <p:nvPr/>
        </p:nvSpPr>
        <p:spPr>
          <a:xfrm>
            <a:off x="6197600" y="2311301"/>
            <a:ext cx="5181600" cy="1330722"/>
          </a:xfrm>
          <a:prstGeom prst="roundRect">
            <a:avLst>
              <a:gd name="adj" fmla="val 7635"/>
            </a:avLst>
          </a:prstGeom>
          <a:solidFill>
            <a:srgbClr val="1B2430"/>
          </a:solidFill>
          <a:ln/>
        </p:spPr>
        <p:txBody>
          <a:bodyPr wrap="square" lIns="173442" tIns="148042" rIns="30186" bIns="122642" rtlCol="0" anchor="t">
            <a:normAutofit/>
          </a:bodyPr>
          <a:lstStyle/>
          <a:p>
            <a:pPr algn="l" indent="0" marL="0">
              <a:lnSpc>
                <a:spcPts val="1920"/>
              </a:lnSpc>
              <a:buNone/>
            </a:pPr>
            <a:r>
              <a:rPr lang="en-US" sz="1200" dirty="0">
                <a:solidFill>
                  <a:srgbClr val="FF9E64"/>
                </a:solidFill>
                <a:latin typeface="IBM Plex Mono" pitchFamily="49" charset="0"/>
                <a:ea typeface="IBM Plex Mono" pitchFamily="49" charset="-122"/>
                <a:cs typeface="IBM Plex Mono" pitchFamily="49" charset="-120"/>
              </a:rPr>
              <a:t>&lt;label&gt;</a:t>
            </a:r>
            <a:endParaRPr lang="en-US" sz="1200" dirty="0"/>
          </a:p>
          <a:p>
            <a:pPr algn="l" indent="0" marL="0">
              <a:lnSpc>
                <a:spcPts val="192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&lt;input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type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"checkbox"</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name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"terms"</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920"/>
              </a:lnSpc>
              <a:buNone/>
            </a:pPr>
            <a:r>
              <a:rPr lang="en-US" sz="1200" dirty="0">
                <a:solidFill>
                  <a:srgbClr val="E6EDF3"/>
                </a:solidFill>
                <a:latin typeface="IBM Plex Mono" pitchFamily="49" charset="0"/>
                <a:ea typeface="IBM Plex Mono" pitchFamily="49" charset="-122"/>
                <a:cs typeface="IBM Plex Mono" pitchFamily="49" charset="-120"/>
              </a:rPr>
              <a:t>  I accept the rules</a:t>
            </a:r>
            <a:endParaRPr lang="en-US" sz="1200" dirty="0"/>
          </a:p>
          <a:p>
            <a:pPr algn="l" indent="0" marL="0">
              <a:lnSpc>
                <a:spcPts val="1920"/>
              </a:lnSpc>
              <a:buNone/>
            </a:pPr>
            <a:r>
              <a:rPr lang="en-US" sz="1200" dirty="0">
                <a:solidFill>
                  <a:srgbClr val="FF9E64"/>
                </a:solidFill>
                <a:latin typeface="IBM Plex Mono" pitchFamily="49" charset="0"/>
                <a:ea typeface="IBM Plex Mono" pitchFamily="49" charset="-122"/>
                <a:cs typeface="IBM Plex Mono" pitchFamily="49" charset="-120"/>
              </a:rPr>
              <a:t>&lt;/label&gt;</a:t>
            </a:r>
            <a:endParaRPr lang="en-US" sz="1200" dirty="0"/>
          </a:p>
        </p:txBody>
      </p:sp>
      <p:sp>
        <p:nvSpPr>
          <p:cNvPr id="9" name="Text 7"/>
          <p:cNvSpPr/>
          <p:nvPr/>
        </p:nvSpPr>
        <p:spPr>
          <a:xfrm>
            <a:off x="6197600" y="3743623"/>
            <a:ext cx="533704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Handy for checkboxes and radios.</a:t>
            </a:r>
            <a:endParaRPr lang="en-US" sz="1300" dirty="0"/>
          </a:p>
        </p:txBody>
      </p:sp>
      <p:sp>
        <p:nvSpPr>
          <p:cNvPr id="10" name="Text 8"/>
          <p:cNvSpPr/>
          <p:nvPr/>
        </p:nvSpPr>
        <p:spPr>
          <a:xfrm>
            <a:off x="815975" y="4231878"/>
            <a:ext cx="3414117" cy="773311"/>
          </a:xfrm>
          <a:prstGeom prst="roundRect">
            <a:avLst>
              <a:gd name="adj" fmla="val 12728"/>
            </a:avLst>
          </a:prstGeom>
          <a:solidFill>
            <a:srgbClr val="FFFDF9"/>
          </a:solidFill>
          <a:ln w="6350">
            <a:solidFill>
              <a:srgbClr val="E4E0D8"/>
            </a:solidFill>
            <a:prstDash val="solid"/>
          </a:ln>
        </p:spPr>
        <p:txBody>
          <a:bodyPr wrap="square" lIns="126747" tIns="126747" rIns="33658" bIns="101347" rtlCol="0" anchor="t">
            <a:normAutofit/>
          </a:bodyPr>
          <a:lstStyle/>
          <a:p>
            <a:pPr algn="l"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Bigger click target:</a:t>
            </a:r>
            <a:r>
              <a:rPr lang="en-US" sz="1300" dirty="0">
                <a:solidFill>
                  <a:srgbClr val="1F2A37"/>
                </a:solidFill>
                <a:latin typeface="IBM Plex Sans" pitchFamily="34" charset="0"/>
                <a:ea typeface="IBM Plex Sans" pitchFamily="34" charset="-122"/>
                <a:cs typeface="IBM Plex Sans" pitchFamily="34" charset="-120"/>
              </a:rPr>
              <a:t> clicking the label focuses or ticks the control.</a:t>
            </a:r>
            <a:endParaRPr lang="en-US" sz="1300" dirty="0"/>
          </a:p>
        </p:txBody>
      </p:sp>
      <p:sp>
        <p:nvSpPr>
          <p:cNvPr id="11" name="Text 9"/>
          <p:cNvSpPr/>
          <p:nvPr/>
        </p:nvSpPr>
        <p:spPr>
          <a:xfrm>
            <a:off x="4388842" y="4231878"/>
            <a:ext cx="3414216" cy="773311"/>
          </a:xfrm>
          <a:prstGeom prst="roundRect">
            <a:avLst>
              <a:gd name="adj" fmla="val 12728"/>
            </a:avLst>
          </a:prstGeom>
          <a:solidFill>
            <a:srgbClr val="FFFDF9"/>
          </a:solidFill>
          <a:ln w="6350">
            <a:solidFill>
              <a:srgbClr val="E4E0D8"/>
            </a:solidFill>
            <a:prstDash val="solid"/>
          </a:ln>
        </p:spPr>
        <p:txBody>
          <a:bodyPr wrap="square" lIns="126747" tIns="126747" rIns="33655" bIns="101347" rtlCol="0" anchor="t">
            <a:normAutofit/>
          </a:bodyPr>
          <a:lstStyle/>
          <a:p>
            <a:pPr algn="l"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Screen readers</a:t>
            </a:r>
            <a:r>
              <a:rPr lang="en-US" sz="1300" dirty="0">
                <a:solidFill>
                  <a:srgbClr val="1F2A37"/>
                </a:solidFill>
                <a:latin typeface="IBM Plex Sans" pitchFamily="34" charset="0"/>
                <a:ea typeface="IBM Plex Sans" pitchFamily="34" charset="-122"/>
                <a:cs typeface="IBM Plex Sans" pitchFamily="34" charset="-120"/>
              </a:rPr>
              <a:t> announce “Student ID, edit text”.</a:t>
            </a:r>
            <a:endParaRPr lang="en-US" sz="1300" dirty="0"/>
          </a:p>
        </p:txBody>
      </p:sp>
      <p:sp>
        <p:nvSpPr>
          <p:cNvPr id="12" name="Text 10"/>
          <p:cNvSpPr/>
          <p:nvPr/>
        </p:nvSpPr>
        <p:spPr>
          <a:xfrm>
            <a:off x="7961809" y="4231878"/>
            <a:ext cx="3414216" cy="773311"/>
          </a:xfrm>
          <a:prstGeom prst="roundRect">
            <a:avLst>
              <a:gd name="adj" fmla="val 12728"/>
            </a:avLst>
          </a:prstGeom>
          <a:solidFill>
            <a:srgbClr val="FFFDF9"/>
          </a:solidFill>
          <a:ln w="6350">
            <a:solidFill>
              <a:srgbClr val="E4E0D8"/>
            </a:solidFill>
            <a:prstDash val="solid"/>
          </a:ln>
        </p:spPr>
        <p:txBody>
          <a:bodyPr wrap="square" lIns="126747" tIns="126747" rIns="33655" bIns="101347" rtlCol="0" anchor="t">
            <a:normAutofit/>
          </a:bodyPr>
          <a:lstStyle/>
          <a:p>
            <a:pPr algn="l"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Placeholder ≠ label:</a:t>
            </a:r>
            <a:r>
              <a:rPr lang="en-US" sz="1300" dirty="0">
                <a:solidFill>
                  <a:srgbClr val="1F2A37"/>
                </a:solidFill>
                <a:latin typeface="IBM Plex Sans" pitchFamily="34" charset="0"/>
                <a:ea typeface="IBM Plex Sans" pitchFamily="34" charset="-122"/>
                <a:cs typeface="IBM Plex Sans" pitchFamily="34" charset="-120"/>
              </a:rPr>
              <a:t> it disappears when you type.</a:t>
            </a:r>
            <a:endParaRPr lang="en-US" sz="13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6 — HTML5 Forms, GET &amp; POST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CONTROLS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textarea: multi-line text</a:t>
            </a:r>
            <a:endParaRPr lang="en-US" sz="3200" dirty="0"/>
          </a:p>
        </p:txBody>
      </p:sp>
      <p:sp>
        <p:nvSpPr>
          <p:cNvPr id="4" name="Text 2"/>
          <p:cNvSpPr/>
          <p:nvPr/>
        </p:nvSpPr>
        <p:spPr>
          <a:xfrm>
            <a:off x="812800" y="1981101"/>
            <a:ext cx="5969000" cy="1462881"/>
          </a:xfrm>
          <a:prstGeom prst="roundRect">
            <a:avLst>
              <a:gd name="adj" fmla="val 6945"/>
            </a:avLst>
          </a:prstGeom>
          <a:solidFill>
            <a:srgbClr val="1B2430"/>
          </a:solidFill>
          <a:ln/>
        </p:spPr>
        <p:txBody>
          <a:bodyPr wrap="square" lIns="224242" tIns="173442" rIns="60412" bIns="148042" rtlCol="0" anchor="t">
            <a:normAutofit/>
          </a:bodyPr>
          <a:lstStyle/>
          <a:p>
            <a:pPr algn="l" indent="0" marL="0">
              <a:lnSpc>
                <a:spcPts val="2080"/>
              </a:lnSpc>
              <a:buNone/>
            </a:pPr>
            <a:r>
              <a:rPr lang="en-US" sz="1300" dirty="0">
                <a:solidFill>
                  <a:srgbClr val="FF9E64"/>
                </a:solidFill>
                <a:latin typeface="IBM Plex Mono" pitchFamily="49" charset="0"/>
                <a:ea typeface="IBM Plex Mono" pitchFamily="49" charset="-122"/>
                <a:cs typeface="IBM Plex Mono" pitchFamily="49" charset="-120"/>
              </a:rPr>
              <a:t>&lt;label</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for</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"msg"</a:t>
            </a:r>
            <a:r>
              <a:rPr lang="en-US" sz="1300" dirty="0">
                <a:solidFill>
                  <a:srgbClr val="FF9E64"/>
                </a:solidFill>
                <a:latin typeface="IBM Plex Mono" pitchFamily="49" charset="0"/>
                <a:ea typeface="IBM Plex Mono" pitchFamily="49" charset="-122"/>
                <a:cs typeface="IBM Plex Mono" pitchFamily="49" charset="-120"/>
              </a:rPr>
              <a:t>&gt;</a:t>
            </a:r>
            <a:r>
              <a:rPr lang="en-US" sz="1300" dirty="0">
                <a:solidFill>
                  <a:srgbClr val="E6EDF3"/>
                </a:solidFill>
                <a:latin typeface="IBM Plex Mono" pitchFamily="49" charset="0"/>
                <a:ea typeface="IBM Plex Mono" pitchFamily="49" charset="-122"/>
                <a:cs typeface="IBM Plex Mono" pitchFamily="49" charset="-120"/>
              </a:rPr>
              <a:t>Your message</a:t>
            </a:r>
            <a:r>
              <a:rPr lang="en-US" sz="1300" dirty="0">
                <a:solidFill>
                  <a:srgbClr val="FF9E64"/>
                </a:solidFill>
                <a:latin typeface="IBM Plex Mono" pitchFamily="49" charset="0"/>
                <a:ea typeface="IBM Plex Mono" pitchFamily="49" charset="-122"/>
                <a:cs typeface="IBM Plex Mono" pitchFamily="49" charset="-120"/>
              </a:rPr>
              <a:t>&lt;/label&gt;</a:t>
            </a:r>
            <a:endParaRPr lang="en-US" sz="1300" dirty="0"/>
          </a:p>
          <a:p>
            <a:pPr algn="l" indent="0" marL="0">
              <a:lnSpc>
                <a:spcPts val="2080"/>
              </a:lnSpc>
              <a:buNone/>
            </a:pPr>
            <a:r>
              <a:rPr lang="en-US" sz="1300" dirty="0">
                <a:solidFill>
                  <a:srgbClr val="FF9E64"/>
                </a:solidFill>
                <a:latin typeface="IBM Plex Mono" pitchFamily="49" charset="0"/>
                <a:ea typeface="IBM Plex Mono" pitchFamily="49" charset="-122"/>
                <a:cs typeface="IBM Plex Mono" pitchFamily="49" charset="-120"/>
              </a:rPr>
              <a:t>&lt;textarea</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id</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"msg"</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name</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"message"</a:t>
            </a:r>
            <a:endParaRPr lang="en-US" sz="1300" dirty="0"/>
          </a:p>
          <a:p>
            <a:pPr algn="l" indent="0" marL="0">
              <a:lnSpc>
                <a:spcPts val="2080"/>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rows</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"5"</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cols</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"40"</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maxlength</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"500"</a:t>
            </a:r>
            <a:endParaRPr lang="en-US" sz="1300" dirty="0"/>
          </a:p>
          <a:p>
            <a:pPr algn="l" indent="0" marL="0">
              <a:lnSpc>
                <a:spcPts val="2080"/>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placeholder</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"Write your query here"</a:t>
            </a:r>
            <a:r>
              <a:rPr lang="en-US" sz="1300" dirty="0">
                <a:solidFill>
                  <a:srgbClr val="FF9E64"/>
                </a:solidFill>
                <a:latin typeface="IBM Plex Mono" pitchFamily="49" charset="0"/>
                <a:ea typeface="IBM Plex Mono" pitchFamily="49" charset="-122"/>
                <a:cs typeface="IBM Plex Mono" pitchFamily="49" charset="-120"/>
              </a:rPr>
              <a:t>&gt;&lt;/textarea&gt;</a:t>
            </a:r>
            <a:endParaRPr lang="en-US" sz="1300" dirty="0"/>
          </a:p>
        </p:txBody>
      </p:sp>
      <p:sp>
        <p:nvSpPr>
          <p:cNvPr id="5" name="Text 3"/>
          <p:cNvSpPr/>
          <p:nvPr/>
        </p:nvSpPr>
        <p:spPr>
          <a:xfrm>
            <a:off x="7035800" y="1981101"/>
            <a:ext cx="447370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rows / cols</a:t>
            </a:r>
            <a:r>
              <a:rPr lang="en-US" sz="1400" dirty="0">
                <a:solidFill>
                  <a:srgbClr val="1F2A37"/>
                </a:solidFill>
                <a:latin typeface="IBM Plex Sans" pitchFamily="34" charset="0"/>
                <a:ea typeface="IBM Plex Sans" pitchFamily="34" charset="-122"/>
                <a:cs typeface="IBM Plex Sans" pitchFamily="34" charset="-120"/>
              </a:rPr>
              <a:t> — visible size (CSS can override).</a:t>
            </a:r>
            <a:endParaRPr lang="en-US" sz="1400" dirty="0"/>
          </a:p>
        </p:txBody>
      </p:sp>
      <p:sp>
        <p:nvSpPr>
          <p:cNvPr id="6" name="Text 4"/>
          <p:cNvSpPr/>
          <p:nvPr/>
        </p:nvSpPr>
        <p:spPr>
          <a:xfrm>
            <a:off x="7035800" y="2356941"/>
            <a:ext cx="4473702"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Has a closing tag.</a:t>
            </a:r>
            <a:r>
              <a:rPr lang="en-US" sz="1400" dirty="0">
                <a:solidFill>
                  <a:srgbClr val="1F2A37"/>
                </a:solidFill>
                <a:latin typeface="IBM Plex Sans" pitchFamily="34" charset="0"/>
                <a:ea typeface="IBM Plex Sans" pitchFamily="34" charset="-122"/>
                <a:cs typeface="IBM Plex Sans" pitchFamily="34" charset="-120"/>
              </a:rPr>
              <a:t> Default text goes </a:t>
            </a:r>
            <a:r>
              <a:rPr lang="en-US" sz="1400" i="1" dirty="0">
                <a:solidFill>
                  <a:srgbClr val="1F2A37"/>
                </a:solidFill>
                <a:latin typeface="IBM Plex Sans" pitchFamily="34" charset="0"/>
                <a:ea typeface="IBM Plex Sans" pitchFamily="34" charset="-122"/>
                <a:cs typeface="IBM Plex Sans" pitchFamily="34" charset="-120"/>
              </a:rPr>
              <a:t>between</a:t>
            </a:r>
            <a:r>
              <a:rPr lang="en-US" sz="1400" dirty="0">
                <a:solidFill>
                  <a:srgbClr val="1F2A37"/>
                </a:solidFill>
                <a:latin typeface="IBM Plex Sans" pitchFamily="34" charset="0"/>
                <a:ea typeface="IBM Plex Sans" pitchFamily="34" charset="-122"/>
                <a:cs typeface="IBM Plex Sans" pitchFamily="34" charset="-120"/>
              </a:rPr>
              <a:t> the tags, not in a value attribute.</a:t>
            </a:r>
            <a:endParaRPr lang="en-US" sz="1400" dirty="0"/>
          </a:p>
        </p:txBody>
      </p:sp>
      <p:sp>
        <p:nvSpPr>
          <p:cNvPr id="7" name="Text 5"/>
          <p:cNvSpPr/>
          <p:nvPr/>
        </p:nvSpPr>
        <p:spPr>
          <a:xfrm>
            <a:off x="7035800" y="2981623"/>
            <a:ext cx="447370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Keep the tags on one line: any spaces between them become content.</a:t>
            </a:r>
            <a:endParaRPr lang="en-US" sz="13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6 — HTML5 Forms, GET &amp; POST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CONTROLS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Radio buttons and checkboxes</a:t>
            </a:r>
            <a:endParaRPr lang="en-US" sz="3200" dirty="0"/>
          </a:p>
        </p:txBody>
      </p:sp>
      <p:sp>
        <p:nvSpPr>
          <p:cNvPr id="4" name="Text 2"/>
          <p:cNvSpPr/>
          <p:nvPr/>
        </p:nvSpPr>
        <p:spPr>
          <a:xfrm>
            <a:off x="812800" y="1981101"/>
            <a:ext cx="533704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E"/>
                </a:solidFill>
                <a:latin typeface="IBM Plex Sans" pitchFamily="34" charset="0"/>
                <a:ea typeface="IBM Plex Sans" pitchFamily="34" charset="-122"/>
                <a:cs typeface="IBM Plex Sans" pitchFamily="34" charset="-120"/>
              </a:rPr>
              <a:t>Radio — pick exactly one</a:t>
            </a:r>
            <a:endParaRPr lang="en-US" sz="1500" dirty="0"/>
          </a:p>
        </p:txBody>
      </p:sp>
      <p:sp>
        <p:nvSpPr>
          <p:cNvPr id="5" name="Text 3"/>
          <p:cNvSpPr/>
          <p:nvPr/>
        </p:nvSpPr>
        <p:spPr>
          <a:xfrm>
            <a:off x="812800" y="2311301"/>
            <a:ext cx="5181600" cy="1772444"/>
          </a:xfrm>
          <a:prstGeom prst="roundRect">
            <a:avLst>
              <a:gd name="adj" fmla="val 5732"/>
            </a:avLst>
          </a:prstGeom>
          <a:solidFill>
            <a:srgbClr val="1B2430"/>
          </a:solidFill>
          <a:ln/>
        </p:spPr>
        <p:txBody>
          <a:bodyPr wrap="square" lIns="173442" tIns="148042" rIns="30186" bIns="122642" rtlCol="0" anchor="t">
            <a:normAutofit/>
          </a:bodyPr>
          <a:lstStyle/>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&lt;label&gt;&lt;input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type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"radio"</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name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"shift"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value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"morning"</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checked</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 Morning</a:t>
            </a:r>
            <a:r>
              <a:rPr lang="en-US" sz="1200" dirty="0">
                <a:solidFill>
                  <a:srgbClr val="FF9E64"/>
                </a:solidFill>
                <a:latin typeface="IBM Plex Mono" pitchFamily="49" charset="0"/>
                <a:ea typeface="IBM Plex Mono" pitchFamily="49" charset="-122"/>
                <a:cs typeface="IBM Plex Mono" pitchFamily="49" charset="-120"/>
              </a:rPr>
              <a:t>&lt;/label&gt;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&lt;label&gt;&lt;input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type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"radio"</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name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"shift"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value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"evening"</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Evening</a:t>
            </a:r>
            <a:r>
              <a:rPr lang="en-US" sz="1200" dirty="0">
                <a:solidFill>
                  <a:srgbClr val="FF9E64"/>
                </a:solidFill>
                <a:latin typeface="IBM Plex Mono" pitchFamily="49" charset="0"/>
                <a:ea typeface="IBM Plex Mono" pitchFamily="49" charset="-122"/>
                <a:cs typeface="IBM Plex Mono" pitchFamily="49" charset="-120"/>
              </a:rPr>
              <a:t>&lt;/label&gt;</a:t>
            </a:r>
            <a:endParaRPr lang="en-US" sz="1200" dirty="0"/>
          </a:p>
        </p:txBody>
      </p:sp>
      <p:sp>
        <p:nvSpPr>
          <p:cNvPr id="6" name="Text 4"/>
          <p:cNvSpPr/>
          <p:nvPr/>
        </p:nvSpPr>
        <p:spPr>
          <a:xfrm>
            <a:off x="812800" y="4185345"/>
            <a:ext cx="533704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Same </a:t>
            </a:r>
            <a:r>
              <a:rPr lang="en-US" sz="1300" b="1" dirty="0">
                <a:solidFill>
                  <a:srgbClr val="1F2A37"/>
                </a:solidFill>
                <a:latin typeface="IBM Plex Sans" pitchFamily="34" charset="0"/>
                <a:ea typeface="IBM Plex Sans" pitchFamily="34" charset="-122"/>
                <a:cs typeface="IBM Plex Sans" pitchFamily="34" charset="-120"/>
              </a:rPr>
              <a:t>name</a:t>
            </a:r>
            <a:r>
              <a:rPr lang="en-US" sz="1300" dirty="0">
                <a:solidFill>
                  <a:srgbClr val="1F2A37"/>
                </a:solidFill>
                <a:latin typeface="IBM Plex Sans" pitchFamily="34" charset="0"/>
                <a:ea typeface="IBM Plex Sans" pitchFamily="34" charset="-122"/>
                <a:cs typeface="IBM Plex Sans" pitchFamily="34" charset="-120"/>
              </a:rPr>
              <a:t> = one group; only one can be selected. Sends shift=morning.</a:t>
            </a:r>
            <a:endParaRPr lang="en-US" sz="1300" dirty="0"/>
          </a:p>
        </p:txBody>
      </p:sp>
      <p:sp>
        <p:nvSpPr>
          <p:cNvPr id="7" name="Text 5"/>
          <p:cNvSpPr/>
          <p:nvPr/>
        </p:nvSpPr>
        <p:spPr>
          <a:xfrm>
            <a:off x="6197600" y="1981101"/>
            <a:ext cx="533704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E"/>
                </a:solidFill>
                <a:latin typeface="IBM Plex Sans" pitchFamily="34" charset="0"/>
                <a:ea typeface="IBM Plex Sans" pitchFamily="34" charset="-122"/>
                <a:cs typeface="IBM Plex Sans" pitchFamily="34" charset="-120"/>
              </a:rPr>
              <a:t>Checkbox — pick any number</a:t>
            </a:r>
            <a:endParaRPr lang="en-US" sz="1500" dirty="0"/>
          </a:p>
        </p:txBody>
      </p:sp>
      <p:sp>
        <p:nvSpPr>
          <p:cNvPr id="8" name="Text 6"/>
          <p:cNvSpPr/>
          <p:nvPr/>
        </p:nvSpPr>
        <p:spPr>
          <a:xfrm>
            <a:off x="6197600" y="2311301"/>
            <a:ext cx="5181600" cy="1772444"/>
          </a:xfrm>
          <a:prstGeom prst="roundRect">
            <a:avLst>
              <a:gd name="adj" fmla="val 5732"/>
            </a:avLst>
          </a:prstGeom>
          <a:solidFill>
            <a:srgbClr val="1B2430"/>
          </a:solidFill>
          <a:ln/>
        </p:spPr>
        <p:txBody>
          <a:bodyPr wrap="square" lIns="173442" tIns="148042" rIns="30186" bIns="122642" rtlCol="0" anchor="t">
            <a:normAutofit/>
          </a:bodyPr>
          <a:lstStyle/>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&lt;label&gt;&lt;input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type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"checkbox"</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name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"skills[]"</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value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"html"</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HTML</a:t>
            </a:r>
            <a:r>
              <a:rPr lang="en-US" sz="1200" dirty="0">
                <a:solidFill>
                  <a:srgbClr val="FF9E64"/>
                </a:solidFill>
                <a:latin typeface="IBM Plex Mono" pitchFamily="49" charset="0"/>
                <a:ea typeface="IBM Plex Mono" pitchFamily="49" charset="-122"/>
                <a:cs typeface="IBM Plex Mono" pitchFamily="49" charset="-120"/>
              </a:rPr>
              <a:t>&lt;/label&gt;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&lt;label&gt;&lt;input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type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"checkbox"</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name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"skills[]"</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value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"css"</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CSS</a:t>
            </a:r>
            <a:r>
              <a:rPr lang="en-US" sz="1200" dirty="0">
                <a:solidFill>
                  <a:srgbClr val="FF9E64"/>
                </a:solidFill>
                <a:latin typeface="IBM Plex Mono" pitchFamily="49" charset="0"/>
                <a:ea typeface="IBM Plex Mono" pitchFamily="49" charset="-122"/>
                <a:cs typeface="IBM Plex Mono" pitchFamily="49" charset="-120"/>
              </a:rPr>
              <a:t>&lt;/label&gt;</a:t>
            </a:r>
            <a:endParaRPr lang="en-US" sz="1200" dirty="0"/>
          </a:p>
        </p:txBody>
      </p:sp>
      <p:sp>
        <p:nvSpPr>
          <p:cNvPr id="9" name="Text 7"/>
          <p:cNvSpPr/>
          <p:nvPr/>
        </p:nvSpPr>
        <p:spPr>
          <a:xfrm>
            <a:off x="6197600" y="4185345"/>
            <a:ext cx="59944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Only </a:t>
            </a:r>
            <a:r>
              <a:rPr lang="en-US" sz="1300" b="1" dirty="0">
                <a:solidFill>
                  <a:srgbClr val="1F2A37"/>
                </a:solidFill>
                <a:latin typeface="IBM Plex Sans" pitchFamily="34" charset="0"/>
                <a:ea typeface="IBM Plex Sans" pitchFamily="34" charset="-122"/>
                <a:cs typeface="IBM Plex Sans" pitchFamily="34" charset="-120"/>
              </a:rPr>
              <a:t>ticked</a:t>
            </a:r>
            <a:r>
              <a:rPr lang="en-US" sz="1300" dirty="0">
                <a:solidFill>
                  <a:srgbClr val="1F2A37"/>
                </a:solidFill>
                <a:latin typeface="IBM Plex Sans" pitchFamily="34" charset="0"/>
                <a:ea typeface="IBM Plex Sans" pitchFamily="34" charset="-122"/>
                <a:cs typeface="IBM Plex Sans" pitchFamily="34" charset="-120"/>
              </a:rPr>
              <a:t> boxes are sent. The [] lets PHP receive them as an array.</a:t>
            </a:r>
            <a:endParaRPr lang="en-US" sz="13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6 — HTML5 Forms, GET &amp; POST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CONTROLS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Drop-down menus and suggestions</a:t>
            </a:r>
            <a:endParaRPr lang="en-US" sz="3200" dirty="0"/>
          </a:p>
        </p:txBody>
      </p:sp>
      <p:sp>
        <p:nvSpPr>
          <p:cNvPr id="4" name="Text 2"/>
          <p:cNvSpPr/>
          <p:nvPr/>
        </p:nvSpPr>
        <p:spPr>
          <a:xfrm>
            <a:off x="812800" y="1981101"/>
            <a:ext cx="582227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E"/>
                </a:solidFill>
                <a:latin typeface="IBM Plex Sans" pitchFamily="34" charset="0"/>
                <a:ea typeface="IBM Plex Sans" pitchFamily="34" charset="-122"/>
                <a:cs typeface="IBM Plex Sans" pitchFamily="34" charset="-120"/>
              </a:rPr>
              <a:t>select + option + optgroup</a:t>
            </a:r>
            <a:endParaRPr lang="en-US" sz="1500" dirty="0"/>
          </a:p>
        </p:txBody>
      </p:sp>
      <p:sp>
        <p:nvSpPr>
          <p:cNvPr id="5" name="Text 3"/>
          <p:cNvSpPr/>
          <p:nvPr/>
        </p:nvSpPr>
        <p:spPr>
          <a:xfrm>
            <a:off x="812800" y="2311301"/>
            <a:ext cx="5652691" cy="2244725"/>
          </a:xfrm>
          <a:prstGeom prst="roundRect">
            <a:avLst>
              <a:gd name="adj" fmla="val 4526"/>
            </a:avLst>
          </a:prstGeom>
          <a:solidFill>
            <a:srgbClr val="1B2430"/>
          </a:solidFill>
          <a:ln/>
        </p:spPr>
        <p:txBody>
          <a:bodyPr wrap="square" lIns="173442" tIns="148042" rIns="16054" bIns="122642" rtlCol="0" anchor="t">
            <a:normAutofit/>
          </a:bodyPr>
          <a:lstStyle/>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&lt;select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id</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"course"</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name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"course"</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&lt;option</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value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 Choose --</a:t>
            </a:r>
            <a:r>
              <a:rPr lang="en-US" sz="1200" dirty="0">
                <a:solidFill>
                  <a:srgbClr val="FF9E64"/>
                </a:solidFill>
                <a:latin typeface="IBM Plex Mono" pitchFamily="49" charset="0"/>
                <a:ea typeface="IBM Plex Mono" pitchFamily="49" charset="-122"/>
                <a:cs typeface="IBM Plex Mono" pitchFamily="49" charset="-120"/>
              </a:rPr>
              <a:t>&lt;/option&gt;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&lt;optgroup</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label</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"6th semester"</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&lt;option</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value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"csc312"</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selected</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Web Engineering</a:t>
            </a:r>
            <a:r>
              <a:rPr lang="en-US" sz="1200" dirty="0">
                <a:solidFill>
                  <a:srgbClr val="FF9E64"/>
                </a:solidFill>
                <a:latin typeface="IBM Plex Mono" pitchFamily="49" charset="0"/>
                <a:ea typeface="IBM Plex Mono" pitchFamily="49" charset="-122"/>
                <a:cs typeface="IBM Plex Mono" pitchFamily="49" charset="-120"/>
              </a:rPr>
              <a:t>&lt;/option&gt;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&lt;option</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value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"ai"</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AI</a:t>
            </a:r>
            <a:r>
              <a:rPr lang="en-US" sz="1200" dirty="0">
                <a:solidFill>
                  <a:srgbClr val="FF9E64"/>
                </a:solidFill>
                <a:latin typeface="IBM Plex Mono" pitchFamily="49" charset="0"/>
                <a:ea typeface="IBM Plex Mono" pitchFamily="49" charset="-122"/>
                <a:cs typeface="IBM Plex Mono" pitchFamily="49" charset="-120"/>
              </a:rPr>
              <a:t>&lt;/option&gt;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&lt;/optgroup&gt;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&lt;/select&gt;</a:t>
            </a:r>
            <a:endParaRPr lang="en-US" sz="1200" dirty="0"/>
          </a:p>
        </p:txBody>
      </p:sp>
      <p:sp>
        <p:nvSpPr>
          <p:cNvPr id="6" name="Text 4"/>
          <p:cNvSpPr/>
          <p:nvPr/>
        </p:nvSpPr>
        <p:spPr>
          <a:xfrm>
            <a:off x="812800" y="4657626"/>
            <a:ext cx="678322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The </a:t>
            </a:r>
            <a:r>
              <a:rPr lang="en-US" sz="1300" b="1" dirty="0">
                <a:solidFill>
                  <a:srgbClr val="1F2A37"/>
                </a:solidFill>
                <a:latin typeface="IBM Plex Sans" pitchFamily="34" charset="0"/>
                <a:ea typeface="IBM Plex Sans" pitchFamily="34" charset="-122"/>
                <a:cs typeface="IBM Plex Sans" pitchFamily="34" charset="-120"/>
              </a:rPr>
              <a:t>value</a:t>
            </a:r>
            <a:r>
              <a:rPr lang="en-US" sz="1300" dirty="0">
                <a:solidFill>
                  <a:srgbClr val="1F2A37"/>
                </a:solidFill>
                <a:latin typeface="IBM Plex Sans" pitchFamily="34" charset="0"/>
                <a:ea typeface="IBM Plex Sans" pitchFamily="34" charset="-122"/>
                <a:cs typeface="IBM Plex Sans" pitchFamily="34" charset="-120"/>
              </a:rPr>
              <a:t> is sent, the text is shown. Add </a:t>
            </a:r>
            <a:r>
              <a:rPr lang="en-US" sz="1300" b="1" dirty="0">
                <a:solidFill>
                  <a:srgbClr val="1F2A37"/>
                </a:solidFill>
                <a:latin typeface="IBM Plex Sans" pitchFamily="34" charset="0"/>
                <a:ea typeface="IBM Plex Sans" pitchFamily="34" charset="-122"/>
                <a:cs typeface="IBM Plex Sans" pitchFamily="34" charset="-120"/>
              </a:rPr>
              <a:t>multiple</a:t>
            </a:r>
            <a:r>
              <a:rPr lang="en-US" sz="1300" dirty="0">
                <a:solidFill>
                  <a:srgbClr val="1F2A37"/>
                </a:solidFill>
                <a:latin typeface="IBM Plex Sans" pitchFamily="34" charset="0"/>
                <a:ea typeface="IBM Plex Sans" pitchFamily="34" charset="-122"/>
                <a:cs typeface="IBM Plex Sans" pitchFamily="34" charset="-120"/>
              </a:rPr>
              <a:t> to allow several choices.</a:t>
            </a:r>
            <a:endParaRPr lang="en-US" sz="1300" dirty="0"/>
          </a:p>
        </p:txBody>
      </p:sp>
      <p:sp>
        <p:nvSpPr>
          <p:cNvPr id="7" name="Text 5"/>
          <p:cNvSpPr/>
          <p:nvPr/>
        </p:nvSpPr>
        <p:spPr>
          <a:xfrm>
            <a:off x="6668691" y="1981101"/>
            <a:ext cx="485182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E"/>
                </a:solidFill>
                <a:latin typeface="IBM Plex Sans" pitchFamily="34" charset="0"/>
                <a:ea typeface="IBM Plex Sans" pitchFamily="34" charset="-122"/>
                <a:cs typeface="IBM Plex Sans" pitchFamily="34" charset="-120"/>
              </a:rPr>
              <a:t>datalist — type or pick</a:t>
            </a:r>
            <a:endParaRPr lang="en-US" sz="1500" dirty="0"/>
          </a:p>
        </p:txBody>
      </p:sp>
      <p:sp>
        <p:nvSpPr>
          <p:cNvPr id="8" name="Text 6"/>
          <p:cNvSpPr/>
          <p:nvPr/>
        </p:nvSpPr>
        <p:spPr>
          <a:xfrm>
            <a:off x="6668691" y="2311301"/>
            <a:ext cx="4710509" cy="2008584"/>
          </a:xfrm>
          <a:prstGeom prst="roundRect">
            <a:avLst>
              <a:gd name="adj" fmla="val 5058"/>
            </a:avLst>
          </a:prstGeom>
          <a:solidFill>
            <a:srgbClr val="1B2430"/>
          </a:solidFill>
          <a:ln/>
        </p:spPr>
        <p:txBody>
          <a:bodyPr wrap="square" lIns="173442" tIns="148042" rIns="44319" bIns="122642" rtlCol="0" anchor="t">
            <a:normAutofit/>
          </a:bodyPr>
          <a:lstStyle/>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&lt;input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name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"city"</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list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"cities"</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&lt;datalist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id</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"cities"</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&lt;option</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value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"Islamabad"</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&lt;option</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value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"Lahore"</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&lt;option</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value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"Karachi"</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&lt;/datalist&gt;</a:t>
            </a:r>
            <a:endParaRPr lang="en-US" sz="1200" dirty="0"/>
          </a:p>
        </p:txBody>
      </p:sp>
      <p:sp>
        <p:nvSpPr>
          <p:cNvPr id="9" name="Text 7"/>
          <p:cNvSpPr/>
          <p:nvPr/>
        </p:nvSpPr>
        <p:spPr>
          <a:xfrm>
            <a:off x="6668691" y="4421485"/>
            <a:ext cx="485182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Suggestions only — users can still type anything.</a:t>
            </a:r>
            <a:endParaRPr lang="en-US" sz="13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6 — HTML5 Forms, GET &amp; POST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HTML5 CONTROLS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HTML5 input types with built-in pickers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01"/>
          <a:ext cx="5575300" cy="2514898"/>
        </p:xfrm>
        <a:graphic>
          <a:graphicData uri="http://schemas.openxmlformats.org/drawingml/2006/table">
            <a:tbl>
              <a:tblPr/>
              <a:tblGrid>
                <a:gridCol w="2007108"/>
                <a:gridCol w="3568192"/>
              </a:tblGrid>
              <a:tr h="359271">
                <a:tc>
                  <a:txBody>
                    <a:bodyPr/>
                    <a:lstStyle/>
                    <a:p>
                      <a:pPr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type=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Gives the user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date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Calendar picker (YYYY-MM-DD sent)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time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Hours and minutes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datetime-local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Date and time together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month / week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Month or week picker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color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Colour picker (#rrggbb sent)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range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Slider with min, max, step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6654800" y="1981101"/>
            <a:ext cx="4724400" cy="2062063"/>
          </a:xfrm>
          <a:prstGeom prst="roundRect">
            <a:avLst>
              <a:gd name="adj" fmla="val 4927"/>
            </a:avLst>
          </a:prstGeom>
          <a:solidFill>
            <a:srgbClr val="1B2430"/>
          </a:solidFill>
          <a:ln/>
        </p:spPr>
        <p:txBody>
          <a:bodyPr wrap="square" lIns="173442" tIns="148042" rIns="43902" bIns="122642" rtlCol="0" anchor="t">
            <a:normAutofit/>
          </a:bodyPr>
          <a:lstStyle/>
          <a:p>
            <a:pPr algn="l" indent="0" marL="0">
              <a:lnSpc>
                <a:spcPts val="1920"/>
              </a:lnSpc>
              <a:buNone/>
            </a:pPr>
            <a:r>
              <a:rPr lang="en-US" sz="1200" dirty="0">
                <a:solidFill>
                  <a:srgbClr val="FF9E64"/>
                </a:solidFill>
                <a:latin typeface="IBM Plex Mono" pitchFamily="49" charset="0"/>
                <a:ea typeface="IBM Plex Mono" pitchFamily="49" charset="-122"/>
                <a:cs typeface="IBM Plex Mono" pitchFamily="49" charset="-120"/>
              </a:rPr>
              <a:t>&lt;input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type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"date"</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name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"dob"</a:t>
            </a:r>
            <a:endParaRPr lang="en-US" sz="1200" dirty="0"/>
          </a:p>
          <a:p>
            <a:pPr algn="l" indent="0" marL="0">
              <a:lnSpc>
                <a:spcPts val="192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min</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"1990-01-01"</a:t>
            </a:r>
            <a:endParaRPr lang="en-US" sz="1200" dirty="0"/>
          </a:p>
          <a:p>
            <a:pPr algn="l" indent="0" marL="0">
              <a:lnSpc>
                <a:spcPts val="192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max</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"2010-12-31"</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920"/>
              </a:lnSpc>
              <a:buNone/>
            </a:pPr>
            <a:endParaRPr lang="en-US" sz="1200" dirty="0"/>
          </a:p>
          <a:p>
            <a:pPr algn="l" indent="0" marL="0">
              <a:lnSpc>
                <a:spcPts val="1920"/>
              </a:lnSpc>
              <a:buNone/>
            </a:pPr>
            <a:r>
              <a:rPr lang="en-US" sz="1200" dirty="0">
                <a:solidFill>
                  <a:srgbClr val="FF9E64"/>
                </a:solidFill>
                <a:latin typeface="IBM Plex Mono" pitchFamily="49" charset="0"/>
                <a:ea typeface="IBM Plex Mono" pitchFamily="49" charset="-122"/>
                <a:cs typeface="IBM Plex Mono" pitchFamily="49" charset="-120"/>
              </a:rPr>
              <a:t>&lt;input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type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"range"</a:t>
            </a:r>
            <a:endParaRPr lang="en-US" sz="1200" dirty="0"/>
          </a:p>
          <a:p>
            <a:pPr algn="l" indent="0" marL="0">
              <a:lnSpc>
                <a:spcPts val="192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name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"rating"</a:t>
            </a:r>
            <a:endParaRPr lang="en-US" sz="1200" dirty="0"/>
          </a:p>
          <a:p>
            <a:pPr algn="l" indent="0" marL="0">
              <a:lnSpc>
                <a:spcPts val="192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min</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"1"</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max</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"5"</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step</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"1"</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p:txBody>
      </p:sp>
      <p:sp>
        <p:nvSpPr>
          <p:cNvPr id="6" name="Text 3"/>
          <p:cNvSpPr/>
          <p:nvPr/>
        </p:nvSpPr>
        <p:spPr>
          <a:xfrm>
            <a:off x="812800" y="4762698"/>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The look varies by browser and device. Old browsers that don’t know a type show a plain text box — so the form still works.</a:t>
            </a:r>
            <a:endParaRPr lang="en-US" sz="13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6 — HTML5 Forms, GET &amp; POST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CONTROLS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File uploads and hidden fields</a:t>
            </a:r>
            <a:endParaRPr lang="en-US" sz="3200" dirty="0"/>
          </a:p>
        </p:txBody>
      </p:sp>
      <p:sp>
        <p:nvSpPr>
          <p:cNvPr id="4" name="Text 2"/>
          <p:cNvSpPr/>
          <p:nvPr/>
        </p:nvSpPr>
        <p:spPr>
          <a:xfrm>
            <a:off x="812800" y="1981101"/>
            <a:ext cx="10566400" cy="2197596"/>
          </a:xfrm>
          <a:prstGeom prst="roundRect">
            <a:avLst>
              <a:gd name="adj" fmla="val 4623"/>
            </a:avLst>
          </a:prstGeom>
          <a:solidFill>
            <a:srgbClr val="1B2430"/>
          </a:solidFill>
          <a:ln/>
        </p:spPr>
        <p:txBody>
          <a:bodyPr wrap="square" lIns="224242" tIns="173442" rIns="0" bIns="148042" rtlCol="0" anchor="t">
            <a:normAutofit/>
          </a:bodyPr>
          <a:lstStyle/>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&lt;form</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action</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"upload.php"</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method</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"post"</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enctype</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"multipart/form-data"</a:t>
            </a:r>
            <a:r>
              <a:rPr lang="en-US" sz="1300" dirty="0">
                <a:solidFill>
                  <a:srgbClr val="FF9E64"/>
                </a:solidFill>
                <a:latin typeface="IBM Plex Mono" pitchFamily="49" charset="0"/>
                <a:ea typeface="IBM Plex Mono" pitchFamily="49" charset="-122"/>
                <a:cs typeface="IBM Plex Mono" pitchFamily="49" charset="-120"/>
              </a:rPr>
              <a:t>&gt;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&lt;label</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for</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"cv"</a:t>
            </a:r>
            <a:r>
              <a:rPr lang="en-US" sz="1300" dirty="0">
                <a:solidFill>
                  <a:srgbClr val="FF9E64"/>
                </a:solidFill>
                <a:latin typeface="IBM Plex Mono" pitchFamily="49" charset="0"/>
                <a:ea typeface="IBM Plex Mono" pitchFamily="49" charset="-122"/>
                <a:cs typeface="IBM Plex Mono" pitchFamily="49" charset="-120"/>
              </a:rPr>
              <a:t>&gt;</a:t>
            </a:r>
            <a:r>
              <a:rPr lang="en-US" sz="1300" dirty="0">
                <a:solidFill>
                  <a:srgbClr val="E6EDF3"/>
                </a:solidFill>
                <a:latin typeface="IBM Plex Mono" pitchFamily="49" charset="0"/>
                <a:ea typeface="IBM Plex Mono" pitchFamily="49" charset="-122"/>
                <a:cs typeface="IBM Plex Mono" pitchFamily="49" charset="-120"/>
              </a:rPr>
              <a:t>Upload CV (PDF)</a:t>
            </a:r>
            <a:r>
              <a:rPr lang="en-US" sz="1300" dirty="0">
                <a:solidFill>
                  <a:srgbClr val="FF9E64"/>
                </a:solidFill>
                <a:latin typeface="IBM Plex Mono" pitchFamily="49" charset="0"/>
                <a:ea typeface="IBM Plex Mono" pitchFamily="49" charset="-122"/>
                <a:cs typeface="IBM Plex Mono" pitchFamily="49" charset="-120"/>
              </a:rPr>
              <a:t>&lt;/label&gt;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&lt;input</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type</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"file"</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id</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"cv"</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name</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"cv"</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accept</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".pdf"</a:t>
            </a:r>
            <a:r>
              <a:rPr lang="en-US" sz="1300" dirty="0">
                <a:solidFill>
                  <a:srgbClr val="FF9E64"/>
                </a:solidFill>
                <a:latin typeface="IBM Plex Mono" pitchFamily="49" charset="0"/>
                <a:ea typeface="IBM Plex Mono" pitchFamily="49" charset="-122"/>
                <a:cs typeface="IBM Plex Mono" pitchFamily="49" charset="-120"/>
              </a:rPr>
              <a:t>&gt;</a:t>
            </a:r>
            <a:endParaRPr lang="en-US" sz="1300" dirty="0"/>
          </a:p>
          <a:p>
            <a:pPr algn="l" indent="0" marL="0">
              <a:lnSpc>
                <a:spcPts val="2015"/>
              </a:lnSpc>
              <a:buNone/>
            </a:pP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&lt;input</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type</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"hidden"</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name</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"form_source"</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value</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"careers-page"</a:t>
            </a:r>
            <a:r>
              <a:rPr lang="en-US" sz="1300" dirty="0">
                <a:solidFill>
                  <a:srgbClr val="FF9E64"/>
                </a:solidFill>
                <a:latin typeface="IBM Plex Mono" pitchFamily="49" charset="0"/>
                <a:ea typeface="IBM Plex Mono" pitchFamily="49" charset="-122"/>
                <a:cs typeface="IBM Plex Mono" pitchFamily="49" charset="-120"/>
              </a:rPr>
              <a:t>&gt;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&lt;button&gt;</a:t>
            </a:r>
            <a:r>
              <a:rPr lang="en-US" sz="1300" dirty="0">
                <a:solidFill>
                  <a:srgbClr val="E6EDF3"/>
                </a:solidFill>
                <a:latin typeface="IBM Plex Mono" pitchFamily="49" charset="0"/>
                <a:ea typeface="IBM Plex Mono" pitchFamily="49" charset="-122"/>
                <a:cs typeface="IBM Plex Mono" pitchFamily="49" charset="-120"/>
              </a:rPr>
              <a:t>Send</a:t>
            </a:r>
            <a:r>
              <a:rPr lang="en-US" sz="1300" dirty="0">
                <a:solidFill>
                  <a:srgbClr val="FF9E64"/>
                </a:solidFill>
                <a:latin typeface="IBM Plex Mono" pitchFamily="49" charset="0"/>
                <a:ea typeface="IBM Plex Mono" pitchFamily="49" charset="-122"/>
                <a:cs typeface="IBM Plex Mono" pitchFamily="49" charset="-120"/>
              </a:rPr>
              <a:t>&lt;/button&gt;</a:t>
            </a: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&lt;/form&gt;</a:t>
            </a:r>
            <a:endParaRPr lang="en-US" sz="1300" dirty="0"/>
          </a:p>
        </p:txBody>
      </p:sp>
      <p:sp>
        <p:nvSpPr>
          <p:cNvPr id="5" name="Shape 3"/>
          <p:cNvSpPr/>
          <p:nvPr/>
        </p:nvSpPr>
        <p:spPr>
          <a:xfrm>
            <a:off x="815975" y="4435872"/>
            <a:ext cx="5200650" cy="1103511"/>
          </a:xfrm>
          <a:prstGeom prst="roundRect">
            <a:avLst>
              <a:gd name="adj" fmla="val 8919"/>
            </a:avLst>
          </a:prstGeom>
          <a:solidFill>
            <a:srgbClr val="FFFDF9"/>
          </a:solidFill>
          <a:ln w="6350">
            <a:solidFill>
              <a:srgbClr val="E4E0D8"/>
            </a:solidFill>
            <a:prstDash val="solid"/>
          </a:ln>
        </p:spPr>
      </p:sp>
      <p:sp>
        <p:nvSpPr>
          <p:cNvPr id="6" name="Text 4"/>
          <p:cNvSpPr/>
          <p:nvPr/>
        </p:nvSpPr>
        <p:spPr>
          <a:xfrm>
            <a:off x="996950" y="4616847"/>
            <a:ext cx="49838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type="file"</a:t>
            </a:r>
            <a:endParaRPr lang="en-US" sz="1500" dirty="0"/>
          </a:p>
        </p:txBody>
      </p:sp>
      <p:sp>
        <p:nvSpPr>
          <p:cNvPr id="7" name="Text 5"/>
          <p:cNvSpPr/>
          <p:nvPr/>
        </p:nvSpPr>
        <p:spPr>
          <a:xfrm>
            <a:off x="996950" y="4896247"/>
            <a:ext cx="498386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Needs </a:t>
            </a:r>
            <a:r>
              <a:rPr lang="en-US" sz="1300" b="1" dirty="0">
                <a:solidFill>
                  <a:srgbClr val="1F2A37"/>
                </a:solidFill>
                <a:latin typeface="IBM Plex Sans" pitchFamily="34" charset="0"/>
                <a:ea typeface="IBM Plex Sans" pitchFamily="34" charset="-122"/>
                <a:cs typeface="IBM Plex Sans" pitchFamily="34" charset="-120"/>
              </a:rPr>
              <a:t>post</a:t>
            </a:r>
            <a:r>
              <a:rPr lang="en-US" sz="1300" dirty="0">
                <a:solidFill>
                  <a:srgbClr val="1F2A37"/>
                </a:solidFill>
                <a:latin typeface="IBM Plex Sans" pitchFamily="34" charset="0"/>
                <a:ea typeface="IBM Plex Sans" pitchFamily="34" charset="-122"/>
                <a:cs typeface="IBM Plex Sans" pitchFamily="34" charset="-120"/>
              </a:rPr>
              <a:t> + </a:t>
            </a:r>
            <a:r>
              <a:rPr lang="en-US" sz="1300" b="1" dirty="0">
                <a:solidFill>
                  <a:srgbClr val="1F2A37"/>
                </a:solidFill>
                <a:latin typeface="IBM Plex Sans" pitchFamily="34" charset="0"/>
                <a:ea typeface="IBM Plex Sans" pitchFamily="34" charset="-122"/>
                <a:cs typeface="IBM Plex Sans" pitchFamily="34" charset="-120"/>
              </a:rPr>
              <a:t>enctype="multipart/form-data"</a:t>
            </a:r>
            <a:r>
              <a:rPr lang="en-US" sz="1300" dirty="0">
                <a:solidFill>
                  <a:srgbClr val="1F2A37"/>
                </a:solidFill>
                <a:latin typeface="IBM Plex Sans" pitchFamily="34" charset="0"/>
                <a:ea typeface="IBM Plex Sans" pitchFamily="34" charset="-122"/>
                <a:cs typeface="IBM Plex Sans" pitchFamily="34" charset="-120"/>
              </a:rPr>
              <a:t>. accept filters types; multiple allows several files.</a:t>
            </a:r>
            <a:endParaRPr lang="en-US" sz="1300" dirty="0"/>
          </a:p>
        </p:txBody>
      </p:sp>
      <p:sp>
        <p:nvSpPr>
          <p:cNvPr id="8" name="Shape 6"/>
          <p:cNvSpPr/>
          <p:nvPr/>
        </p:nvSpPr>
        <p:spPr>
          <a:xfrm>
            <a:off x="6175375" y="4435872"/>
            <a:ext cx="5200650" cy="1103511"/>
          </a:xfrm>
          <a:prstGeom prst="roundRect">
            <a:avLst>
              <a:gd name="adj" fmla="val 8919"/>
            </a:avLst>
          </a:prstGeom>
          <a:solidFill>
            <a:srgbClr val="FFFDF9"/>
          </a:solidFill>
          <a:ln w="6350">
            <a:solidFill>
              <a:srgbClr val="E4E0D8"/>
            </a:solidFill>
            <a:prstDash val="solid"/>
          </a:ln>
        </p:spPr>
      </p:sp>
      <p:sp>
        <p:nvSpPr>
          <p:cNvPr id="9" name="Text 7"/>
          <p:cNvSpPr/>
          <p:nvPr/>
        </p:nvSpPr>
        <p:spPr>
          <a:xfrm>
            <a:off x="6356350" y="4616847"/>
            <a:ext cx="49838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type="hidden"</a:t>
            </a:r>
            <a:endParaRPr lang="en-US" sz="1500" dirty="0"/>
          </a:p>
        </p:txBody>
      </p:sp>
      <p:sp>
        <p:nvSpPr>
          <p:cNvPr id="10" name="Text 8"/>
          <p:cNvSpPr/>
          <p:nvPr/>
        </p:nvSpPr>
        <p:spPr>
          <a:xfrm>
            <a:off x="6356350" y="4896247"/>
            <a:ext cx="498386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Sends a value the user doesn’t see. </a:t>
            </a:r>
            <a:r>
              <a:rPr lang="en-US" sz="1300" b="1" dirty="0">
                <a:solidFill>
                  <a:srgbClr val="1F2A37"/>
                </a:solidFill>
                <a:latin typeface="IBM Plex Sans" pitchFamily="34" charset="0"/>
                <a:ea typeface="IBM Plex Sans" pitchFamily="34" charset="-122"/>
                <a:cs typeface="IBM Plex Sans" pitchFamily="34" charset="-120"/>
              </a:rPr>
              <a:t>Not secret:</a:t>
            </a:r>
            <a:r>
              <a:rPr lang="en-US" sz="1300" dirty="0">
                <a:solidFill>
                  <a:srgbClr val="1F2A37"/>
                </a:solidFill>
                <a:latin typeface="IBM Plex Sans" pitchFamily="34" charset="0"/>
                <a:ea typeface="IBM Plex Sans" pitchFamily="34" charset="-122"/>
                <a:cs typeface="IBM Plex Sans" pitchFamily="34" charset="-120"/>
              </a:rPr>
              <a:t> it’s in View Source and editable in DevTools.</a:t>
            </a:r>
            <a:endParaRPr lang="en-US" sz="13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6 — HTML5 Forms, GET &amp; POST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CONTROLS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Buttons: submit, reset and button</a:t>
            </a:r>
            <a:endParaRPr lang="en-US" sz="3200" dirty="0"/>
          </a:p>
        </p:txBody>
      </p:sp>
      <p:sp>
        <p:nvSpPr>
          <p:cNvPr id="4" name="Text 2"/>
          <p:cNvSpPr/>
          <p:nvPr/>
        </p:nvSpPr>
        <p:spPr>
          <a:xfrm>
            <a:off x="812800" y="1981101"/>
            <a:ext cx="5715000" cy="1991122"/>
          </a:xfrm>
          <a:prstGeom prst="roundRect">
            <a:avLst>
              <a:gd name="adj" fmla="val 5103"/>
            </a:avLst>
          </a:prstGeom>
          <a:solidFill>
            <a:srgbClr val="1B2430"/>
          </a:solidFill>
          <a:ln/>
        </p:spPr>
        <p:txBody>
          <a:bodyPr wrap="square" lIns="224242" tIns="173442" rIns="68032" bIns="148042" rtlCol="0" anchor="t">
            <a:normAutofit/>
          </a:bodyPr>
          <a:lstStyle/>
          <a:p>
            <a:pPr algn="l" indent="0" marL="0">
              <a:lnSpc>
                <a:spcPts val="2080"/>
              </a:lnSpc>
              <a:buNone/>
            </a:pPr>
            <a:r>
              <a:rPr lang="en-US" sz="1300" dirty="0">
                <a:solidFill>
                  <a:srgbClr val="FF9E64"/>
                </a:solidFill>
                <a:latin typeface="IBM Plex Mono" pitchFamily="49" charset="0"/>
                <a:ea typeface="IBM Plex Mono" pitchFamily="49" charset="-122"/>
                <a:cs typeface="IBM Plex Mono" pitchFamily="49" charset="-120"/>
              </a:rPr>
              <a:t>&lt;button</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type</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"submit"</a:t>
            </a:r>
            <a:r>
              <a:rPr lang="en-US" sz="1300" dirty="0">
                <a:solidFill>
                  <a:srgbClr val="FF9E64"/>
                </a:solidFill>
                <a:latin typeface="IBM Plex Mono" pitchFamily="49" charset="0"/>
                <a:ea typeface="IBM Plex Mono" pitchFamily="49" charset="-122"/>
                <a:cs typeface="IBM Plex Mono" pitchFamily="49" charset="-120"/>
              </a:rPr>
              <a:t>&gt;</a:t>
            </a:r>
            <a:r>
              <a:rPr lang="en-US" sz="1300" dirty="0">
                <a:solidFill>
                  <a:srgbClr val="E6EDF3"/>
                </a:solidFill>
                <a:latin typeface="IBM Plex Mono" pitchFamily="49" charset="0"/>
                <a:ea typeface="IBM Plex Mono" pitchFamily="49" charset="-122"/>
                <a:cs typeface="IBM Plex Mono" pitchFamily="49" charset="-120"/>
              </a:rPr>
              <a:t>Register</a:t>
            </a:r>
            <a:r>
              <a:rPr lang="en-US" sz="1300" dirty="0">
                <a:solidFill>
                  <a:srgbClr val="FF9E64"/>
                </a:solidFill>
                <a:latin typeface="IBM Plex Mono" pitchFamily="49" charset="0"/>
                <a:ea typeface="IBM Plex Mono" pitchFamily="49" charset="-122"/>
                <a:cs typeface="IBM Plex Mono" pitchFamily="49" charset="-120"/>
              </a:rPr>
              <a:t>&lt;/button&gt;</a:t>
            </a:r>
            <a:endParaRPr lang="en-US" sz="1300" dirty="0"/>
          </a:p>
          <a:p>
            <a:pPr algn="l" indent="0" marL="0">
              <a:lnSpc>
                <a:spcPts val="2080"/>
              </a:lnSpc>
              <a:buNone/>
            </a:pPr>
            <a:r>
              <a:rPr lang="en-US" sz="1300" dirty="0">
                <a:solidFill>
                  <a:srgbClr val="FF9E64"/>
                </a:solidFill>
                <a:latin typeface="IBM Plex Mono" pitchFamily="49" charset="0"/>
                <a:ea typeface="IBM Plex Mono" pitchFamily="49" charset="-122"/>
                <a:cs typeface="IBM Plex Mono" pitchFamily="49" charset="-120"/>
              </a:rPr>
              <a:t>&lt;button</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type</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"reset"</a:t>
            </a:r>
            <a:r>
              <a:rPr lang="en-US" sz="1300" dirty="0">
                <a:solidFill>
                  <a:srgbClr val="FF9E64"/>
                </a:solidFill>
                <a:latin typeface="IBM Plex Mono" pitchFamily="49" charset="0"/>
                <a:ea typeface="IBM Plex Mono" pitchFamily="49" charset="-122"/>
                <a:cs typeface="IBM Plex Mono" pitchFamily="49" charset="-120"/>
              </a:rPr>
              <a:t>&gt;</a:t>
            </a:r>
            <a:r>
              <a:rPr lang="en-US" sz="1300" dirty="0">
                <a:solidFill>
                  <a:srgbClr val="E6EDF3"/>
                </a:solidFill>
                <a:latin typeface="IBM Plex Mono" pitchFamily="49" charset="0"/>
                <a:ea typeface="IBM Plex Mono" pitchFamily="49" charset="-122"/>
                <a:cs typeface="IBM Plex Mono" pitchFamily="49" charset="-120"/>
              </a:rPr>
              <a:t>Clear form</a:t>
            </a:r>
            <a:r>
              <a:rPr lang="en-US" sz="1300" dirty="0">
                <a:solidFill>
                  <a:srgbClr val="FF9E64"/>
                </a:solidFill>
                <a:latin typeface="IBM Plex Mono" pitchFamily="49" charset="0"/>
                <a:ea typeface="IBM Plex Mono" pitchFamily="49" charset="-122"/>
                <a:cs typeface="IBM Plex Mono" pitchFamily="49" charset="-120"/>
              </a:rPr>
              <a:t>&lt;/button&gt;</a:t>
            </a:r>
            <a:endParaRPr lang="en-US" sz="1300" dirty="0"/>
          </a:p>
          <a:p>
            <a:pPr algn="l" indent="0" marL="0">
              <a:lnSpc>
                <a:spcPts val="2080"/>
              </a:lnSpc>
              <a:buNone/>
            </a:pPr>
            <a:r>
              <a:rPr lang="en-US" sz="1300" dirty="0">
                <a:solidFill>
                  <a:srgbClr val="FF9E64"/>
                </a:solidFill>
                <a:latin typeface="IBM Plex Mono" pitchFamily="49" charset="0"/>
                <a:ea typeface="IBM Plex Mono" pitchFamily="49" charset="-122"/>
                <a:cs typeface="IBM Plex Mono" pitchFamily="49" charset="-120"/>
              </a:rPr>
              <a:t>&lt;button</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type</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"button"</a:t>
            </a:r>
            <a:r>
              <a:rPr lang="en-US" sz="1300" dirty="0">
                <a:solidFill>
                  <a:srgbClr val="FF9E64"/>
                </a:solidFill>
                <a:latin typeface="IBM Plex Mono" pitchFamily="49" charset="0"/>
                <a:ea typeface="IBM Plex Mono" pitchFamily="49" charset="-122"/>
                <a:cs typeface="IBM Plex Mono" pitchFamily="49" charset="-120"/>
              </a:rPr>
              <a:t>&gt;</a:t>
            </a:r>
            <a:r>
              <a:rPr lang="en-US" sz="1300" dirty="0">
                <a:solidFill>
                  <a:srgbClr val="E6EDF3"/>
                </a:solidFill>
                <a:latin typeface="IBM Plex Mono" pitchFamily="49" charset="0"/>
                <a:ea typeface="IBM Plex Mono" pitchFamily="49" charset="-122"/>
                <a:cs typeface="IBM Plex Mono" pitchFamily="49" charset="-120"/>
              </a:rPr>
              <a:t>Preview</a:t>
            </a:r>
            <a:r>
              <a:rPr lang="en-US" sz="1300" dirty="0">
                <a:solidFill>
                  <a:srgbClr val="FF9E64"/>
                </a:solidFill>
                <a:latin typeface="IBM Plex Mono" pitchFamily="49" charset="0"/>
                <a:ea typeface="IBM Plex Mono" pitchFamily="49" charset="-122"/>
                <a:cs typeface="IBM Plex Mono" pitchFamily="49" charset="-120"/>
              </a:rPr>
              <a:t>&lt;/button&gt;</a:t>
            </a:r>
            <a:endParaRPr lang="en-US" sz="1300" dirty="0"/>
          </a:p>
          <a:p>
            <a:pPr algn="l" indent="0" marL="0">
              <a:lnSpc>
                <a:spcPts val="2080"/>
              </a:lnSpc>
              <a:buNone/>
            </a:pPr>
            <a:endParaRPr lang="en-US" sz="1300" dirty="0"/>
          </a:p>
          <a:p>
            <a:pPr algn="l" indent="0" marL="0">
              <a:lnSpc>
                <a:spcPts val="2080"/>
              </a:lnSpc>
              <a:buNone/>
            </a:pPr>
            <a:r>
              <a:rPr lang="en-US" sz="1300" dirty="0">
                <a:solidFill>
                  <a:srgbClr val="8B98A9"/>
                </a:solidFill>
                <a:latin typeface="IBM Plex Mono" pitchFamily="49" charset="0"/>
                <a:ea typeface="IBM Plex Mono" pitchFamily="49" charset="-122"/>
                <a:cs typeface="IBM Plex Mono" pitchFamily="49" charset="-120"/>
              </a:rPr>
              <a:t>&lt;!-- older equivalent --&gt;</a:t>
            </a:r>
            <a:endParaRPr lang="en-US" sz="1300" dirty="0"/>
          </a:p>
          <a:p>
            <a:pPr algn="l" indent="0" marL="0">
              <a:lnSpc>
                <a:spcPts val="2080"/>
              </a:lnSpc>
              <a:buNone/>
            </a:pPr>
            <a:r>
              <a:rPr lang="en-US" sz="1300" dirty="0">
                <a:solidFill>
                  <a:srgbClr val="FF9E64"/>
                </a:solidFill>
                <a:latin typeface="IBM Plex Mono" pitchFamily="49" charset="0"/>
                <a:ea typeface="IBM Plex Mono" pitchFamily="49" charset="-122"/>
                <a:cs typeface="IBM Plex Mono" pitchFamily="49" charset="-120"/>
              </a:rPr>
              <a:t>&lt;input</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type</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"submit"</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value</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"Register"</a:t>
            </a:r>
            <a:r>
              <a:rPr lang="en-US" sz="1300" dirty="0">
                <a:solidFill>
                  <a:srgbClr val="FF9E64"/>
                </a:solidFill>
                <a:latin typeface="IBM Plex Mono" pitchFamily="49" charset="0"/>
                <a:ea typeface="IBM Plex Mono" pitchFamily="49" charset="-122"/>
                <a:cs typeface="IBM Plex Mono" pitchFamily="49" charset="-120"/>
              </a:rPr>
              <a:t>&gt;</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794500" y="1993801"/>
          <a:ext cx="4584700" cy="1899245"/>
        </p:xfrm>
        <a:graphic>
          <a:graphicData uri="http://schemas.openxmlformats.org/drawingml/2006/table">
            <a:tbl>
              <a:tblPr/>
              <a:tblGrid>
                <a:gridCol w="1467104"/>
                <a:gridCol w="3117596"/>
              </a:tblGrid>
              <a:tr h="359271">
                <a:tc>
                  <a:txBody>
                    <a:bodyPr/>
                    <a:lstStyle/>
                    <a:p>
                      <a:pPr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type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Does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590352">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submit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Sends the form (the default inside a form)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reset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Restores initial values — use rarely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590352">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button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Nothing until JavaScript adds behaviour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6" name="Text 3"/>
          <p:cNvSpPr/>
          <p:nvPr/>
        </p:nvSpPr>
        <p:spPr>
          <a:xfrm>
            <a:off x="812800" y="4226223"/>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Prefer button</a:t>
            </a:r>
            <a:r>
              <a:rPr lang="en-US" sz="1400" dirty="0">
                <a:solidFill>
                  <a:srgbClr val="1F2A37"/>
                </a:solidFill>
                <a:latin typeface="IBM Plex Sans" pitchFamily="34" charset="0"/>
                <a:ea typeface="IBM Plex Sans" pitchFamily="34" charset="-122"/>
                <a:cs typeface="IBM Plex Sans" pitchFamily="34" charset="-120"/>
              </a:rPr>
              <a:t>: it can contain HTML (an icon plus text). Always set type, or a “Preview” button will submit the form by surprise.</a:t>
            </a:r>
            <a:endParaRPr lang="en-US" sz="14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6 — HTML5 Forms, GET &amp; POST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STRUCTURE</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Grouping controls: fieldset and legend</a:t>
            </a:r>
            <a:endParaRPr lang="en-US" sz="3200" dirty="0"/>
          </a:p>
        </p:txBody>
      </p:sp>
      <p:sp>
        <p:nvSpPr>
          <p:cNvPr id="4" name="Text 2"/>
          <p:cNvSpPr/>
          <p:nvPr/>
        </p:nvSpPr>
        <p:spPr>
          <a:xfrm>
            <a:off x="812800" y="1981101"/>
            <a:ext cx="6223000" cy="3476228"/>
          </a:xfrm>
          <a:prstGeom prst="roundRect">
            <a:avLst>
              <a:gd name="adj" fmla="val 2923"/>
            </a:avLst>
          </a:prstGeom>
          <a:solidFill>
            <a:srgbClr val="1B2430"/>
          </a:solidFill>
          <a:ln/>
        </p:spPr>
        <p:txBody>
          <a:bodyPr wrap="square" lIns="224242" tIns="173442" rIns="52792" bIns="148042" rtlCol="0" anchor="t">
            <a:normAutofit/>
          </a:bodyPr>
          <a:lstStyle/>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&lt;fieldset&gt;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&lt;legend&gt;</a:t>
            </a:r>
            <a:r>
              <a:rPr lang="en-US" sz="1200" dirty="0">
                <a:solidFill>
                  <a:srgbClr val="E6EDF3"/>
                </a:solidFill>
                <a:latin typeface="IBM Plex Mono" pitchFamily="49" charset="0"/>
                <a:ea typeface="IBM Plex Mono" pitchFamily="49" charset="-122"/>
                <a:cs typeface="IBM Plex Mono" pitchFamily="49" charset="-120"/>
              </a:rPr>
              <a:t>Personal details</a:t>
            </a:r>
            <a:r>
              <a:rPr lang="en-US" sz="1200" dirty="0">
                <a:solidFill>
                  <a:srgbClr val="FF9E64"/>
                </a:solidFill>
                <a:latin typeface="IBM Plex Mono" pitchFamily="49" charset="0"/>
                <a:ea typeface="IBM Plex Mono" pitchFamily="49" charset="-122"/>
                <a:cs typeface="IBM Plex Mono" pitchFamily="49" charset="-120"/>
              </a:rPr>
              <a:t>&lt;/legend&gt;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&lt;label</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for</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"fn"</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Full name</a:t>
            </a:r>
            <a:r>
              <a:rPr lang="en-US" sz="1200" dirty="0">
                <a:solidFill>
                  <a:srgbClr val="FF9E64"/>
                </a:solidFill>
                <a:latin typeface="IBM Plex Mono" pitchFamily="49" charset="0"/>
                <a:ea typeface="IBM Plex Mono" pitchFamily="49" charset="-122"/>
                <a:cs typeface="IBM Plex Mono" pitchFamily="49" charset="-120"/>
              </a:rPr>
              <a:t>&lt;/label&gt;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&lt;input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id</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"fn"</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name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"fullname"</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&lt;/fieldset&gt;</a:t>
            </a:r>
            <a:endParaRPr lang="en-US" sz="1200" dirty="0"/>
          </a:p>
          <a:p>
            <a:pPr algn="l" indent="0" marL="0">
              <a:lnSpc>
                <a:spcPts val="1860"/>
              </a:lnSpc>
              <a:buNone/>
            </a:pP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&lt;fieldset&gt;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&lt;legend&gt;</a:t>
            </a:r>
            <a:r>
              <a:rPr lang="en-US" sz="1200" dirty="0">
                <a:solidFill>
                  <a:srgbClr val="E6EDF3"/>
                </a:solidFill>
                <a:latin typeface="IBM Plex Mono" pitchFamily="49" charset="0"/>
                <a:ea typeface="IBM Plex Mono" pitchFamily="49" charset="-122"/>
                <a:cs typeface="IBM Plex Mono" pitchFamily="49" charset="-120"/>
              </a:rPr>
              <a:t>Preferred shift</a:t>
            </a:r>
            <a:r>
              <a:rPr lang="en-US" sz="1200" dirty="0">
                <a:solidFill>
                  <a:srgbClr val="FF9E64"/>
                </a:solidFill>
                <a:latin typeface="IBM Plex Mono" pitchFamily="49" charset="0"/>
                <a:ea typeface="IBM Plex Mono" pitchFamily="49" charset="-122"/>
                <a:cs typeface="IBM Plex Mono" pitchFamily="49" charset="-120"/>
              </a:rPr>
              <a:t>&lt;/legend&gt;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&lt;label&gt;&lt;input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type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"radio"</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name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"shift"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value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"am"</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 Morning</a:t>
            </a:r>
            <a:r>
              <a:rPr lang="en-US" sz="1200" dirty="0">
                <a:solidFill>
                  <a:srgbClr val="FF9E64"/>
                </a:solidFill>
                <a:latin typeface="IBM Plex Mono" pitchFamily="49" charset="0"/>
                <a:ea typeface="IBM Plex Mono" pitchFamily="49" charset="-122"/>
                <a:cs typeface="IBM Plex Mono" pitchFamily="49" charset="-120"/>
              </a:rPr>
              <a:t>&lt;/label&gt;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&lt;label&gt;&lt;input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type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"radio"</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name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"shift"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value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"pm"</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 Evening</a:t>
            </a:r>
            <a:r>
              <a:rPr lang="en-US" sz="1200" dirty="0">
                <a:solidFill>
                  <a:srgbClr val="FF9E64"/>
                </a:solidFill>
                <a:latin typeface="IBM Plex Mono" pitchFamily="49" charset="0"/>
                <a:ea typeface="IBM Plex Mono" pitchFamily="49" charset="-122"/>
                <a:cs typeface="IBM Plex Mono" pitchFamily="49" charset="-120"/>
              </a:rPr>
              <a:t>&lt;/label&gt;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&lt;/fieldset&gt;</a:t>
            </a:r>
            <a:endParaRPr lang="en-US" sz="1200" dirty="0"/>
          </a:p>
        </p:txBody>
      </p:sp>
      <p:sp>
        <p:nvSpPr>
          <p:cNvPr id="5" name="Text 3"/>
          <p:cNvSpPr/>
          <p:nvPr/>
        </p:nvSpPr>
        <p:spPr>
          <a:xfrm>
            <a:off x="7289800" y="1981101"/>
            <a:ext cx="421208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fieldset</a:t>
            </a:r>
            <a:r>
              <a:rPr lang="en-US" sz="1400" dirty="0">
                <a:solidFill>
                  <a:srgbClr val="1F2A37"/>
                </a:solidFill>
                <a:latin typeface="IBM Plex Sans" pitchFamily="34" charset="0"/>
                <a:ea typeface="IBM Plex Sans" pitchFamily="34" charset="-122"/>
                <a:cs typeface="IBM Plex Sans" pitchFamily="34" charset="-120"/>
              </a:rPr>
              <a:t> draws a box around related controls.</a:t>
            </a:r>
            <a:endParaRPr lang="en-US" sz="1400" dirty="0"/>
          </a:p>
        </p:txBody>
      </p:sp>
      <p:sp>
        <p:nvSpPr>
          <p:cNvPr id="6" name="Text 4"/>
          <p:cNvSpPr/>
          <p:nvPr/>
        </p:nvSpPr>
        <p:spPr>
          <a:xfrm>
            <a:off x="7289800" y="2356941"/>
            <a:ext cx="421208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legend</a:t>
            </a:r>
            <a:r>
              <a:rPr lang="en-US" sz="1400" dirty="0">
                <a:solidFill>
                  <a:srgbClr val="1F2A37"/>
                </a:solidFill>
                <a:latin typeface="IBM Plex Sans" pitchFamily="34" charset="0"/>
                <a:ea typeface="IBM Plex Sans" pitchFamily="34" charset="-122"/>
                <a:cs typeface="IBM Plex Sans" pitchFamily="34" charset="-120"/>
              </a:rPr>
              <a:t> is its caption — the first child.</a:t>
            </a:r>
            <a:endParaRPr lang="en-US" sz="1400" dirty="0"/>
          </a:p>
        </p:txBody>
      </p:sp>
      <p:sp>
        <p:nvSpPr>
          <p:cNvPr id="7" name="Text 5"/>
          <p:cNvSpPr/>
          <p:nvPr/>
        </p:nvSpPr>
        <p:spPr>
          <a:xfrm>
            <a:off x="7289800" y="2732782"/>
            <a:ext cx="421208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Screen readers read the legend with each control: “Preferred shift, Morning, radio button”.</a:t>
            </a:r>
            <a:endParaRPr lang="en-US" sz="1400" dirty="0"/>
          </a:p>
        </p:txBody>
      </p:sp>
      <p:sp>
        <p:nvSpPr>
          <p:cNvPr id="8" name="Text 6"/>
          <p:cNvSpPr/>
          <p:nvPr/>
        </p:nvSpPr>
        <p:spPr>
          <a:xfrm>
            <a:off x="7289800" y="3357463"/>
            <a:ext cx="421208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disabled on a fieldset disables every control inside it.</a:t>
            </a:r>
            <a:endParaRPr lang="en-US" sz="13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6 — HTML5 Forms, GET &amp; POST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C2410C"/>
        </a:solidFill>
      </p:bgPr>
    </p:bg>
    <p:spTree>
      <p:nvGrpSpPr>
        <p:cNvPr id="1" name=""/>
        <p:cNvGrpSpPr/>
        <p:nvPr/>
      </p:nvGrpSpPr>
      <p:grpSpPr>
        <a:xfrm>
          <a:off x="0" y="0"/>
          <a:ext cx="0" cy="0"/>
          <a:chOff x="0" y="0"/>
          <a:chExt cx="0" cy="0"/>
        </a:xfrm>
      </p:grpSpPr>
      <p:sp>
        <p:nvSpPr>
          <p:cNvPr id="2" name="Text 0"/>
          <p:cNvSpPr/>
          <p:nvPr/>
        </p:nvSpPr>
        <p:spPr>
          <a:xfrm>
            <a:off x="812800" y="223778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F8F1"/>
                </a:solidFill>
                <a:latin typeface="IBM Plex Sans" pitchFamily="34" charset="0"/>
                <a:ea typeface="IBM Plex Sans" pitchFamily="34" charset="-122"/>
                <a:cs typeface="IBM Plex Sans" pitchFamily="34" charset="-120"/>
              </a:rPr>
              <a:t>0:55 – 1:05</a:t>
            </a:r>
            <a:endParaRPr lang="en-US" sz="1400" dirty="0"/>
          </a:p>
        </p:txBody>
      </p:sp>
      <p:sp>
        <p:nvSpPr>
          <p:cNvPr id="3" name="Text 1"/>
          <p:cNvSpPr/>
          <p:nvPr>
            <p:ph type="title"/>
          </p:nvPr>
        </p:nvSpPr>
        <p:spPr>
          <a:xfrm>
            <a:off x="812800" y="268982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i="0" dirty="0">
                <a:solidFill>
                  <a:srgbClr val="FFF8F1"/>
                </a:solidFill>
                <a:latin typeface="IBM Plex Sans" pitchFamily="34" charset="0"/>
                <a:ea typeface="IBM Plex Sans" pitchFamily="34" charset="-122"/>
                <a:cs typeface="IBM Plex Sans" pitchFamily="34" charset="-120"/>
              </a:rPr>
              <a:t>Break · 10 min</a:t>
            </a:r>
            <a:endParaRPr lang="en-US" sz="8000" dirty="0"/>
          </a:p>
        </p:txBody>
      </p:sp>
      <p:sp>
        <p:nvSpPr>
          <p:cNvPr id="4" name="Text 2"/>
          <p:cNvSpPr/>
          <p:nvPr/>
        </p:nvSpPr>
        <p:spPr>
          <a:xfrm>
            <a:off x="812800" y="3909020"/>
            <a:ext cx="10883392"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F8F1"/>
                </a:solidFill>
                <a:latin typeface="IBM Plex Sans" pitchFamily="34" charset="0"/>
                <a:ea typeface="IBM Plex Sans" pitchFamily="34" charset="-122"/>
                <a:cs typeface="IBM Plex Sans" pitchFamily="34" charset="-120"/>
              </a:rPr>
              <a:t>When we return: create register.html in web-lab1</a:t>
            </a:r>
            <a:endParaRPr lang="en-US" sz="2000" dirty="0"/>
          </a:p>
          <a:p>
            <a:pPr algn="l" indent="0" marL="0">
              <a:lnSpc>
                <a:spcPts val="2800"/>
              </a:lnSpc>
              <a:buNone/>
            </a:pPr>
            <a:r>
              <a:rPr lang="en-US" sz="2000" dirty="0">
                <a:solidFill>
                  <a:srgbClr val="FFF8F1"/>
                </a:solidFill>
                <a:latin typeface="IBM Plex Sans" pitchFamily="34" charset="0"/>
                <a:ea typeface="IBM Plex Sans" pitchFamily="34" charset="-122"/>
                <a:cs typeface="IBM Plex Sans" pitchFamily="34" charset="-120"/>
              </a:rPr>
              <a:t>and link it from your nav.</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IBM Plex Sans" pitchFamily="34" charset="0"/>
                <a:ea typeface="IBM Plex Sans" pitchFamily="34" charset="-122"/>
                <a:cs typeface="IBM Plex Sans" pitchFamily="34" charset="-120"/>
              </a:rPr>
              <a:t>PART B · VALIDATION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Built-in validation — no JavaScript needed</a:t>
            </a:r>
            <a:endParaRPr lang="en-US" sz="3200" dirty="0"/>
          </a:p>
        </p:txBody>
      </p:sp>
      <p:sp>
        <p:nvSpPr>
          <p:cNvPr id="4" name="Text 2"/>
          <p:cNvSpPr/>
          <p:nvPr/>
        </p:nvSpPr>
        <p:spPr>
          <a:xfrm>
            <a:off x="812800" y="1981101"/>
            <a:ext cx="6350000" cy="2600424"/>
          </a:xfrm>
          <a:prstGeom prst="roundRect">
            <a:avLst>
              <a:gd name="adj" fmla="val 3907"/>
            </a:avLst>
          </a:prstGeom>
          <a:solidFill>
            <a:srgbClr val="1B2430"/>
          </a:solidFill>
          <a:ln/>
        </p:spPr>
        <p:txBody>
          <a:bodyPr wrap="square" lIns="224242" tIns="173442" rIns="48982" bIns="148042" rtlCol="0" anchor="t">
            <a:normAutofit/>
          </a:bodyPr>
          <a:lstStyle/>
          <a:p>
            <a:pPr algn="l" indent="0" marL="0">
              <a:lnSpc>
                <a:spcPts val="1920"/>
              </a:lnSpc>
              <a:buNone/>
            </a:pPr>
            <a:r>
              <a:rPr lang="en-US" sz="1200" dirty="0">
                <a:solidFill>
                  <a:srgbClr val="FF9E64"/>
                </a:solidFill>
                <a:latin typeface="IBM Plex Mono" pitchFamily="49" charset="0"/>
                <a:ea typeface="IBM Plex Mono" pitchFamily="49" charset="-122"/>
                <a:cs typeface="IBM Plex Mono" pitchFamily="49" charset="-120"/>
              </a:rPr>
              <a:t>&lt;input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name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"fullname"</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required</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minlength</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"3"</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maxlength</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"50"</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920"/>
              </a:lnSpc>
              <a:buNone/>
            </a:pPr>
            <a:endParaRPr lang="en-US" sz="1200" dirty="0"/>
          </a:p>
          <a:p>
            <a:pPr algn="l" indent="0" marL="0">
              <a:lnSpc>
                <a:spcPts val="1920"/>
              </a:lnSpc>
              <a:buNone/>
            </a:pPr>
            <a:r>
              <a:rPr lang="en-US" sz="1200" dirty="0">
                <a:solidFill>
                  <a:srgbClr val="FF9E64"/>
                </a:solidFill>
                <a:latin typeface="IBM Plex Mono" pitchFamily="49" charset="0"/>
                <a:ea typeface="IBM Plex Mono" pitchFamily="49" charset="-122"/>
                <a:cs typeface="IBM Plex Mono" pitchFamily="49" charset="-120"/>
              </a:rPr>
              <a:t>&lt;input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type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"number"</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name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"age"</a:t>
            </a:r>
            <a:endParaRPr lang="en-US" sz="1200" dirty="0"/>
          </a:p>
          <a:p>
            <a:pPr algn="l" indent="0" marL="0">
              <a:lnSpc>
                <a:spcPts val="192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min</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"16"</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max</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"60"</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step</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"1"</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920"/>
              </a:lnSpc>
              <a:buNone/>
            </a:pPr>
            <a:endParaRPr lang="en-US" sz="1200" dirty="0"/>
          </a:p>
          <a:p>
            <a:pPr algn="l" indent="0" marL="0">
              <a:lnSpc>
                <a:spcPts val="1920"/>
              </a:lnSpc>
              <a:buNone/>
            </a:pPr>
            <a:r>
              <a:rPr lang="en-US" sz="1200" dirty="0">
                <a:solidFill>
                  <a:srgbClr val="FF9E64"/>
                </a:solidFill>
                <a:latin typeface="IBM Plex Mono" pitchFamily="49" charset="0"/>
                <a:ea typeface="IBM Plex Mono" pitchFamily="49" charset="-122"/>
                <a:cs typeface="IBM Plex Mono" pitchFamily="49" charset="-120"/>
              </a:rPr>
              <a:t>&lt;input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type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"tel"</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name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"phone"</a:t>
            </a:r>
            <a:endParaRPr lang="en-US" sz="1200" dirty="0"/>
          </a:p>
          <a:p>
            <a:pPr algn="l" indent="0" marL="0">
              <a:lnSpc>
                <a:spcPts val="192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pattern</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"03[0-9]{2}-[0-9]{7}"</a:t>
            </a:r>
            <a:endParaRPr lang="en-US" sz="1200" dirty="0"/>
          </a:p>
          <a:p>
            <a:pPr algn="l" indent="0" marL="0">
              <a:lnSpc>
                <a:spcPts val="192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title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"Format: 03XX-XXXXXXX"</a:t>
            </a:r>
            <a:endParaRPr lang="en-US" sz="1200" dirty="0"/>
          </a:p>
          <a:p>
            <a:pPr algn="l" indent="0" marL="0">
              <a:lnSpc>
                <a:spcPts val="192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placeholder</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"0300-1234567"</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required</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429500" y="1993801"/>
          <a:ext cx="3949700" cy="2386707"/>
        </p:xfrm>
        <a:graphic>
          <a:graphicData uri="http://schemas.openxmlformats.org/drawingml/2006/table">
            <a:tbl>
              <a:tblPr/>
              <a:tblGrid>
                <a:gridCol w="1737868"/>
                <a:gridCol w="2211832"/>
              </a:tblGrid>
              <a:tr h="359271">
                <a:tc>
                  <a:txBody>
                    <a:bodyPr/>
                    <a:lstStyle/>
                    <a:p>
                      <a:pPr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Attribute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Checks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required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Not empty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590352">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minlength / maxlength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Text length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min / max / step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Number and date range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pattern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A regular expression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type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email, url, number…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6" name="Text 3"/>
          <p:cNvSpPr/>
          <p:nvPr/>
        </p:nvSpPr>
        <p:spPr>
          <a:xfrm>
            <a:off x="812800" y="4835525"/>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The browser blocks submission and shows a message. CSS can style </a:t>
            </a:r>
            <a:r>
              <a:rPr lang="en-US" sz="1400" b="1" dirty="0">
                <a:solidFill>
                  <a:srgbClr val="1F2A37"/>
                </a:solidFill>
                <a:latin typeface="IBM Plex Sans" pitchFamily="34" charset="0"/>
                <a:ea typeface="IBM Plex Sans" pitchFamily="34" charset="-122"/>
                <a:cs typeface="IBM Plex Sans" pitchFamily="34" charset="-120"/>
              </a:rPr>
              <a:t>:valid</a:t>
            </a:r>
            <a:r>
              <a:rPr lang="en-US" sz="1400" dirty="0">
                <a:solidFill>
                  <a:srgbClr val="1F2A37"/>
                </a:solidFill>
                <a:latin typeface="IBM Plex Sans" pitchFamily="34" charset="0"/>
                <a:ea typeface="IBM Plex Sans" pitchFamily="34" charset="-122"/>
                <a:cs typeface="IBM Plex Sans" pitchFamily="34" charset="-120"/>
              </a:rPr>
              <a:t> and </a:t>
            </a:r>
            <a:r>
              <a:rPr lang="en-US" sz="1400" b="1" dirty="0">
                <a:solidFill>
                  <a:srgbClr val="1F2A37"/>
                </a:solidFill>
                <a:latin typeface="IBM Plex Sans" pitchFamily="34" charset="0"/>
                <a:ea typeface="IBM Plex Sans" pitchFamily="34" charset="-122"/>
                <a:cs typeface="IBM Plex Sans" pitchFamily="34" charset="-120"/>
              </a:rPr>
              <a:t>:invalid</a:t>
            </a:r>
            <a:r>
              <a:rPr lang="en-US" sz="1400" dirty="0">
                <a:solidFill>
                  <a:srgbClr val="1F2A37"/>
                </a:solidFill>
                <a:latin typeface="IBM Plex Sans" pitchFamily="34" charset="0"/>
                <a:ea typeface="IBM Plex Sans" pitchFamily="34" charset="-122"/>
                <a:cs typeface="IBM Plex Sans" pitchFamily="34" charset="-120"/>
              </a:rPr>
              <a:t> fields (Week 4).</a:t>
            </a:r>
            <a:endParaRPr lang="en-US" sz="14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6 — HTML5 Forms, GET &amp; POST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IBM Plex Sans" pitchFamily="34" charset="0"/>
                <a:ea typeface="IBM Plex Sans" pitchFamily="34" charset="-122"/>
                <a:cs typeface="IBM Plex Sans" pitchFamily="34" charset="-120"/>
              </a:rPr>
              <a:t>PART B · ATTRIBUTES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More control attributes you will use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01"/>
          <a:ext cx="10553700" cy="2980531"/>
        </p:xfrm>
        <a:graphic>
          <a:graphicData uri="http://schemas.openxmlformats.org/drawingml/2006/table">
            <a:tbl>
              <a:tblPr/>
              <a:tblGrid>
                <a:gridCol w="2321814"/>
                <a:gridCol w="5065776"/>
                <a:gridCol w="3166110"/>
              </a:tblGrid>
              <a:tr h="372566">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Attribute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What it does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Example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value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Initial value (or the value sent for choices)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value="Pakistan"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placeholder</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Grey hint text; disappears on typing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placeholder="0300-…"</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autocomplete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Lets the browser fill saved data</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autocomplete="email"</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autofocus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Puts the cursor here on load (use once)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autofocus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readonly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Can’t edit, but is sent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readonly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disabled</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Can’t edit and is not sent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disabled</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form</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Links a control outside the form by id</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form="signup"</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6 — HTML5 Forms, GET &amp; POST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IBM Plex Sans" pitchFamily="34" charset="0"/>
                <a:ea typeface="IBM Plex Sans" pitchFamily="34" charset="-122"/>
                <a:cs typeface="IBM Plex Sans" pitchFamily="34" charset="-120"/>
              </a:rPr>
              <a:t>PART B · ACCESSIBILITY &amp; UX</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Forms people can actually complete</a:t>
            </a:r>
            <a:endParaRPr lang="en-US" sz="3200" dirty="0"/>
          </a:p>
        </p:txBody>
      </p:sp>
      <p:sp>
        <p:nvSpPr>
          <p:cNvPr id="4" name="Shape 2"/>
          <p:cNvSpPr/>
          <p:nvPr/>
        </p:nvSpPr>
        <p:spPr>
          <a:xfrm>
            <a:off x="815975" y="1984276"/>
            <a:ext cx="3414117" cy="1116211"/>
          </a:xfrm>
          <a:prstGeom prst="roundRect">
            <a:avLst>
              <a:gd name="adj" fmla="val 8818"/>
            </a:avLst>
          </a:prstGeom>
          <a:solidFill>
            <a:srgbClr val="FFFDF9"/>
          </a:solidFill>
          <a:ln w="6350">
            <a:solidFill>
              <a:srgbClr val="E4E0D8"/>
            </a:solidFill>
            <a:prstDash val="solid"/>
          </a:ln>
        </p:spPr>
      </p:sp>
      <p:sp>
        <p:nvSpPr>
          <p:cNvPr id="5" name="Text 3"/>
          <p:cNvSpPr/>
          <p:nvPr/>
        </p:nvSpPr>
        <p:spPr>
          <a:xfrm>
            <a:off x="996950" y="2165251"/>
            <a:ext cx="31437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4ED8"/>
                </a:solidFill>
                <a:latin typeface="IBM Plex Sans" pitchFamily="34" charset="0"/>
                <a:ea typeface="IBM Plex Sans" pitchFamily="34" charset="-122"/>
                <a:cs typeface="IBM Plex Sans" pitchFamily="34" charset="-120"/>
              </a:rPr>
              <a:t>Label everything</a:t>
            </a:r>
            <a:endParaRPr lang="en-US" sz="1500" dirty="0"/>
          </a:p>
        </p:txBody>
      </p:sp>
      <p:sp>
        <p:nvSpPr>
          <p:cNvPr id="6" name="Text 4"/>
          <p:cNvSpPr/>
          <p:nvPr/>
        </p:nvSpPr>
        <p:spPr>
          <a:xfrm>
            <a:off x="996950" y="2457351"/>
            <a:ext cx="314373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A visible label for each control; fieldset + legend for groups.</a:t>
            </a:r>
            <a:endParaRPr lang="en-US" sz="1300" dirty="0"/>
          </a:p>
        </p:txBody>
      </p:sp>
      <p:sp>
        <p:nvSpPr>
          <p:cNvPr id="7" name="Shape 5"/>
          <p:cNvSpPr/>
          <p:nvPr/>
        </p:nvSpPr>
        <p:spPr>
          <a:xfrm>
            <a:off x="4388842" y="1984276"/>
            <a:ext cx="3414216" cy="1116211"/>
          </a:xfrm>
          <a:prstGeom prst="roundRect">
            <a:avLst>
              <a:gd name="adj" fmla="val 8818"/>
            </a:avLst>
          </a:prstGeom>
          <a:solidFill>
            <a:srgbClr val="FFFDF9"/>
          </a:solidFill>
          <a:ln w="6350">
            <a:solidFill>
              <a:srgbClr val="E4E0D8"/>
            </a:solidFill>
            <a:prstDash val="solid"/>
          </a:ln>
        </p:spPr>
      </p:sp>
      <p:sp>
        <p:nvSpPr>
          <p:cNvPr id="8" name="Text 6"/>
          <p:cNvSpPr/>
          <p:nvPr/>
        </p:nvSpPr>
        <p:spPr>
          <a:xfrm>
            <a:off x="4569817" y="2165251"/>
            <a:ext cx="31438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4ED8"/>
                </a:solidFill>
                <a:latin typeface="IBM Plex Sans" pitchFamily="34" charset="0"/>
                <a:ea typeface="IBM Plex Sans" pitchFamily="34" charset="-122"/>
                <a:cs typeface="IBM Plex Sans" pitchFamily="34" charset="-120"/>
              </a:rPr>
              <a:t>Say what’s required</a:t>
            </a:r>
            <a:endParaRPr lang="en-US" sz="1500" dirty="0"/>
          </a:p>
        </p:txBody>
      </p:sp>
      <p:sp>
        <p:nvSpPr>
          <p:cNvPr id="9" name="Text 7"/>
          <p:cNvSpPr/>
          <p:nvPr/>
        </p:nvSpPr>
        <p:spPr>
          <a:xfrm>
            <a:off x="4569817" y="2457351"/>
            <a:ext cx="314383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Write “(required)” in the label, not just a red asterisk.</a:t>
            </a:r>
            <a:endParaRPr lang="en-US" sz="1300" dirty="0"/>
          </a:p>
        </p:txBody>
      </p:sp>
      <p:sp>
        <p:nvSpPr>
          <p:cNvPr id="10" name="Shape 8"/>
          <p:cNvSpPr/>
          <p:nvPr/>
        </p:nvSpPr>
        <p:spPr>
          <a:xfrm>
            <a:off x="7961809" y="1984276"/>
            <a:ext cx="3414216" cy="1116211"/>
          </a:xfrm>
          <a:prstGeom prst="roundRect">
            <a:avLst>
              <a:gd name="adj" fmla="val 8818"/>
            </a:avLst>
          </a:prstGeom>
          <a:solidFill>
            <a:srgbClr val="FFFDF9"/>
          </a:solidFill>
          <a:ln w="6350">
            <a:solidFill>
              <a:srgbClr val="E4E0D8"/>
            </a:solidFill>
            <a:prstDash val="solid"/>
          </a:ln>
        </p:spPr>
      </p:sp>
      <p:sp>
        <p:nvSpPr>
          <p:cNvPr id="11" name="Text 9"/>
          <p:cNvSpPr/>
          <p:nvPr/>
        </p:nvSpPr>
        <p:spPr>
          <a:xfrm>
            <a:off x="8142784" y="2165251"/>
            <a:ext cx="31438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4ED8"/>
                </a:solidFill>
                <a:latin typeface="IBM Plex Sans" pitchFamily="34" charset="0"/>
                <a:ea typeface="IBM Plex Sans" pitchFamily="34" charset="-122"/>
                <a:cs typeface="IBM Plex Sans" pitchFamily="34" charset="-120"/>
              </a:rPr>
              <a:t>Explain formats</a:t>
            </a:r>
            <a:endParaRPr lang="en-US" sz="1500" dirty="0"/>
          </a:p>
        </p:txBody>
      </p:sp>
      <p:sp>
        <p:nvSpPr>
          <p:cNvPr id="12" name="Text 10"/>
          <p:cNvSpPr/>
          <p:nvPr/>
        </p:nvSpPr>
        <p:spPr>
          <a:xfrm>
            <a:off x="8142784" y="2457351"/>
            <a:ext cx="314383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Hint text near the field, linked with aria-describedby.</a:t>
            </a:r>
            <a:endParaRPr lang="en-US" sz="1300" dirty="0"/>
          </a:p>
        </p:txBody>
      </p:sp>
      <p:sp>
        <p:nvSpPr>
          <p:cNvPr id="13" name="Shape 11"/>
          <p:cNvSpPr/>
          <p:nvPr/>
        </p:nvSpPr>
        <p:spPr>
          <a:xfrm>
            <a:off x="815975" y="3259237"/>
            <a:ext cx="3414117" cy="1116211"/>
          </a:xfrm>
          <a:prstGeom prst="roundRect">
            <a:avLst>
              <a:gd name="adj" fmla="val 8818"/>
            </a:avLst>
          </a:prstGeom>
          <a:solidFill>
            <a:srgbClr val="FFFDF9"/>
          </a:solidFill>
          <a:ln w="6350">
            <a:solidFill>
              <a:srgbClr val="E4E0D8"/>
            </a:solidFill>
            <a:prstDash val="solid"/>
          </a:ln>
        </p:spPr>
      </p:sp>
      <p:sp>
        <p:nvSpPr>
          <p:cNvPr id="14" name="Text 12"/>
          <p:cNvSpPr/>
          <p:nvPr/>
        </p:nvSpPr>
        <p:spPr>
          <a:xfrm>
            <a:off x="996950" y="3440212"/>
            <a:ext cx="31437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4ED8"/>
                </a:solidFill>
                <a:latin typeface="IBM Plex Sans" pitchFamily="34" charset="0"/>
                <a:ea typeface="IBM Plex Sans" pitchFamily="34" charset="-122"/>
                <a:cs typeface="IBM Plex Sans" pitchFamily="34" charset="-120"/>
              </a:rPr>
              <a:t>Right input type</a:t>
            </a:r>
            <a:endParaRPr lang="en-US" sz="1500" dirty="0"/>
          </a:p>
        </p:txBody>
      </p:sp>
      <p:sp>
        <p:nvSpPr>
          <p:cNvPr id="15" name="Text 13"/>
          <p:cNvSpPr/>
          <p:nvPr/>
        </p:nvSpPr>
        <p:spPr>
          <a:xfrm>
            <a:off x="996950" y="3732312"/>
            <a:ext cx="314373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Correct keyboard on phones; fewer typing errors.</a:t>
            </a:r>
            <a:endParaRPr lang="en-US" sz="1300" dirty="0"/>
          </a:p>
        </p:txBody>
      </p:sp>
      <p:sp>
        <p:nvSpPr>
          <p:cNvPr id="16" name="Shape 14"/>
          <p:cNvSpPr/>
          <p:nvPr/>
        </p:nvSpPr>
        <p:spPr>
          <a:xfrm>
            <a:off x="4388842" y="3259237"/>
            <a:ext cx="3414216" cy="1116211"/>
          </a:xfrm>
          <a:prstGeom prst="roundRect">
            <a:avLst>
              <a:gd name="adj" fmla="val 8818"/>
            </a:avLst>
          </a:prstGeom>
          <a:solidFill>
            <a:srgbClr val="FFFDF9"/>
          </a:solidFill>
          <a:ln w="6350">
            <a:solidFill>
              <a:srgbClr val="E4E0D8"/>
            </a:solidFill>
            <a:prstDash val="solid"/>
          </a:ln>
        </p:spPr>
      </p:sp>
      <p:sp>
        <p:nvSpPr>
          <p:cNvPr id="17" name="Text 15"/>
          <p:cNvSpPr/>
          <p:nvPr/>
        </p:nvSpPr>
        <p:spPr>
          <a:xfrm>
            <a:off x="4569817" y="3440212"/>
            <a:ext cx="31438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4ED8"/>
                </a:solidFill>
                <a:latin typeface="IBM Plex Sans" pitchFamily="34" charset="0"/>
                <a:ea typeface="IBM Plex Sans" pitchFamily="34" charset="-122"/>
                <a:cs typeface="IBM Plex Sans" pitchFamily="34" charset="-120"/>
              </a:rPr>
              <a:t>Logical order</a:t>
            </a:r>
            <a:endParaRPr lang="en-US" sz="1500" dirty="0"/>
          </a:p>
        </p:txBody>
      </p:sp>
      <p:sp>
        <p:nvSpPr>
          <p:cNvPr id="18" name="Text 16"/>
          <p:cNvSpPr/>
          <p:nvPr/>
        </p:nvSpPr>
        <p:spPr>
          <a:xfrm>
            <a:off x="4569817" y="3732312"/>
            <a:ext cx="314383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Source order = Tab order. Test with the keyboard only.</a:t>
            </a:r>
            <a:endParaRPr lang="en-US" sz="1300" dirty="0"/>
          </a:p>
        </p:txBody>
      </p:sp>
      <p:sp>
        <p:nvSpPr>
          <p:cNvPr id="19" name="Shape 17"/>
          <p:cNvSpPr/>
          <p:nvPr/>
        </p:nvSpPr>
        <p:spPr>
          <a:xfrm>
            <a:off x="7961809" y="3259237"/>
            <a:ext cx="3414216" cy="1116211"/>
          </a:xfrm>
          <a:prstGeom prst="roundRect">
            <a:avLst>
              <a:gd name="adj" fmla="val 8818"/>
            </a:avLst>
          </a:prstGeom>
          <a:solidFill>
            <a:srgbClr val="FFFDF9"/>
          </a:solidFill>
          <a:ln w="6350">
            <a:solidFill>
              <a:srgbClr val="E4E0D8"/>
            </a:solidFill>
            <a:prstDash val="solid"/>
          </a:ln>
        </p:spPr>
      </p:sp>
      <p:sp>
        <p:nvSpPr>
          <p:cNvPr id="20" name="Text 18"/>
          <p:cNvSpPr/>
          <p:nvPr/>
        </p:nvSpPr>
        <p:spPr>
          <a:xfrm>
            <a:off x="8142784" y="3440212"/>
            <a:ext cx="31438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4ED8"/>
                </a:solidFill>
                <a:latin typeface="IBM Plex Sans" pitchFamily="34" charset="0"/>
                <a:ea typeface="IBM Plex Sans" pitchFamily="34" charset="-122"/>
                <a:cs typeface="IBM Plex Sans" pitchFamily="34" charset="-120"/>
              </a:rPr>
              <a:t>Ask less</a:t>
            </a:r>
            <a:endParaRPr lang="en-US" sz="1500" dirty="0"/>
          </a:p>
        </p:txBody>
      </p:sp>
      <p:sp>
        <p:nvSpPr>
          <p:cNvPr id="21" name="Text 19"/>
          <p:cNvSpPr/>
          <p:nvPr/>
        </p:nvSpPr>
        <p:spPr>
          <a:xfrm>
            <a:off x="8142784" y="3732312"/>
            <a:ext cx="314383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Every extra field lowers completion. Only collect what you need.</a:t>
            </a:r>
            <a:endParaRPr lang="en-US" sz="1300" dirty="0"/>
          </a:p>
        </p:txBody>
      </p:sp>
      <p:sp>
        <p:nvSpPr>
          <p:cNvPr id="22" name="Text 20"/>
          <p:cNvSpPr/>
          <p:nvPr/>
        </p:nvSpPr>
        <p:spPr>
          <a:xfrm>
            <a:off x="812800" y="4632623"/>
            <a:ext cx="10566400" cy="777081"/>
          </a:xfrm>
          <a:prstGeom prst="roundRect">
            <a:avLst>
              <a:gd name="adj" fmla="val 13075"/>
            </a:avLst>
          </a:prstGeom>
          <a:solidFill>
            <a:srgbClr val="1B2430"/>
          </a:solidFill>
          <a:ln/>
        </p:spPr>
        <p:txBody>
          <a:bodyPr wrap="square" lIns="198842" tIns="122642" rIns="0" bIns="97242" rtlCol="0" anchor="t">
            <a:normAutofit/>
          </a:bodyPr>
          <a:lstStyle/>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&lt;label</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for</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"pw"</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Password (required)</a:t>
            </a:r>
            <a:r>
              <a:rPr lang="en-US" sz="1200" dirty="0">
                <a:solidFill>
                  <a:srgbClr val="FF9E64"/>
                </a:solidFill>
                <a:latin typeface="IBM Plex Mono" pitchFamily="49" charset="0"/>
                <a:ea typeface="IBM Plex Mono" pitchFamily="49" charset="-122"/>
                <a:cs typeface="IBM Plex Mono" pitchFamily="49" charset="-120"/>
              </a:rPr>
              <a:t>&lt;/label&gt;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&lt;input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type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"password"</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id</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"pw"</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name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"pw"</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aria-describedby</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"pw-hint"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required</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&lt;p</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id</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"pw-hint"</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At least 8 characters.</a:t>
            </a:r>
            <a:r>
              <a:rPr lang="en-US" sz="1200" dirty="0">
                <a:solidFill>
                  <a:srgbClr val="FF9E64"/>
                </a:solidFill>
                <a:latin typeface="IBM Plex Mono" pitchFamily="49" charset="0"/>
                <a:ea typeface="IBM Plex Mono" pitchFamily="49" charset="-122"/>
                <a:cs typeface="IBM Plex Mono" pitchFamily="49" charset="-120"/>
              </a:rPr>
              <a:t>&lt;/p&gt;</a:t>
            </a:r>
            <a:endParaRPr lang="en-US" sz="12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6 — HTML5 Forms, GET &amp; POST</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9E64"/>
                </a:solidFill>
                <a:latin typeface="IBM Plex Sans" pitchFamily="34" charset="0"/>
                <a:ea typeface="IBM Plex Sans" pitchFamily="34" charset="-122"/>
                <a:cs typeface="IBM Plex Sans" pitchFamily="34" charset="-120"/>
              </a:rPr>
              <a:t>PART B · SECURITY</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5F0"/>
                </a:solidFill>
                <a:latin typeface="IBM Plex Sans" pitchFamily="34" charset="0"/>
                <a:ea typeface="IBM Plex Sans" pitchFamily="34" charset="-122"/>
                <a:cs typeface="IBM Plex Sans" pitchFamily="34" charset="-120"/>
              </a:rPr>
              <a:t>Never trust the browser</a:t>
            </a:r>
            <a:endParaRPr lang="en-US" sz="3200" dirty="0"/>
          </a:p>
        </p:txBody>
      </p:sp>
      <p:sp>
        <p:nvSpPr>
          <p:cNvPr id="4" name="Shape 2"/>
          <p:cNvSpPr/>
          <p:nvPr/>
        </p:nvSpPr>
        <p:spPr>
          <a:xfrm>
            <a:off x="812800" y="1981101"/>
            <a:ext cx="5207000" cy="1097161"/>
          </a:xfrm>
          <a:prstGeom prst="roundRect">
            <a:avLst>
              <a:gd name="adj" fmla="val 9260"/>
            </a:avLst>
          </a:prstGeom>
          <a:solidFill>
            <a:srgbClr val="243142"/>
          </a:solidFill>
          <a:ln/>
        </p:spPr>
      </p:sp>
      <p:pic>
        <p:nvPicPr>
          <p:cNvPr id="5" name="Image 0" descr="Warning">    </p:cNvPr>
          <p:cNvPicPr>
            <a:picLocks noChangeAspect="1"/>
          </p:cNvPicPr>
          <p:nvPr/>
        </p:nvPicPr>
        <p:blipFill>
          <a:blip r:embed="rId1"/>
          <a:srcRect l="0" r="0" t="0" b="0"/>
          <a:stretch/>
        </p:blipFill>
        <p:spPr>
          <a:xfrm>
            <a:off x="990600" y="2158901"/>
            <a:ext cx="304800" cy="304800"/>
          </a:xfrm>
          <a:prstGeom prst="rect">
            <a:avLst/>
          </a:prstGeom>
        </p:spPr>
      </p:pic>
      <p:sp>
        <p:nvSpPr>
          <p:cNvPr id="6" name="Text 3"/>
          <p:cNvSpPr/>
          <p:nvPr/>
        </p:nvSpPr>
        <p:spPr>
          <a:xfrm>
            <a:off x="1422400" y="2158901"/>
            <a:ext cx="455218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7F5F0"/>
                </a:solidFill>
                <a:latin typeface="IBM Plex Sans" pitchFamily="34" charset="0"/>
                <a:ea typeface="IBM Plex Sans" pitchFamily="34" charset="-122"/>
                <a:cs typeface="IBM Plex Sans" pitchFamily="34" charset="-120"/>
              </a:rPr>
              <a:t>HTML validation is for UX</a:t>
            </a:r>
            <a:endParaRPr lang="en-US" sz="1500" dirty="0"/>
          </a:p>
        </p:txBody>
      </p:sp>
      <p:sp>
        <p:nvSpPr>
          <p:cNvPr id="7" name="Text 4"/>
          <p:cNvSpPr/>
          <p:nvPr/>
        </p:nvSpPr>
        <p:spPr>
          <a:xfrm>
            <a:off x="1422400" y="2438301"/>
            <a:ext cx="455218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4E0"/>
                </a:solidFill>
                <a:latin typeface="IBM Plex Sans" pitchFamily="34" charset="0"/>
                <a:ea typeface="IBM Plex Sans" pitchFamily="34" charset="-122"/>
                <a:cs typeface="IBM Plex Sans" pitchFamily="34" charset="-120"/>
              </a:rPr>
              <a:t>Anyone can remove required in DevTools or send requests directly. Validate again on the server.</a:t>
            </a:r>
            <a:endParaRPr lang="en-US" sz="1300" dirty="0"/>
          </a:p>
        </p:txBody>
      </p:sp>
      <p:sp>
        <p:nvSpPr>
          <p:cNvPr id="8" name="Shape 5"/>
          <p:cNvSpPr/>
          <p:nvPr/>
        </p:nvSpPr>
        <p:spPr>
          <a:xfrm>
            <a:off x="6172200" y="1981101"/>
            <a:ext cx="5207000" cy="1097161"/>
          </a:xfrm>
          <a:prstGeom prst="roundRect">
            <a:avLst>
              <a:gd name="adj" fmla="val 9260"/>
            </a:avLst>
          </a:prstGeom>
          <a:solidFill>
            <a:srgbClr val="243142"/>
          </a:solidFill>
          <a:ln/>
        </p:spPr>
      </p:sp>
      <p:pic>
        <p:nvPicPr>
          <p:cNvPr id="9" name="Image 1" descr="Lock">    </p:cNvPr>
          <p:cNvPicPr>
            <a:picLocks noChangeAspect="1"/>
          </p:cNvPicPr>
          <p:nvPr/>
        </p:nvPicPr>
        <p:blipFill>
          <a:blip r:embed="rId2"/>
          <a:srcRect l="0" r="0" t="0" b="0"/>
          <a:stretch/>
        </p:blipFill>
        <p:spPr>
          <a:xfrm>
            <a:off x="6350000" y="2158901"/>
            <a:ext cx="304800" cy="304800"/>
          </a:xfrm>
          <a:prstGeom prst="rect">
            <a:avLst/>
          </a:prstGeom>
        </p:spPr>
      </p:pic>
      <p:sp>
        <p:nvSpPr>
          <p:cNvPr id="10" name="Text 6"/>
          <p:cNvSpPr/>
          <p:nvPr/>
        </p:nvSpPr>
        <p:spPr>
          <a:xfrm>
            <a:off x="6781800" y="2158901"/>
            <a:ext cx="455218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7F5F0"/>
                </a:solidFill>
                <a:latin typeface="IBM Plex Sans" pitchFamily="34" charset="0"/>
                <a:ea typeface="IBM Plex Sans" pitchFamily="34" charset="-122"/>
                <a:cs typeface="IBM Plex Sans" pitchFamily="34" charset="-120"/>
              </a:rPr>
              <a:t>HTTPS for every form</a:t>
            </a:r>
            <a:endParaRPr lang="en-US" sz="1500" dirty="0"/>
          </a:p>
        </p:txBody>
      </p:sp>
      <p:sp>
        <p:nvSpPr>
          <p:cNvPr id="11" name="Text 7"/>
          <p:cNvSpPr/>
          <p:nvPr/>
        </p:nvSpPr>
        <p:spPr>
          <a:xfrm>
            <a:off x="6781800" y="2438301"/>
            <a:ext cx="455218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4E0"/>
                </a:solidFill>
                <a:latin typeface="IBM Plex Sans" pitchFamily="34" charset="0"/>
                <a:ea typeface="IBM Plex Sans" pitchFamily="34" charset="-122"/>
                <a:cs typeface="IBM Plex Sans" pitchFamily="34" charset="-120"/>
              </a:rPr>
              <a:t>POST hides data from the URL, not from the network. Only HTTPS encrypts it.</a:t>
            </a:r>
            <a:endParaRPr lang="en-US" sz="1300" dirty="0"/>
          </a:p>
        </p:txBody>
      </p:sp>
      <p:sp>
        <p:nvSpPr>
          <p:cNvPr id="12" name="Shape 8"/>
          <p:cNvSpPr/>
          <p:nvPr/>
        </p:nvSpPr>
        <p:spPr>
          <a:xfrm>
            <a:off x="812800" y="3230662"/>
            <a:ext cx="5207000" cy="1097161"/>
          </a:xfrm>
          <a:prstGeom prst="roundRect">
            <a:avLst>
              <a:gd name="adj" fmla="val 9260"/>
            </a:avLst>
          </a:prstGeom>
          <a:solidFill>
            <a:srgbClr val="243142"/>
          </a:solidFill>
          <a:ln/>
        </p:spPr>
      </p:sp>
      <p:pic>
        <p:nvPicPr>
          <p:cNvPr id="13" name="Image 2" descr="Key">    </p:cNvPr>
          <p:cNvPicPr>
            <a:picLocks noChangeAspect="1"/>
          </p:cNvPicPr>
          <p:nvPr/>
        </p:nvPicPr>
        <p:blipFill>
          <a:blip r:embed="rId3"/>
          <a:srcRect l="0" r="0" t="0" b="0"/>
          <a:stretch/>
        </p:blipFill>
        <p:spPr>
          <a:xfrm>
            <a:off x="990600" y="3408462"/>
            <a:ext cx="304800" cy="304800"/>
          </a:xfrm>
          <a:prstGeom prst="rect">
            <a:avLst/>
          </a:prstGeom>
        </p:spPr>
      </p:pic>
      <p:sp>
        <p:nvSpPr>
          <p:cNvPr id="14" name="Text 9"/>
          <p:cNvSpPr/>
          <p:nvPr/>
        </p:nvSpPr>
        <p:spPr>
          <a:xfrm>
            <a:off x="1422400" y="3408462"/>
            <a:ext cx="455218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7F5F0"/>
                </a:solidFill>
                <a:latin typeface="IBM Plex Sans" pitchFamily="34" charset="0"/>
                <a:ea typeface="IBM Plex Sans" pitchFamily="34" charset="-122"/>
                <a:cs typeface="IBM Plex Sans" pitchFamily="34" charset="-120"/>
              </a:rPr>
              <a:t>No passwords in GET</a:t>
            </a:r>
            <a:endParaRPr lang="en-US" sz="1500" dirty="0"/>
          </a:p>
        </p:txBody>
      </p:sp>
      <p:sp>
        <p:nvSpPr>
          <p:cNvPr id="15" name="Text 10"/>
          <p:cNvSpPr/>
          <p:nvPr/>
        </p:nvSpPr>
        <p:spPr>
          <a:xfrm>
            <a:off x="1422400" y="3687862"/>
            <a:ext cx="455218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4E0"/>
                </a:solidFill>
                <a:latin typeface="IBM Plex Sans" pitchFamily="34" charset="0"/>
                <a:ea typeface="IBM Plex Sans" pitchFamily="34" charset="-122"/>
                <a:cs typeface="IBM Plex Sans" pitchFamily="34" charset="-120"/>
              </a:rPr>
              <a:t>URLs are saved in history, server logs and shared links.</a:t>
            </a:r>
            <a:endParaRPr lang="en-US" sz="1300" dirty="0"/>
          </a:p>
        </p:txBody>
      </p:sp>
      <p:sp>
        <p:nvSpPr>
          <p:cNvPr id="16" name="Shape 11"/>
          <p:cNvSpPr/>
          <p:nvPr/>
        </p:nvSpPr>
        <p:spPr>
          <a:xfrm>
            <a:off x="6172200" y="3230662"/>
            <a:ext cx="5207000" cy="1097161"/>
          </a:xfrm>
          <a:prstGeom prst="roundRect">
            <a:avLst>
              <a:gd name="adj" fmla="val 9260"/>
            </a:avLst>
          </a:prstGeom>
          <a:solidFill>
            <a:srgbClr val="243142"/>
          </a:solidFill>
          <a:ln/>
        </p:spPr>
      </p:sp>
      <p:pic>
        <p:nvPicPr>
          <p:cNvPr id="17" name="Image 3" descr="Trust">    </p:cNvPr>
          <p:cNvPicPr>
            <a:picLocks noChangeAspect="1"/>
          </p:cNvPicPr>
          <p:nvPr/>
        </p:nvPicPr>
        <p:blipFill>
          <a:blip r:embed="rId4"/>
          <a:srcRect l="0" r="0" t="0" b="0"/>
          <a:stretch/>
        </p:blipFill>
        <p:spPr>
          <a:xfrm>
            <a:off x="6350000" y="3408462"/>
            <a:ext cx="304800" cy="304800"/>
          </a:xfrm>
          <a:prstGeom prst="rect">
            <a:avLst/>
          </a:prstGeom>
        </p:spPr>
      </p:pic>
      <p:sp>
        <p:nvSpPr>
          <p:cNvPr id="18" name="Text 12"/>
          <p:cNvSpPr/>
          <p:nvPr/>
        </p:nvSpPr>
        <p:spPr>
          <a:xfrm>
            <a:off x="6781800" y="3408462"/>
            <a:ext cx="455218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7F5F0"/>
                </a:solidFill>
                <a:latin typeface="IBM Plex Sans" pitchFamily="34" charset="0"/>
                <a:ea typeface="IBM Plex Sans" pitchFamily="34" charset="-122"/>
                <a:cs typeface="IBM Plex Sans" pitchFamily="34" charset="-120"/>
              </a:rPr>
              <a:t>Coming later</a:t>
            </a:r>
            <a:endParaRPr lang="en-US" sz="1500" dirty="0"/>
          </a:p>
        </p:txBody>
      </p:sp>
      <p:sp>
        <p:nvSpPr>
          <p:cNvPr id="19" name="Text 13"/>
          <p:cNvSpPr/>
          <p:nvPr/>
        </p:nvSpPr>
        <p:spPr>
          <a:xfrm>
            <a:off x="6781800" y="3687862"/>
            <a:ext cx="455218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4E0"/>
                </a:solidFill>
                <a:latin typeface="IBM Plex Sans" pitchFamily="34" charset="0"/>
                <a:ea typeface="IBM Plex Sans" pitchFamily="34" charset="-122"/>
                <a:cs typeface="IBM Plex Sans" pitchFamily="34" charset="-120"/>
              </a:rPr>
              <a:t>Escaping output (XSS), prepared statements (SQL injection), CSRF tokens in Laravel.</a:t>
            </a:r>
            <a:endParaRPr lang="en-US" sz="1300" dirty="0"/>
          </a:p>
        </p:txBody>
      </p:sp>
      <p:sp>
        <p:nvSpPr>
          <p:cNvPr id="20"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3"/>
                </a:solidFill>
                <a:latin typeface="IBM Plex Sans" pitchFamily="34" charset="0"/>
                <a:ea typeface="IBM Plex Sans" pitchFamily="34" charset="-122"/>
                <a:cs typeface="IBM Plex Sans" pitchFamily="34" charset="-120"/>
              </a:rPr>
              <a:t>CSC-312 Web Engineering · Week 3 · Lecture 6 — HTML5 Forms, GET &amp; POST</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IBM Plex Sans" pitchFamily="34" charset="0"/>
                <a:ea typeface="IBM Plex Sans" pitchFamily="34" charset="-122"/>
                <a:cs typeface="IBM Plex Sans" pitchFamily="34" charset="-120"/>
              </a:rPr>
              <a:t>PART B · GUIDED DEMO · 10 MIN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See GET and POST with your own eyes</a:t>
            </a:r>
            <a:endParaRPr lang="en-US" sz="3200" dirty="0"/>
          </a:p>
        </p:txBody>
      </p:sp>
      <p:sp>
        <p:nvSpPr>
          <p:cNvPr id="4" name="Shape 2"/>
          <p:cNvSpPr/>
          <p:nvPr/>
        </p:nvSpPr>
        <p:spPr>
          <a:xfrm>
            <a:off x="815975" y="1984276"/>
            <a:ext cx="2543175" cy="1933972"/>
          </a:xfrm>
          <a:prstGeom prst="roundRect">
            <a:avLst>
              <a:gd name="adj" fmla="val 5089"/>
            </a:avLst>
          </a:prstGeom>
          <a:solidFill>
            <a:srgbClr val="FFFDF9"/>
          </a:solidFill>
          <a:ln w="6350">
            <a:solidFill>
              <a:srgbClr val="E4E0D8"/>
            </a:solidFill>
            <a:prstDash val="solid"/>
          </a:ln>
        </p:spPr>
      </p:sp>
      <p:sp>
        <p:nvSpPr>
          <p:cNvPr id="5" name="Text 3"/>
          <p:cNvSpPr/>
          <p:nvPr/>
        </p:nvSpPr>
        <p:spPr>
          <a:xfrm>
            <a:off x="996950" y="2165251"/>
            <a:ext cx="2246662"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2410C"/>
                </a:solidFill>
                <a:latin typeface="IBM Plex Sans" pitchFamily="34" charset="0"/>
                <a:ea typeface="IBM Plex Sans" pitchFamily="34" charset="-122"/>
                <a:cs typeface="IBM Plex Sans" pitchFamily="34" charset="-120"/>
              </a:rPr>
              <a:t>1</a:t>
            </a:r>
            <a:endParaRPr lang="en-US" sz="2800" dirty="0"/>
          </a:p>
        </p:txBody>
      </p:sp>
      <p:sp>
        <p:nvSpPr>
          <p:cNvPr id="6" name="Text 4"/>
          <p:cNvSpPr/>
          <p:nvPr/>
        </p:nvSpPr>
        <p:spPr>
          <a:xfrm>
            <a:off x="996950" y="2739231"/>
            <a:ext cx="224666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Build</a:t>
            </a:r>
            <a:endParaRPr lang="en-US" sz="1500" dirty="0"/>
          </a:p>
        </p:txBody>
      </p:sp>
      <p:sp>
        <p:nvSpPr>
          <p:cNvPr id="7" name="Text 5"/>
          <p:cNvSpPr/>
          <p:nvPr/>
        </p:nvSpPr>
        <p:spPr>
          <a:xfrm>
            <a:off x="996950" y="3044031"/>
            <a:ext cx="224666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A 3-field form with method="get" and no action.</a:t>
            </a:r>
            <a:endParaRPr lang="en-US" sz="1300" dirty="0"/>
          </a:p>
        </p:txBody>
      </p:sp>
      <p:sp>
        <p:nvSpPr>
          <p:cNvPr id="8" name="Shape 6"/>
          <p:cNvSpPr/>
          <p:nvPr/>
        </p:nvSpPr>
        <p:spPr>
          <a:xfrm>
            <a:off x="3492500" y="1984276"/>
            <a:ext cx="2543175" cy="1933972"/>
          </a:xfrm>
          <a:prstGeom prst="roundRect">
            <a:avLst>
              <a:gd name="adj" fmla="val 5089"/>
            </a:avLst>
          </a:prstGeom>
          <a:solidFill>
            <a:srgbClr val="FFFDF9"/>
          </a:solidFill>
          <a:ln w="6350">
            <a:solidFill>
              <a:srgbClr val="E4E0D8"/>
            </a:solidFill>
            <a:prstDash val="solid"/>
          </a:ln>
        </p:spPr>
      </p:sp>
      <p:sp>
        <p:nvSpPr>
          <p:cNvPr id="9" name="Text 7"/>
          <p:cNvSpPr/>
          <p:nvPr/>
        </p:nvSpPr>
        <p:spPr>
          <a:xfrm>
            <a:off x="3673475" y="2165251"/>
            <a:ext cx="2246662"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2410C"/>
                </a:solidFill>
                <a:latin typeface="IBM Plex Sans" pitchFamily="34" charset="0"/>
                <a:ea typeface="IBM Plex Sans" pitchFamily="34" charset="-122"/>
                <a:cs typeface="IBM Plex Sans" pitchFamily="34" charset="-120"/>
              </a:rPr>
              <a:t>2</a:t>
            </a:r>
            <a:endParaRPr lang="en-US" sz="2800" dirty="0"/>
          </a:p>
        </p:txBody>
      </p:sp>
      <p:sp>
        <p:nvSpPr>
          <p:cNvPr id="10" name="Text 8"/>
          <p:cNvSpPr/>
          <p:nvPr/>
        </p:nvSpPr>
        <p:spPr>
          <a:xfrm>
            <a:off x="3673475" y="2739231"/>
            <a:ext cx="224666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Submit</a:t>
            </a:r>
            <a:endParaRPr lang="en-US" sz="1500" dirty="0"/>
          </a:p>
        </p:txBody>
      </p:sp>
      <p:sp>
        <p:nvSpPr>
          <p:cNvPr id="11" name="Text 9"/>
          <p:cNvSpPr/>
          <p:nvPr/>
        </p:nvSpPr>
        <p:spPr>
          <a:xfrm>
            <a:off x="3673475" y="3044031"/>
            <a:ext cx="224666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Read the data in the address bar: ?name=…&amp;course=…</a:t>
            </a:r>
            <a:endParaRPr lang="en-US" sz="1300" dirty="0"/>
          </a:p>
        </p:txBody>
      </p:sp>
      <p:sp>
        <p:nvSpPr>
          <p:cNvPr id="12" name="Shape 10"/>
          <p:cNvSpPr/>
          <p:nvPr/>
        </p:nvSpPr>
        <p:spPr>
          <a:xfrm>
            <a:off x="6169025" y="1984276"/>
            <a:ext cx="2543175" cy="1933972"/>
          </a:xfrm>
          <a:prstGeom prst="roundRect">
            <a:avLst>
              <a:gd name="adj" fmla="val 5089"/>
            </a:avLst>
          </a:prstGeom>
          <a:solidFill>
            <a:srgbClr val="FFFDF9"/>
          </a:solidFill>
          <a:ln w="6350">
            <a:solidFill>
              <a:srgbClr val="E4E0D8"/>
            </a:solidFill>
            <a:prstDash val="solid"/>
          </a:ln>
        </p:spPr>
      </p:sp>
      <p:sp>
        <p:nvSpPr>
          <p:cNvPr id="13" name="Text 11"/>
          <p:cNvSpPr/>
          <p:nvPr/>
        </p:nvSpPr>
        <p:spPr>
          <a:xfrm>
            <a:off x="6350000" y="2165251"/>
            <a:ext cx="2246662"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2410C"/>
                </a:solidFill>
                <a:latin typeface="IBM Plex Sans" pitchFamily="34" charset="0"/>
                <a:ea typeface="IBM Plex Sans" pitchFamily="34" charset="-122"/>
                <a:cs typeface="IBM Plex Sans" pitchFamily="34" charset="-120"/>
              </a:rPr>
              <a:t>3</a:t>
            </a:r>
            <a:endParaRPr lang="en-US" sz="2800" dirty="0"/>
          </a:p>
        </p:txBody>
      </p:sp>
      <p:sp>
        <p:nvSpPr>
          <p:cNvPr id="14" name="Text 12"/>
          <p:cNvSpPr/>
          <p:nvPr/>
        </p:nvSpPr>
        <p:spPr>
          <a:xfrm>
            <a:off x="6350000" y="2739231"/>
            <a:ext cx="224666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Switch</a:t>
            </a:r>
            <a:endParaRPr lang="en-US" sz="1500" dirty="0"/>
          </a:p>
        </p:txBody>
      </p:sp>
      <p:sp>
        <p:nvSpPr>
          <p:cNvPr id="15" name="Text 13"/>
          <p:cNvSpPr/>
          <p:nvPr/>
        </p:nvSpPr>
        <p:spPr>
          <a:xfrm>
            <a:off x="6350000" y="3044031"/>
            <a:ext cx="2246662"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Change to post, action to an echo service such as httpbin.org/post.</a:t>
            </a:r>
            <a:endParaRPr lang="en-US" sz="1300" dirty="0"/>
          </a:p>
        </p:txBody>
      </p:sp>
      <p:sp>
        <p:nvSpPr>
          <p:cNvPr id="16" name="Shape 14"/>
          <p:cNvSpPr/>
          <p:nvPr/>
        </p:nvSpPr>
        <p:spPr>
          <a:xfrm>
            <a:off x="8842375" y="1981101"/>
            <a:ext cx="2536825" cy="1940322"/>
          </a:xfrm>
          <a:prstGeom prst="roundRect">
            <a:avLst>
              <a:gd name="adj" fmla="val 5236"/>
            </a:avLst>
          </a:prstGeom>
          <a:solidFill>
            <a:srgbClr val="16202E"/>
          </a:solidFill>
          <a:ln/>
        </p:spPr>
      </p:sp>
      <p:sp>
        <p:nvSpPr>
          <p:cNvPr id="17" name="Text 15"/>
          <p:cNvSpPr/>
          <p:nvPr/>
        </p:nvSpPr>
        <p:spPr>
          <a:xfrm>
            <a:off x="9020175" y="2158901"/>
            <a:ext cx="2246662"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F9E64"/>
                </a:solidFill>
                <a:latin typeface="IBM Plex Sans" pitchFamily="34" charset="0"/>
                <a:ea typeface="IBM Plex Sans" pitchFamily="34" charset="-122"/>
                <a:cs typeface="IBM Plex Sans" pitchFamily="34" charset="-120"/>
              </a:rPr>
              <a:t>4</a:t>
            </a:r>
            <a:endParaRPr lang="en-US" sz="2800" dirty="0"/>
          </a:p>
        </p:txBody>
      </p:sp>
      <p:sp>
        <p:nvSpPr>
          <p:cNvPr id="18" name="Text 16"/>
          <p:cNvSpPr/>
          <p:nvPr/>
        </p:nvSpPr>
        <p:spPr>
          <a:xfrm>
            <a:off x="9020175" y="2732881"/>
            <a:ext cx="224666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7F5F0"/>
                </a:solidFill>
                <a:latin typeface="IBM Plex Sans" pitchFamily="34" charset="0"/>
                <a:ea typeface="IBM Plex Sans" pitchFamily="34" charset="-122"/>
                <a:cs typeface="IBM Plex Sans" pitchFamily="34" charset="-120"/>
              </a:rPr>
              <a:t>Inspect</a:t>
            </a:r>
            <a:endParaRPr lang="en-US" sz="1500" dirty="0"/>
          </a:p>
        </p:txBody>
      </p:sp>
      <p:sp>
        <p:nvSpPr>
          <p:cNvPr id="19" name="Text 17"/>
          <p:cNvSpPr/>
          <p:nvPr/>
        </p:nvSpPr>
        <p:spPr>
          <a:xfrm>
            <a:off x="9020175" y="3037681"/>
            <a:ext cx="2246662"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4E0"/>
                </a:solidFill>
                <a:latin typeface="IBM Plex Sans" pitchFamily="34" charset="0"/>
                <a:ea typeface="IBM Plex Sans" pitchFamily="34" charset="-122"/>
                <a:cs typeface="IBM Plex Sans" pitchFamily="34" charset="-120"/>
              </a:rPr>
              <a:t>DevTools › Network › the request › Payload. No data in the URL.</a:t>
            </a:r>
            <a:endParaRPr lang="en-US" sz="1300" dirty="0"/>
          </a:p>
        </p:txBody>
      </p:sp>
      <p:sp>
        <p:nvSpPr>
          <p:cNvPr id="20" name="Text 18"/>
          <p:cNvSpPr/>
          <p:nvPr/>
        </p:nvSpPr>
        <p:spPr>
          <a:xfrm>
            <a:off x="812800" y="4175423"/>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467"/>
                </a:solidFill>
                <a:latin typeface="IBM Plex Sans" pitchFamily="34" charset="0"/>
                <a:ea typeface="IBM Plex Sans" pitchFamily="34" charset="-122"/>
                <a:cs typeface="IBM Plex Sans" pitchFamily="34" charset="-120"/>
              </a:rPr>
              <a:t>Then break it on purpose: remove a name attribute and watch that field vanish from the data.</a:t>
            </a:r>
            <a:endParaRPr lang="en-US" sz="14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6 — HTML5 Forms, GET &amp; POST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CE8D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IBM Plex Sans" pitchFamily="34" charset="0"/>
                <a:ea typeface="IBM Plex Sans" pitchFamily="34" charset="-122"/>
                <a:cs typeface="IBM Plex Sans" pitchFamily="34" charset="-120"/>
              </a:rPr>
              <a:t>LAB 6 · 25 MIN · INDIVIDUAL</a:t>
            </a:r>
            <a:endParaRPr lang="en-US" sz="1200" dirty="0"/>
          </a:p>
        </p:txBody>
      </p:sp>
      <p:sp>
        <p:nvSpPr>
          <p:cNvPr id="3" name="Text 1"/>
          <p:cNvSpPr/>
          <p:nvPr>
            <p:ph type="title"/>
          </p:nvPr>
        </p:nvSpPr>
        <p:spPr>
          <a:xfrm>
            <a:off x="812800" y="1254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Student registration form: register.html</a:t>
            </a:r>
            <a:endParaRPr lang="en-US" sz="3200" dirty="0"/>
          </a:p>
        </p:txBody>
      </p:sp>
      <p:sp>
        <p:nvSpPr>
          <p:cNvPr id="4" name="Text 2"/>
          <p:cNvSpPr/>
          <p:nvPr/>
        </p:nvSpPr>
        <p:spPr>
          <a:xfrm>
            <a:off x="812800" y="1930301"/>
            <a:ext cx="600392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1.</a:t>
            </a:r>
            <a:r>
              <a:rPr lang="en-US" sz="1300" dirty="0">
                <a:solidFill>
                  <a:srgbClr val="1F2A37"/>
                </a:solidFill>
                <a:latin typeface="IBM Plex Sans" pitchFamily="34" charset="0"/>
                <a:ea typeface="IBM Plex Sans" pitchFamily="34" charset="-122"/>
                <a:cs typeface="IBM Plex Sans" pitchFamily="34" charset="-120"/>
              </a:rPr>
              <a:t> fieldset “Personal details”: full name, email, phone (pattern), date of birth.</a:t>
            </a:r>
            <a:endParaRPr lang="en-US" sz="1300" dirty="0"/>
          </a:p>
        </p:txBody>
      </p:sp>
      <p:sp>
        <p:nvSpPr>
          <p:cNvPr id="5" name="Text 3"/>
          <p:cNvSpPr/>
          <p:nvPr/>
        </p:nvSpPr>
        <p:spPr>
          <a:xfrm>
            <a:off x="812800" y="2237581"/>
            <a:ext cx="600392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2.</a:t>
            </a:r>
            <a:r>
              <a:rPr lang="en-US" sz="1300" dirty="0">
                <a:solidFill>
                  <a:srgbClr val="1F2A37"/>
                </a:solidFill>
                <a:latin typeface="IBM Plex Sans" pitchFamily="34" charset="0"/>
                <a:ea typeface="IBM Plex Sans" pitchFamily="34" charset="-122"/>
                <a:cs typeface="IBM Plex Sans" pitchFamily="34" charset="-120"/>
              </a:rPr>
              <a:t> fieldset “Programme”: degree select with optgroup; shift as radio buttons.</a:t>
            </a:r>
            <a:endParaRPr lang="en-US" sz="1300" dirty="0"/>
          </a:p>
        </p:txBody>
      </p:sp>
      <p:sp>
        <p:nvSpPr>
          <p:cNvPr id="6" name="Text 4"/>
          <p:cNvSpPr/>
          <p:nvPr/>
        </p:nvSpPr>
        <p:spPr>
          <a:xfrm>
            <a:off x="812800" y="2544862"/>
            <a:ext cx="5974747"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3.</a:t>
            </a:r>
            <a:r>
              <a:rPr lang="en-US" sz="1300" dirty="0">
                <a:solidFill>
                  <a:srgbClr val="1F2A37"/>
                </a:solidFill>
                <a:latin typeface="IBM Plex Sans" pitchFamily="34" charset="0"/>
                <a:ea typeface="IBM Plex Sans" pitchFamily="34" charset="-122"/>
                <a:cs typeface="IBM Plex Sans" pitchFamily="34" charset="-120"/>
              </a:rPr>
              <a:t> Interests as checkboxes (name="interests[]"); a textarea “Why this course?”.</a:t>
            </a:r>
            <a:endParaRPr lang="en-US" sz="1300" dirty="0"/>
          </a:p>
        </p:txBody>
      </p:sp>
      <p:sp>
        <p:nvSpPr>
          <p:cNvPr id="7" name="Text 5"/>
          <p:cNvSpPr/>
          <p:nvPr/>
        </p:nvSpPr>
        <p:spPr>
          <a:xfrm>
            <a:off x="812800" y="3083223"/>
            <a:ext cx="5974747"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4.</a:t>
            </a:r>
            <a:r>
              <a:rPr lang="en-US" sz="1300" dirty="0">
                <a:solidFill>
                  <a:srgbClr val="1F2A37"/>
                </a:solidFill>
                <a:latin typeface="IBM Plex Sans" pitchFamily="34" charset="0"/>
                <a:ea typeface="IBM Plex Sans" pitchFamily="34" charset="-122"/>
                <a:cs typeface="IBM Plex Sans" pitchFamily="34" charset="-120"/>
              </a:rPr>
              <a:t> Photo upload (accept="image/*") — so choose the correct method and enctype.</a:t>
            </a:r>
            <a:endParaRPr lang="en-US" sz="1300" dirty="0"/>
          </a:p>
        </p:txBody>
      </p:sp>
      <p:sp>
        <p:nvSpPr>
          <p:cNvPr id="8" name="Text 6"/>
          <p:cNvSpPr/>
          <p:nvPr/>
        </p:nvSpPr>
        <p:spPr>
          <a:xfrm>
            <a:off x="812800" y="3621584"/>
            <a:ext cx="597474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5.</a:t>
            </a:r>
            <a:r>
              <a:rPr lang="en-US" sz="1300" dirty="0">
                <a:solidFill>
                  <a:srgbClr val="1F2A37"/>
                </a:solidFill>
                <a:latin typeface="IBM Plex Sans" pitchFamily="34" charset="0"/>
                <a:ea typeface="IBM Plex Sans" pitchFamily="34" charset="-122"/>
                <a:cs typeface="IBM Plex Sans" pitchFamily="34" charset="-120"/>
              </a:rPr>
              <a:t> A label for every control; required on key fields; a terms checkbox.</a:t>
            </a:r>
            <a:endParaRPr lang="en-US" sz="1300" dirty="0"/>
          </a:p>
        </p:txBody>
      </p:sp>
      <p:sp>
        <p:nvSpPr>
          <p:cNvPr id="9" name="Text 7"/>
          <p:cNvSpPr/>
          <p:nvPr/>
        </p:nvSpPr>
        <p:spPr>
          <a:xfrm>
            <a:off x="812800" y="3928864"/>
            <a:ext cx="597474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6.</a:t>
            </a:r>
            <a:r>
              <a:rPr lang="en-US" sz="1300" dirty="0">
                <a:solidFill>
                  <a:srgbClr val="1F2A37"/>
                </a:solidFill>
                <a:latin typeface="IBM Plex Sans" pitchFamily="34" charset="0"/>
                <a:ea typeface="IBM Plex Sans" pitchFamily="34" charset="-122"/>
                <a:cs typeface="IBM Plex Sans" pitchFamily="34" charset="-120"/>
              </a:rPr>
              <a:t> Submit and Reset buttons. Test in DevTools Network. Validate.</a:t>
            </a:r>
            <a:endParaRPr lang="en-US" sz="1300" dirty="0"/>
          </a:p>
        </p:txBody>
      </p:sp>
      <p:sp>
        <p:nvSpPr>
          <p:cNvPr id="10" name="Shape 8"/>
          <p:cNvSpPr/>
          <p:nvPr/>
        </p:nvSpPr>
        <p:spPr>
          <a:xfrm>
            <a:off x="6819900" y="1933476"/>
            <a:ext cx="4556125" cy="2129433"/>
          </a:xfrm>
          <a:prstGeom prst="roundRect">
            <a:avLst>
              <a:gd name="adj" fmla="val 4622"/>
            </a:avLst>
          </a:prstGeom>
          <a:solidFill>
            <a:srgbClr val="FFFDF9"/>
          </a:solidFill>
          <a:ln w="6350">
            <a:solidFill>
              <a:srgbClr val="D9D3C7"/>
            </a:solidFill>
            <a:prstDash val="solid"/>
          </a:ln>
        </p:spPr>
      </p:sp>
      <p:sp>
        <p:nvSpPr>
          <p:cNvPr id="11" name="Text 9"/>
          <p:cNvSpPr/>
          <p:nvPr/>
        </p:nvSpPr>
        <p:spPr>
          <a:xfrm>
            <a:off x="7026275" y="2139851"/>
            <a:ext cx="426767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Answer in a comment</a:t>
            </a:r>
            <a:endParaRPr lang="en-US" sz="1600" dirty="0"/>
          </a:p>
        </p:txBody>
      </p:sp>
      <p:sp>
        <p:nvSpPr>
          <p:cNvPr id="12" name="Text 10"/>
          <p:cNvSpPr/>
          <p:nvPr/>
        </p:nvSpPr>
        <p:spPr>
          <a:xfrm>
            <a:off x="7026275" y="2485231"/>
            <a:ext cx="426767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Why did you choose GET or POST? What would break if you chose the other?</a:t>
            </a:r>
            <a:endParaRPr lang="en-US" sz="1300" dirty="0"/>
          </a:p>
        </p:txBody>
      </p:sp>
      <p:sp>
        <p:nvSpPr>
          <p:cNvPr id="13" name="Text 11"/>
          <p:cNvSpPr/>
          <p:nvPr/>
        </p:nvSpPr>
        <p:spPr>
          <a:xfrm>
            <a:off x="7026275" y="3048992"/>
            <a:ext cx="426767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C2410C"/>
                </a:solidFill>
                <a:latin typeface="IBM Plex Sans" pitchFamily="34" charset="0"/>
                <a:ea typeface="IBM Plex Sans" pitchFamily="34" charset="-122"/>
                <a:cs typeface="IBM Plex Sans" pitchFamily="34" charset="-120"/>
              </a:rPr>
              <a:t>Stretch goal</a:t>
            </a:r>
            <a:endParaRPr lang="en-US" sz="1600" dirty="0"/>
          </a:p>
        </p:txBody>
      </p:sp>
      <p:sp>
        <p:nvSpPr>
          <p:cNvPr id="14" name="Text 12"/>
          <p:cNvSpPr/>
          <p:nvPr/>
        </p:nvSpPr>
        <p:spPr>
          <a:xfrm>
            <a:off x="7026275" y="3394373"/>
            <a:ext cx="426767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Add a separate search form in the header that correctly uses GET.</a:t>
            </a:r>
            <a:endParaRPr lang="en-US" sz="13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6 — HTML5 Forms, GET &amp; POST</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9E64"/>
                </a:solidFill>
                <a:latin typeface="IBM Plex Sans" pitchFamily="34" charset="0"/>
                <a:ea typeface="IBM Plex Sans" pitchFamily="34" charset="-122"/>
                <a:cs typeface="IBM Plex Sans" pitchFamily="34" charset="-120"/>
              </a:rPr>
              <a:t>QUICK CHECK · 5 MIN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5F0"/>
                </a:solidFill>
                <a:latin typeface="IBM Plex Sans" pitchFamily="34" charset="0"/>
                <a:ea typeface="IBM Plex Sans" pitchFamily="34" charset="-122"/>
                <a:cs typeface="IBM Plex Sans" pitchFamily="34" charset="-120"/>
              </a:rPr>
              <a:t>Five questions — answer on paper</a:t>
            </a:r>
            <a:endParaRPr lang="en-US" sz="3200" dirty="0"/>
          </a:p>
        </p:txBody>
      </p:sp>
      <p:sp>
        <p:nvSpPr>
          <p:cNvPr id="4" name="Text 2"/>
          <p:cNvSpPr/>
          <p:nvPr/>
        </p:nvSpPr>
        <p:spPr>
          <a:xfrm>
            <a:off x="812800" y="19811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1.</a:t>
            </a:r>
            <a:r>
              <a:rPr lang="en-US" sz="1500" dirty="0">
                <a:solidFill>
                  <a:srgbClr val="F7F5F0"/>
                </a:solidFill>
                <a:latin typeface="IBM Plex Sans" pitchFamily="34" charset="0"/>
                <a:ea typeface="IBM Plex Sans" pitchFamily="34" charset="-122"/>
                <a:cs typeface="IBM Plex Sans" pitchFamily="34" charset="-120"/>
              </a:rPr>
              <a:t> A field has id="city" but no name. What does the server receive for it?</a:t>
            </a:r>
            <a:endParaRPr lang="en-US" sz="1500" dirty="0"/>
          </a:p>
        </p:txBody>
      </p:sp>
      <p:sp>
        <p:nvSpPr>
          <p:cNvPr id="5" name="Text 3"/>
          <p:cNvSpPr/>
          <p:nvPr/>
        </p:nvSpPr>
        <p:spPr>
          <a:xfrm>
            <a:off x="812800" y="23748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2.</a:t>
            </a:r>
            <a:r>
              <a:rPr lang="en-US" sz="1500" dirty="0">
                <a:solidFill>
                  <a:srgbClr val="F7F5F0"/>
                </a:solidFill>
                <a:latin typeface="IBM Plex Sans" pitchFamily="34" charset="0"/>
                <a:ea typeface="IBM Plex Sans" pitchFamily="34" charset="-122"/>
                <a:cs typeface="IBM Plex Sans" pitchFamily="34" charset="-120"/>
              </a:rPr>
              <a:t> GET or POST: (a) product search (b) login (c) changing your password?</a:t>
            </a:r>
            <a:endParaRPr lang="en-US" sz="1500" dirty="0"/>
          </a:p>
        </p:txBody>
      </p:sp>
      <p:sp>
        <p:nvSpPr>
          <p:cNvPr id="6" name="Text 4"/>
          <p:cNvSpPr/>
          <p:nvPr/>
        </p:nvSpPr>
        <p:spPr>
          <a:xfrm>
            <a:off x="812800" y="27685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3.</a:t>
            </a:r>
            <a:r>
              <a:rPr lang="en-US" sz="1500" dirty="0">
                <a:solidFill>
                  <a:srgbClr val="F7F5F0"/>
                </a:solidFill>
                <a:latin typeface="IBM Plex Sans" pitchFamily="34" charset="0"/>
                <a:ea typeface="IBM Plex Sans" pitchFamily="34" charset="-122"/>
                <a:cs typeface="IBM Plex Sans" pitchFamily="34" charset="-120"/>
              </a:rPr>
              <a:t> What makes three radio buttons behave as one group?</a:t>
            </a:r>
            <a:endParaRPr lang="en-US" sz="1500" dirty="0"/>
          </a:p>
        </p:txBody>
      </p:sp>
      <p:sp>
        <p:nvSpPr>
          <p:cNvPr id="7" name="Text 5"/>
          <p:cNvSpPr/>
          <p:nvPr/>
        </p:nvSpPr>
        <p:spPr>
          <a:xfrm>
            <a:off x="812800" y="31622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4.</a:t>
            </a:r>
            <a:r>
              <a:rPr lang="en-US" sz="1500" dirty="0">
                <a:solidFill>
                  <a:srgbClr val="F7F5F0"/>
                </a:solidFill>
                <a:latin typeface="IBM Plex Sans" pitchFamily="34" charset="0"/>
                <a:ea typeface="IBM Plex Sans" pitchFamily="34" charset="-122"/>
                <a:cs typeface="IBM Plex Sans" pitchFamily="34" charset="-120"/>
              </a:rPr>
              <a:t> Two things a form needs before it can upload a file.</a:t>
            </a:r>
            <a:endParaRPr lang="en-US" sz="1500" dirty="0"/>
          </a:p>
        </p:txBody>
      </p:sp>
      <p:sp>
        <p:nvSpPr>
          <p:cNvPr id="8" name="Text 6"/>
          <p:cNvSpPr/>
          <p:nvPr/>
        </p:nvSpPr>
        <p:spPr>
          <a:xfrm>
            <a:off x="812800" y="35559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5.</a:t>
            </a:r>
            <a:r>
              <a:rPr lang="en-US" sz="1500" dirty="0">
                <a:solidFill>
                  <a:srgbClr val="F7F5F0"/>
                </a:solidFill>
                <a:latin typeface="IBM Plex Sans" pitchFamily="34" charset="0"/>
                <a:ea typeface="IBM Plex Sans" pitchFamily="34" charset="-122"/>
                <a:cs typeface="IBM Plex Sans" pitchFamily="34" charset="-120"/>
              </a:rPr>
              <a:t> readonly vs disabled — which value is sent to the server?</a:t>
            </a:r>
            <a:endParaRPr lang="en-US" sz="15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3"/>
                </a:solidFill>
                <a:latin typeface="IBM Plex Sans" pitchFamily="34" charset="0"/>
                <a:ea typeface="IBM Plex Sans" pitchFamily="34" charset="-122"/>
                <a:cs typeface="IBM Plex Sans" pitchFamily="34" charset="-120"/>
              </a:rPr>
              <a:t>CSC-312 Web Engineering · Week 3 · Lecture 6 — HTML5 Forms, GET &amp; POST</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HTML MODULE REVIEW</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Three weeks, six lectures: what you can build now</a:t>
            </a:r>
            <a:endParaRPr lang="en-US" sz="3200" dirty="0"/>
          </a:p>
        </p:txBody>
      </p:sp>
      <p:sp>
        <p:nvSpPr>
          <p:cNvPr id="4" name="Shape 2"/>
          <p:cNvSpPr/>
          <p:nvPr/>
        </p:nvSpPr>
        <p:spPr>
          <a:xfrm>
            <a:off x="815975" y="1984276"/>
            <a:ext cx="3431084" cy="1367631"/>
          </a:xfrm>
          <a:prstGeom prst="roundRect">
            <a:avLst>
              <a:gd name="adj" fmla="val 7197"/>
            </a:avLst>
          </a:prstGeom>
          <a:solidFill>
            <a:srgbClr val="FFFDF9"/>
          </a:solidFill>
          <a:ln w="6350">
            <a:solidFill>
              <a:srgbClr val="E4E0D8"/>
            </a:solidFill>
            <a:prstDash val="solid"/>
          </a:ln>
        </p:spPr>
      </p:sp>
      <p:sp>
        <p:nvSpPr>
          <p:cNvPr id="5" name="Text 3"/>
          <p:cNvSpPr/>
          <p:nvPr/>
        </p:nvSpPr>
        <p:spPr>
          <a:xfrm>
            <a:off x="996950" y="2165251"/>
            <a:ext cx="31612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BM Plex Sans" pitchFamily="34" charset="0"/>
                <a:ea typeface="IBM Plex Sans" pitchFamily="34" charset="-122"/>
                <a:cs typeface="IBM Plex Sans" pitchFamily="34" charset="-120"/>
              </a:rPr>
              <a:t>WEEK 1 · L1</a:t>
            </a:r>
            <a:endParaRPr lang="en-US" sz="1200" dirty="0"/>
          </a:p>
        </p:txBody>
      </p:sp>
      <p:sp>
        <p:nvSpPr>
          <p:cNvPr id="6" name="Text 4"/>
          <p:cNvSpPr/>
          <p:nvPr/>
        </p:nvSpPr>
        <p:spPr>
          <a:xfrm>
            <a:off x="996950" y="2429371"/>
            <a:ext cx="31612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Foundations</a:t>
            </a:r>
            <a:endParaRPr lang="en-US" sz="1500" dirty="0"/>
          </a:p>
        </p:txBody>
      </p:sp>
      <p:sp>
        <p:nvSpPr>
          <p:cNvPr id="7" name="Text 5"/>
          <p:cNvSpPr/>
          <p:nvPr/>
        </p:nvSpPr>
        <p:spPr>
          <a:xfrm>
            <a:off x="996950" y="2708771"/>
            <a:ext cx="316120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Elements, attributes, the HTML5 skeleton, DOM, validation</a:t>
            </a:r>
            <a:endParaRPr lang="en-US" sz="1300" dirty="0"/>
          </a:p>
        </p:txBody>
      </p:sp>
      <p:sp>
        <p:nvSpPr>
          <p:cNvPr id="8" name="Shape 6"/>
          <p:cNvSpPr/>
          <p:nvPr/>
        </p:nvSpPr>
        <p:spPr>
          <a:xfrm>
            <a:off x="4380409" y="1984276"/>
            <a:ext cx="3431084" cy="1367631"/>
          </a:xfrm>
          <a:prstGeom prst="roundRect">
            <a:avLst>
              <a:gd name="adj" fmla="val 7197"/>
            </a:avLst>
          </a:prstGeom>
          <a:solidFill>
            <a:srgbClr val="FFFDF9"/>
          </a:solidFill>
          <a:ln w="6350">
            <a:solidFill>
              <a:srgbClr val="E4E0D8"/>
            </a:solidFill>
            <a:prstDash val="solid"/>
          </a:ln>
        </p:spPr>
      </p:sp>
      <p:sp>
        <p:nvSpPr>
          <p:cNvPr id="9" name="Text 7"/>
          <p:cNvSpPr/>
          <p:nvPr/>
        </p:nvSpPr>
        <p:spPr>
          <a:xfrm>
            <a:off x="4561384" y="2165251"/>
            <a:ext cx="31612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BM Plex Sans" pitchFamily="34" charset="0"/>
                <a:ea typeface="IBM Plex Sans" pitchFamily="34" charset="-122"/>
                <a:cs typeface="IBM Plex Sans" pitchFamily="34" charset="-120"/>
              </a:rPr>
              <a:t>WEEK 1 · L2</a:t>
            </a:r>
            <a:endParaRPr lang="en-US" sz="1200" dirty="0"/>
          </a:p>
        </p:txBody>
      </p:sp>
      <p:sp>
        <p:nvSpPr>
          <p:cNvPr id="10" name="Text 8"/>
          <p:cNvSpPr/>
          <p:nvPr/>
        </p:nvSpPr>
        <p:spPr>
          <a:xfrm>
            <a:off x="4561384" y="2429371"/>
            <a:ext cx="31612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Text</a:t>
            </a:r>
            <a:endParaRPr lang="en-US" sz="1500" dirty="0"/>
          </a:p>
        </p:txBody>
      </p:sp>
      <p:sp>
        <p:nvSpPr>
          <p:cNvPr id="11" name="Text 9"/>
          <p:cNvSpPr/>
          <p:nvPr/>
        </p:nvSpPr>
        <p:spPr>
          <a:xfrm>
            <a:off x="4561384" y="2708771"/>
            <a:ext cx="316120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Headings, paragraphs, quotes, inline semantics, entities</a:t>
            </a:r>
            <a:endParaRPr lang="en-US" sz="1300" dirty="0"/>
          </a:p>
        </p:txBody>
      </p:sp>
      <p:sp>
        <p:nvSpPr>
          <p:cNvPr id="12" name="Shape 10"/>
          <p:cNvSpPr/>
          <p:nvPr/>
        </p:nvSpPr>
        <p:spPr>
          <a:xfrm>
            <a:off x="7944842" y="1984276"/>
            <a:ext cx="3431084" cy="1367631"/>
          </a:xfrm>
          <a:prstGeom prst="roundRect">
            <a:avLst>
              <a:gd name="adj" fmla="val 7197"/>
            </a:avLst>
          </a:prstGeom>
          <a:solidFill>
            <a:srgbClr val="FFFDF9"/>
          </a:solidFill>
          <a:ln w="6350">
            <a:solidFill>
              <a:srgbClr val="E4E0D8"/>
            </a:solidFill>
            <a:prstDash val="solid"/>
          </a:ln>
        </p:spPr>
      </p:sp>
      <p:sp>
        <p:nvSpPr>
          <p:cNvPr id="13" name="Text 11"/>
          <p:cNvSpPr/>
          <p:nvPr/>
        </p:nvSpPr>
        <p:spPr>
          <a:xfrm>
            <a:off x="8125817" y="2165251"/>
            <a:ext cx="31612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BM Plex Sans" pitchFamily="34" charset="0"/>
                <a:ea typeface="IBM Plex Sans" pitchFamily="34" charset="-122"/>
                <a:cs typeface="IBM Plex Sans" pitchFamily="34" charset="-120"/>
              </a:rPr>
              <a:t>WEEK 2 · L3</a:t>
            </a:r>
            <a:endParaRPr lang="en-US" sz="1200" dirty="0"/>
          </a:p>
        </p:txBody>
      </p:sp>
      <p:sp>
        <p:nvSpPr>
          <p:cNvPr id="14" name="Text 12"/>
          <p:cNvSpPr/>
          <p:nvPr/>
        </p:nvSpPr>
        <p:spPr>
          <a:xfrm>
            <a:off x="8125817" y="2429371"/>
            <a:ext cx="31612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Lists &amp; links</a:t>
            </a:r>
            <a:endParaRPr lang="en-US" sz="1500" dirty="0"/>
          </a:p>
        </p:txBody>
      </p:sp>
      <p:sp>
        <p:nvSpPr>
          <p:cNvPr id="15" name="Text 13"/>
          <p:cNvSpPr/>
          <p:nvPr/>
        </p:nvSpPr>
        <p:spPr>
          <a:xfrm>
            <a:off x="8125817" y="2708771"/>
            <a:ext cx="316120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ul, ol, dl, navigation, relative paths, fragments</a:t>
            </a:r>
            <a:endParaRPr lang="en-US" sz="1300" dirty="0"/>
          </a:p>
        </p:txBody>
      </p:sp>
      <p:sp>
        <p:nvSpPr>
          <p:cNvPr id="16" name="Shape 14"/>
          <p:cNvSpPr/>
          <p:nvPr/>
        </p:nvSpPr>
        <p:spPr>
          <a:xfrm>
            <a:off x="815975" y="3485257"/>
            <a:ext cx="3431084" cy="1367631"/>
          </a:xfrm>
          <a:prstGeom prst="roundRect">
            <a:avLst>
              <a:gd name="adj" fmla="val 7197"/>
            </a:avLst>
          </a:prstGeom>
          <a:solidFill>
            <a:srgbClr val="FFFDF9"/>
          </a:solidFill>
          <a:ln w="6350">
            <a:solidFill>
              <a:srgbClr val="E4E0D8"/>
            </a:solidFill>
            <a:prstDash val="solid"/>
          </a:ln>
        </p:spPr>
      </p:sp>
      <p:sp>
        <p:nvSpPr>
          <p:cNvPr id="17" name="Text 15"/>
          <p:cNvSpPr/>
          <p:nvPr/>
        </p:nvSpPr>
        <p:spPr>
          <a:xfrm>
            <a:off x="996950" y="3666232"/>
            <a:ext cx="31612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BM Plex Sans" pitchFamily="34" charset="0"/>
                <a:ea typeface="IBM Plex Sans" pitchFamily="34" charset="-122"/>
                <a:cs typeface="IBM Plex Sans" pitchFamily="34" charset="-120"/>
              </a:rPr>
              <a:t>WEEK 2 · L4</a:t>
            </a:r>
            <a:endParaRPr lang="en-US" sz="1200" dirty="0"/>
          </a:p>
        </p:txBody>
      </p:sp>
      <p:sp>
        <p:nvSpPr>
          <p:cNvPr id="18" name="Text 16"/>
          <p:cNvSpPr/>
          <p:nvPr/>
        </p:nvSpPr>
        <p:spPr>
          <a:xfrm>
            <a:off x="996950" y="3930352"/>
            <a:ext cx="31612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Tables &amp; layout</a:t>
            </a:r>
            <a:endParaRPr lang="en-US" sz="1500" dirty="0"/>
          </a:p>
        </p:txBody>
      </p:sp>
      <p:sp>
        <p:nvSpPr>
          <p:cNvPr id="19" name="Text 17"/>
          <p:cNvSpPr/>
          <p:nvPr/>
        </p:nvSpPr>
        <p:spPr>
          <a:xfrm>
            <a:off x="996950" y="4209752"/>
            <a:ext cx="316120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Accessible tables, spans, div/span, semantic regions</a:t>
            </a:r>
            <a:endParaRPr lang="en-US" sz="1300" dirty="0"/>
          </a:p>
        </p:txBody>
      </p:sp>
      <p:sp>
        <p:nvSpPr>
          <p:cNvPr id="20" name="Shape 18"/>
          <p:cNvSpPr/>
          <p:nvPr/>
        </p:nvSpPr>
        <p:spPr>
          <a:xfrm>
            <a:off x="4380409" y="3485257"/>
            <a:ext cx="3431084" cy="1367631"/>
          </a:xfrm>
          <a:prstGeom prst="roundRect">
            <a:avLst>
              <a:gd name="adj" fmla="val 7197"/>
            </a:avLst>
          </a:prstGeom>
          <a:solidFill>
            <a:srgbClr val="FFFDF9"/>
          </a:solidFill>
          <a:ln w="6350">
            <a:solidFill>
              <a:srgbClr val="E4E0D8"/>
            </a:solidFill>
            <a:prstDash val="solid"/>
          </a:ln>
        </p:spPr>
      </p:sp>
      <p:sp>
        <p:nvSpPr>
          <p:cNvPr id="21" name="Text 19"/>
          <p:cNvSpPr/>
          <p:nvPr/>
        </p:nvSpPr>
        <p:spPr>
          <a:xfrm>
            <a:off x="4561384" y="3666232"/>
            <a:ext cx="31612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BM Plex Sans" pitchFamily="34" charset="0"/>
                <a:ea typeface="IBM Plex Sans" pitchFamily="34" charset="-122"/>
                <a:cs typeface="IBM Plex Sans" pitchFamily="34" charset="-120"/>
              </a:rPr>
              <a:t>WEEK 3 · L5</a:t>
            </a:r>
            <a:endParaRPr lang="en-US" sz="1200" dirty="0"/>
          </a:p>
        </p:txBody>
      </p:sp>
      <p:sp>
        <p:nvSpPr>
          <p:cNvPr id="22" name="Text 20"/>
          <p:cNvSpPr/>
          <p:nvPr/>
        </p:nvSpPr>
        <p:spPr>
          <a:xfrm>
            <a:off x="4561384" y="3930352"/>
            <a:ext cx="31612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Media &amp; head</a:t>
            </a:r>
            <a:endParaRPr lang="en-US" sz="1500" dirty="0"/>
          </a:p>
        </p:txBody>
      </p:sp>
      <p:sp>
        <p:nvSpPr>
          <p:cNvPr id="23" name="Text 21"/>
          <p:cNvSpPr/>
          <p:nvPr/>
        </p:nvSpPr>
        <p:spPr>
          <a:xfrm>
            <a:off x="4561384" y="4209752"/>
            <a:ext cx="316120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Images, responsive images, audio, video, iframes, SEO</a:t>
            </a:r>
            <a:endParaRPr lang="en-US" sz="1300" dirty="0"/>
          </a:p>
        </p:txBody>
      </p:sp>
      <p:sp>
        <p:nvSpPr>
          <p:cNvPr id="24" name="Shape 22"/>
          <p:cNvSpPr/>
          <p:nvPr/>
        </p:nvSpPr>
        <p:spPr>
          <a:xfrm>
            <a:off x="7941667" y="3482082"/>
            <a:ext cx="3437434" cy="1373981"/>
          </a:xfrm>
          <a:prstGeom prst="roundRect">
            <a:avLst>
              <a:gd name="adj" fmla="val 7395"/>
            </a:avLst>
          </a:prstGeom>
          <a:solidFill>
            <a:srgbClr val="16202E"/>
          </a:solidFill>
          <a:ln/>
        </p:spPr>
      </p:sp>
      <p:sp>
        <p:nvSpPr>
          <p:cNvPr id="25" name="Text 23"/>
          <p:cNvSpPr/>
          <p:nvPr/>
        </p:nvSpPr>
        <p:spPr>
          <a:xfrm>
            <a:off x="8119467" y="3659882"/>
            <a:ext cx="317428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9E64"/>
                </a:solidFill>
                <a:latin typeface="IBM Plex Sans" pitchFamily="34" charset="0"/>
                <a:ea typeface="IBM Plex Sans" pitchFamily="34" charset="-122"/>
                <a:cs typeface="IBM Plex Sans" pitchFamily="34" charset="-120"/>
              </a:rPr>
              <a:t>WEEK 3 · L6</a:t>
            </a:r>
            <a:endParaRPr lang="en-US" sz="1200" dirty="0"/>
          </a:p>
        </p:txBody>
      </p:sp>
      <p:sp>
        <p:nvSpPr>
          <p:cNvPr id="26" name="Text 24"/>
          <p:cNvSpPr/>
          <p:nvPr/>
        </p:nvSpPr>
        <p:spPr>
          <a:xfrm>
            <a:off x="8119467" y="3924002"/>
            <a:ext cx="31742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7F5F0"/>
                </a:solidFill>
                <a:latin typeface="IBM Plex Sans" pitchFamily="34" charset="0"/>
                <a:ea typeface="IBM Plex Sans" pitchFamily="34" charset="-122"/>
                <a:cs typeface="IBM Plex Sans" pitchFamily="34" charset="-120"/>
              </a:rPr>
              <a:t>Forms</a:t>
            </a:r>
            <a:endParaRPr lang="en-US" sz="1500" dirty="0"/>
          </a:p>
        </p:txBody>
      </p:sp>
      <p:sp>
        <p:nvSpPr>
          <p:cNvPr id="27" name="Text 25"/>
          <p:cNvSpPr/>
          <p:nvPr/>
        </p:nvSpPr>
        <p:spPr>
          <a:xfrm>
            <a:off x="8119467" y="4203402"/>
            <a:ext cx="317428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4E0"/>
                </a:solidFill>
                <a:latin typeface="IBM Plex Sans" pitchFamily="34" charset="0"/>
                <a:ea typeface="IBM Plex Sans" pitchFamily="34" charset="-122"/>
                <a:cs typeface="IBM Plex Sans" pitchFamily="34" charset="-120"/>
              </a:rPr>
              <a:t>Controls, GET/POST, validation, accessibility, security</a:t>
            </a:r>
            <a:endParaRPr lang="en-US" sz="1300" dirty="0"/>
          </a:p>
        </p:txBody>
      </p:sp>
      <p:sp>
        <p:nvSpPr>
          <p:cNvPr id="28" name="Text 26"/>
          <p:cNvSpPr/>
          <p:nvPr/>
        </p:nvSpPr>
        <p:spPr>
          <a:xfrm>
            <a:off x="812800" y="5110063"/>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Next:</a:t>
            </a:r>
            <a:r>
              <a:rPr lang="en-US" sz="1400" dirty="0">
                <a:solidFill>
                  <a:srgbClr val="1F2A37"/>
                </a:solidFill>
                <a:latin typeface="IBM Plex Sans" pitchFamily="34" charset="0"/>
                <a:ea typeface="IBM Plex Sans" pitchFamily="34" charset="-122"/>
                <a:cs typeface="IBM Plex Sans" pitchFamily="34" charset="-120"/>
              </a:rPr>
              <a:t> CSS — selectors and backgrounds — turns this structure into a designed site.</a:t>
            </a:r>
            <a:endParaRPr lang="en-US" sz="1400" dirty="0"/>
          </a:p>
        </p:txBody>
      </p:sp>
      <p:sp>
        <p:nvSpPr>
          <p:cNvPr id="29" name="Text 2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6 — HTML5 Forms, GET &amp; POST</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ASSIGNMENT 1 · CLO 2 · DUE [DATE] · [__] MARKS</a:t>
            </a:r>
            <a:endParaRPr lang="en-US" sz="1200" dirty="0"/>
          </a:p>
        </p:txBody>
      </p:sp>
      <p:sp>
        <p:nvSpPr>
          <p:cNvPr id="3" name="Text 1"/>
          <p:cNvSpPr/>
          <p:nvPr>
            <p:ph type="title"/>
          </p:nvPr>
        </p:nvSpPr>
        <p:spPr>
          <a:xfrm>
            <a:off x="812800" y="1254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Build a five-page HTML website</a:t>
            </a:r>
            <a:endParaRPr lang="en-US" sz="3200" dirty="0"/>
          </a:p>
        </p:txBody>
      </p:sp>
      <p:sp>
        <p:nvSpPr>
          <p:cNvPr id="4" name="Text 2"/>
          <p:cNvSpPr/>
          <p:nvPr/>
        </p:nvSpPr>
        <p:spPr>
          <a:xfrm>
            <a:off x="812800" y="1930301"/>
            <a:ext cx="6025742"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Pages:</a:t>
            </a:r>
            <a:r>
              <a:rPr lang="en-US" sz="1300" dirty="0">
                <a:solidFill>
                  <a:srgbClr val="1F2A37"/>
                </a:solidFill>
                <a:latin typeface="IBM Plex Sans" pitchFamily="34" charset="0"/>
                <a:ea typeface="IBM Plex Sans" pitchFamily="34" charset="-122"/>
                <a:cs typeface="IBM Plex Sans" pitchFamily="34" charset="-120"/>
              </a:rPr>
              <a:t> Home, About, Courses (table), Gallery (media), Register (form) — at least one in a subfolder.</a:t>
            </a:r>
            <a:endParaRPr lang="en-US" sz="1300" dirty="0"/>
          </a:p>
        </p:txBody>
      </p:sp>
      <p:sp>
        <p:nvSpPr>
          <p:cNvPr id="5" name="Text 3"/>
          <p:cNvSpPr/>
          <p:nvPr/>
        </p:nvSpPr>
        <p:spPr>
          <a:xfrm>
            <a:off x="812800" y="2468662"/>
            <a:ext cx="6025742"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Every page:</a:t>
            </a:r>
            <a:r>
              <a:rPr lang="en-US" sz="1300" dirty="0">
                <a:solidFill>
                  <a:srgbClr val="1F2A37"/>
                </a:solidFill>
                <a:latin typeface="IBM Plex Sans" pitchFamily="34" charset="0"/>
                <a:ea typeface="IBM Plex Sans" pitchFamily="34" charset="-122"/>
                <a:cs typeface="IBM Plex Sans" pitchFamily="34" charset="-120"/>
              </a:rPr>
              <a:t> semantic skeleton, shared nav, unique title and description, favicon.</a:t>
            </a:r>
            <a:endParaRPr lang="en-US" sz="1300" dirty="0"/>
          </a:p>
        </p:txBody>
      </p:sp>
      <p:sp>
        <p:nvSpPr>
          <p:cNvPr id="6" name="Text 4"/>
          <p:cNvSpPr/>
          <p:nvPr/>
        </p:nvSpPr>
        <p:spPr>
          <a:xfrm>
            <a:off x="812800" y="3007023"/>
            <a:ext cx="6025742"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Content:</a:t>
            </a:r>
            <a:r>
              <a:rPr lang="en-US" sz="1300" dirty="0">
                <a:solidFill>
                  <a:srgbClr val="1F2A37"/>
                </a:solidFill>
                <a:latin typeface="IBM Plex Sans" pitchFamily="34" charset="0"/>
                <a:ea typeface="IBM Plex Sans" pitchFamily="34" charset="-122"/>
                <a:cs typeface="IBM Plex Sans" pitchFamily="34" charset="-120"/>
              </a:rPr>
              <a:t> heading outline, ul + ol + dl, a table with caption, scope, rowspan and colspan.</a:t>
            </a:r>
            <a:endParaRPr lang="en-US" sz="1300" dirty="0"/>
          </a:p>
        </p:txBody>
      </p:sp>
      <p:sp>
        <p:nvSpPr>
          <p:cNvPr id="7" name="Text 5"/>
          <p:cNvSpPr/>
          <p:nvPr/>
        </p:nvSpPr>
        <p:spPr>
          <a:xfrm>
            <a:off x="812800" y="3545384"/>
            <a:ext cx="606613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Media:</a:t>
            </a:r>
            <a:r>
              <a:rPr lang="en-US" sz="1300" dirty="0">
                <a:solidFill>
                  <a:srgbClr val="1F2A37"/>
                </a:solidFill>
                <a:latin typeface="IBM Plex Sans" pitchFamily="34" charset="0"/>
                <a:ea typeface="IBM Plex Sans" pitchFamily="34" charset="-122"/>
                <a:cs typeface="IBM Plex Sans" pitchFamily="34" charset="-120"/>
              </a:rPr>
              <a:t> 4+ figures with alt, one responsive image, one video or iframe with title.</a:t>
            </a:r>
            <a:endParaRPr lang="en-US" sz="1300" dirty="0"/>
          </a:p>
        </p:txBody>
      </p:sp>
      <p:sp>
        <p:nvSpPr>
          <p:cNvPr id="8" name="Text 6"/>
          <p:cNvSpPr/>
          <p:nvPr/>
        </p:nvSpPr>
        <p:spPr>
          <a:xfrm>
            <a:off x="812800" y="3852664"/>
            <a:ext cx="6025742"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Form:</a:t>
            </a:r>
            <a:r>
              <a:rPr lang="en-US" sz="1300" dirty="0">
                <a:solidFill>
                  <a:srgbClr val="1F2A37"/>
                </a:solidFill>
                <a:latin typeface="IBM Plex Sans" pitchFamily="34" charset="0"/>
                <a:ea typeface="IBM Plex Sans" pitchFamily="34" charset="-122"/>
                <a:cs typeface="IBM Plex Sans" pitchFamily="34" charset="-120"/>
              </a:rPr>
              <a:t> 8+ controls of different types, labels, fieldsets, validation, justified method.</a:t>
            </a:r>
            <a:endParaRPr lang="en-US" sz="1300" dirty="0"/>
          </a:p>
        </p:txBody>
      </p:sp>
      <p:sp>
        <p:nvSpPr>
          <p:cNvPr id="9" name="Text 7"/>
          <p:cNvSpPr/>
          <p:nvPr/>
        </p:nvSpPr>
        <p:spPr>
          <a:xfrm>
            <a:off x="812800" y="4391025"/>
            <a:ext cx="602574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Submit:</a:t>
            </a:r>
            <a:r>
              <a:rPr lang="en-US" sz="1300" dirty="0">
                <a:solidFill>
                  <a:srgbClr val="1F2A37"/>
                </a:solidFill>
                <a:latin typeface="IBM Plex Sans" pitchFamily="34" charset="0"/>
                <a:ea typeface="IBM Plex Sans" pitchFamily="34" charset="-122"/>
                <a:cs typeface="IBM Plex Sans" pitchFamily="34" charset="-120"/>
              </a:rPr>
              <a:t> zipped folder + validator screenshots (0 errors). Own work only.</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78935" y="1943001"/>
          <a:ext cx="4500265" cy="2514898"/>
        </p:xfrm>
        <a:graphic>
          <a:graphicData uri="http://schemas.openxmlformats.org/drawingml/2006/table">
            <a:tbl>
              <a:tblPr/>
              <a:tblGrid>
                <a:gridCol w="3150185"/>
                <a:gridCol w="1350079"/>
              </a:tblGrid>
              <a:tr h="359271">
                <a:tc>
                  <a:txBody>
                    <a:bodyPr/>
                    <a:lstStyle/>
                    <a:p>
                      <a:pPr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Rubric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Weight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Structure &amp; semantics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25%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Navigation &amp; paths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15%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Lists &amp; tables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15%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Media &amp; accessibility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20%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Form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20%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Valid, clean code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6 — HTML5 Forms, GET &amp; POST</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BEFORE NEXT LECTURE</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Homework &amp; preparation</a:t>
            </a:r>
            <a:endParaRPr lang="en-US" sz="3200" dirty="0"/>
          </a:p>
        </p:txBody>
      </p:sp>
      <p:sp>
        <p:nvSpPr>
          <p:cNvPr id="4" name="Shape 2"/>
          <p:cNvSpPr/>
          <p:nvPr/>
        </p:nvSpPr>
        <p:spPr>
          <a:xfrm>
            <a:off x="815975" y="1984276"/>
            <a:ext cx="3418384" cy="1857772"/>
          </a:xfrm>
          <a:prstGeom prst="roundRect">
            <a:avLst>
              <a:gd name="adj" fmla="val 5298"/>
            </a:avLst>
          </a:prstGeom>
          <a:solidFill>
            <a:srgbClr val="FFFDF9"/>
          </a:solidFill>
          <a:ln w="6350">
            <a:solidFill>
              <a:srgbClr val="E4E0D8"/>
            </a:solidFill>
            <a:prstDash val="solid"/>
          </a:ln>
        </p:spPr>
      </p:sp>
      <p:pic>
        <p:nvPicPr>
          <p:cNvPr id="5" name="Image 0" descr="Book">    </p:cNvPr>
          <p:cNvPicPr>
            <a:picLocks noChangeAspect="1"/>
          </p:cNvPicPr>
          <p:nvPr/>
        </p:nvPicPr>
        <p:blipFill>
          <a:blip r:embed="rId1"/>
          <a:srcRect l="0" r="0" t="0" b="0"/>
          <a:stretch/>
        </p:blipFill>
        <p:spPr>
          <a:xfrm>
            <a:off x="1022350" y="2190651"/>
            <a:ext cx="304800" cy="304800"/>
          </a:xfrm>
          <a:prstGeom prst="rect">
            <a:avLst/>
          </a:prstGeom>
        </p:spPr>
      </p:pic>
      <p:sp>
        <p:nvSpPr>
          <p:cNvPr id="6" name="Text 3"/>
          <p:cNvSpPr/>
          <p:nvPr/>
        </p:nvSpPr>
        <p:spPr>
          <a:xfrm>
            <a:off x="1022350" y="2597051"/>
            <a:ext cx="309580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Read</a:t>
            </a:r>
            <a:endParaRPr lang="en-US" sz="1600" dirty="0"/>
          </a:p>
        </p:txBody>
      </p:sp>
      <p:sp>
        <p:nvSpPr>
          <p:cNvPr id="7" name="Text 4"/>
          <p:cNvSpPr/>
          <p:nvPr/>
        </p:nvSpPr>
        <p:spPr>
          <a:xfrm>
            <a:off x="1022350" y="2942431"/>
            <a:ext cx="3095803" cy="718641"/>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1F2A37"/>
                </a:solidFill>
                <a:latin typeface="IBM Plex Sans" pitchFamily="34" charset="0"/>
                <a:ea typeface="IBM Plex Sans" pitchFamily="34" charset="-122"/>
                <a:cs typeface="IBM Plex Sans" pitchFamily="34" charset="-120"/>
              </a:rPr>
              <a:t>Learning Web Design</a:t>
            </a:r>
            <a:r>
              <a:rPr lang="en-US" sz="1300" dirty="0">
                <a:solidFill>
                  <a:srgbClr val="1F2A37"/>
                </a:solidFill>
                <a:latin typeface="IBM Plex Sans" pitchFamily="34" charset="0"/>
                <a:ea typeface="IBM Plex Sans" pitchFamily="34" charset="-122"/>
                <a:cs typeface="IBM Plex Sans" pitchFamily="34" charset="-120"/>
              </a:rPr>
              <a:t>, Ch. 9 Forms (including Form Accessibility Features). Preview Ch. 11 Introducing CSS.</a:t>
            </a:r>
            <a:endParaRPr lang="en-US" sz="1300" dirty="0"/>
          </a:p>
        </p:txBody>
      </p:sp>
      <p:sp>
        <p:nvSpPr>
          <p:cNvPr id="8" name="Shape 5"/>
          <p:cNvSpPr/>
          <p:nvPr/>
        </p:nvSpPr>
        <p:spPr>
          <a:xfrm>
            <a:off x="4393109" y="1984276"/>
            <a:ext cx="3418483" cy="1857772"/>
          </a:xfrm>
          <a:prstGeom prst="roundRect">
            <a:avLst>
              <a:gd name="adj" fmla="val 5298"/>
            </a:avLst>
          </a:prstGeom>
          <a:solidFill>
            <a:srgbClr val="FFFDF9"/>
          </a:solidFill>
          <a:ln w="6350">
            <a:solidFill>
              <a:srgbClr val="E4E0D8"/>
            </a:solidFill>
            <a:prstDash val="solid"/>
          </a:ln>
        </p:spPr>
      </p:sp>
      <p:pic>
        <p:nvPicPr>
          <p:cNvPr id="9" name="Image 1" descr="Wrench">    </p:cNvPr>
          <p:cNvPicPr>
            <a:picLocks noChangeAspect="1"/>
          </p:cNvPicPr>
          <p:nvPr/>
        </p:nvPicPr>
        <p:blipFill>
          <a:blip r:embed="rId2"/>
          <a:srcRect l="0" r="0" t="0" b="0"/>
          <a:stretch/>
        </p:blipFill>
        <p:spPr>
          <a:xfrm>
            <a:off x="4599484" y="2190651"/>
            <a:ext cx="304800" cy="304800"/>
          </a:xfrm>
          <a:prstGeom prst="rect">
            <a:avLst/>
          </a:prstGeom>
        </p:spPr>
      </p:pic>
      <p:sp>
        <p:nvSpPr>
          <p:cNvPr id="10" name="Text 6"/>
          <p:cNvSpPr/>
          <p:nvPr/>
        </p:nvSpPr>
        <p:spPr>
          <a:xfrm>
            <a:off x="4599484" y="2597051"/>
            <a:ext cx="309590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Practise</a:t>
            </a:r>
            <a:endParaRPr lang="en-US" sz="1600" dirty="0"/>
          </a:p>
        </p:txBody>
      </p:sp>
      <p:sp>
        <p:nvSpPr>
          <p:cNvPr id="11" name="Text 7"/>
          <p:cNvSpPr/>
          <p:nvPr/>
        </p:nvSpPr>
        <p:spPr>
          <a:xfrm>
            <a:off x="4599484" y="2942431"/>
            <a:ext cx="309590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Finish Lab 6. Start Assignment 1 by merging your six lab pages into one site.</a:t>
            </a:r>
            <a:endParaRPr lang="en-US" sz="1300" dirty="0"/>
          </a:p>
        </p:txBody>
      </p:sp>
      <p:sp>
        <p:nvSpPr>
          <p:cNvPr id="12" name="Shape 8"/>
          <p:cNvSpPr/>
          <p:nvPr/>
        </p:nvSpPr>
        <p:spPr>
          <a:xfrm>
            <a:off x="7967166" y="1981101"/>
            <a:ext cx="3412034" cy="1864122"/>
          </a:xfrm>
          <a:prstGeom prst="roundRect">
            <a:avLst>
              <a:gd name="adj" fmla="val 5450"/>
            </a:avLst>
          </a:prstGeom>
          <a:solidFill>
            <a:srgbClr val="16202E"/>
          </a:solidFill>
          <a:ln/>
        </p:spPr>
      </p:sp>
      <p:pic>
        <p:nvPicPr>
          <p:cNvPr id="13" name="Image 2" descr="Lightbulb">    </p:cNvPr>
          <p:cNvPicPr>
            <a:picLocks noChangeAspect="1"/>
          </p:cNvPicPr>
          <p:nvPr/>
        </p:nvPicPr>
        <p:blipFill>
          <a:blip r:embed="rId3"/>
          <a:srcRect l="0" r="0" t="0" b="0"/>
          <a:stretch/>
        </p:blipFill>
        <p:spPr>
          <a:xfrm>
            <a:off x="8170366" y="2184301"/>
            <a:ext cx="304800" cy="304800"/>
          </a:xfrm>
          <a:prstGeom prst="rect">
            <a:avLst/>
          </a:prstGeom>
        </p:spPr>
      </p:pic>
      <p:sp>
        <p:nvSpPr>
          <p:cNvPr id="14" name="Text 9"/>
          <p:cNvSpPr/>
          <p:nvPr/>
        </p:nvSpPr>
        <p:spPr>
          <a:xfrm>
            <a:off x="8170366" y="2590701"/>
            <a:ext cx="309580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5F0"/>
                </a:solidFill>
                <a:latin typeface="IBM Plex Sans" pitchFamily="34" charset="0"/>
                <a:ea typeface="IBM Plex Sans" pitchFamily="34" charset="-122"/>
                <a:cs typeface="IBM Plex Sans" pitchFamily="34" charset="-120"/>
              </a:rPr>
              <a:t>Next: CSS</a:t>
            </a:r>
            <a:endParaRPr lang="en-US" sz="1600" dirty="0"/>
          </a:p>
        </p:txBody>
      </p:sp>
      <p:sp>
        <p:nvSpPr>
          <p:cNvPr id="15" name="Text 10"/>
          <p:cNvSpPr/>
          <p:nvPr/>
        </p:nvSpPr>
        <p:spPr>
          <a:xfrm>
            <a:off x="8170366" y="2936081"/>
            <a:ext cx="309580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4E0"/>
                </a:solidFill>
                <a:latin typeface="IBM Plex Sans" pitchFamily="34" charset="0"/>
                <a:ea typeface="IBM Plex Sans" pitchFamily="34" charset="-122"/>
                <a:cs typeface="IBM Plex Sans" pitchFamily="34" charset="-120"/>
              </a:rPr>
              <a:t>Introduction to Cascading Style Sheets: selectors and background properties</a:t>
            </a:r>
            <a:endParaRPr lang="en-US" sz="1300" dirty="0"/>
          </a:p>
        </p:txBody>
      </p:sp>
      <p:sp>
        <p:nvSpPr>
          <p:cNvPr id="16"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6 — HTML5 Forms, GET &amp; POST</a:t>
            </a:r>
            <a:endParaRPr lang="en-US" sz="1200" dirty="0"/>
          </a:p>
        </p:txBody>
      </p:sp>
    </p:spTree>
  </p:cSld>
  <p:clrMapOvr>
    <a:masterClrMapping/>
  </p:clrMapOvr>
</p:sld>
</file>

<file path=ppt/theme/theme1.xml><?xml version="1.0" encoding="utf-8"?>
<a:theme xmlns:a="http://schemas.openxmlformats.org/drawingml/2006/main" name="HTML W3·L6 – HTML5 Forms, GET &amp; POST">
  <a:themeElements>
    <a:clrScheme name="HTML W3·L6 – HTML5 Forms, GET &amp; POST">
      <a:dk1>
        <a:srgbClr val="16202E"/>
      </a:dk1>
      <a:lt1>
        <a:srgbClr val="F7F5F0"/>
      </a:lt1>
      <a:dk2>
        <a:srgbClr val="4E555F"/>
      </a:dk2>
      <a:lt2>
        <a:srgbClr val="E1E0DD"/>
      </a:lt2>
      <a:accent1>
        <a:srgbClr val="C2410C"/>
      </a:accent1>
      <a:accent2>
        <a:srgbClr val="1D4ED8"/>
      </a:accent2>
      <a:accent3>
        <a:srgbClr val="FF9E64"/>
      </a:accent3>
      <a:accent4>
        <a:srgbClr val="667085"/>
      </a:accent4>
      <a:accent5>
        <a:srgbClr val="475467"/>
      </a:accent5>
      <a:accent6>
        <a:srgbClr val="C9D4E0"/>
      </a:accent6>
      <a:hlink>
        <a:srgbClr val="0563C1"/>
      </a:hlink>
      <a:folHlink>
        <a:srgbClr val="954F72"/>
      </a:folHlink>
    </a:clrScheme>
    <a:fontScheme name="HTML W3·L6 – HTML5 Forms, GET &amp; POST">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 W3·L6 – HTML5 Forms, GET &amp; POST</dc:title>
  <dc:subject/>
  <dc:creator/>
  <cp:lastModifiedBy/>
  <cp:revision>1</cp:revision>
  <dcterms:created xsi:type="dcterms:W3CDTF">2026-10-24T07:35:17Z</dcterms:created>
  <dcterms:modified xsi:type="dcterms:W3CDTF">2026-10-24T07:35:17Z</dcterms:modified>
</cp:coreProperties>
</file>