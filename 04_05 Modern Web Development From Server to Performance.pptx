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Helios" panose="020B0604020202020204" charset="0"/>
      <p:regular r:id="rId24"/>
    </p:embeddedFont>
    <p:embeddedFont>
      <p:font typeface="Helios Bold" panose="020B0604020202020204" charset="0"/>
      <p:regular r:id="rId25"/>
    </p:embeddedFont>
    <p:embeddedFont>
      <p:font typeface="Helios Italics" panose="020B0604020202020204" charset="0"/>
      <p:regular r:id="rId26"/>
    </p:embeddedFont>
    <p:embeddedFont>
      <p:font typeface="TT Hoves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912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7708610" y="-412494"/>
            <a:ext cx="18562305" cy="8555165"/>
            <a:chOff x="0" y="0"/>
            <a:chExt cx="406400" cy="1873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400" cy="187305"/>
            </a:xfrm>
            <a:custGeom>
              <a:avLst/>
              <a:gdLst/>
              <a:ahLst/>
              <a:cxnLst/>
              <a:rect l="l" t="t" r="r" b="b"/>
              <a:pathLst>
                <a:path w="406400" h="187305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9144000" y="2051466"/>
            <a:ext cx="12503082" cy="10287000"/>
            <a:chOff x="0" y="0"/>
            <a:chExt cx="6184570" cy="50883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84570" cy="5088399"/>
            </a:xfrm>
            <a:custGeom>
              <a:avLst/>
              <a:gdLst/>
              <a:ahLst/>
              <a:cxnLst/>
              <a:rect l="l" t="t" r="r" b="b"/>
              <a:pathLst>
                <a:path w="6184570" h="5088399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6184570" cy="5088399"/>
            </a:xfrm>
            <a:custGeom>
              <a:avLst/>
              <a:gdLst/>
              <a:ahLst/>
              <a:cxnLst/>
              <a:rect l="l" t="t" r="r" b="b"/>
              <a:pathLst>
                <a:path w="6184570" h="5088399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blipFill>
              <a:blip r:embed="rId2"/>
              <a:stretch>
                <a:fillRect l="-11629" r="-1162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06848" y="6804594"/>
            <a:ext cx="7555842" cy="3482406"/>
            <a:chOff x="0" y="0"/>
            <a:chExt cx="406400" cy="1873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6400" cy="187305"/>
            </a:xfrm>
            <a:custGeom>
              <a:avLst/>
              <a:gdLst/>
              <a:ahLst/>
              <a:cxnLst/>
              <a:rect l="l" t="t" r="r" b="b"/>
              <a:pathLst>
                <a:path w="406400" h="187305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71B8">
                <a:alpha val="8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00728" y="1028700"/>
            <a:ext cx="9887605" cy="317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Modern Web Development: From Server to Performance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0728" y="4543425"/>
            <a:ext cx="9887605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National Skills Curriculum Test (NSCT) – HEC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03006" y="2529840"/>
            <a:ext cx="16881989" cy="5511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Web = Frontend + Backend + Database + Security + Performance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Real-world apps</a:t>
            </a: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E-commerce (Daraz)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Mobrial – Mobile Comparison Platform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SaaS platforms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Mobile APIs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“A complete developer understands the full flow”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Web Development Today (Big Picture)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03006" y="2739866"/>
            <a:ext cx="16881989" cy="491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We will cover:</a:t>
            </a:r>
          </a:p>
          <a:p>
            <a:pPr marL="2159001" lvl="2" indent="-719667" algn="just">
              <a:lnSpc>
                <a:spcPts val="7800"/>
              </a:lnSpc>
              <a:buFont typeface="Arial"/>
              <a:buChar char="⚬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Server-Side Programming</a:t>
            </a:r>
          </a:p>
          <a:p>
            <a:pPr marL="2159001" lvl="2" indent="-719667" algn="just">
              <a:lnSpc>
                <a:spcPts val="7800"/>
              </a:lnSpc>
              <a:buFont typeface="Arial"/>
              <a:buChar char="⚬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Databases for Web Applications</a:t>
            </a:r>
          </a:p>
          <a:p>
            <a:pPr marL="2159001" lvl="2" indent="-719667" algn="just">
              <a:lnSpc>
                <a:spcPts val="7800"/>
              </a:lnSpc>
              <a:buFont typeface="Arial"/>
              <a:buChar char="⚬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Web Security</a:t>
            </a:r>
          </a:p>
          <a:p>
            <a:pPr marL="2159001" lvl="2" indent="-719667" algn="just">
              <a:lnSpc>
                <a:spcPts val="7800"/>
              </a:lnSpc>
              <a:buFont typeface="Arial"/>
              <a:buChar char="⚬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Web Performance &amp; Optimization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Topics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6599" y="1735455"/>
            <a:ext cx="16881989" cy="709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Runs on the server (not browser)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Handles</a:t>
            </a: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Logic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Data processing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Authentication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Technologies</a:t>
            </a: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PHP (Laravel)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Node.js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Python (Django)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Server-Side Programming (Concept)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6599" y="2302192"/>
            <a:ext cx="16881989" cy="5928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User </a:t>
            </a: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→ </a:t>
            </a: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Request </a:t>
            </a: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→ </a:t>
            </a: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Server </a:t>
            </a: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→ </a:t>
            </a: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Response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Example</a:t>
            </a: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:</a:t>
            </a:r>
          </a:p>
          <a:p>
            <a:pPr marL="2159001" lvl="2" indent="-719667" algn="just">
              <a:lnSpc>
                <a:spcPts val="7800"/>
              </a:lnSpc>
              <a:buFont typeface="Arial"/>
              <a:buChar char="⚬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User clicks “Login”</a:t>
            </a:r>
          </a:p>
          <a:p>
            <a:pPr marL="2159001" lvl="2" indent="-719667" algn="just">
              <a:lnSpc>
                <a:spcPts val="7800"/>
              </a:lnSpc>
              <a:buFont typeface="Arial"/>
              <a:buChar char="⚬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Server checks database</a:t>
            </a:r>
          </a:p>
          <a:p>
            <a:pPr marL="2159001" lvl="2" indent="-719667" algn="just">
              <a:lnSpc>
                <a:spcPts val="7800"/>
              </a:lnSpc>
              <a:buFont typeface="Arial"/>
              <a:buChar char="⚬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Returns success/failure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Server </a:t>
            </a: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= Brain of the application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How Server Works (Flow)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731645"/>
            <a:ext cx="16881989" cy="7107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Mobrial </a:t>
            </a: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– Mobile Comparison Platform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User</a:t>
            </a: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Searches mobile (e.g., iPhone vs Samsung)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Applies filters (Price, RAM, Battery)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Server</a:t>
            </a: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Fetches mobile data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Compares specifications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Applies filters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Generates results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Real Example (Mobrial)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95104" y="2130742"/>
            <a:ext cx="16881989" cy="630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Stores all application data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Examples</a:t>
            </a: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Users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Orders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Products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Types</a:t>
            </a: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MySQL (Relational)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MongoDB (NoSQL)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Databases for Web Applications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74814" y="2526030"/>
            <a:ext cx="16881989" cy="551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Server connects to database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Performs</a:t>
            </a: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INSERT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UPDATE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DELETE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SELECT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💡 </a:t>
            </a: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Database </a:t>
            </a: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= Memory of the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Server + Database Connection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463040"/>
            <a:ext cx="16881989" cy="794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Mobrial – Mobile Comparison Platform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Database Tables: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Mobiles Table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Brands Table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Variants / Prices Table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What Happens Behind the Scene?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U</a:t>
            </a: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ser searches mobile</a:t>
            </a: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→ fetch from Mobiles table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User filters (price, RAM, battery)</a:t>
            </a: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→ query database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User compares phones</a:t>
            </a: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→ fetch multiple records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Prices &amp; variants</a:t>
            </a: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→ load from Variants table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Real Example (Database)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11311" y="2240756"/>
            <a:ext cx="16881989" cy="5913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Protect user data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Prevent attacks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Common risks</a:t>
            </a: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:</a:t>
            </a:r>
          </a:p>
          <a:p>
            <a:pPr marL="2159001" lvl="2" indent="-719667" algn="just">
              <a:lnSpc>
                <a:spcPts val="7800"/>
              </a:lnSpc>
              <a:buFont typeface="Arial"/>
              <a:buChar char="⚬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Hacking</a:t>
            </a:r>
          </a:p>
          <a:p>
            <a:pPr marL="2159001" lvl="2" indent="-719667" algn="just">
              <a:lnSpc>
                <a:spcPts val="7800"/>
              </a:lnSpc>
              <a:buFont typeface="Arial"/>
              <a:buChar char="⚬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Data leaks</a:t>
            </a:r>
          </a:p>
          <a:p>
            <a:pPr marL="2159001" lvl="2" indent="-719667" algn="just">
              <a:lnSpc>
                <a:spcPts val="7800"/>
              </a:lnSpc>
              <a:buFont typeface="Arial"/>
              <a:buChar char="⚬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Unauthorized access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Web Security (Why Important?)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244566"/>
            <a:ext cx="16415316" cy="590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💉 SQL Injection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👉 Attacker manipulates database queries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⚠️ XSS (Cross-Site Scripting)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👉 Injects malicious scripts into web pages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🔄 CSRF (Cross-Site Request Forgery)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👉 Tricks users into performing unwanted actions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Common Attacks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03006" y="2533650"/>
            <a:ext cx="16881989" cy="550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🔐 Use HTTPS (secure communication)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✅ Validate &amp; sanitize all inputs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🔑 Use authentication (JWT, sessions)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🔒 Hash passwords (bcrypt, argon2)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🧱 Implement authorization (role-based access)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🛡️ Protect against common attacks (SQLi, XSS, CSRF)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📦 Keep libraries &amp; frameworks updated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Security Best Practices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11311" y="2739866"/>
            <a:ext cx="16881989" cy="491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⚡ Fast websites improve user experience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📉 Slow websites increase bounce rate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🔍 Google ranks faster websites higher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💰 Performance affects business revenue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📱 Critical for mobile users (Pakistan context!)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Web Performance &amp; Optimization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6599" y="2739866"/>
            <a:ext cx="16881989" cy="491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🖼️ Image optimization (WebP, AVIF)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⚡ Lazy loading (images &amp; components)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🧠 Caching (Redis, browser caching)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🌍 CDN (Content Delivery Network)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🖥️ Server optimization (Gzip, HTTP/2, caching)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Performance Techniques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237774"/>
            <a:ext cx="16881989" cy="793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20"/>
              </a:lnSpc>
            </a:pPr>
            <a:endParaRPr/>
          </a:p>
          <a:p>
            <a:pPr marL="971550" lvl="1" indent="-485775" algn="just">
              <a:lnSpc>
                <a:spcPts val="7020"/>
              </a:lnSpc>
              <a:buFont typeface="Arial"/>
              <a:buChar char="•"/>
            </a:pPr>
            <a:r>
              <a:rPr lang="en-US" sz="45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Fast servers</a:t>
            </a:r>
            <a:r>
              <a:rPr lang="en-US" sz="45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= faster response time</a:t>
            </a:r>
          </a:p>
          <a:p>
            <a:pPr marL="971550" lvl="1" indent="-485775" algn="just">
              <a:lnSpc>
                <a:spcPts val="7020"/>
              </a:lnSpc>
              <a:buFont typeface="Arial"/>
              <a:buChar char="•"/>
            </a:pPr>
            <a:r>
              <a:rPr lang="en-US" sz="45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Reduce Time to First Byte (TTFB)</a:t>
            </a:r>
          </a:p>
          <a:p>
            <a:pPr marL="971550" lvl="1" indent="-485775" algn="just">
              <a:lnSpc>
                <a:spcPts val="7020"/>
              </a:lnSpc>
              <a:buFont typeface="Arial"/>
              <a:buChar char="•"/>
            </a:pPr>
            <a:r>
              <a:rPr lang="en-US" sz="45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Use efficient backend frameworks:</a:t>
            </a:r>
          </a:p>
          <a:p>
            <a:pPr marL="1943100" lvl="2" indent="-647700" algn="just">
              <a:lnSpc>
                <a:spcPts val="7020"/>
              </a:lnSpc>
              <a:buFont typeface="Arial"/>
              <a:buChar char="⚬"/>
            </a:pPr>
            <a:r>
              <a:rPr lang="en-US" sz="45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Laravel </a:t>
            </a:r>
            <a:r>
              <a:rPr lang="en-US" sz="45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(optimized)</a:t>
            </a:r>
          </a:p>
          <a:p>
            <a:pPr marL="1943100" lvl="2" indent="-647700" algn="just">
              <a:lnSpc>
                <a:spcPts val="7020"/>
              </a:lnSpc>
              <a:buFont typeface="Arial"/>
              <a:buChar char="⚬"/>
            </a:pPr>
            <a:r>
              <a:rPr lang="en-US" sz="45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Node.js</a:t>
            </a:r>
          </a:p>
          <a:p>
            <a:pPr marL="971550" lvl="1" indent="-485775" algn="just">
              <a:lnSpc>
                <a:spcPts val="7020"/>
              </a:lnSpc>
              <a:buFont typeface="Arial"/>
              <a:buChar char="•"/>
            </a:pPr>
            <a:r>
              <a:rPr lang="en-US" sz="45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Optimize database queries</a:t>
            </a:r>
          </a:p>
          <a:p>
            <a:pPr marL="971550" lvl="1" indent="-485775" algn="just">
              <a:lnSpc>
                <a:spcPts val="7020"/>
              </a:lnSpc>
              <a:buFont typeface="Arial"/>
              <a:buChar char="•"/>
            </a:pPr>
            <a:r>
              <a:rPr lang="en-US" sz="45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Use background jobs (queues)</a:t>
            </a:r>
          </a:p>
          <a:p>
            <a:pPr marL="971550" lvl="1" indent="-485775" algn="just">
              <a:lnSpc>
                <a:spcPts val="7020"/>
              </a:lnSpc>
              <a:buFont typeface="Arial"/>
              <a:buChar char="•"/>
            </a:pPr>
            <a:r>
              <a:rPr lang="en-US" sz="45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💡 Server = backbone of performance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Server Optimization (Core Level)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244566"/>
            <a:ext cx="16881989" cy="590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800"/>
              </a:lnSpc>
            </a:pPr>
            <a:endParaRPr/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Enable Gzip / Brotli compression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Use HTTP/2 or HTTP/3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Implement Server-side caching (Redis)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Optimize API responses (JSON size ↓)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Use Load balancing for high traffic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Advanced Server Techniques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6599" y="2808923"/>
            <a:ext cx="16881989" cy="491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⚡ 1 second delay = users leave instantly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📉 Slow website = high bounce rate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💰 Slow performance = low sales &amp; revenue loss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🔍 Faster websites rank higher on Google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📱 Critical for mobile users (especially in Pakistan)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Real Impact of Performance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69391" y="2306002"/>
            <a:ext cx="16587277" cy="592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👤 </a:t>
            </a: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User </a:t>
            </a: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→ 🌐 </a:t>
            </a: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Frontend </a:t>
            </a: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→ ⚙️ </a:t>
            </a: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Server </a:t>
            </a: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→ 🗄️ </a:t>
            </a: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Database </a:t>
            </a: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→ 📤 </a:t>
            </a: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Response </a:t>
            </a: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→ 👤 </a:t>
            </a: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User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⚡ Performance optimization applies at every step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🔐 Security protects the entire flow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🧠 Backend controls logic &amp; processing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🗄️ Database manages and stores all data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Full System Flow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11311" y="3235166"/>
            <a:ext cx="15887773" cy="392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📊 High industry demand for skilled developers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🧠 Emphasis on practical, skill-based learning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💼 Preparing job-ready graduates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🌍 Aligning education with real-world technologies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Why HEC NSCT Focuses on This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69391" y="2611850"/>
            <a:ext cx="16587277" cy="5199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just">
              <a:lnSpc>
                <a:spcPts val="6864"/>
              </a:lnSpc>
              <a:buFont typeface="Arial"/>
              <a:buChar char="•"/>
            </a:pPr>
            <a:r>
              <a:rPr lang="en-US" sz="44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Web Developer</a:t>
            </a:r>
            <a:r>
              <a:rPr lang="en-US" sz="44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→ Builds user interfaces</a:t>
            </a:r>
          </a:p>
          <a:p>
            <a:pPr marL="949961" lvl="1" indent="-474980" algn="just">
              <a:lnSpc>
                <a:spcPts val="6864"/>
              </a:lnSpc>
              <a:buFont typeface="Arial"/>
              <a:buChar char="•"/>
            </a:pPr>
            <a:r>
              <a:rPr lang="en-US" sz="44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Backend Engineer</a:t>
            </a:r>
            <a:r>
              <a:rPr lang="en-US" sz="44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→ Handles server &amp; logic</a:t>
            </a:r>
          </a:p>
          <a:p>
            <a:pPr marL="949961" lvl="1" indent="-474980" algn="just">
              <a:lnSpc>
                <a:spcPts val="6864"/>
              </a:lnSpc>
              <a:buFont typeface="Arial"/>
              <a:buChar char="•"/>
            </a:pPr>
            <a:r>
              <a:rPr lang="en-US" sz="44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Full Stack</a:t>
            </a:r>
            <a:r>
              <a:rPr lang="en-US" sz="44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→ Frontend + Backend</a:t>
            </a:r>
          </a:p>
          <a:p>
            <a:pPr marL="949961" lvl="1" indent="-474980" algn="just">
              <a:lnSpc>
                <a:spcPts val="6864"/>
              </a:lnSpc>
              <a:buFont typeface="Arial"/>
              <a:buChar char="•"/>
            </a:pPr>
            <a:r>
              <a:rPr lang="en-US" sz="44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DevOps</a:t>
            </a:r>
            <a:r>
              <a:rPr lang="en-US" sz="44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→ Deployment &amp; scaling</a:t>
            </a:r>
          </a:p>
          <a:p>
            <a:pPr marL="949961" lvl="1" indent="-474980" algn="just">
              <a:lnSpc>
                <a:spcPts val="6864"/>
              </a:lnSpc>
              <a:buFont typeface="Arial"/>
              <a:buChar char="•"/>
            </a:pPr>
            <a:r>
              <a:rPr lang="en-US" sz="44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Prompt Engineer</a:t>
            </a:r>
            <a:r>
              <a:rPr lang="en-US" sz="44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→ Works with AI models (ChatGPT, LLMs)</a:t>
            </a:r>
          </a:p>
          <a:p>
            <a:pPr marL="949961" lvl="1" indent="-474980" algn="just">
              <a:lnSpc>
                <a:spcPts val="6864"/>
              </a:lnSpc>
              <a:buFont typeface="Arial"/>
              <a:buChar char="•"/>
            </a:pPr>
            <a:r>
              <a:rPr lang="en-US" sz="44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Future belongs to developers who combine Web + AI skills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Career Opportunities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6599" y="1397318"/>
            <a:ext cx="16881989" cy="693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🎯 </a:t>
            </a: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Learn practically</a:t>
            </a: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- not just theory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🛠️ </a:t>
            </a: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Build real-world projects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🚀 Focus on:</a:t>
            </a:r>
          </a:p>
          <a:p>
            <a:pPr marL="2159001" lvl="2" indent="-719667" algn="just">
              <a:lnSpc>
                <a:spcPts val="7800"/>
              </a:lnSpc>
              <a:buFont typeface="Arial"/>
              <a:buChar char="⚬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⚡ </a:t>
            </a: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Performance</a:t>
            </a:r>
          </a:p>
          <a:p>
            <a:pPr marL="2159001" lvl="2" indent="-719667" algn="just">
              <a:lnSpc>
                <a:spcPts val="7800"/>
              </a:lnSpc>
              <a:buFont typeface="Arial"/>
              <a:buChar char="⚬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🔐 </a:t>
            </a: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Security</a:t>
            </a:r>
          </a:p>
          <a:p>
            <a:pPr marL="2159001" lvl="2" indent="-719667" algn="just">
              <a:lnSpc>
                <a:spcPts val="7800"/>
              </a:lnSpc>
              <a:buFont typeface="Arial"/>
              <a:buChar char="⚬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🌍 </a:t>
            </a:r>
            <a:r>
              <a:rPr lang="en-US" sz="5000" b="1">
                <a:solidFill>
                  <a:srgbClr val="08599D"/>
                </a:solidFill>
                <a:latin typeface="Helios Bold"/>
                <a:ea typeface="Helios Bold"/>
                <a:cs typeface="Helios Bold"/>
                <a:sym typeface="Helios Bold"/>
              </a:rPr>
              <a:t>Real-world problem solving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🤖 Start exploring AI &amp; Prompt Engineering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Final Message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0905" y="8493442"/>
            <a:ext cx="16881989" cy="76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i="1">
                <a:solidFill>
                  <a:srgbClr val="08599D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Your degree gives you knowledge… your skills give you opportunities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11311" y="3730466"/>
            <a:ext cx="15908063" cy="293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🙌 Thank you for your attention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💬 Any questions?</a:t>
            </a:r>
          </a:p>
          <a:p>
            <a:pPr marL="1079501" lvl="1" indent="-539750" algn="just">
              <a:lnSpc>
                <a:spcPts val="7800"/>
              </a:lnSpc>
              <a:buFont typeface="Arial"/>
              <a:buChar char="•"/>
            </a:pPr>
            <a:r>
              <a:rPr lang="en-US" sz="5000" u="none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🚀 Let’s build skills that matter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824</Words>
  <Application>Microsoft Office PowerPoint</Application>
  <PresentationFormat>Custom</PresentationFormat>
  <Paragraphs>180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TT Hoves Bold</vt:lpstr>
      <vt:lpstr>Helios Bold</vt:lpstr>
      <vt:lpstr>Helios</vt:lpstr>
      <vt:lpstr>Helios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Web Development: From Server to Performance</dc:title>
  <cp:lastModifiedBy>FAHEEM SHAUKAT</cp:lastModifiedBy>
  <cp:revision>3</cp:revision>
  <dcterms:created xsi:type="dcterms:W3CDTF">2006-08-16T00:00:00Z</dcterms:created>
  <dcterms:modified xsi:type="dcterms:W3CDTF">2026-03-26T22:36:57Z</dcterms:modified>
  <dc:identifier>DAHE8K00qkc</dc:identifier>
</cp:coreProperties>
</file>