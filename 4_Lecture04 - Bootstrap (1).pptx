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  <p:sldMasterId id="2147483724" r:id="rId5"/>
    <p:sldMasterId id="2147483711" r:id="rId6"/>
  </p:sldMasterIdLst>
  <p:notesMasterIdLst>
    <p:notesMasterId r:id="rId59"/>
  </p:notesMasterIdLst>
  <p:handoutMasterIdLst>
    <p:handoutMasterId r:id="rId60"/>
  </p:handoutMasterIdLst>
  <p:sldIdLst>
    <p:sldId id="281" r:id="rId7"/>
    <p:sldId id="480" r:id="rId8"/>
    <p:sldId id="481" r:id="rId9"/>
    <p:sldId id="482" r:id="rId10"/>
    <p:sldId id="483" r:id="rId11"/>
    <p:sldId id="507" r:id="rId12"/>
    <p:sldId id="497" r:id="rId13"/>
    <p:sldId id="498" r:id="rId14"/>
    <p:sldId id="516" r:id="rId15"/>
    <p:sldId id="499" r:id="rId16"/>
    <p:sldId id="500" r:id="rId17"/>
    <p:sldId id="517" r:id="rId18"/>
    <p:sldId id="484" r:id="rId19"/>
    <p:sldId id="485" r:id="rId20"/>
    <p:sldId id="488" r:id="rId21"/>
    <p:sldId id="486" r:id="rId22"/>
    <p:sldId id="489" r:id="rId23"/>
    <p:sldId id="496" r:id="rId24"/>
    <p:sldId id="487" r:id="rId25"/>
    <p:sldId id="490" r:id="rId26"/>
    <p:sldId id="542" r:id="rId27"/>
    <p:sldId id="541" r:id="rId28"/>
    <p:sldId id="543" r:id="rId29"/>
    <p:sldId id="544" r:id="rId30"/>
    <p:sldId id="546" r:id="rId31"/>
    <p:sldId id="534" r:id="rId32"/>
    <p:sldId id="535" r:id="rId33"/>
    <p:sldId id="547" r:id="rId34"/>
    <p:sldId id="537" r:id="rId35"/>
    <p:sldId id="536" r:id="rId36"/>
    <p:sldId id="548" r:id="rId37"/>
    <p:sldId id="538" r:id="rId38"/>
    <p:sldId id="539" r:id="rId39"/>
    <p:sldId id="549" r:id="rId40"/>
    <p:sldId id="545" r:id="rId41"/>
    <p:sldId id="550" r:id="rId42"/>
    <p:sldId id="551" r:id="rId43"/>
    <p:sldId id="552" r:id="rId44"/>
    <p:sldId id="553" r:id="rId45"/>
    <p:sldId id="519" r:id="rId46"/>
    <p:sldId id="520" r:id="rId47"/>
    <p:sldId id="521" r:id="rId48"/>
    <p:sldId id="522" r:id="rId49"/>
    <p:sldId id="523" r:id="rId50"/>
    <p:sldId id="524" r:id="rId51"/>
    <p:sldId id="525" r:id="rId52"/>
    <p:sldId id="528" r:id="rId53"/>
    <p:sldId id="529" r:id="rId54"/>
    <p:sldId id="530" r:id="rId55"/>
    <p:sldId id="540" r:id="rId56"/>
    <p:sldId id="531" r:id="rId57"/>
    <p:sldId id="532" r:id="rId5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A3C100-4D90-4182-83D2-E092D90E455E}">
          <p14:sldIdLst>
            <p14:sldId id="281"/>
            <p14:sldId id="480"/>
            <p14:sldId id="481"/>
            <p14:sldId id="482"/>
            <p14:sldId id="483"/>
            <p14:sldId id="507"/>
            <p14:sldId id="497"/>
            <p14:sldId id="498"/>
            <p14:sldId id="516"/>
            <p14:sldId id="499"/>
            <p14:sldId id="500"/>
            <p14:sldId id="517"/>
            <p14:sldId id="484"/>
            <p14:sldId id="485"/>
            <p14:sldId id="488"/>
            <p14:sldId id="486"/>
            <p14:sldId id="489"/>
            <p14:sldId id="496"/>
            <p14:sldId id="487"/>
            <p14:sldId id="490"/>
            <p14:sldId id="542"/>
            <p14:sldId id="541"/>
            <p14:sldId id="543"/>
            <p14:sldId id="544"/>
            <p14:sldId id="546"/>
            <p14:sldId id="534"/>
            <p14:sldId id="535"/>
            <p14:sldId id="547"/>
            <p14:sldId id="537"/>
            <p14:sldId id="536"/>
            <p14:sldId id="548"/>
            <p14:sldId id="538"/>
            <p14:sldId id="539"/>
            <p14:sldId id="549"/>
            <p14:sldId id="545"/>
            <p14:sldId id="550"/>
            <p14:sldId id="551"/>
            <p14:sldId id="552"/>
            <p14:sldId id="553"/>
            <p14:sldId id="519"/>
            <p14:sldId id="520"/>
            <p14:sldId id="521"/>
            <p14:sldId id="522"/>
            <p14:sldId id="523"/>
            <p14:sldId id="524"/>
            <p14:sldId id="525"/>
            <p14:sldId id="528"/>
            <p14:sldId id="529"/>
            <p14:sldId id="530"/>
            <p14:sldId id="540"/>
            <p14:sldId id="531"/>
            <p14:sldId id="5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3">
          <p15:clr>
            <a:srgbClr val="A4A3A4"/>
          </p15:clr>
        </p15:guide>
        <p15:guide id="3" pos="884">
          <p15:clr>
            <a:srgbClr val="A4A3A4"/>
          </p15:clr>
        </p15:guide>
        <p15:guide id="4" pos="55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7D00"/>
    <a:srgbClr val="C44D58"/>
    <a:srgbClr val="CCCC00"/>
    <a:srgbClr val="0000FF"/>
    <a:srgbClr val="9999FF"/>
    <a:srgbClr val="E2E2E2"/>
    <a:srgbClr val="1F2429"/>
    <a:srgbClr val="FF6B6B"/>
    <a:srgbClr val="556270"/>
    <a:srgbClr val="C7F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1103" autoAdjust="0"/>
  </p:normalViewPr>
  <p:slideViewPr>
    <p:cSldViewPr showGuides="1">
      <p:cViewPr varScale="1">
        <p:scale>
          <a:sx n="73" d="100"/>
          <a:sy n="73" d="100"/>
        </p:scale>
        <p:origin x="283" y="58"/>
      </p:cViewPr>
      <p:guideLst>
        <p:guide orient="horz" pos="2160"/>
        <p:guide pos="3243"/>
        <p:guide pos="884"/>
        <p:guide pos="55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10278-95D9-4C55-870B-12E7C3FAB926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933A2-8BAA-47EE-8B80-D491C5615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55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B58EC-47B0-4D6E-BCA2-66EC4B22F61C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A9186-2D37-401C-AD2F-685E5D274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13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5496" y="692696"/>
            <a:ext cx="9001000" cy="21939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lvl="0"/>
            <a:endParaRPr lang="en-US" sz="24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32048" y="4110573"/>
            <a:ext cx="8316416" cy="96898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lvl="0"/>
            <a:endParaRPr lang="en-US" sz="24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re 1"/>
          <p:cNvSpPr>
            <a:spLocks noGrp="1"/>
          </p:cNvSpPr>
          <p:nvPr userDrawn="1">
            <p:ph type="ctrTitle" hasCustomPrompt="1"/>
          </p:nvPr>
        </p:nvSpPr>
        <p:spPr>
          <a:xfrm>
            <a:off x="539253" y="1054638"/>
            <a:ext cx="7416801" cy="1470025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907703" y="4218302"/>
            <a:ext cx="5688633" cy="753525"/>
          </a:xfrm>
        </p:spPr>
        <p:txBody>
          <a:bodyPr anchor="ctr">
            <a:noAutofit/>
          </a:bodyPr>
          <a:lstStyle>
            <a:lvl1pPr marL="1654175" indent="-282575" algn="l">
              <a:buFont typeface="Wingdings" pitchFamily="2" charset="2"/>
              <a:buChar char="v"/>
              <a:defRPr sz="200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  <a:endParaRPr lang="en-US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6706146" y="6430858"/>
            <a:ext cx="2133600" cy="365125"/>
          </a:xfrm>
        </p:spPr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5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-27384"/>
            <a:ext cx="9144000" cy="7920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lvl="0"/>
            <a:endParaRPr lang="en-US" sz="24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 userDrawn="1"/>
        </p:nvSpPr>
        <p:spPr>
          <a:xfrm rot="10800000">
            <a:off x="-34280" y="6398486"/>
            <a:ext cx="9178280" cy="4766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lvl="0"/>
            <a:endParaRPr lang="en-US" sz="24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re 1"/>
          <p:cNvSpPr>
            <a:spLocks noGrp="1"/>
          </p:cNvSpPr>
          <p:nvPr userDrawn="1">
            <p:ph type="title"/>
          </p:nvPr>
        </p:nvSpPr>
        <p:spPr>
          <a:xfrm>
            <a:off x="179512" y="188640"/>
            <a:ext cx="8640638" cy="487221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 userDrawn="1">
            <p:ph idx="1"/>
          </p:nvPr>
        </p:nvSpPr>
        <p:spPr>
          <a:xfrm>
            <a:off x="179512" y="980728"/>
            <a:ext cx="8658696" cy="5328592"/>
          </a:xfrm>
        </p:spPr>
        <p:txBody>
          <a:bodyPr/>
          <a:lstStyle>
            <a:lvl2pPr>
              <a:defRPr>
                <a:solidFill>
                  <a:srgbClr val="002060"/>
                </a:solidFill>
              </a:defRPr>
            </a:lvl2pPr>
            <a:lvl4pPr>
              <a:defRPr b="0">
                <a:solidFill>
                  <a:schemeClr val="tx2">
                    <a:lumMod val="75000"/>
                  </a:schemeClr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6706146" y="6430858"/>
            <a:ext cx="2133600" cy="365125"/>
          </a:xfrm>
        </p:spPr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-27384"/>
            <a:ext cx="9144000" cy="7920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lvl="0"/>
            <a:endParaRPr lang="en-US" sz="24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 userDrawn="1"/>
        </p:nvSpPr>
        <p:spPr>
          <a:xfrm rot="10800000">
            <a:off x="-34280" y="6398486"/>
            <a:ext cx="9178280" cy="4766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rtlCol="0" anchor="ctr"/>
          <a:lstStyle/>
          <a:p>
            <a:pPr lvl="0"/>
            <a:endParaRPr lang="en-US" sz="2400" b="1" cap="small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7504" y="5588"/>
            <a:ext cx="7059778" cy="666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395536" y="908720"/>
            <a:ext cx="4042793" cy="547238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 typeface="Arial" pitchFamily="34" charset="0"/>
              <a:buNone/>
              <a:defRPr sz="1800"/>
            </a:lvl1pPr>
            <a:lvl2pPr marL="457200" indent="0">
              <a:spcBef>
                <a:spcPts val="0"/>
              </a:spcBef>
              <a:buFont typeface="Arial" pitchFamily="34" charset="0"/>
              <a:buNone/>
              <a:defRPr sz="1800"/>
            </a:lvl2pPr>
            <a:lvl3pPr marL="914400" indent="0" algn="l">
              <a:spcBef>
                <a:spcPts val="0"/>
              </a:spcBef>
              <a:buFont typeface="Arial" pitchFamily="34" charset="0"/>
              <a:buNone/>
              <a:defRPr sz="1800"/>
            </a:lvl3pPr>
            <a:lvl4pPr marL="1371600" indent="0" algn="l">
              <a:spcBef>
                <a:spcPts val="0"/>
              </a:spcBef>
              <a:buFont typeface="Arial" pitchFamily="34" charset="0"/>
              <a:buNone/>
              <a:defRPr sz="1800"/>
            </a:lvl4pPr>
            <a:lvl5pPr marL="1828800" indent="0" algn="l">
              <a:spcBef>
                <a:spcPts val="0"/>
              </a:spcBef>
              <a:buFont typeface="Arial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576191" y="908720"/>
            <a:ext cx="4042793" cy="54006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spcBef>
                <a:spcPts val="0"/>
              </a:spcBef>
              <a:buNone/>
              <a:defRPr sz="1800"/>
            </a:lvl2pPr>
            <a:lvl3pPr marL="914400" indent="0">
              <a:spcBef>
                <a:spcPts val="0"/>
              </a:spcBef>
              <a:buNone/>
              <a:defRPr sz="1800"/>
            </a:lvl3pPr>
            <a:lvl4pPr marL="1371600" indent="0">
              <a:spcBef>
                <a:spcPts val="0"/>
              </a:spcBef>
              <a:buNone/>
              <a:defRPr sz="1800"/>
            </a:lvl4pPr>
            <a:lvl5pPr marL="1828800" indent="0">
              <a:spcBef>
                <a:spcPts val="0"/>
              </a:spcBef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172400" y="-40094"/>
            <a:ext cx="720080" cy="80479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ate Placeholder 4"/>
          <p:cNvSpPr>
            <a:spLocks noGrp="1"/>
          </p:cNvSpPr>
          <p:nvPr>
            <p:ph type="dt" sz="half" idx="10"/>
          </p:nvPr>
        </p:nvSpPr>
        <p:spPr>
          <a:xfrm>
            <a:off x="6706146" y="6430858"/>
            <a:ext cx="2133600" cy="365125"/>
          </a:xfrm>
        </p:spPr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7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80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2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2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2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3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9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48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04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4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99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71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4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16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64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9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54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55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73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03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69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3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 userDrawn="1">
            <p:ph type="title"/>
          </p:nvPr>
        </p:nvSpPr>
        <p:spPr>
          <a:xfrm>
            <a:off x="179512" y="349491"/>
            <a:ext cx="8640638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 userDrawn="1">
            <p:ph type="body" idx="1"/>
          </p:nvPr>
        </p:nvSpPr>
        <p:spPr>
          <a:xfrm>
            <a:off x="179512" y="1600200"/>
            <a:ext cx="864063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706146" y="64308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dirty="0" err="1"/>
              <a:t>Your</a:t>
            </a:r>
            <a:r>
              <a:rPr lang="fr-FR" dirty="0"/>
              <a:t> date </a:t>
            </a:r>
            <a:r>
              <a:rPr lang="fr-FR" dirty="0" err="1"/>
              <a:t>comes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 userDrawn="1">
            <p:ph type="ftr" sz="quarter" idx="3"/>
          </p:nvPr>
        </p:nvSpPr>
        <p:spPr>
          <a:xfrm>
            <a:off x="2972544" y="64308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Your footer comes here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 userDrawn="1">
            <p:ph type="sldNum" sz="quarter" idx="4"/>
          </p:nvPr>
        </p:nvSpPr>
        <p:spPr>
          <a:xfrm>
            <a:off x="179512" y="64308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F5037F2-DC85-406A-A4EA-1E681A25B4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92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36" r:id="rId3"/>
    <p:sldLayoutId id="2147483723" r:id="rId4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Helvetica" pitchFamily="2" charset="0"/>
          <a:ea typeface="Helvetica" pitchFamily="2" charset="0"/>
          <a:cs typeface="Helvetica" pitchFamily="2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4D044-CB57-4AAC-B306-F9496AC4D3B3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12475-EC34-468F-ACD3-D98EEAFEF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1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2D282-2D6F-46B6-96E1-C126BFEC1452}" type="datetimeFigureOut">
              <a:rPr lang="en-US" smtClean="0"/>
              <a:t>3/28/2023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78C8C-1635-4977-88C9-0C7B647F9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97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jax.googleapis.com/ajax/libs/jquery/3.3.1/jquery.min.js" TargetMode="External"/><Relationship Id="rId2" Type="http://schemas.openxmlformats.org/officeDocument/2006/relationships/hyperlink" Target="https://maxcdn.bootstrapcdn.com/bootstrap/3.3.7/css/bootstrap.min.cs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xcdn.bootstrapcdn.com/bootstrap/3.3.7/js/bootstrap.min.j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Application Development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>
          <a:xfrm>
            <a:off x="1907703" y="4218302"/>
            <a:ext cx="5688633" cy="866882"/>
          </a:xfrm>
        </p:spPr>
        <p:txBody>
          <a:bodyPr>
            <a:normAutofit/>
          </a:bodyPr>
          <a:lstStyle/>
          <a:p>
            <a:r>
              <a:rPr lang="en-US" b="1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204919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6854-A935-4CCB-ACEC-70EDA392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3F168-E667-427B-8917-5CB7B3C8C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CSS</a:t>
            </a:r>
          </a:p>
          <a:p>
            <a:r>
              <a:rPr lang="en-US" dirty="0"/>
              <a:t>Page layouts using bootstrap CSS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68E1B-629E-408D-A501-E2038347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56C20-8F31-4378-815C-295B093B8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9083-C3E4-460B-8BD6-209BD43AB195}" type="datetime1">
              <a:rPr lang="en-US" smtClean="0"/>
              <a:t>3/28/2023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47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40D2-4D33-4438-95DA-9CC6C126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bootstrap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24539-5F26-46C7-B9D5-80BF560C0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Bootstrap</a:t>
            </a:r>
            <a:r>
              <a:rPr lang="en-US" dirty="0"/>
              <a:t> is a free and open-source front-end framework for designing websites and web applications.</a:t>
            </a:r>
          </a:p>
          <a:p>
            <a:endParaRPr lang="en-US" dirty="0"/>
          </a:p>
          <a:p>
            <a:pPr algn="just"/>
            <a:r>
              <a:rPr lang="en-US" b="1" dirty="0"/>
              <a:t>Bootstrap</a:t>
            </a:r>
            <a:r>
              <a:rPr lang="en-US" dirty="0"/>
              <a:t> is a free front-end framework for faster and easier web development that helps you to create a responsive front-end design.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C4757-6DCB-4CBE-9444-E6407C64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689DD-6981-4C95-8E8D-EEE4C120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5781-413D-4C35-8A15-7ECAA923CC4D}" type="datetime1">
              <a:rPr lang="en-US" smtClean="0"/>
              <a:t>3/28/2023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08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E77C-8B3F-4FD4-B9C3-C985533B4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we need to use Bootstrap?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62014-23A0-41B7-B470-EA9F5E28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Easy to use: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Anybody with just basic knowledge of HTML and CSS can start using Bootstrap</a:t>
            </a:r>
          </a:p>
          <a:p>
            <a:r>
              <a:rPr lang="en-US" b="1" dirty="0"/>
              <a:t>Responsive features: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Bootstrap's responsive CSS adjusts to phones, tablets, and desktops</a:t>
            </a:r>
          </a:p>
          <a:p>
            <a:r>
              <a:rPr lang="en-US" b="1" dirty="0"/>
              <a:t>Mobile-first approach: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In Bootstrap 3, mobile-first styles are part of the core framework</a:t>
            </a:r>
          </a:p>
          <a:p>
            <a:r>
              <a:rPr lang="en-US" b="1" dirty="0"/>
              <a:t>Browser compatibility: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Bootstrap is compatible with all modern browsers (Chrome, Firefox, Internet Explorer, Edge, Safari, and Opera)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69986-7BBB-4A16-B637-2DF50B17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6EC7E-FCA0-47C5-B1AD-2B08F163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9D047-68EA-420E-A39F-190487A780AE}" type="datetime1">
              <a:rPr lang="en-US" smtClean="0"/>
              <a:t>3/28/2023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7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EDDA-B2F0-4833-9728-3F9A49BA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6F287-738B-4CD6-BB7C-FB9EB8A23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Bootstrap contains wide range of selectors. Some very common selectors in bootstrap are as following</a:t>
            </a:r>
          </a:p>
          <a:p>
            <a:pPr lvl="1" algn="just"/>
            <a:r>
              <a:rPr lang="en-US" dirty="0"/>
              <a:t>Bootstrap Grid System</a:t>
            </a:r>
          </a:p>
          <a:p>
            <a:pPr lvl="1" algn="just"/>
            <a:r>
              <a:rPr lang="en-US" dirty="0"/>
              <a:t>Bootstrap typography </a:t>
            </a:r>
          </a:p>
          <a:p>
            <a:pPr lvl="1" algn="just"/>
            <a:r>
              <a:rPr lang="en-US" dirty="0"/>
              <a:t>Bootstrap Tables</a:t>
            </a:r>
          </a:p>
          <a:p>
            <a:pPr lvl="1" algn="just"/>
            <a:r>
              <a:rPr lang="en-US" dirty="0"/>
              <a:t>Bootstrap buttons</a:t>
            </a:r>
          </a:p>
          <a:p>
            <a:pPr lvl="1" algn="just"/>
            <a:r>
              <a:rPr lang="en-US" dirty="0"/>
              <a:t>Bootstrap Pagination </a:t>
            </a:r>
          </a:p>
          <a:p>
            <a:pPr lvl="1" algn="just"/>
            <a:r>
              <a:rPr lang="en-US" dirty="0"/>
              <a:t>Bootstrap Navbar 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FDBCE-9B57-429B-8759-7DA751D8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57239-133B-4821-9BA5-9DE9F517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5A90-73A4-4CE5-BAE4-AE13662FBA38}" type="datetime1">
              <a:rPr lang="en-US" smtClean="0"/>
              <a:t>3/28/2023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91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45B7-FDED-4A3E-8685-35AD945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Creating shared layout using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F5B67-7D31-4AC8-A76B-0F0E139F8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this purpose visit</a:t>
            </a:r>
          </a:p>
          <a:p>
            <a:pPr lvl="1"/>
            <a:r>
              <a:rPr lang="en-US" dirty="0">
                <a:hlinkClick r:id="rId2"/>
              </a:rPr>
              <a:t>https://maxcdn.bootstrapcdn.com/bootstrap/3.3.7/css/bootstrap.min.css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https://ajax.googleapis.com/ajax/libs/jquery/3.3.1/jquery.min.js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https://maxcdn.bootstrapcdn.com/bootstrap/3.3.7/js/bootstrap.min.js</a:t>
            </a:r>
            <a:endParaRPr lang="en-US" dirty="0"/>
          </a:p>
          <a:p>
            <a:pPr lvl="1"/>
            <a:r>
              <a:rPr lang="en-US" dirty="0"/>
              <a:t>Copy all three files into your local disk named: bootstrap.min.css, jquery.min.js and bootstrap.min.js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F6E51-3A0C-423D-A055-331AD151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25523-F675-413B-BE06-11B77342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14D9E-528D-4B27-82B1-5466C904BF38}" type="datetime1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1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2B7D-FE50-4A84-83F6-6956E873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table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52302-3CCA-4845-8361-09D9F558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4E8FB-D289-4BD1-BDA4-0609BFE8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361C-115F-4059-ABD7-0CC134AA0D4C}" type="datetime1">
              <a:rPr lang="en-US" smtClean="0"/>
              <a:t>3/28/2023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5ED177-500A-45D1-BE37-384D590A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266"/>
            <a:ext cx="7524328" cy="692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36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B1B-C1CE-402F-9A13-4D4B64D9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A8DB6-0A76-4CC5-8C0C-F8208D7DC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5A7CC-4F48-422F-9CD0-CD7BEFAB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16A48-DB29-425A-A0DF-8855F8D6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5A1EE-78A1-4A16-B372-A4C76BE6C8D9}" type="datetime1">
              <a:rPr lang="en-US" smtClean="0"/>
              <a:t>3/28/2023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0B9B2-6763-4C84-8FDA-3F03F35E1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92" y="1700808"/>
            <a:ext cx="86106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59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0C222-5542-4E62-8E00-CB1AFA66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766C6-B51E-4C34-B8AF-A3234A648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Alert boxes are used to notify about alert messages. For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5CFF-9F7F-4B0E-9BF7-A91BF701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14E24-6305-4C37-9124-823A757E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BD47-8BD9-451E-A507-C536339888B7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2E787A-629F-4731-ADEB-4E4692ACE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2282026"/>
            <a:ext cx="89439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43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9D86-D1BE-47DA-A03C-7E69981E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798BB-6D37-4190-AE32-92E39BEE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400BD-6F8A-4C73-8E59-1AA0C61C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6474-9534-417D-9A2E-2B0AAFF55FB8}" type="datetime1">
              <a:rPr lang="en-US" smtClean="0"/>
              <a:t>3/28/2023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CD098-28EB-46CA-8B8F-70905EC2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5010"/>
            <a:ext cx="9144000" cy="51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7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E8C5-EB1A-443C-96D7-BA2D57B4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148BC-0DFF-41A0-A985-31AF4576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21F6E-8E4B-4957-9339-816D992E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E0E05-D2D8-43F0-AF64-2F81A552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08BE-9838-4856-855A-AD9F945577C5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942A9E-A832-49BB-A70F-E66A17B8B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596"/>
            <a:ext cx="9036496" cy="430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76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063A-6096-4570-B2B5-85EB3908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474E-D97D-494A-98A6-9C4385E8A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Bootstrap alert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A137-75C1-4E07-942A-6D584979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CF1E1-D917-4DC5-9947-8A99BE40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737E-B883-40FB-BA99-3028D3408D2D}" type="datetime1">
              <a:rPr lang="en-US" smtClean="0"/>
              <a:t>3/28/2023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1DF431-4D82-4806-A957-F94D01AE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4824"/>
            <a:ext cx="9144000" cy="449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2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D44F-687E-4AAC-8CCE-CA120BE6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E3F4-C25D-4615-A228-72A43FAA1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Grid</a:t>
            </a:r>
          </a:p>
          <a:p>
            <a:pPr lvl="1"/>
            <a:r>
              <a:rPr lang="en-US" dirty="0"/>
              <a:t>Bootstrap Grid system allows you to create different size of columns in your application such as:</a:t>
            </a:r>
          </a:p>
          <a:p>
            <a:pPr lvl="2"/>
            <a:r>
              <a:rPr lang="en-US" dirty="0"/>
              <a:t>See Next Page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8D2CC-5B10-4A22-A87E-A51923FE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7156F-65D1-4280-A5BD-C16F84D5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0447D-94ED-47CB-8ED5-3114AA9D9C26}" type="datetime1">
              <a:rPr lang="en-US" smtClean="0"/>
              <a:t>3/28/2023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405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8A600-FBE9-4414-90AF-4F13B7C97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9CA10-B8EB-40EC-AA09-BF13F96E8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53198-DDCE-482B-82A2-9FD87CF7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2920D-B804-4BF6-A1CA-9770058F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D28B-C46B-46F8-AE48-01848BB5B9BA}" type="datetime1">
              <a:rPr lang="en-US" smtClean="0"/>
              <a:t>3/28/2023</a:t>
            </a:fld>
            <a:endParaRPr lang="en-US" dirty="0"/>
          </a:p>
        </p:txBody>
      </p:sp>
      <p:pic>
        <p:nvPicPr>
          <p:cNvPr id="1026" name="Picture 2" descr="Image result for bootstrap grid system">
            <a:extLst>
              <a:ext uri="{FF2B5EF4-FFF2-40B4-BE49-F238E27FC236}">
                <a16:creationId xmlns:a16="http://schemas.microsoft.com/office/drawing/2014/main" id="{F8BBCAF4-6A7E-499E-9774-C7CCC77BF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874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2302-85C5-499C-8890-A95D385A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C29E9-6F2A-4544-AB36-8D0E60999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22C7-2C63-4844-9882-D0D15CAD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9F417-E8DB-4763-BAC2-3D9CDE25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E913-7470-4756-A0A2-41EA3E3EA3E7}" type="datetime1">
              <a:rPr lang="en-US" smtClean="0"/>
              <a:t>3/28/2023</a:t>
            </a:fld>
            <a:endParaRPr lang="en-US" dirty="0"/>
          </a:p>
        </p:txBody>
      </p:sp>
      <p:pic>
        <p:nvPicPr>
          <p:cNvPr id="3074" name="Picture 2" descr="Image result for bootstrap grid system">
            <a:extLst>
              <a:ext uri="{FF2B5EF4-FFF2-40B4-BE49-F238E27FC236}">
                <a16:creationId xmlns:a16="http://schemas.microsoft.com/office/drawing/2014/main" id="{9A14E1F8-325F-4185-949C-72AFFB6D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9144000" cy="58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38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E597-1CA5-44AD-A00D-6340D64D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A52F-8A2E-46D4-A33A-7AC9207D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5438-C38E-4FCE-A368-019BE51E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A445E-6540-4402-88B6-56C2D6F3D118}" type="datetime1">
              <a:rPr lang="en-US" smtClean="0"/>
              <a:t>3/28/2023</a:t>
            </a:fld>
            <a:endParaRPr lang="en-US" dirty="0"/>
          </a:p>
        </p:txBody>
      </p:sp>
      <p:pic>
        <p:nvPicPr>
          <p:cNvPr id="2050" name="Picture 2" descr="Image result for bootstrap grid system">
            <a:extLst>
              <a:ext uri="{FF2B5EF4-FFF2-40B4-BE49-F238E27FC236}">
                <a16:creationId xmlns:a16="http://schemas.microsoft.com/office/drawing/2014/main" id="{6E55B0BA-E335-40C5-9E21-A8EA4E8E3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76" y="836712"/>
            <a:ext cx="9256310" cy="62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756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1C9D-0F41-4E26-9465-2BEC5285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EE6F5-79DB-4FEE-B370-43DAD712E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Bootstrap Grid Example</a:t>
            </a:r>
          </a:p>
          <a:p>
            <a:pPr lvl="1"/>
            <a:r>
              <a:rPr lang="en-US" dirty="0"/>
              <a:t>The Bootstrap grid system has four classes:</a:t>
            </a:r>
          </a:p>
          <a:p>
            <a:pPr lvl="2"/>
            <a:r>
              <a:rPr lang="en-US" b="1" dirty="0" err="1"/>
              <a:t>xs</a:t>
            </a:r>
            <a:r>
              <a:rPr lang="en-US" dirty="0"/>
              <a:t> 	</a:t>
            </a:r>
          </a:p>
          <a:p>
            <a:pPr lvl="3"/>
            <a:r>
              <a:rPr lang="en-US" dirty="0"/>
              <a:t>for phones - screens less than 768px wide</a:t>
            </a:r>
          </a:p>
          <a:p>
            <a:pPr lvl="2"/>
            <a:r>
              <a:rPr lang="en-US" b="1" dirty="0" err="1"/>
              <a:t>sm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for tablets - screens equal to or greater than 768px wide</a:t>
            </a:r>
          </a:p>
          <a:p>
            <a:pPr lvl="2"/>
            <a:r>
              <a:rPr lang="en-US" b="1" dirty="0"/>
              <a:t>md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for small laptops - screens equal to or greater than 992px wide</a:t>
            </a:r>
          </a:p>
          <a:p>
            <a:pPr lvl="2"/>
            <a:r>
              <a:rPr lang="en-US" b="1" dirty="0"/>
              <a:t>lg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for laptops and desktops - screens equal to or greater than 1200px wide</a:t>
            </a:r>
          </a:p>
          <a:p>
            <a:pPr lvl="1"/>
            <a:r>
              <a:rPr lang="en-US" dirty="0"/>
              <a:t>The classes above can be combined to create more dynamic and flexible layouts.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484A7-4BAD-43E1-A2EC-86110CB7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18F0F-0ACD-4E1D-B4E7-77A86483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1E87-D776-4E64-9256-85577E09E351}" type="datetime1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09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CE05-2023-4379-894B-A991144D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AE025-3657-45D5-AC4E-EC1E7ED5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following table summarizes how the Bootstrap grid system works across multiple devices: (See Next page)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B6644-20BC-4CCD-A24A-B29B69657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2EF32-96EE-4B38-97AC-591528A32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8606-AF59-4DF8-8638-FCC1B99F1689}" type="datetime1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92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68B6-58E1-4CBE-8003-927416EFF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FD40E-0F13-41F3-BF73-2697602A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DCBF5-D794-4811-8923-3420B4DD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142CB-BCD4-4BD7-B03D-37B14916383B}" type="datetime1">
              <a:rPr lang="en-US" smtClean="0"/>
              <a:t>3/28/2023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6FEF7-72F3-4677-90BE-A645EC4026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2"/>
          <a:stretch/>
        </p:blipFill>
        <p:spPr>
          <a:xfrm>
            <a:off x="181288" y="1124744"/>
            <a:ext cx="83596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12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4F3F-8B14-48FA-BCFF-ABE0EB06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Grid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95306-E3B1-4B30-B237-F91C9E41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(code is written on Notepad)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resizing page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61D8B-7718-4EC1-B5D3-46126EE5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D6FE2-D371-4AF9-948E-DE0AFFCD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D302-0EDA-4DE4-9E5E-411956B8D0B6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AD0891-5156-4783-8433-28DE3A2C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6" y="1994884"/>
            <a:ext cx="8658696" cy="1007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4C1AE1-6CC2-4C86-83FB-A3F95575F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67" y="4149080"/>
            <a:ext cx="7727866" cy="197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7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8D5F-00DF-4E0B-B4F7-37515D4A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rows and column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46A1-B0F3-4480-A434-D87E9B222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Row and column are bootstrap classes that helps to design a layout </a:t>
            </a:r>
          </a:p>
          <a:p>
            <a:pPr lvl="1"/>
            <a:r>
              <a:rPr lang="en-US" dirty="0"/>
              <a:t>Rows</a:t>
            </a:r>
          </a:p>
          <a:p>
            <a:pPr lvl="2"/>
            <a:r>
              <a:rPr lang="en-US" dirty="0"/>
              <a:t>Create vertical position with each other</a:t>
            </a:r>
          </a:p>
          <a:p>
            <a:pPr lvl="1"/>
            <a:r>
              <a:rPr lang="en-US" dirty="0"/>
              <a:t>Columns</a:t>
            </a:r>
          </a:p>
          <a:p>
            <a:pPr lvl="2"/>
            <a:r>
              <a:rPr lang="en-US" dirty="0"/>
              <a:t>Creates horizontal position with each other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480F3-69C8-40FB-A552-9C20A51C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F321A-C23B-42E2-8F8E-C9C6C72C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DF63-9C34-4FA1-A697-3C30624673B6}" type="datetime1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11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8D5F-00DF-4E0B-B4F7-37515D4A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Bootstrap rows and column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480F3-69C8-40FB-A552-9C20A51C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F321A-C23B-42E2-8F8E-C9C6C72C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DF63-9C34-4FA1-A697-3C30624673B6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C98C9-C974-48AC-B162-F16C3A2E3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5491728"/>
            <a:ext cx="9144000" cy="1105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80FFA-AF0C-47BB-9BA4-AD1BBAEA9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5" y="836712"/>
            <a:ext cx="60579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7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32ED-3981-4E8B-AAF9-33D5447F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Bootstrap rows and column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940B0-B793-4843-9E90-F29C307BA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the output of following 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145E-B5A5-4316-986C-B17D28B0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B888F-F114-4531-B505-F3D0D3E6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A140-746B-4DA4-88C2-7DC6A2DF6BCD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35DA60-7604-4177-87AF-E194D81ED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65" y="5959453"/>
            <a:ext cx="9144000" cy="821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0D2A5-6FC4-455B-8D81-FCFBACEF0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586696"/>
            <a:ext cx="6022515" cy="411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9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406D-3068-4701-AFC0-6972E3B4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AD9A9-DDCB-474B-81ED-9931F307CDB5}" type="datetime1">
              <a:rPr lang="en-US" smtClean="0"/>
              <a:t>3/28/2023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AE907-DF68-4DCD-9728-45E1E1BC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F80C3-76FA-4EF4-95F0-DF7ED89B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214"/>
            <a:ext cx="6948264" cy="6617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510174-2E1F-45C3-A908-46512B153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20901"/>
            <a:ext cx="9144000" cy="121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8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0651-210E-48D0-B177-D3374C12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horizontal menu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936C-E779-429C-A20D-29B40DA6D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Bootstrap Tabs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7CDD-CB80-40F0-AC62-D2E6EB76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83EB9-BDEF-4E99-8463-844FFE4B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B029-112B-4833-AAF4-33F5D96F21D5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4D938-4968-4AB3-B0DE-FAB5D05C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56" y="1700808"/>
            <a:ext cx="5476875" cy="4543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A03B5-902D-4F87-8A12-AAC8A231D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75" y="5676702"/>
            <a:ext cx="5991225" cy="1200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48BC50-F78C-4431-AF17-06E759C4EC4D}"/>
              </a:ext>
            </a:extLst>
          </p:cNvPr>
          <p:cNvSpPr/>
          <p:nvPr/>
        </p:nvSpPr>
        <p:spPr>
          <a:xfrm>
            <a:off x="539552" y="2924944"/>
            <a:ext cx="432048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0651-210E-48D0-B177-D3374C12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936C-E779-429C-A20D-29B40DA6D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Bootstrap Tabs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7CDD-CB80-40F0-AC62-D2E6EB76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83EB9-BDEF-4E99-8463-844FFE4B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B029-112B-4833-AAF4-33F5D96F21D5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4D938-4968-4AB3-B0DE-FAB5D05C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56" y="1700808"/>
            <a:ext cx="5476875" cy="4543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A03B5-902D-4F87-8A12-AAC8A231D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75" y="5676702"/>
            <a:ext cx="59912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1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D5F7-4E2E-4907-8EB4-53352076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4D61-D211-43CC-AA57-CC0BB2BA9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Pills</a:t>
            </a:r>
          </a:p>
          <a:p>
            <a:pPr lvl="1" algn="just"/>
            <a:r>
              <a:rPr lang="en-US" dirty="0"/>
              <a:t>Pills are used to make a horizontal menu.</a:t>
            </a:r>
          </a:p>
          <a:p>
            <a:pPr lvl="1" algn="just"/>
            <a:r>
              <a:rPr lang="en-US" dirty="0"/>
              <a:t>Pills are straight menu that looks like a horizontal table cells.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A3B4A-E4A9-48BB-B7A6-1644EB48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00A7A-8DBC-42BC-BCB3-EBDF6C74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E57-E246-4E33-A803-22B0A4DBB34A}" type="datetime1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4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5B25-906F-4420-B867-B23C6631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51F6C-0C00-4916-89BB-700E6E27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B820C-3F01-4612-98BA-A77BCA48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8304B-8952-46EA-8F76-A6F479B2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4DBAE-097C-44E9-B398-1449D30770FF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97B7F-B0FD-4201-A43C-A5E13EB6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0"/>
            <a:ext cx="925252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43EBE9-F73F-49E4-A576-C03108E38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2513"/>
            <a:ext cx="9144000" cy="126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7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6371-6723-455D-A37D-7962CCC3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Pagination to the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D969-2229-4081-9D0E-0638F959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Pagination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C7ED-0339-486C-AFE2-59BF19E7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DF27D-9541-48B5-9A1E-F27E8229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A796-1C8D-4433-B857-D3E34AAE62FA}" type="datetime1">
              <a:rPr lang="en-US" smtClean="0"/>
              <a:t>3/28/2023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D646A-3ABF-4CE2-9A81-DA9C80941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140" y="1549480"/>
            <a:ext cx="9144000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04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6371-6723-455D-A37D-7962CCC39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D969-2229-4081-9D0E-0638F959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Pagination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C7ED-0339-486C-AFE2-59BF19E7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DF27D-9541-48B5-9A1E-F27E8229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A796-1C8D-4433-B857-D3E34AAE62FA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FE6D24-CBFE-4963-BBFA-B9AECF3A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672" y="1950095"/>
            <a:ext cx="617220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50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93A-F44E-4143-B59E-82267CDA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37F13-4614-4E39-B716-A7EA2EBCD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193E5-0C93-4080-BE3C-3D8E3918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F9E69-D835-4C03-9726-3A08EEA4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01871-68E4-47EC-AFDA-B042995F7D91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BA2D6-AC36-4A7E-AF87-B33222F79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6BF821-ECA1-46C5-808F-8EA278ED7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9929"/>
            <a:ext cx="9144000" cy="13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9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61C2-DFA5-4529-8E91-00C5EB0D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Adding list to the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C1B91-D037-493E-A072-F7AFD644E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Group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C3FDE-FDF1-4429-B3AF-4589471D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62D97-1C28-4E92-B599-681391CC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0B76-D3E0-49C5-970E-9A62124F6BEE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B2778-DD54-4278-ADE8-9224B6D7C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556792"/>
            <a:ext cx="7981950" cy="2428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8A583-BE7E-4D79-BB2D-9D6A726B4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100453"/>
            <a:ext cx="8221275" cy="184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87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F7A26-ACF0-44AB-947E-30D3CCFE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E4C4-7ED0-49CE-9DAC-09CCA0ACE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group items with col-lg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06AB8-450F-466C-813E-B55A9EB8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CBB83-0250-4052-BE89-0AA95D40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E508-D9FE-4739-9132-AC9A00BEF0BA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36079-951B-4FCD-9928-CA7E5954E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47" y="1772816"/>
            <a:ext cx="8505825" cy="225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4C2CF-D265-4491-89D5-7349C1BA3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806" y="4124325"/>
            <a:ext cx="34480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0133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E34D-50D2-4E26-8B92-544B1A38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E7A50-07C5-4AA3-82DB-3A9EEE5A8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F721A-F22F-4968-A08A-2273AE43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ADA36-B6DC-4104-8593-22A57938D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C1C5D-657B-41B5-80FF-3E2A7597DC69}" type="datetime1">
              <a:rPr lang="en-US" smtClean="0"/>
              <a:t>3/28/2023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DCADEF-4DF3-406D-8526-9402A7DD1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F38270-E1CA-4FAA-ADE7-AFB1268F9D3F}"/>
              </a:ext>
            </a:extLst>
          </p:cNvPr>
          <p:cNvSpPr/>
          <p:nvPr/>
        </p:nvSpPr>
        <p:spPr>
          <a:xfrm>
            <a:off x="1259632" y="1412776"/>
            <a:ext cx="7884368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396B76-DE45-433C-8134-A6B899A4D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3096"/>
            <a:ext cx="9144000" cy="24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227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84BEFB-0444-446C-9176-20F1EF64B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559"/>
            <a:ext cx="773858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C0F3AA1-7959-4E13-9A71-8E6B7886A251}"/>
              </a:ext>
            </a:extLst>
          </p:cNvPr>
          <p:cNvSpPr/>
          <p:nvPr/>
        </p:nvSpPr>
        <p:spPr>
          <a:xfrm>
            <a:off x="1979712" y="2204864"/>
            <a:ext cx="5256584" cy="3456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171F30-E6E9-44BE-BF41-4B1BD84D8C32}"/>
              </a:ext>
            </a:extLst>
          </p:cNvPr>
          <p:cNvSpPr/>
          <p:nvPr/>
        </p:nvSpPr>
        <p:spPr>
          <a:xfrm rot="16200000">
            <a:off x="-578283" y="3535300"/>
            <a:ext cx="4176464" cy="795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Create 2 rows in central column : col-lg-6</a:t>
            </a:r>
          </a:p>
        </p:txBody>
      </p:sp>
    </p:spTree>
    <p:extLst>
      <p:ext uri="{BB962C8B-B14F-4D97-AF65-F5344CB8AC3E}">
        <p14:creationId xmlns:p14="http://schemas.microsoft.com/office/powerpoint/2010/main" val="1905911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014A394-3C23-4DCE-8F55-E8215C4A3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80987"/>
            <a:ext cx="7375723" cy="65770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6B39E81-8130-4CE3-8436-15E08F7774E4}"/>
              </a:ext>
            </a:extLst>
          </p:cNvPr>
          <p:cNvSpPr/>
          <p:nvPr/>
        </p:nvSpPr>
        <p:spPr>
          <a:xfrm rot="16200000">
            <a:off x="-110228" y="3643313"/>
            <a:ext cx="3600398" cy="1155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Create 2 rows in central column : col-lg-6</a:t>
            </a:r>
          </a:p>
        </p:txBody>
      </p:sp>
    </p:spTree>
    <p:extLst>
      <p:ext uri="{BB962C8B-B14F-4D97-AF65-F5344CB8AC3E}">
        <p14:creationId xmlns:p14="http://schemas.microsoft.com/office/powerpoint/2010/main" val="3803106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F445A2-7E80-4A69-82B3-B2F5D3086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801"/>
            <a:ext cx="9144000" cy="28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34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E15699-DD9F-44DF-BD4A-BB6EBAAD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10" y="280367"/>
            <a:ext cx="7046962" cy="66770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A1CEBE-ABF2-4DF3-9B1B-EF057EA1032B}"/>
              </a:ext>
            </a:extLst>
          </p:cNvPr>
          <p:cNvSpPr/>
          <p:nvPr/>
        </p:nvSpPr>
        <p:spPr>
          <a:xfrm rot="16200000">
            <a:off x="253234" y="3067248"/>
            <a:ext cx="3600398" cy="1155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Place the panel-primary inside column of 3 indexes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9D78885-7889-4C21-8460-E3B49C5B3E26}"/>
              </a:ext>
            </a:extLst>
          </p:cNvPr>
          <p:cNvSpPr/>
          <p:nvPr/>
        </p:nvSpPr>
        <p:spPr>
          <a:xfrm>
            <a:off x="2631209" y="2564904"/>
            <a:ext cx="115555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72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81E252-C7AB-4E6D-8349-ADD90A505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6"/>
            <a:ext cx="9144000" cy="356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650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2DE1-4717-4B7E-9A21-1FB19708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CF111-343E-4CBF-9255-6AEF1B0D2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Bootstrap CSS Buttons</a:t>
            </a:r>
          </a:p>
          <a:p>
            <a:pPr lvl="1"/>
            <a:r>
              <a:rPr lang="en-US" b="1" dirty="0"/>
              <a:t>Provides different types of button design. For example</a:t>
            </a:r>
          </a:p>
          <a:p>
            <a:pPr lvl="2"/>
            <a:r>
              <a:rPr lang="en-US" b="1" dirty="0"/>
              <a:t>See next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27A79-7D32-4A70-B875-02B58BD2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A6D09-52AC-4942-85E4-E564B9AC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33950-B0E8-4674-8EE7-1BE6EF6B789D}" type="datetime1">
              <a:rPr lang="en-US" smtClean="0"/>
              <a:t>3/28/2023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0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EBAC4-9C45-4F95-A186-39FBB925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BCF23-6575-4FF7-9192-928AF24C3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31DC9-6A8F-4F52-949F-E1D3F210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52EEF-2997-4119-B122-85EEA6D3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9F37-D33B-4E7B-BA53-28A68FCDBA22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1F92D-B165-48EB-A86A-177725CE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797399"/>
            <a:ext cx="9144000" cy="559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897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CCCA-C735-4855-A915-5390C0D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2AE83-0291-48A9-8CFB-F770431FB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6E856-B1A8-4412-AB42-1C9F6BB2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26F3-E72F-4AC0-AC12-EC36AD2FC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98264-7092-45AA-80CF-494FB63773EC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F3811-48B1-4C45-BECF-7134CEAFA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7475"/>
            <a:ext cx="9144000" cy="58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946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C8B1-4488-4830-82C3-A9684E67C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8722-2C95-4214-905C-814F07C7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3259D-E381-4C28-B184-C81A4FD9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D4949-CE5B-4614-B735-72E7D906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3DC7-1F34-41CC-8455-26A1028798BE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EAE35B-A849-45BE-9C79-8DC3FC94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44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3362-C359-4883-9855-AA520F676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015B9-BE28-428F-B017-FA54F1AF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 Images</a:t>
            </a:r>
          </a:p>
          <a:p>
            <a:pPr lvl="1"/>
            <a:r>
              <a:rPr lang="en-US" dirty="0"/>
              <a:t>Bootstrap image class provides different image styles. For example</a:t>
            </a:r>
          </a:p>
          <a:p>
            <a:pPr lvl="2"/>
            <a:r>
              <a:rPr lang="en-US" dirty="0"/>
              <a:t>Circle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r>
              <a:rPr lang="en-US" dirty="0"/>
              <a:t> </a:t>
            </a:r>
          </a:p>
          <a:p>
            <a:pPr lvl="2"/>
            <a:r>
              <a:rPr lang="en-US" dirty="0"/>
              <a:t>Rounded Corner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A000D-C8E6-4AFE-A984-6862F6DE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71D72-0E50-4E84-9915-93948DC0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EBBD8-6BDF-4262-8827-4766DD99116D}" type="datetime1">
              <a:rPr lang="en-US" smtClean="0"/>
              <a:t>3/28/2023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F1503A-6976-4682-82A7-9635E7D4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2636912"/>
            <a:ext cx="1861567" cy="1357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AA21C5-58D0-40DD-844E-263D7095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235" y="4509120"/>
            <a:ext cx="1861567" cy="147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34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2977-BF1F-4FC6-91FD-78C96B14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DC854-23AC-4668-933A-9B6993BA5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Rounded Corner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1BC6E-FFBC-4834-BD9A-BD1D6FE5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962E9-EFCA-4A3A-8971-D87CA8AB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7CAE6-5417-4A52-AAD9-E621D029DEE0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A2615B-C5A5-43D3-87AE-1ED94AF5E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8704"/>
            <a:ext cx="9144000" cy="28405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1B6696-73C1-4585-AADE-D4026ED0A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56" y="4627950"/>
            <a:ext cx="3096344" cy="225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373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3A43-A697-48ED-B6C8-E0A86FDC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Example: Rounded corner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97742-AA67-44B7-A3F2-1D126F36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78A69-A0D9-446B-BFF7-0EDCC706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2916E-2E42-4A01-BB15-676A792EFA0B}" type="datetime1">
              <a:rPr lang="en-US" smtClean="0"/>
              <a:t>3/28/2023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FA7DC-D7C1-4DAF-B948-F83ABA751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979872" cy="4248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A6A847-A0E1-4B7D-AB67-18D4B7A6E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434" y="2932509"/>
            <a:ext cx="64579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6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0651-210E-48D0-B177-D3374C12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936C-E779-429C-A20D-29B40DA6D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Bootstrap Tabs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27CDD-CB80-40F0-AC62-D2E6EB76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83EB9-BDEF-4E99-8463-844FFE4BB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B029-112B-4833-AAF4-33F5D96F21D5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4D938-4968-4AB3-B0DE-FAB5D05C1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56" y="1700808"/>
            <a:ext cx="5476875" cy="4543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1A03B5-902D-4F87-8A12-AAC8A231D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75" y="5676702"/>
            <a:ext cx="59912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0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E5CC2-60E4-4784-9CEC-9DA2CECF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83E80-0D53-42DB-94D8-FD9F49033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Bootstrap Form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D8368-D9E2-4AD0-9A72-3CB6BC3F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6CF80-20EE-40C9-8C09-665C44C6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4BE00-70DC-453C-8663-FB161E105A5F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7B3A4-C937-4B49-806E-846405121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847850"/>
            <a:ext cx="87630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90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6E74-8BC4-4C38-BACE-D1F1BE96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920E7-6E35-4F63-A5AD-3783A0B24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175C0-071C-44D8-9302-D5AFFCDA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49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FD46F-ECC2-42A9-A907-A873FAC9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5420-BF04-4667-B117-93B7FAEBBCC7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C27F2-D07C-431F-A498-F94A4A842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0008"/>
            <a:ext cx="9144000" cy="61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98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450A-35F0-41D1-BF56-774C342B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DB42B-A6B4-443A-923C-5B079822A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tried to remove form-control class, then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8D080-1870-4FB5-8516-C585102C2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F7C35-1B81-4DFF-B60F-B4D84A7A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3947-52EE-417E-8973-F20C67148455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C3F45-FDD8-4D51-A09F-7741CE00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43" y="4734272"/>
            <a:ext cx="3876675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6D0260-E173-444D-9C5B-307150F070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393"/>
          <a:stretch/>
        </p:blipFill>
        <p:spPr>
          <a:xfrm>
            <a:off x="167935" y="1552592"/>
            <a:ext cx="8277225" cy="320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0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2CF9B-F136-4BA2-B065-5AA8E8B2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8A542-03F9-4345-BCE5-22C86B6D3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Checkboxes</a:t>
            </a:r>
          </a:p>
          <a:p>
            <a:pPr lvl="1" algn="just"/>
            <a:r>
              <a:rPr lang="en-US" dirty="0"/>
              <a:t>Checkboxes are used if you want the user to select any number of options from a list of preset options.</a:t>
            </a:r>
          </a:p>
          <a:p>
            <a:pPr lvl="1" algn="just"/>
            <a:r>
              <a:rPr lang="en-US" dirty="0"/>
              <a:t>The following example contains three checkboxes. The last option is disabled: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5333C-5779-4C55-8BE3-9FCCD5BA0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814CC-9C75-4597-B104-2CA5382C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EF9D2-656A-4FCA-87ED-AD5AD0E18869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662A23-60FC-4C74-BE52-3D5326CD4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23" y="3431912"/>
            <a:ext cx="7626753" cy="25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09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B20C-9C59-4849-B3D6-41BB8AA3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 CSS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A2E4E-4A29-41B7-AAF9-270FFCC00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DC51D-F6CC-41A6-B666-1AD6FF91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037F2-DC85-406A-A4EA-1E681A25B4F8}" type="slidenum">
              <a:rPr lang="en-US" smtClean="0"/>
              <a:t>52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19FAB-1D99-4AB0-A579-ECA7B6C5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C345-2C7A-4FF8-983E-4F065EB0BCEF}" type="datetime1">
              <a:rPr lang="en-US" smtClean="0"/>
              <a:t>3/28/2023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C59B5-FFC3-4074-B2B9-EFC7CE159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" y="797594"/>
            <a:ext cx="9122112" cy="602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54557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D05A326709874CB89C6CAF7155F005" ma:contentTypeVersion="5" ma:contentTypeDescription="Create a new document." ma:contentTypeScope="" ma:versionID="41d270bbca1a395924a118d1b7d94f0f">
  <xsd:schema xmlns:xsd="http://www.w3.org/2001/XMLSchema" xmlns:xs="http://www.w3.org/2001/XMLSchema" xmlns:p="http://schemas.microsoft.com/office/2006/metadata/properties" xmlns:ns2="b8ad83e6-70d0-4aa3-9897-6c88bc6bf84b" targetNamespace="http://schemas.microsoft.com/office/2006/metadata/properties" ma:root="true" ma:fieldsID="deb3c406f7bb1985612183feca9d9baa" ns2:_="">
    <xsd:import namespace="b8ad83e6-70d0-4aa3-9897-6c88bc6bf8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d83e6-70d0-4aa3-9897-6c88bc6bf8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00CCD3-A460-483F-B175-24F3AD17B7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ad83e6-70d0-4aa3-9897-6c88bc6bf8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3E3779-836D-4AC4-BD0C-AD74135A70E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CAE75A6-1D01-4479-A1EF-EBD0D44980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14615</TotalTime>
  <Words>787</Words>
  <Application>Microsoft Office PowerPoint</Application>
  <PresentationFormat>On-screen Show (4:3)</PresentationFormat>
  <Paragraphs>219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Helvetica</vt:lpstr>
      <vt:lpstr>Wingdings</vt:lpstr>
      <vt:lpstr>Conception personnalisée</vt:lpstr>
      <vt:lpstr>1_Custom Design</vt:lpstr>
      <vt:lpstr>Custom Design</vt:lpstr>
      <vt:lpstr>Web Application Development</vt:lpstr>
      <vt:lpstr>Outlines </vt:lpstr>
      <vt:lpstr>What is bootstrap CSS?</vt:lpstr>
      <vt:lpstr>Why we need to use Bootstrap?</vt:lpstr>
      <vt:lpstr>Bootstrap selectors</vt:lpstr>
      <vt:lpstr>Creating shared layout using bootstrap</vt:lpstr>
      <vt:lpstr>Bootstrap table Example</vt:lpstr>
      <vt:lpstr>Example</vt:lpstr>
      <vt:lpstr>Bootstrap Example </vt:lpstr>
      <vt:lpstr>Bootstrap Example</vt:lpstr>
      <vt:lpstr>Bootstrap example</vt:lpstr>
      <vt:lpstr>Bootstrap example</vt:lpstr>
      <vt:lpstr>Bootstrap Grid Example</vt:lpstr>
      <vt:lpstr>Bootstrap Grid Example</vt:lpstr>
      <vt:lpstr>Bootstrap Grid Example</vt:lpstr>
      <vt:lpstr>Bootstrap Grid Example </vt:lpstr>
      <vt:lpstr>Bootstrap Grid</vt:lpstr>
      <vt:lpstr>Bootstrap Grid Example</vt:lpstr>
      <vt:lpstr>Bootstrap Grid Example</vt:lpstr>
      <vt:lpstr>Bootstrap Grid Example</vt:lpstr>
      <vt:lpstr>Bootstrap rows and column </vt:lpstr>
      <vt:lpstr>Example: Bootstrap rows and column </vt:lpstr>
      <vt:lpstr>Example: Bootstrap rows and column </vt:lpstr>
      <vt:lpstr>PowerPoint Presentation</vt:lpstr>
      <vt:lpstr>Adding horizontal menu </vt:lpstr>
      <vt:lpstr>Bootstrap CSS Example</vt:lpstr>
      <vt:lpstr>Bootstrap CSS Example</vt:lpstr>
      <vt:lpstr>PowerPoint Presentation</vt:lpstr>
      <vt:lpstr>Adding Pagination to the page</vt:lpstr>
      <vt:lpstr>Bootstrap CSS Example</vt:lpstr>
      <vt:lpstr>PowerPoint Presentation</vt:lpstr>
      <vt:lpstr>Adding list to the page</vt:lpstr>
      <vt:lpstr>Bootstrap CSS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Bootstrap Example</vt:lpstr>
      <vt:lpstr>Bootstrap CSS Example</vt:lpstr>
      <vt:lpstr>Bootstrap CSS Example</vt:lpstr>
      <vt:lpstr>PowerPoint Presentation</vt:lpstr>
      <vt:lpstr>Bootstrap CSS Example</vt:lpstr>
      <vt:lpstr>Bootstrap CSS Example</vt:lpstr>
      <vt:lpstr>Bootstrap Example: Rounded corner img</vt:lpstr>
      <vt:lpstr>Bootstrap CSS Example</vt:lpstr>
      <vt:lpstr>Bootstrap CSS Example</vt:lpstr>
      <vt:lpstr>Bootstrap CSS Example</vt:lpstr>
      <vt:lpstr>Bootstrap CSS Example</vt:lpstr>
      <vt:lpstr>Bootstrap CSS Example</vt:lpstr>
      <vt:lpstr>Bootstrap CSS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- Simple Banner</dc:title>
  <dc:creator>Showeet.com</dc:creator>
  <dc:description>Free template released by Showeet.com</dc:description>
  <cp:lastModifiedBy>Omaid Ghayyur</cp:lastModifiedBy>
  <cp:revision>660</cp:revision>
  <dcterms:created xsi:type="dcterms:W3CDTF">2011-07-08T11:03:43Z</dcterms:created>
  <dcterms:modified xsi:type="dcterms:W3CDTF">2023-03-28T03:32:30Z</dcterms:modified>
  <cp:category>Templates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0x01010027D05A326709874CB89C6CAF7155F005</vt:lpwstr>
  </property>
</Properties>
</file>