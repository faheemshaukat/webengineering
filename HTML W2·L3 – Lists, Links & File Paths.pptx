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3 covers the lists part of the course card’s Lecture 6 plus hyperlinks and file paths, which the outline does not list explicitly but every later topic depends on (navigation, Bootstrap navbars, PHP form actions and Laravel routes). By the end of today single pages become a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need their web-lab1 folder with index.html and recipe.html from the last two labs; today’s lab reorganises it into a multi-page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03 (paths) is where most students struggle; budget extra time on the folder tree and practice slides. Outcome 04 touches CLO 3 because navigation is the first real user-experience decision students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three quick questions from Lecture 2 (strong vs b, what pre does, how to show a less-than sign). Then show this code from the recipe lab. The point is the same semantic argument as last week: fake structure is invisible to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question for the class: would changing the order of the items change the meaning? If yes, use ol; if no, use ul. Ask for examples of each from their daily life: top-10 rankings and instructions are ordered, shopping lists and features are unordered, glossaries and FAQ answers are description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HTML used a type attribute on ul for bullet shapes; that is obsolete, use CSS. A frequent validator error: putting text or a p directly inside ul without li. Emmet tip: ul&gt;li*4 then Tab creates the skeleton.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ul’s old type attribute, ol’s type, start and reversed are valid HTML5 because the numbering system can be part of the meaning (a legal document numbered I, II, III). reversed is a boolean attribute: its presence alone switches it on. Have students predict the output of the second list before you render it: IV, 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common nested-list error is closing the outer li before opening the inner ul, which makes the inner list a direct child of the outer ul and is invalid. Browsers indent each level and change the bullet shape automatically. Nested lists are exactly how dropdown menus are built in Bootstrap later in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 4 called this a definition list; HTML5 renamed it a description list because it is used for any name–value groups, not only definitions. The terms here revise Week 2 content, which makes a good teaching double. In HTML5 a div may wrap each dt/dd group for styling.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university website or any major site and inspect the menu in DevTools: it will almost always be nav, ul, li and a. This is the moment to show that HTML structure is independent of visual layout. Copy the same nav block onto every page of a static site; in Laravel later, Blade layouts let you write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stands for anchor. Link text matters because screen-reader users often list all links on a page out of context; ten links all saying click here are useless. Search engines also use link text to understand the destination. Note that the university URL here is illustrative; check the real address before demonstrating. Never nest one a inside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explicitly to the Week 2 lecture on URL, URI and URN. Why prefer relative links inside your own site? When you move the whole folder from your laptop to a server, or rename the domain, nothing breaks. Root-relative links fail when you double-click a file in Explorer because the root becomes the C: drive; they work with Live Server or XAMPP. We use query strings again in Lecture 6 with GET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tree on the board and physically trace each path with your finger: start where the current file lives, go up with ../ or down into a folder name, then name the file. Point out that courses/web.html has two images folders available, its own and the root one, and the path decides which one you get. The last row is root-relative and works only with a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blog/2026/eid.html. 2 ../media/banner.jpg. 3 ../../index.html. 4 ../post1.html. 5 ../../media/talk.pdf. Give pairs three minutes, then call on students to explain each answer by tracing it up and down the tree. This style of question appears in Quiz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fragment is the part after the hash in a URL, which they saw in the URL anatomy slide. The browser does not send the fragment to the server; it is handled entirely client-side, a good conceptual link to Week 2. Demo on Wikipedia: click an item in the contents box and watch the URL change. href="#" alone scrolls to the top and is a common placeholder.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connection for a web engineering course: without noopener, the opened page could run window.opener.location = a phishing page and silently replace the original tab. Modern browsers now apply noopener to target _blank by default, but writing it explicitly is still best practice and supports older browsers. noreferrer also hides the Referer header, revisiting HTTP headers from Week 2. Telling users that a link opens a new tab is an accessibility courtesy.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phone number here is a placeholder; substitute the department number. URL encoding (%20 for a space) links back to the Week 2 URL lecture. Spam bots harvest mailto addresses, so many real sites use a contact form instead, which leads to Lecture 6. The download attribute is ignored for files on other domains for security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put their mouse away and navigate the university homepage with Tab and Enter for one minute. Ask what was hard. Never build a fake link from a span or div with a click handler; it cannot be focused or announced as a link. The link states listed here are CSS pseudo-classes; the order is often remembered as LoVe HAte.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Ten-minute timer. Check that students opened the folder rather than a single file, otherwise relative paths and Live Server will confuse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this: create the recipes folder, move recipe.html into it as biryani.html, paste the menu from index.html and click Home. It breaks with a 404 (Live Server) or file not found. Fix it with ../ and show the result. Then mention the two professional solutions: root-relative paths on a server, or templates that generate menus (PHP include in Week 10, Laravel Blade in Week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and click students’ links yourself; broken paths are the main issue. Zipping the folder matters because relative links only work when the folder structure is preserved. Marking guide: structure and nav 3, lists 3, fragments 1, special links 1, all links working and valid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account for almost every broken link in student submissions. The third one surprises everyone: without https:// the browser looks for a file called www.google.com in the current folder. Point out that Windows hides case differences, so a site that works on a laptop can break on a Linux host, which most servers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 ol, (b) dl, (c) ul. 2 li. 3 ../../images/logo.png. 4 a href="contact.html#faq". 5 It prevents the new page from accessing window.opener and redirecting the original tab (tabnabbing).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self-rating against the outcomes. If paths are rated low, start Lecture 4 with two more path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bring their class timetable (photo or printout); Lecture 4’s lab rebuilds it as an HTML table with merged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9E64"/>
                </a:solidFill>
                <a:latin typeface="IBM Plex Sans" pitchFamily="34" charset="0"/>
                <a:ea typeface="IBM Plex Sans" pitchFamily="34" charset="-122"/>
                <a:cs typeface="IBM Plex Sans" pitchFamily="34" charset="-120"/>
              </a:rPr>
              <a:t>CSC-312 WEB ENGINEERING · HTML MODULE</a:t>
            </a:r>
            <a:endParaRPr lang="en-US" sz="1400" dirty="0"/>
          </a:p>
        </p:txBody>
      </p:sp>
      <p:sp>
        <p:nvSpPr>
          <p:cNvPr id="3" name="Text 1"/>
          <p:cNvSpPr/>
          <p:nvPr/>
        </p:nvSpPr>
        <p:spPr>
          <a:xfrm>
            <a:off x="812800" y="12140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C3"/>
                </a:solidFill>
                <a:latin typeface="IBM Plex Mono" pitchFamily="49" charset="0"/>
                <a:ea typeface="IBM Plex Mono" pitchFamily="49" charset="-122"/>
                <a:cs typeface="IBM Plex Mono" pitchFamily="49" charset="-120"/>
              </a:rPr>
              <a:t>Week 2 · Lecture 3 of 6</a:t>
            </a:r>
            <a:endParaRPr lang="en-US" sz="1600" dirty="0"/>
          </a:p>
        </p:txBody>
      </p:sp>
      <p:sp>
        <p:nvSpPr>
          <p:cNvPr id="4" name="Text 2"/>
          <p:cNvSpPr/>
          <p:nvPr>
            <p:ph type="title"/>
          </p:nvPr>
        </p:nvSpPr>
        <p:spPr>
          <a:xfrm>
            <a:off x="812800" y="25857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IBM Plex Sans" pitchFamily="34" charset="0"/>
                <a:ea typeface="IBM Plex Sans" pitchFamily="34" charset="-122"/>
                <a:cs typeface="IBM Plex Sans" pitchFamily="34" charset="-120"/>
              </a:rPr>
              <a:t>Lists, Links &amp;</a:t>
            </a:r>
            <a:endParaRPr lang="en-US" sz="6000" dirty="0"/>
          </a:p>
          <a:p>
            <a:pPr algn="l" indent="0" marL="0">
              <a:lnSpc>
                <a:spcPts val="6300"/>
              </a:lnSpc>
              <a:buNone/>
            </a:pPr>
            <a:r>
              <a:rPr lang="en-US" sz="6000" b="1" i="0" dirty="0">
                <a:solidFill>
                  <a:srgbClr val="F7F5F0"/>
                </a:solidFill>
                <a:latin typeface="IBM Plex Sans" pitchFamily="34" charset="0"/>
                <a:ea typeface="IBM Plex Sans" pitchFamily="34" charset="-122"/>
                <a:cs typeface="IBM Plex Sans" pitchFamily="34" charset="-120"/>
              </a:rPr>
              <a:t>File Paths</a:t>
            </a:r>
            <a:endParaRPr lang="en-US" sz="6000" dirty="0"/>
          </a:p>
        </p:txBody>
      </p:sp>
      <p:sp>
        <p:nvSpPr>
          <p:cNvPr id="5" name="Text 3"/>
          <p:cNvSpPr/>
          <p:nvPr/>
        </p:nvSpPr>
        <p:spPr>
          <a:xfrm>
            <a:off x="812800" y="438914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0"/>
                </a:solidFill>
                <a:latin typeface="IBM Plex Sans" pitchFamily="34" charset="0"/>
                <a:ea typeface="IBM Plex Sans" pitchFamily="34" charset="-122"/>
                <a:cs typeface="IBM Plex Sans" pitchFamily="34" charset="-120"/>
              </a:rPr>
              <a:t>Organising content and connecting pages into a website</a:t>
            </a:r>
            <a:endParaRPr lang="en-US" sz="1800" dirty="0"/>
          </a:p>
        </p:txBody>
      </p:sp>
      <p:sp>
        <p:nvSpPr>
          <p:cNvPr id="6" name="Text 4"/>
          <p:cNvSpPr/>
          <p:nvPr/>
        </p:nvSpPr>
        <p:spPr>
          <a:xfrm>
            <a:off x="812800" y="5796359"/>
            <a:ext cx="501360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0"/>
                </a:solidFill>
                <a:latin typeface="IBM Plex Sans" pitchFamily="34" charset="0"/>
                <a:ea typeface="IBM Plex Sans" pitchFamily="34" charset="-122"/>
                <a:cs typeface="IBM Plex Sans" pitchFamily="34" charset="-120"/>
              </a:rPr>
              <a:t>Dr. Faheem Shaukat · BSCS 6th Semester · Fall 2026</a:t>
            </a:r>
            <a:endParaRPr lang="en-US" sz="1400" dirty="0"/>
          </a:p>
        </p:txBody>
      </p:sp>
      <p:sp>
        <p:nvSpPr>
          <p:cNvPr id="7" name="Text 5"/>
          <p:cNvSpPr/>
          <p:nvPr/>
        </p:nvSpPr>
        <p:spPr>
          <a:xfrm>
            <a:off x="8562777" y="5796359"/>
            <a:ext cx="2816423"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FF9E64"/>
                </a:solidFill>
                <a:latin typeface="IBM Plex Mono" pitchFamily="49" charset="0"/>
                <a:ea typeface="IBM Plex Mono" pitchFamily="49" charset="-122"/>
                <a:cs typeface="IBM Plex Mono" pitchFamily="49" charset="-120"/>
              </a:rPr>
              <a:t>&lt;ul&gt; &lt;ol&gt; &lt;a href&gt;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TODAY’S 2-HOUR PLAN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Agenda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476500"/>
        </p:xfrm>
        <a:graphic>
          <a:graphicData uri="http://schemas.openxmlformats.org/drawingml/2006/table">
            <a:tbl>
              <a:tblPr/>
              <a:tblGrid>
                <a:gridCol w="1899666"/>
                <a:gridCol w="3166110"/>
                <a:gridCol w="5487924"/>
              </a:tblGrid>
              <a:tr h="412750">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Time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Segment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What we do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0:00 – 0:10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Recap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Lecture 2 questions; the problem with br lists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0:10 – 0:55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Part A · Theory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ul, ol, dl, nested lists, menus, anchors, paths, fragments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0:55 – 1:05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Break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B9AE"/>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10 minutes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B9AE"/>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1:05 – 1:45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Part B · Hands-on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Build a linked multi-page mini-site (Lab 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1:45 – 2:00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Wrap-up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Path mistakes, quick check, homework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LEARNING OUTCOMES · CLO 2, CLO 3</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By the end of today you can…</a:t>
            </a:r>
            <a:endParaRPr lang="en-US" sz="3200" dirty="0"/>
          </a:p>
        </p:txBody>
      </p:sp>
      <p:sp>
        <p:nvSpPr>
          <p:cNvPr id="4" name="Shape 2"/>
          <p:cNvSpPr/>
          <p:nvPr/>
        </p:nvSpPr>
        <p:spPr>
          <a:xfrm>
            <a:off x="815975" y="1984276"/>
            <a:ext cx="5200650" cy="1333500"/>
          </a:xfrm>
          <a:prstGeom prst="roundRect">
            <a:avLst>
              <a:gd name="adj" fmla="val 7381"/>
            </a:avLst>
          </a:prstGeom>
          <a:solidFill>
            <a:srgbClr val="FFFDF9"/>
          </a:solidFill>
          <a:ln w="6350">
            <a:solidFill>
              <a:srgbClr val="E4E0D8"/>
            </a:solidFill>
            <a:prstDash val="solid"/>
          </a:ln>
        </p:spPr>
      </p:sp>
      <p:sp>
        <p:nvSpPr>
          <p:cNvPr id="5" name="Text 3"/>
          <p:cNvSpPr/>
          <p:nvPr/>
        </p:nvSpPr>
        <p:spPr>
          <a:xfrm>
            <a:off x="1022350" y="219065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01</a:t>
            </a:r>
            <a:endParaRPr lang="en-US" sz="2000" dirty="0"/>
          </a:p>
        </p:txBody>
      </p:sp>
      <p:sp>
        <p:nvSpPr>
          <p:cNvPr id="6" name="Text 4"/>
          <p:cNvSpPr/>
          <p:nvPr/>
        </p:nvSpPr>
        <p:spPr>
          <a:xfrm>
            <a:off x="1022350" y="259705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Choose and build unordered, ordered, nested and description lists</a:t>
            </a:r>
            <a:endParaRPr lang="en-US" sz="1500" dirty="0"/>
          </a:p>
        </p:txBody>
      </p:sp>
      <p:sp>
        <p:nvSpPr>
          <p:cNvPr id="7" name="Shape 5"/>
          <p:cNvSpPr/>
          <p:nvPr/>
        </p:nvSpPr>
        <p:spPr>
          <a:xfrm>
            <a:off x="6175375" y="1984276"/>
            <a:ext cx="5200650" cy="1333500"/>
          </a:xfrm>
          <a:prstGeom prst="roundRect">
            <a:avLst>
              <a:gd name="adj" fmla="val 7381"/>
            </a:avLst>
          </a:prstGeom>
          <a:solidFill>
            <a:srgbClr val="FFFDF9"/>
          </a:solidFill>
          <a:ln w="6350">
            <a:solidFill>
              <a:srgbClr val="E4E0D8"/>
            </a:solidFill>
            <a:prstDash val="solid"/>
          </a:ln>
        </p:spPr>
      </p:sp>
      <p:sp>
        <p:nvSpPr>
          <p:cNvPr id="8" name="Text 6"/>
          <p:cNvSpPr/>
          <p:nvPr/>
        </p:nvSpPr>
        <p:spPr>
          <a:xfrm>
            <a:off x="6381750" y="219065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02</a:t>
            </a:r>
            <a:endParaRPr lang="en-US" sz="2000" dirty="0"/>
          </a:p>
        </p:txBody>
      </p:sp>
      <p:sp>
        <p:nvSpPr>
          <p:cNvPr id="9" name="Text 7"/>
          <p:cNvSpPr/>
          <p:nvPr/>
        </p:nvSpPr>
        <p:spPr>
          <a:xfrm>
            <a:off x="6381750" y="259705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Create links to other sites, other pages, page sections, email and phone</a:t>
            </a:r>
            <a:endParaRPr lang="en-US" sz="1500" dirty="0"/>
          </a:p>
        </p:txBody>
      </p:sp>
      <p:sp>
        <p:nvSpPr>
          <p:cNvPr id="10" name="Shape 8"/>
          <p:cNvSpPr/>
          <p:nvPr/>
        </p:nvSpPr>
        <p:spPr>
          <a:xfrm>
            <a:off x="815975" y="3476526"/>
            <a:ext cx="5200650" cy="1333500"/>
          </a:xfrm>
          <a:prstGeom prst="roundRect">
            <a:avLst>
              <a:gd name="adj" fmla="val 7381"/>
            </a:avLst>
          </a:prstGeom>
          <a:solidFill>
            <a:srgbClr val="FFFDF9"/>
          </a:solidFill>
          <a:ln w="6350">
            <a:solidFill>
              <a:srgbClr val="E4E0D8"/>
            </a:solidFill>
            <a:prstDash val="solid"/>
          </a:ln>
        </p:spPr>
      </p:sp>
      <p:sp>
        <p:nvSpPr>
          <p:cNvPr id="11" name="Text 9"/>
          <p:cNvSpPr/>
          <p:nvPr/>
        </p:nvSpPr>
        <p:spPr>
          <a:xfrm>
            <a:off x="1022350" y="368290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03</a:t>
            </a:r>
            <a:endParaRPr lang="en-US" sz="2000" dirty="0"/>
          </a:p>
        </p:txBody>
      </p:sp>
      <p:sp>
        <p:nvSpPr>
          <p:cNvPr id="12" name="Text 10"/>
          <p:cNvSpPr/>
          <p:nvPr/>
        </p:nvSpPr>
        <p:spPr>
          <a:xfrm>
            <a:off x="1022350" y="408930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Write correct absolute, relative and root-relative paths in any folder structure</a:t>
            </a:r>
            <a:endParaRPr lang="en-US" sz="1500" dirty="0"/>
          </a:p>
        </p:txBody>
      </p:sp>
      <p:sp>
        <p:nvSpPr>
          <p:cNvPr id="13" name="Shape 11"/>
          <p:cNvSpPr/>
          <p:nvPr/>
        </p:nvSpPr>
        <p:spPr>
          <a:xfrm>
            <a:off x="6175375" y="3476526"/>
            <a:ext cx="5200650" cy="1333500"/>
          </a:xfrm>
          <a:prstGeom prst="roundRect">
            <a:avLst>
              <a:gd name="adj" fmla="val 7381"/>
            </a:avLst>
          </a:prstGeom>
          <a:solidFill>
            <a:srgbClr val="FFFDF9"/>
          </a:solidFill>
          <a:ln w="6350">
            <a:solidFill>
              <a:srgbClr val="E4E0D8"/>
            </a:solidFill>
            <a:prstDash val="solid"/>
          </a:ln>
        </p:spPr>
      </p:sp>
      <p:sp>
        <p:nvSpPr>
          <p:cNvPr id="14" name="Text 12"/>
          <p:cNvSpPr/>
          <p:nvPr/>
        </p:nvSpPr>
        <p:spPr>
          <a:xfrm>
            <a:off x="6381750" y="368290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04</a:t>
            </a:r>
            <a:endParaRPr lang="en-US" sz="2000" dirty="0"/>
          </a:p>
        </p:txBody>
      </p:sp>
      <p:sp>
        <p:nvSpPr>
          <p:cNvPr id="15" name="Text 13"/>
          <p:cNvSpPr/>
          <p:nvPr/>
        </p:nvSpPr>
        <p:spPr>
          <a:xfrm>
            <a:off x="6381750" y="4089301"/>
            <a:ext cx="493153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Build accessible navigation for a multi-page site</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RECAP · 10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Your recipe page has a hidden problem</a:t>
            </a:r>
            <a:endParaRPr lang="en-US" sz="3200" dirty="0"/>
          </a:p>
        </p:txBody>
      </p:sp>
      <p:sp>
        <p:nvSpPr>
          <p:cNvPr id="4" name="Text 2"/>
          <p:cNvSpPr/>
          <p:nvPr/>
        </p:nvSpPr>
        <p:spPr>
          <a:xfrm>
            <a:off x="812800" y="1981101"/>
            <a:ext cx="5461000" cy="2197596"/>
          </a:xfrm>
          <a:prstGeom prst="roundRect">
            <a:avLst>
              <a:gd name="adj" fmla="val 4623"/>
            </a:avLst>
          </a:prstGeom>
          <a:solidFill>
            <a:srgbClr val="1B2430"/>
          </a:solidFill>
          <a:ln/>
        </p:spPr>
        <p:txBody>
          <a:bodyPr wrap="square" lIns="224242" tIns="173442" rIns="75652"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&lt;h2&gt;</a:t>
            </a:r>
            <a:r>
              <a:rPr lang="en-US" sz="1300" dirty="0">
                <a:solidFill>
                  <a:srgbClr val="E6EDF3"/>
                </a:solidFill>
                <a:latin typeface="IBM Plex Mono" pitchFamily="49" charset="0"/>
                <a:ea typeface="IBM Plex Mono" pitchFamily="49" charset="-122"/>
                <a:cs typeface="IBM Plex Mono" pitchFamily="49" charset="-120"/>
              </a:rPr>
              <a:t>Ingredients</a:t>
            </a:r>
            <a:r>
              <a:rPr lang="en-US" sz="1300" dirty="0">
                <a:solidFill>
                  <a:srgbClr val="FF9E64"/>
                </a:solidFill>
                <a:latin typeface="IBM Plex Mono" pitchFamily="49" charset="0"/>
                <a:ea typeface="IBM Plex Mono" pitchFamily="49" charset="-122"/>
                <a:cs typeface="IBM Plex Mono" pitchFamily="49" charset="-120"/>
              </a:rPr>
              <a:t>&lt;/h2&gt;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&lt;p&gt;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- 1 kg basmati rice</a:t>
            </a:r>
            <a:r>
              <a:rPr lang="en-US" sz="1300" dirty="0">
                <a:solidFill>
                  <a:srgbClr val="FF9E64"/>
                </a:solidFill>
                <a:latin typeface="IBM Plex Mono" pitchFamily="49" charset="0"/>
                <a:ea typeface="IBM Plex Mono" pitchFamily="49" charset="-122"/>
                <a:cs typeface="IBM Plex Mono" pitchFamily="49" charset="-120"/>
              </a:rPr>
              <a:t>&lt;br&gt;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- 1 kg chicken</a:t>
            </a:r>
            <a:r>
              <a:rPr lang="en-US" sz="1300" dirty="0">
                <a:solidFill>
                  <a:srgbClr val="FF9E64"/>
                </a:solidFill>
                <a:latin typeface="IBM Plex Mono" pitchFamily="49" charset="0"/>
                <a:ea typeface="IBM Plex Mono" pitchFamily="49" charset="-122"/>
                <a:cs typeface="IBM Plex Mono" pitchFamily="49" charset="-120"/>
              </a:rPr>
              <a:t>&lt;br&gt;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- 2 tsp red chilli</a:t>
            </a:r>
            <a:r>
              <a:rPr lang="en-US" sz="1300" dirty="0">
                <a:solidFill>
                  <a:srgbClr val="FF9E64"/>
                </a:solidFill>
                <a:latin typeface="IBM Plex Mono" pitchFamily="49" charset="0"/>
                <a:ea typeface="IBM Plex Mono" pitchFamily="49" charset="-122"/>
                <a:cs typeface="IBM Plex Mono" pitchFamily="49" charset="-120"/>
              </a:rPr>
              <a:t>&lt;br&gt;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- 500 g yoghurt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&lt;/p&gt;</a:t>
            </a:r>
            <a:endParaRPr lang="en-US" sz="1300" dirty="0"/>
          </a:p>
        </p:txBody>
      </p:sp>
      <p:sp>
        <p:nvSpPr>
          <p:cNvPr id="5" name="Text 3"/>
          <p:cNvSpPr/>
          <p:nvPr/>
        </p:nvSpPr>
        <p:spPr>
          <a:xfrm>
            <a:off x="6578600" y="1981101"/>
            <a:ext cx="56134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It </a:t>
            </a:r>
            <a:r>
              <a:rPr lang="en-US" sz="1500" i="1" dirty="0">
                <a:solidFill>
                  <a:srgbClr val="1F2A37"/>
                </a:solidFill>
                <a:latin typeface="IBM Plex Sans" pitchFamily="34" charset="0"/>
                <a:ea typeface="IBM Plex Sans" pitchFamily="34" charset="-122"/>
                <a:cs typeface="IBM Plex Sans" pitchFamily="34" charset="-120"/>
              </a:rPr>
              <a:t>looks</a:t>
            </a:r>
            <a:r>
              <a:rPr lang="en-US" sz="1500" dirty="0">
                <a:solidFill>
                  <a:srgbClr val="1F2A37"/>
                </a:solidFill>
                <a:latin typeface="IBM Plex Sans" pitchFamily="34" charset="0"/>
                <a:ea typeface="IBM Plex Sans" pitchFamily="34" charset="-122"/>
                <a:cs typeface="IBM Plex Sans" pitchFamily="34" charset="-120"/>
              </a:rPr>
              <a:t> like a list, but to the browser it is one paragraph.</a:t>
            </a:r>
            <a:endParaRPr lang="en-US" sz="1500" dirty="0"/>
          </a:p>
        </p:txBody>
      </p:sp>
      <p:sp>
        <p:nvSpPr>
          <p:cNvPr id="6" name="Text 4"/>
          <p:cNvSpPr/>
          <p:nvPr/>
        </p:nvSpPr>
        <p:spPr>
          <a:xfrm>
            <a:off x="6578600" y="2374801"/>
            <a:ext cx="49446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A screen reader can’t say “list, 4 items”. CSS can’t style each item. JavaScript can’t count them.</a:t>
            </a:r>
            <a:endParaRPr lang="en-US" sz="1500" dirty="0"/>
          </a:p>
        </p:txBody>
      </p:sp>
      <p:sp>
        <p:nvSpPr>
          <p:cNvPr id="7" name="Text 5"/>
          <p:cNvSpPr/>
          <p:nvPr/>
        </p:nvSpPr>
        <p:spPr>
          <a:xfrm>
            <a:off x="6578600" y="3035201"/>
            <a:ext cx="494461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D4ED8"/>
                </a:solidFill>
                <a:latin typeface="IBM Plex Sans" pitchFamily="34" charset="0"/>
                <a:ea typeface="IBM Plex Sans" pitchFamily="34" charset="-122"/>
                <a:cs typeface="IBM Plex Sans" pitchFamily="34" charset="-120"/>
              </a:rPr>
              <a:t>Today: real lists — and links that connect your pages.</a:t>
            </a:r>
            <a:endParaRPr lang="en-US" sz="15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LISTS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Three kinds of list, three kinds of meaning</a:t>
            </a:r>
            <a:endParaRPr lang="en-US" sz="3200" dirty="0"/>
          </a:p>
        </p:txBody>
      </p:sp>
      <p:sp>
        <p:nvSpPr>
          <p:cNvPr id="4" name="Shape 2"/>
          <p:cNvSpPr/>
          <p:nvPr/>
        </p:nvSpPr>
        <p:spPr>
          <a:xfrm>
            <a:off x="815975" y="1984276"/>
            <a:ext cx="3414117" cy="2695972"/>
          </a:xfrm>
          <a:prstGeom prst="roundRect">
            <a:avLst>
              <a:gd name="adj" fmla="val 3651"/>
            </a:avLst>
          </a:prstGeom>
          <a:solidFill>
            <a:srgbClr val="FFFDF9"/>
          </a:solidFill>
          <a:ln w="6350">
            <a:solidFill>
              <a:srgbClr val="E4E0D8"/>
            </a:solidFill>
            <a:prstDash val="solid"/>
          </a:ln>
        </p:spPr>
      </p:sp>
      <p:sp>
        <p:nvSpPr>
          <p:cNvPr id="5" name="Text 3"/>
          <p:cNvSpPr/>
          <p:nvPr/>
        </p:nvSpPr>
        <p:spPr>
          <a:xfrm>
            <a:off x="1047750" y="2216051"/>
            <a:ext cx="303908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IBM Plex Mono" pitchFamily="49" charset="0"/>
                <a:ea typeface="IBM Plex Mono" pitchFamily="49" charset="-122"/>
                <a:cs typeface="IBM Plex Mono" pitchFamily="49" charset="-120"/>
              </a:rPr>
              <a:t>&lt;ul&gt;</a:t>
            </a:r>
            <a:endParaRPr lang="en-US" sz="1600" dirty="0"/>
          </a:p>
        </p:txBody>
      </p:sp>
      <p:sp>
        <p:nvSpPr>
          <p:cNvPr id="6" name="Text 4"/>
          <p:cNvSpPr/>
          <p:nvPr/>
        </p:nvSpPr>
        <p:spPr>
          <a:xfrm>
            <a:off x="1047750" y="2602111"/>
            <a:ext cx="30390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IBM Plex Sans" pitchFamily="34" charset="0"/>
                <a:ea typeface="IBM Plex Sans" pitchFamily="34" charset="-122"/>
                <a:cs typeface="IBM Plex Sans" pitchFamily="34" charset="-120"/>
              </a:rPr>
              <a:t>Unordered</a:t>
            </a:r>
            <a:endParaRPr lang="en-US" sz="1800" dirty="0"/>
          </a:p>
        </p:txBody>
      </p:sp>
      <p:sp>
        <p:nvSpPr>
          <p:cNvPr id="7" name="Text 5"/>
          <p:cNvSpPr/>
          <p:nvPr/>
        </p:nvSpPr>
        <p:spPr>
          <a:xfrm>
            <a:off x="1047750" y="2977952"/>
            <a:ext cx="30390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Order doesn’t matter</a:t>
            </a:r>
            <a:endParaRPr lang="en-US" sz="1300" dirty="0"/>
          </a:p>
        </p:txBody>
      </p:sp>
      <p:sp>
        <p:nvSpPr>
          <p:cNvPr id="8" name="Text 6"/>
          <p:cNvSpPr/>
          <p:nvPr/>
        </p:nvSpPr>
        <p:spPr>
          <a:xfrm>
            <a:off x="1047750" y="3310632"/>
            <a:ext cx="3039084"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F2A37"/>
                </a:solidFill>
                <a:latin typeface="IBM Plex Sans" pitchFamily="34" charset="0"/>
                <a:ea typeface="IBM Plex Sans" pitchFamily="34" charset="-122"/>
                <a:cs typeface="IBM Plex Sans" pitchFamily="34" charset="-120"/>
              </a:rPr>
              <a:t>• Milk</a:t>
            </a:r>
            <a:endParaRPr lang="en-US" sz="1400" dirty="0"/>
          </a:p>
          <a:p>
            <a:pPr algn="l" indent="0" marL="0">
              <a:lnSpc>
                <a:spcPts val="2240"/>
              </a:lnSpc>
              <a:buNone/>
            </a:pPr>
            <a:r>
              <a:rPr lang="en-US" sz="1400" dirty="0">
                <a:solidFill>
                  <a:srgbClr val="1F2A37"/>
                </a:solidFill>
                <a:latin typeface="IBM Plex Sans" pitchFamily="34" charset="0"/>
                <a:ea typeface="IBM Plex Sans" pitchFamily="34" charset="-122"/>
                <a:cs typeface="IBM Plex Sans" pitchFamily="34" charset="-120"/>
              </a:rPr>
              <a:t>• Bread</a:t>
            </a:r>
            <a:endParaRPr lang="en-US" sz="1400" dirty="0"/>
          </a:p>
          <a:p>
            <a:pPr algn="l" indent="0" marL="0">
              <a:lnSpc>
                <a:spcPts val="2240"/>
              </a:lnSpc>
              <a:buNone/>
            </a:pPr>
            <a:r>
              <a:rPr lang="en-US" sz="1400" dirty="0">
                <a:solidFill>
                  <a:srgbClr val="1F2A37"/>
                </a:solidFill>
                <a:latin typeface="IBM Plex Sans" pitchFamily="34" charset="0"/>
                <a:ea typeface="IBM Plex Sans" pitchFamily="34" charset="-122"/>
                <a:cs typeface="IBM Plex Sans" pitchFamily="34" charset="-120"/>
              </a:rPr>
              <a:t>• Eggs</a:t>
            </a:r>
            <a:endParaRPr lang="en-US" sz="1400" dirty="0"/>
          </a:p>
        </p:txBody>
      </p:sp>
      <p:sp>
        <p:nvSpPr>
          <p:cNvPr id="9" name="Shape 7"/>
          <p:cNvSpPr/>
          <p:nvPr/>
        </p:nvSpPr>
        <p:spPr>
          <a:xfrm>
            <a:off x="4388842" y="1984276"/>
            <a:ext cx="3414216" cy="2695972"/>
          </a:xfrm>
          <a:prstGeom prst="roundRect">
            <a:avLst>
              <a:gd name="adj" fmla="val 3651"/>
            </a:avLst>
          </a:prstGeom>
          <a:solidFill>
            <a:srgbClr val="FFFDF9"/>
          </a:solidFill>
          <a:ln w="6350">
            <a:solidFill>
              <a:srgbClr val="E4E0D8"/>
            </a:solidFill>
            <a:prstDash val="solid"/>
          </a:ln>
        </p:spPr>
      </p:sp>
      <p:sp>
        <p:nvSpPr>
          <p:cNvPr id="10" name="Text 8"/>
          <p:cNvSpPr/>
          <p:nvPr/>
        </p:nvSpPr>
        <p:spPr>
          <a:xfrm>
            <a:off x="4620617" y="2216051"/>
            <a:ext cx="303918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IBM Plex Mono" pitchFamily="49" charset="0"/>
                <a:ea typeface="IBM Plex Mono" pitchFamily="49" charset="-122"/>
                <a:cs typeface="IBM Plex Mono" pitchFamily="49" charset="-120"/>
              </a:rPr>
              <a:t>&lt;ol&gt;</a:t>
            </a:r>
            <a:endParaRPr lang="en-US" sz="1600" dirty="0"/>
          </a:p>
        </p:txBody>
      </p:sp>
      <p:sp>
        <p:nvSpPr>
          <p:cNvPr id="11" name="Text 9"/>
          <p:cNvSpPr/>
          <p:nvPr/>
        </p:nvSpPr>
        <p:spPr>
          <a:xfrm>
            <a:off x="4620617" y="2602111"/>
            <a:ext cx="30391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IBM Plex Sans" pitchFamily="34" charset="0"/>
                <a:ea typeface="IBM Plex Sans" pitchFamily="34" charset="-122"/>
                <a:cs typeface="IBM Plex Sans" pitchFamily="34" charset="-120"/>
              </a:rPr>
              <a:t>Ordered</a:t>
            </a:r>
            <a:endParaRPr lang="en-US" sz="1800" dirty="0"/>
          </a:p>
        </p:txBody>
      </p:sp>
      <p:sp>
        <p:nvSpPr>
          <p:cNvPr id="12" name="Text 10"/>
          <p:cNvSpPr/>
          <p:nvPr/>
        </p:nvSpPr>
        <p:spPr>
          <a:xfrm>
            <a:off x="4620617" y="2977952"/>
            <a:ext cx="303918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Sequence or rank matters</a:t>
            </a:r>
            <a:endParaRPr lang="en-US" sz="1300" dirty="0"/>
          </a:p>
        </p:txBody>
      </p:sp>
      <p:sp>
        <p:nvSpPr>
          <p:cNvPr id="13" name="Text 11"/>
          <p:cNvSpPr/>
          <p:nvPr/>
        </p:nvSpPr>
        <p:spPr>
          <a:xfrm>
            <a:off x="4620617" y="3310632"/>
            <a:ext cx="3039186"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F2A37"/>
                </a:solidFill>
                <a:latin typeface="IBM Plex Sans" pitchFamily="34" charset="0"/>
                <a:ea typeface="IBM Plex Sans" pitchFamily="34" charset="-122"/>
                <a:cs typeface="IBM Plex Sans" pitchFamily="34" charset="-120"/>
              </a:rPr>
              <a:t>1. Boil water</a:t>
            </a:r>
            <a:endParaRPr lang="en-US" sz="1400" dirty="0"/>
          </a:p>
          <a:p>
            <a:pPr algn="l" indent="0" marL="0">
              <a:lnSpc>
                <a:spcPts val="2240"/>
              </a:lnSpc>
              <a:buNone/>
            </a:pPr>
            <a:r>
              <a:rPr lang="en-US" sz="1400" dirty="0">
                <a:solidFill>
                  <a:srgbClr val="1F2A37"/>
                </a:solidFill>
                <a:latin typeface="IBM Plex Sans" pitchFamily="34" charset="0"/>
                <a:ea typeface="IBM Plex Sans" pitchFamily="34" charset="-122"/>
                <a:cs typeface="IBM Plex Sans" pitchFamily="34" charset="-120"/>
              </a:rPr>
              <a:t>2. Add rice</a:t>
            </a:r>
            <a:endParaRPr lang="en-US" sz="1400" dirty="0"/>
          </a:p>
          <a:p>
            <a:pPr algn="l" indent="0" marL="0">
              <a:lnSpc>
                <a:spcPts val="2240"/>
              </a:lnSpc>
              <a:buNone/>
            </a:pPr>
            <a:r>
              <a:rPr lang="en-US" sz="1400" dirty="0">
                <a:solidFill>
                  <a:srgbClr val="1F2A37"/>
                </a:solidFill>
                <a:latin typeface="IBM Plex Sans" pitchFamily="34" charset="0"/>
                <a:ea typeface="IBM Plex Sans" pitchFamily="34" charset="-122"/>
                <a:cs typeface="IBM Plex Sans" pitchFamily="34" charset="-120"/>
              </a:rPr>
              <a:t>3. Simmer</a:t>
            </a:r>
            <a:endParaRPr lang="en-US" sz="1400" dirty="0"/>
          </a:p>
        </p:txBody>
      </p:sp>
      <p:sp>
        <p:nvSpPr>
          <p:cNvPr id="14" name="Shape 12"/>
          <p:cNvSpPr/>
          <p:nvPr/>
        </p:nvSpPr>
        <p:spPr>
          <a:xfrm>
            <a:off x="7961809" y="1984276"/>
            <a:ext cx="3414216" cy="2695972"/>
          </a:xfrm>
          <a:prstGeom prst="roundRect">
            <a:avLst>
              <a:gd name="adj" fmla="val 3651"/>
            </a:avLst>
          </a:prstGeom>
          <a:solidFill>
            <a:srgbClr val="FFFDF9"/>
          </a:solidFill>
          <a:ln w="6350">
            <a:solidFill>
              <a:srgbClr val="E4E0D8"/>
            </a:solidFill>
            <a:prstDash val="solid"/>
          </a:ln>
        </p:spPr>
      </p:sp>
      <p:sp>
        <p:nvSpPr>
          <p:cNvPr id="15" name="Text 13"/>
          <p:cNvSpPr/>
          <p:nvPr/>
        </p:nvSpPr>
        <p:spPr>
          <a:xfrm>
            <a:off x="8193584" y="2216051"/>
            <a:ext cx="303918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2410C"/>
                </a:solidFill>
                <a:latin typeface="IBM Plex Mono" pitchFamily="49" charset="0"/>
                <a:ea typeface="IBM Plex Mono" pitchFamily="49" charset="-122"/>
                <a:cs typeface="IBM Plex Mono" pitchFamily="49" charset="-120"/>
              </a:rPr>
              <a:t>&lt;dl&gt;</a:t>
            </a:r>
            <a:endParaRPr lang="en-US" sz="1600" dirty="0"/>
          </a:p>
        </p:txBody>
      </p:sp>
      <p:sp>
        <p:nvSpPr>
          <p:cNvPr id="16" name="Text 14"/>
          <p:cNvSpPr/>
          <p:nvPr/>
        </p:nvSpPr>
        <p:spPr>
          <a:xfrm>
            <a:off x="8193584" y="2602111"/>
            <a:ext cx="303918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IBM Plex Sans" pitchFamily="34" charset="0"/>
                <a:ea typeface="IBM Plex Sans" pitchFamily="34" charset="-122"/>
                <a:cs typeface="IBM Plex Sans" pitchFamily="34" charset="-120"/>
              </a:rPr>
              <a:t>Description</a:t>
            </a:r>
            <a:endParaRPr lang="en-US" sz="1800" dirty="0"/>
          </a:p>
        </p:txBody>
      </p:sp>
      <p:sp>
        <p:nvSpPr>
          <p:cNvPr id="17" name="Text 15"/>
          <p:cNvSpPr/>
          <p:nvPr/>
        </p:nvSpPr>
        <p:spPr>
          <a:xfrm>
            <a:off x="8193584" y="2977952"/>
            <a:ext cx="303918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Term → description pairs</a:t>
            </a:r>
            <a:endParaRPr lang="en-US" sz="1300" dirty="0"/>
          </a:p>
        </p:txBody>
      </p:sp>
      <p:sp>
        <p:nvSpPr>
          <p:cNvPr id="18" name="Text 16"/>
          <p:cNvSpPr/>
          <p:nvPr/>
        </p:nvSpPr>
        <p:spPr>
          <a:xfrm>
            <a:off x="8193584" y="3310632"/>
            <a:ext cx="3039186" cy="1163241"/>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1F2A37"/>
                </a:solidFill>
                <a:latin typeface="IBM Plex Sans" pitchFamily="34" charset="0"/>
                <a:ea typeface="IBM Plex Sans" pitchFamily="34" charset="-122"/>
                <a:cs typeface="IBM Plex Sans" pitchFamily="34" charset="-120"/>
              </a:rPr>
              <a:t>HTTP</a:t>
            </a:r>
            <a:endParaRPr lang="en-US" sz="1400" dirty="0"/>
          </a:p>
          <a:p>
            <a:pPr algn="l" indent="0" marL="0">
              <a:lnSpc>
                <a:spcPts val="2240"/>
              </a:lnSpc>
              <a:buNone/>
            </a:pPr>
            <a:r>
              <a:rPr lang="en-US" sz="1400" dirty="0">
                <a:solidFill>
                  <a:srgbClr val="1F2A37"/>
                </a:solidFill>
                <a:latin typeface="IBM Plex Sans" pitchFamily="34" charset="0"/>
                <a:ea typeface="IBM Plex Sans" pitchFamily="34" charset="-122"/>
                <a:cs typeface="IBM Plex Sans" pitchFamily="34" charset="-120"/>
              </a:rPr>
              <a:t>    Web protocol</a:t>
            </a:r>
            <a:endParaRPr lang="en-US" sz="1400" dirty="0"/>
          </a:p>
          <a:p>
            <a:pPr algn="l" indent="0" marL="0">
              <a:lnSpc>
                <a:spcPts val="2240"/>
              </a:lnSpc>
              <a:buNone/>
            </a:pPr>
            <a:r>
              <a:rPr lang="en-US" sz="1400" b="1" dirty="0">
                <a:solidFill>
                  <a:srgbClr val="1F2A37"/>
                </a:solidFill>
                <a:latin typeface="IBM Plex Sans" pitchFamily="34" charset="0"/>
                <a:ea typeface="IBM Plex Sans" pitchFamily="34" charset="-122"/>
                <a:cs typeface="IBM Plex Sans" pitchFamily="34" charset="-120"/>
              </a:rPr>
              <a:t>URL</a:t>
            </a:r>
            <a:endParaRPr lang="en-US" sz="1400" dirty="0"/>
          </a:p>
          <a:p>
            <a:pPr algn="l" indent="0" marL="0">
              <a:lnSpc>
                <a:spcPts val="2240"/>
              </a:lnSpc>
              <a:buNone/>
            </a:pPr>
            <a:r>
              <a:rPr lang="en-US" sz="1400" dirty="0">
                <a:solidFill>
                  <a:srgbClr val="1F2A37"/>
                </a:solidFill>
                <a:latin typeface="IBM Plex Sans" pitchFamily="34" charset="0"/>
                <a:ea typeface="IBM Plex Sans" pitchFamily="34" charset="-122"/>
                <a:cs typeface="IBM Plex Sans" pitchFamily="34" charset="-120"/>
              </a:rPr>
              <a:t>    Web address</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LISTS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Unordered list: ul + li</a:t>
            </a:r>
            <a:endParaRPr lang="en-US" sz="3200" dirty="0"/>
          </a:p>
        </p:txBody>
      </p:sp>
      <p:sp>
        <p:nvSpPr>
          <p:cNvPr id="4" name="Text 2"/>
          <p:cNvSpPr/>
          <p:nvPr/>
        </p:nvSpPr>
        <p:spPr>
          <a:xfrm>
            <a:off x="812800" y="1981101"/>
            <a:ext cx="5207000" cy="2335113"/>
          </a:xfrm>
          <a:prstGeom prst="roundRect">
            <a:avLst>
              <a:gd name="adj" fmla="val 4351"/>
            </a:avLst>
          </a:prstGeom>
          <a:solidFill>
            <a:srgbClr val="1B2430"/>
          </a:solidFill>
          <a:ln/>
        </p:spPr>
        <p:txBody>
          <a:bodyPr wrap="square" lIns="224242" tIns="173442" rIns="83272" bIns="148042" rtlCol="0" anchor="t">
            <a:normAutofit/>
          </a:bodyPr>
          <a:lstStyle/>
          <a:p>
            <a:pPr algn="l" indent="0" marL="0">
              <a:lnSpc>
                <a:spcPts val="2170"/>
              </a:lnSpc>
              <a:buNone/>
            </a:pPr>
            <a:r>
              <a:rPr lang="en-US" sz="1400" dirty="0">
                <a:solidFill>
                  <a:srgbClr val="FF9E64"/>
                </a:solidFill>
                <a:latin typeface="IBM Plex Mono" pitchFamily="49" charset="0"/>
                <a:ea typeface="IBM Plex Mono" pitchFamily="49" charset="-122"/>
                <a:cs typeface="IBM Plex Mono" pitchFamily="49" charset="-120"/>
              </a:rPr>
              <a:t>&lt;h2&gt;</a:t>
            </a:r>
            <a:r>
              <a:rPr lang="en-US" sz="1400" dirty="0">
                <a:solidFill>
                  <a:srgbClr val="E6EDF3"/>
                </a:solidFill>
                <a:latin typeface="IBM Plex Mono" pitchFamily="49" charset="0"/>
                <a:ea typeface="IBM Plex Mono" pitchFamily="49" charset="-122"/>
                <a:cs typeface="IBM Plex Mono" pitchFamily="49" charset="-120"/>
              </a:rPr>
              <a:t>Ingredients</a:t>
            </a:r>
            <a:r>
              <a:rPr lang="en-US" sz="1400" dirty="0">
                <a:solidFill>
                  <a:srgbClr val="FF9E64"/>
                </a:solidFill>
                <a:latin typeface="IBM Plex Mono" pitchFamily="49" charset="0"/>
                <a:ea typeface="IBM Plex Mono" pitchFamily="49" charset="-122"/>
                <a:cs typeface="IBM Plex Mono" pitchFamily="49" charset="-120"/>
              </a:rPr>
              <a:t>&lt;/h2&gt;</a:t>
            </a:r>
            <a:endParaRPr lang="en-US" sz="1400" dirty="0"/>
          </a:p>
          <a:p>
            <a:pPr algn="l" indent="0" marL="0">
              <a:lnSpc>
                <a:spcPts val="2170"/>
              </a:lnSpc>
              <a:buNone/>
            </a:pPr>
            <a:r>
              <a:rPr lang="en-US" sz="1400" dirty="0">
                <a:solidFill>
                  <a:srgbClr val="FF9E64"/>
                </a:solidFill>
                <a:latin typeface="IBM Plex Mono" pitchFamily="49" charset="0"/>
                <a:ea typeface="IBM Plex Mono" pitchFamily="49" charset="-122"/>
                <a:cs typeface="IBM Plex Mono" pitchFamily="49" charset="-120"/>
              </a:rPr>
              <a:t>&lt;ul&gt;</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FF9E64"/>
                </a:solidFill>
                <a:latin typeface="IBM Plex Mono" pitchFamily="49" charset="0"/>
                <a:ea typeface="IBM Plex Mono" pitchFamily="49" charset="-122"/>
                <a:cs typeface="IBM Plex Mono" pitchFamily="49" charset="-120"/>
              </a:rPr>
              <a:t>&lt;li&gt;</a:t>
            </a:r>
            <a:r>
              <a:rPr lang="en-US" sz="1400" dirty="0">
                <a:solidFill>
                  <a:srgbClr val="E6EDF3"/>
                </a:solidFill>
                <a:latin typeface="IBM Plex Mono" pitchFamily="49" charset="0"/>
                <a:ea typeface="IBM Plex Mono" pitchFamily="49" charset="-122"/>
                <a:cs typeface="IBM Plex Mono" pitchFamily="49" charset="-120"/>
              </a:rPr>
              <a:t>1 kg basmati rice</a:t>
            </a:r>
            <a:r>
              <a:rPr lang="en-US" sz="1400" dirty="0">
                <a:solidFill>
                  <a:srgbClr val="FF9E64"/>
                </a:solidFill>
                <a:latin typeface="IBM Plex Mono" pitchFamily="49" charset="0"/>
                <a:ea typeface="IBM Plex Mono" pitchFamily="49" charset="-122"/>
                <a:cs typeface="IBM Plex Mono" pitchFamily="49" charset="-120"/>
              </a:rPr>
              <a:t>&lt;/li&gt;</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FF9E64"/>
                </a:solidFill>
                <a:latin typeface="IBM Plex Mono" pitchFamily="49" charset="0"/>
                <a:ea typeface="IBM Plex Mono" pitchFamily="49" charset="-122"/>
                <a:cs typeface="IBM Plex Mono" pitchFamily="49" charset="-120"/>
              </a:rPr>
              <a:t>&lt;li&gt;</a:t>
            </a:r>
            <a:r>
              <a:rPr lang="en-US" sz="1400" dirty="0">
                <a:solidFill>
                  <a:srgbClr val="E6EDF3"/>
                </a:solidFill>
                <a:latin typeface="IBM Plex Mono" pitchFamily="49" charset="0"/>
                <a:ea typeface="IBM Plex Mono" pitchFamily="49" charset="-122"/>
                <a:cs typeface="IBM Plex Mono" pitchFamily="49" charset="-120"/>
              </a:rPr>
              <a:t>1 kg chicken</a:t>
            </a:r>
            <a:r>
              <a:rPr lang="en-US" sz="1400" dirty="0">
                <a:solidFill>
                  <a:srgbClr val="FF9E64"/>
                </a:solidFill>
                <a:latin typeface="IBM Plex Mono" pitchFamily="49" charset="0"/>
                <a:ea typeface="IBM Plex Mono" pitchFamily="49" charset="-122"/>
                <a:cs typeface="IBM Plex Mono" pitchFamily="49" charset="-120"/>
              </a:rPr>
              <a:t>&lt;/li&gt;</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FF9E64"/>
                </a:solidFill>
                <a:latin typeface="IBM Plex Mono" pitchFamily="49" charset="0"/>
                <a:ea typeface="IBM Plex Mono" pitchFamily="49" charset="-122"/>
                <a:cs typeface="IBM Plex Mono" pitchFamily="49" charset="-120"/>
              </a:rPr>
              <a:t>&lt;li&gt;</a:t>
            </a:r>
            <a:r>
              <a:rPr lang="en-US" sz="1400" dirty="0">
                <a:solidFill>
                  <a:srgbClr val="E6EDF3"/>
                </a:solidFill>
                <a:latin typeface="IBM Plex Mono" pitchFamily="49" charset="0"/>
                <a:ea typeface="IBM Plex Mono" pitchFamily="49" charset="-122"/>
                <a:cs typeface="IBM Plex Mono" pitchFamily="49" charset="-120"/>
              </a:rPr>
              <a:t>2 tsp red chilli</a:t>
            </a:r>
            <a:r>
              <a:rPr lang="en-US" sz="1400" dirty="0">
                <a:solidFill>
                  <a:srgbClr val="FF9E64"/>
                </a:solidFill>
                <a:latin typeface="IBM Plex Mono" pitchFamily="49" charset="0"/>
                <a:ea typeface="IBM Plex Mono" pitchFamily="49" charset="-122"/>
                <a:cs typeface="IBM Plex Mono" pitchFamily="49" charset="-120"/>
              </a:rPr>
              <a:t>&lt;/li&gt;</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FF9E64"/>
                </a:solidFill>
                <a:latin typeface="IBM Plex Mono" pitchFamily="49" charset="0"/>
                <a:ea typeface="IBM Plex Mono" pitchFamily="49" charset="-122"/>
                <a:cs typeface="IBM Plex Mono" pitchFamily="49" charset="-120"/>
              </a:rPr>
              <a:t>&lt;li&gt;</a:t>
            </a:r>
            <a:r>
              <a:rPr lang="en-US" sz="1400" dirty="0">
                <a:solidFill>
                  <a:srgbClr val="E6EDF3"/>
                </a:solidFill>
                <a:latin typeface="IBM Plex Mono" pitchFamily="49" charset="0"/>
                <a:ea typeface="IBM Plex Mono" pitchFamily="49" charset="-122"/>
                <a:cs typeface="IBM Plex Mono" pitchFamily="49" charset="-120"/>
              </a:rPr>
              <a:t>500 g yoghurt</a:t>
            </a:r>
            <a:r>
              <a:rPr lang="en-US" sz="1400" dirty="0">
                <a:solidFill>
                  <a:srgbClr val="FF9E64"/>
                </a:solidFill>
                <a:latin typeface="IBM Plex Mono" pitchFamily="49" charset="0"/>
                <a:ea typeface="IBM Plex Mono" pitchFamily="49" charset="-122"/>
                <a:cs typeface="IBM Plex Mono" pitchFamily="49" charset="-120"/>
              </a:rPr>
              <a:t>&lt;/li&gt;</a:t>
            </a:r>
            <a:endParaRPr lang="en-US" sz="1400" dirty="0"/>
          </a:p>
          <a:p>
            <a:pPr algn="l" indent="0" marL="0">
              <a:lnSpc>
                <a:spcPts val="2170"/>
              </a:lnSpc>
              <a:buNone/>
            </a:pPr>
            <a:r>
              <a:rPr lang="en-US" sz="1400" dirty="0">
                <a:solidFill>
                  <a:srgbClr val="FF9E64"/>
                </a:solidFill>
                <a:latin typeface="IBM Plex Mono" pitchFamily="49" charset="0"/>
                <a:ea typeface="IBM Plex Mono" pitchFamily="49" charset="-122"/>
                <a:cs typeface="IBM Plex Mono" pitchFamily="49" charset="-120"/>
              </a:rPr>
              <a:t>&lt;/ul&gt;</a:t>
            </a:r>
            <a:endParaRPr lang="en-US" sz="1400" dirty="0"/>
          </a:p>
        </p:txBody>
      </p:sp>
      <p:sp>
        <p:nvSpPr>
          <p:cNvPr id="5" name="Shape 3"/>
          <p:cNvSpPr/>
          <p:nvPr/>
        </p:nvSpPr>
        <p:spPr>
          <a:xfrm>
            <a:off x="6276975" y="1984276"/>
            <a:ext cx="5099050" cy="1794470"/>
          </a:xfrm>
          <a:prstGeom prst="roundRect">
            <a:avLst>
              <a:gd name="adj" fmla="val 5485"/>
            </a:avLst>
          </a:prstGeom>
          <a:solidFill>
            <a:srgbClr val="FFFDF9"/>
          </a:solidFill>
          <a:ln w="6350">
            <a:solidFill>
              <a:srgbClr val="E4E0D8"/>
            </a:solidFill>
            <a:prstDash val="solid"/>
          </a:ln>
        </p:spPr>
      </p:sp>
      <p:sp>
        <p:nvSpPr>
          <p:cNvPr id="6" name="Text 4"/>
          <p:cNvSpPr/>
          <p:nvPr/>
        </p:nvSpPr>
        <p:spPr>
          <a:xfrm>
            <a:off x="6483350" y="2165251"/>
            <a:ext cx="48268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75467"/>
                </a:solidFill>
                <a:latin typeface="IBM Plex Sans" pitchFamily="34" charset="0"/>
                <a:ea typeface="IBM Plex Sans" pitchFamily="34" charset="-122"/>
                <a:cs typeface="IBM Plex Sans" pitchFamily="34" charset="-120"/>
              </a:rPr>
              <a:t>RENDERS AS</a:t>
            </a:r>
            <a:endParaRPr lang="en-US" sz="1200" dirty="0"/>
          </a:p>
        </p:txBody>
      </p:sp>
      <p:sp>
        <p:nvSpPr>
          <p:cNvPr id="7" name="Text 5"/>
          <p:cNvSpPr/>
          <p:nvPr/>
        </p:nvSpPr>
        <p:spPr>
          <a:xfrm>
            <a:off x="6483350" y="2378571"/>
            <a:ext cx="4826889" cy="12446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1F2A37"/>
                </a:solidFill>
                <a:latin typeface="IBM Plex Sans" pitchFamily="34" charset="0"/>
                <a:ea typeface="IBM Plex Sans" pitchFamily="34" charset="-122"/>
                <a:cs typeface="IBM Plex Sans" pitchFamily="34" charset="-120"/>
              </a:rPr>
              <a:t>• 1 kg basmati rice</a:t>
            </a:r>
            <a:endParaRPr lang="en-US" sz="1500" dirty="0"/>
          </a:p>
          <a:p>
            <a:pPr algn="l" indent="0" marL="0">
              <a:lnSpc>
                <a:spcPts val="2400"/>
              </a:lnSpc>
              <a:buNone/>
            </a:pPr>
            <a:r>
              <a:rPr lang="en-US" sz="1500" dirty="0">
                <a:solidFill>
                  <a:srgbClr val="1F2A37"/>
                </a:solidFill>
                <a:latin typeface="IBM Plex Sans" pitchFamily="34" charset="0"/>
                <a:ea typeface="IBM Plex Sans" pitchFamily="34" charset="-122"/>
                <a:cs typeface="IBM Plex Sans" pitchFamily="34" charset="-120"/>
              </a:rPr>
              <a:t>• 1 kg chicken</a:t>
            </a:r>
            <a:endParaRPr lang="en-US" sz="1500" dirty="0"/>
          </a:p>
          <a:p>
            <a:pPr algn="l" indent="0" marL="0">
              <a:lnSpc>
                <a:spcPts val="2400"/>
              </a:lnSpc>
              <a:buNone/>
            </a:pPr>
            <a:r>
              <a:rPr lang="en-US" sz="1500" dirty="0">
                <a:solidFill>
                  <a:srgbClr val="1F2A37"/>
                </a:solidFill>
                <a:latin typeface="IBM Plex Sans" pitchFamily="34" charset="0"/>
                <a:ea typeface="IBM Plex Sans" pitchFamily="34" charset="-122"/>
                <a:cs typeface="IBM Plex Sans" pitchFamily="34" charset="-120"/>
              </a:rPr>
              <a:t>• 2 tsp red chilli</a:t>
            </a:r>
            <a:endParaRPr lang="en-US" sz="1500" dirty="0"/>
          </a:p>
          <a:p>
            <a:pPr algn="l" indent="0" marL="0">
              <a:lnSpc>
                <a:spcPts val="2400"/>
              </a:lnSpc>
              <a:buNone/>
            </a:pPr>
            <a:r>
              <a:rPr lang="en-US" sz="1500" dirty="0">
                <a:solidFill>
                  <a:srgbClr val="1F2A37"/>
                </a:solidFill>
                <a:latin typeface="IBM Plex Sans" pitchFamily="34" charset="0"/>
                <a:ea typeface="IBM Plex Sans" pitchFamily="34" charset="-122"/>
                <a:cs typeface="IBM Plex Sans" pitchFamily="34" charset="-120"/>
              </a:rPr>
              <a:t>• 500 g yoghurt</a:t>
            </a:r>
            <a:endParaRPr lang="en-US" sz="1500" dirty="0"/>
          </a:p>
        </p:txBody>
      </p:sp>
      <p:sp>
        <p:nvSpPr>
          <p:cNvPr id="8" name="Text 6"/>
          <p:cNvSpPr/>
          <p:nvPr/>
        </p:nvSpPr>
        <p:spPr>
          <a:xfrm>
            <a:off x="6273800" y="3908921"/>
            <a:ext cx="525856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Rule:</a:t>
            </a:r>
            <a:r>
              <a:rPr lang="en-US" sz="1400" dirty="0">
                <a:solidFill>
                  <a:srgbClr val="1F2A37"/>
                </a:solidFill>
                <a:latin typeface="IBM Plex Sans" pitchFamily="34" charset="0"/>
                <a:ea typeface="IBM Plex Sans" pitchFamily="34" charset="-122"/>
                <a:cs typeface="IBM Plex Sans" pitchFamily="34" charset="-120"/>
              </a:rPr>
              <a:t> the only direct child of ul or ol is </a:t>
            </a:r>
            <a:r>
              <a:rPr lang="en-US" sz="1400" b="1" dirty="0">
                <a:solidFill>
                  <a:srgbClr val="1F2A37"/>
                </a:solidFill>
                <a:latin typeface="IBM Plex Sans" pitchFamily="34" charset="0"/>
                <a:ea typeface="IBM Plex Sans" pitchFamily="34" charset="-122"/>
                <a:cs typeface="IBM Plex Sans" pitchFamily="34" charset="-120"/>
              </a:rPr>
              <a:t>li</a:t>
            </a:r>
            <a:r>
              <a:rPr lang="en-US" sz="1400" dirty="0">
                <a:solidFill>
                  <a:srgbClr val="1F2A37"/>
                </a:solidFill>
                <a:latin typeface="IBM Plex Sans" pitchFamily="34" charset="0"/>
                <a:ea typeface="IBM Plex Sans" pitchFamily="34" charset="-122"/>
                <a:cs typeface="IBM Plex Sans" pitchFamily="34" charset="-120"/>
              </a:rPr>
              <a:t>. Anything can go </a:t>
            </a:r>
            <a:r>
              <a:rPr lang="en-US" sz="1400" i="1" dirty="0">
                <a:solidFill>
                  <a:srgbClr val="1F2A37"/>
                </a:solidFill>
                <a:latin typeface="IBM Plex Sans" pitchFamily="34" charset="0"/>
                <a:ea typeface="IBM Plex Sans" pitchFamily="34" charset="-122"/>
                <a:cs typeface="IBM Plex Sans" pitchFamily="34" charset="-120"/>
              </a:rPr>
              <a:t>inside</a:t>
            </a:r>
            <a:r>
              <a:rPr lang="en-US" sz="1400" dirty="0">
                <a:solidFill>
                  <a:srgbClr val="1F2A37"/>
                </a:solidFill>
                <a:latin typeface="IBM Plex Sans" pitchFamily="34" charset="0"/>
                <a:ea typeface="IBM Plex Sans" pitchFamily="34" charset="-122"/>
                <a:cs typeface="IBM Plex Sans" pitchFamily="34" charset="-120"/>
              </a:rPr>
              <a:t> an li.</a:t>
            </a:r>
            <a:endParaRPr lang="en-US" sz="1400" dirty="0"/>
          </a:p>
        </p:txBody>
      </p:sp>
      <p:sp>
        <p:nvSpPr>
          <p:cNvPr id="9" name="Text 7"/>
          <p:cNvSpPr/>
          <p:nvPr/>
        </p:nvSpPr>
        <p:spPr>
          <a:xfrm>
            <a:off x="6273800" y="4533602"/>
            <a:ext cx="525856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Bullet style (disc, circle, square, none) is CSS: list-style-type.</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LISTS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Ordered list attributes</a:t>
            </a:r>
            <a:endParaRPr lang="en-US" sz="3200" dirty="0"/>
          </a:p>
        </p:txBody>
      </p:sp>
      <p:sp>
        <p:nvSpPr>
          <p:cNvPr id="4" name="Text 2"/>
          <p:cNvSpPr/>
          <p:nvPr/>
        </p:nvSpPr>
        <p:spPr>
          <a:xfrm>
            <a:off x="812800" y="1981101"/>
            <a:ext cx="5207000" cy="3221137"/>
          </a:xfrm>
          <a:prstGeom prst="roundRect">
            <a:avLst>
              <a:gd name="adj" fmla="val 3154"/>
            </a:avLst>
          </a:prstGeom>
          <a:solidFill>
            <a:srgbClr val="1B2430"/>
          </a:solidFill>
          <a:ln/>
        </p:spPr>
        <p:txBody>
          <a:bodyPr wrap="square" lIns="224242" tIns="173442" rIns="83272" bIns="148042" rtlCol="0" anchor="t">
            <a:normAutofit/>
          </a:bodyPr>
          <a:lstStyle/>
          <a:p>
            <a:pPr algn="l" indent="0" marL="0">
              <a:lnSpc>
                <a:spcPts val="2015"/>
              </a:lnSpc>
              <a:buNone/>
            </a:pPr>
            <a:r>
              <a:rPr lang="en-US" sz="1300" dirty="0">
                <a:solidFill>
                  <a:srgbClr val="8B98A9"/>
                </a:solidFill>
                <a:latin typeface="IBM Plex Mono" pitchFamily="49" charset="0"/>
                <a:ea typeface="IBM Plex Mono" pitchFamily="49" charset="-122"/>
                <a:cs typeface="IBM Plex Mono" pitchFamily="49" charset="-120"/>
              </a:rPr>
              <a:t>&lt;!-- Top 3 results, counting down --&gt;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&lt;ol</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reversed</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&lt;li&gt;</a:t>
            </a:r>
            <a:r>
              <a:rPr lang="en-US" sz="1300" dirty="0">
                <a:solidFill>
                  <a:srgbClr val="E6EDF3"/>
                </a:solidFill>
                <a:latin typeface="IBM Plex Mono" pitchFamily="49" charset="0"/>
                <a:ea typeface="IBM Plex Mono" pitchFamily="49" charset="-122"/>
                <a:cs typeface="IBM Plex Mono" pitchFamily="49" charset="-120"/>
              </a:rPr>
              <a:t>Sana</a:t>
            </a:r>
            <a:r>
              <a:rPr lang="en-US" sz="1300" dirty="0">
                <a:solidFill>
                  <a:srgbClr val="FF9E64"/>
                </a:solidFill>
                <a:latin typeface="IBM Plex Mono" pitchFamily="49" charset="0"/>
                <a:ea typeface="IBM Plex Mono" pitchFamily="49" charset="-122"/>
                <a:cs typeface="IBM Plex Mono" pitchFamily="49" charset="-120"/>
              </a:rPr>
              <a:t>&lt;/li&gt;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&lt;li&gt;</a:t>
            </a:r>
            <a:r>
              <a:rPr lang="en-US" sz="1300" dirty="0">
                <a:solidFill>
                  <a:srgbClr val="E6EDF3"/>
                </a:solidFill>
                <a:latin typeface="IBM Plex Mono" pitchFamily="49" charset="0"/>
                <a:ea typeface="IBM Plex Mono" pitchFamily="49" charset="-122"/>
                <a:cs typeface="IBM Plex Mono" pitchFamily="49" charset="-120"/>
              </a:rPr>
              <a:t>Ali</a:t>
            </a:r>
            <a:r>
              <a:rPr lang="en-US" sz="1300" dirty="0">
                <a:solidFill>
                  <a:srgbClr val="FF9E64"/>
                </a:solidFill>
                <a:latin typeface="IBM Plex Mono" pitchFamily="49" charset="0"/>
                <a:ea typeface="IBM Plex Mono" pitchFamily="49" charset="-122"/>
                <a:cs typeface="IBM Plex Mono" pitchFamily="49" charset="-120"/>
              </a:rPr>
              <a:t>&lt;/li&gt;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&lt;li&gt;</a:t>
            </a:r>
            <a:r>
              <a:rPr lang="en-US" sz="1300" dirty="0">
                <a:solidFill>
                  <a:srgbClr val="E6EDF3"/>
                </a:solidFill>
                <a:latin typeface="IBM Plex Mono" pitchFamily="49" charset="0"/>
                <a:ea typeface="IBM Plex Mono" pitchFamily="49" charset="-122"/>
                <a:cs typeface="IBM Plex Mono" pitchFamily="49" charset="-120"/>
              </a:rPr>
              <a:t>Hamza</a:t>
            </a:r>
            <a:r>
              <a:rPr lang="en-US" sz="1300" dirty="0">
                <a:solidFill>
                  <a:srgbClr val="FF9E64"/>
                </a:solidFill>
                <a:latin typeface="IBM Plex Mono" pitchFamily="49" charset="0"/>
                <a:ea typeface="IBM Plex Mono" pitchFamily="49" charset="-122"/>
                <a:cs typeface="IBM Plex Mono" pitchFamily="49" charset="-120"/>
              </a:rPr>
              <a:t>&lt;/li&gt;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&lt;/ol&gt;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&lt;ol</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type</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"I"</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start</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"4"</a:t>
            </a:r>
            <a:r>
              <a:rPr lang="en-US" sz="1300" dirty="0">
                <a:solidFill>
                  <a:srgbClr val="FF9E64"/>
                </a:solidFill>
                <a:latin typeface="IBM Plex Mono" pitchFamily="49" charset="0"/>
                <a:ea typeface="IBM Plex Mono" pitchFamily="49" charset="-122"/>
                <a:cs typeface="IBM Plex Mono" pitchFamily="49" charset="-120"/>
              </a:rPr>
              <a: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&lt;li&gt;</a:t>
            </a:r>
            <a:r>
              <a:rPr lang="en-US" sz="1300" dirty="0">
                <a:solidFill>
                  <a:srgbClr val="E6EDF3"/>
                </a:solidFill>
                <a:latin typeface="IBM Plex Mono" pitchFamily="49" charset="0"/>
                <a:ea typeface="IBM Plex Mono" pitchFamily="49" charset="-122"/>
                <a:cs typeface="IBM Plex Mono" pitchFamily="49" charset="-120"/>
              </a:rPr>
              <a:t>Chapter four</a:t>
            </a:r>
            <a:r>
              <a:rPr lang="en-US" sz="1300" dirty="0">
                <a:solidFill>
                  <a:srgbClr val="FF9E64"/>
                </a:solidFill>
                <a:latin typeface="IBM Plex Mono" pitchFamily="49" charset="0"/>
                <a:ea typeface="IBM Plex Mono" pitchFamily="49" charset="-122"/>
                <a:cs typeface="IBM Plex Mono" pitchFamily="49" charset="-120"/>
              </a:rPr>
              <a:t>&lt;/li&gt;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&lt;li&gt;</a:t>
            </a:r>
            <a:r>
              <a:rPr lang="en-US" sz="1300" dirty="0">
                <a:solidFill>
                  <a:srgbClr val="E6EDF3"/>
                </a:solidFill>
                <a:latin typeface="IBM Plex Mono" pitchFamily="49" charset="0"/>
                <a:ea typeface="IBM Plex Mono" pitchFamily="49" charset="-122"/>
                <a:cs typeface="IBM Plex Mono" pitchFamily="49" charset="-120"/>
              </a:rPr>
              <a:t>Chapter five</a:t>
            </a:r>
            <a:r>
              <a:rPr lang="en-US" sz="1300" dirty="0">
                <a:solidFill>
                  <a:srgbClr val="FF9E64"/>
                </a:solidFill>
                <a:latin typeface="IBM Plex Mono" pitchFamily="49" charset="0"/>
                <a:ea typeface="IBM Plex Mono" pitchFamily="49" charset="-122"/>
                <a:cs typeface="IBM Plex Mono" pitchFamily="49" charset="-120"/>
              </a:rPr>
              <a:t>&lt;/li&gt;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&lt;/ol&gt;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86500" y="1993801"/>
          <a:ext cx="5092700" cy="1796355"/>
        </p:xfrm>
        <a:graphic>
          <a:graphicData uri="http://schemas.openxmlformats.org/drawingml/2006/table">
            <a:tbl>
              <a:tblPr/>
              <a:tblGrid>
                <a:gridCol w="1731518"/>
                <a:gridCol w="3361182"/>
              </a:tblGrid>
              <a:tr h="359271">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Attribute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Effect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type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1 (default), A, a, I, 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start="4"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Begin counting at 4 (IV)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reversed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Count down: 3, 2,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li value="10"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Force one item’s number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LISTS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Nested lists: a list inside an li</a:t>
            </a:r>
            <a:endParaRPr lang="en-US" sz="3200" dirty="0"/>
          </a:p>
        </p:txBody>
      </p:sp>
      <p:sp>
        <p:nvSpPr>
          <p:cNvPr id="4" name="Text 2"/>
          <p:cNvSpPr/>
          <p:nvPr/>
        </p:nvSpPr>
        <p:spPr>
          <a:xfrm>
            <a:off x="812800" y="1981101"/>
            <a:ext cx="5715000" cy="3720802"/>
          </a:xfrm>
          <a:prstGeom prst="roundRect">
            <a:avLst>
              <a:gd name="adj" fmla="val 2731"/>
            </a:avLst>
          </a:prstGeom>
          <a:solidFill>
            <a:srgbClr val="1B2430"/>
          </a:solidFill>
          <a:ln/>
        </p:spPr>
        <p:txBody>
          <a:bodyPr wrap="square" lIns="224242" tIns="173442" rIns="68032" bIns="148042" rtlCol="0" anchor="t">
            <a:normAutofit/>
          </a:bodyPr>
          <a:lstStyle/>
          <a:p>
            <a:pPr algn="l" indent="0" marL="0">
              <a:lnSpc>
                <a:spcPts val="1740"/>
              </a:lnSpc>
              <a:buNone/>
            </a:pPr>
            <a:r>
              <a:rPr lang="en-US" sz="1200" dirty="0">
                <a:solidFill>
                  <a:srgbClr val="FF9E64"/>
                </a:solidFill>
                <a:latin typeface="IBM Plex Mono" pitchFamily="49" charset="0"/>
                <a:ea typeface="IBM Plex Mono" pitchFamily="49" charset="-122"/>
                <a:cs typeface="IBM Plex Mono" pitchFamily="49" charset="-120"/>
              </a:rPr>
              <a:t>&lt;ul&gt;</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&lt;li&gt;</a:t>
            </a:r>
            <a:r>
              <a:rPr lang="en-US" sz="1200" dirty="0">
                <a:solidFill>
                  <a:srgbClr val="E6EDF3"/>
                </a:solidFill>
                <a:latin typeface="IBM Plex Mono" pitchFamily="49" charset="0"/>
                <a:ea typeface="IBM Plex Mono" pitchFamily="49" charset="-122"/>
                <a:cs typeface="IBM Plex Mono" pitchFamily="49" charset="-120"/>
              </a:rPr>
              <a:t>Front end</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&lt;ul&gt;</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&lt;li&gt;</a:t>
            </a:r>
            <a:r>
              <a:rPr lang="en-US" sz="1200" dirty="0">
                <a:solidFill>
                  <a:srgbClr val="E6EDF3"/>
                </a:solidFill>
                <a:latin typeface="IBM Plex Mono" pitchFamily="49" charset="0"/>
                <a:ea typeface="IBM Plex Mono" pitchFamily="49" charset="-122"/>
                <a:cs typeface="IBM Plex Mono" pitchFamily="49" charset="-120"/>
              </a:rPr>
              <a:t>HTML</a:t>
            </a:r>
            <a:r>
              <a:rPr lang="en-US" sz="1200" dirty="0">
                <a:solidFill>
                  <a:srgbClr val="FF9E64"/>
                </a:solidFill>
                <a:latin typeface="IBM Plex Mono" pitchFamily="49" charset="0"/>
                <a:ea typeface="IBM Plex Mono" pitchFamily="49" charset="-122"/>
                <a:cs typeface="IBM Plex Mono" pitchFamily="49" charset="-120"/>
              </a:rPr>
              <a:t>&lt;/li&gt;</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&lt;li&gt;</a:t>
            </a:r>
            <a:r>
              <a:rPr lang="en-US" sz="1200" dirty="0">
                <a:solidFill>
                  <a:srgbClr val="E6EDF3"/>
                </a:solidFill>
                <a:latin typeface="IBM Plex Mono" pitchFamily="49" charset="0"/>
                <a:ea typeface="IBM Plex Mono" pitchFamily="49" charset="-122"/>
                <a:cs typeface="IBM Plex Mono" pitchFamily="49" charset="-120"/>
              </a:rPr>
              <a:t>CSS</a:t>
            </a:r>
            <a:r>
              <a:rPr lang="en-US" sz="1200" dirty="0">
                <a:solidFill>
                  <a:srgbClr val="FF9E64"/>
                </a:solidFill>
                <a:latin typeface="IBM Plex Mono" pitchFamily="49" charset="0"/>
                <a:ea typeface="IBM Plex Mono" pitchFamily="49" charset="-122"/>
                <a:cs typeface="IBM Plex Mono" pitchFamily="49" charset="-120"/>
              </a:rPr>
              <a:t>&lt;/li&gt;</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&lt;li&gt;</a:t>
            </a:r>
            <a:r>
              <a:rPr lang="en-US" sz="1200" dirty="0">
                <a:solidFill>
                  <a:srgbClr val="E6EDF3"/>
                </a:solidFill>
                <a:latin typeface="IBM Plex Mono" pitchFamily="49" charset="0"/>
                <a:ea typeface="IBM Plex Mono" pitchFamily="49" charset="-122"/>
                <a:cs typeface="IBM Plex Mono" pitchFamily="49" charset="-120"/>
              </a:rPr>
              <a:t>JavaScript</a:t>
            </a:r>
            <a:r>
              <a:rPr lang="en-US" sz="1200" dirty="0">
                <a:solidFill>
                  <a:srgbClr val="FF9E64"/>
                </a:solidFill>
                <a:latin typeface="IBM Plex Mono" pitchFamily="49" charset="0"/>
                <a:ea typeface="IBM Plex Mono" pitchFamily="49" charset="-122"/>
                <a:cs typeface="IBM Plex Mono" pitchFamily="49" charset="-120"/>
              </a:rPr>
              <a:t>&lt;/li&gt;</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&lt;/ul&gt;</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&lt;/li&gt;</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8B98A9"/>
                </a:solidFill>
                <a:latin typeface="IBM Plex Mono" pitchFamily="49" charset="0"/>
                <a:ea typeface="IBM Plex Mono" pitchFamily="49" charset="-122"/>
                <a:cs typeface="IBM Plex Mono" pitchFamily="49" charset="-120"/>
              </a:rPr>
              <a:t>&lt;!-- close li AFTER inner ul --&gt;</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&lt;li&gt;</a:t>
            </a:r>
            <a:r>
              <a:rPr lang="en-US" sz="1200" dirty="0">
                <a:solidFill>
                  <a:srgbClr val="E6EDF3"/>
                </a:solidFill>
                <a:latin typeface="IBM Plex Mono" pitchFamily="49" charset="0"/>
                <a:ea typeface="IBM Plex Mono" pitchFamily="49" charset="-122"/>
                <a:cs typeface="IBM Plex Mono" pitchFamily="49" charset="-120"/>
              </a:rPr>
              <a:t>Back end</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&lt;ul&gt;</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&lt;li&gt;</a:t>
            </a:r>
            <a:r>
              <a:rPr lang="en-US" sz="1200" dirty="0">
                <a:solidFill>
                  <a:srgbClr val="E6EDF3"/>
                </a:solidFill>
                <a:latin typeface="IBM Plex Mono" pitchFamily="49" charset="0"/>
                <a:ea typeface="IBM Plex Mono" pitchFamily="49" charset="-122"/>
                <a:cs typeface="IBM Plex Mono" pitchFamily="49" charset="-120"/>
              </a:rPr>
              <a:t>PHP</a:t>
            </a:r>
            <a:r>
              <a:rPr lang="en-US" sz="1200" dirty="0">
                <a:solidFill>
                  <a:srgbClr val="FF9E64"/>
                </a:solidFill>
                <a:latin typeface="IBM Plex Mono" pitchFamily="49" charset="0"/>
                <a:ea typeface="IBM Plex Mono" pitchFamily="49" charset="-122"/>
                <a:cs typeface="IBM Plex Mono" pitchFamily="49" charset="-120"/>
              </a:rPr>
              <a:t>&lt;/li&gt;</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&lt;li&gt;</a:t>
            </a:r>
            <a:r>
              <a:rPr lang="en-US" sz="1200" dirty="0">
                <a:solidFill>
                  <a:srgbClr val="E6EDF3"/>
                </a:solidFill>
                <a:latin typeface="IBM Plex Mono" pitchFamily="49" charset="0"/>
                <a:ea typeface="IBM Plex Mono" pitchFamily="49" charset="-122"/>
                <a:cs typeface="IBM Plex Mono" pitchFamily="49" charset="-120"/>
              </a:rPr>
              <a:t>MySQL</a:t>
            </a:r>
            <a:r>
              <a:rPr lang="en-US" sz="1200" dirty="0">
                <a:solidFill>
                  <a:srgbClr val="FF9E64"/>
                </a:solidFill>
                <a:latin typeface="IBM Plex Mono" pitchFamily="49" charset="0"/>
                <a:ea typeface="IBM Plex Mono" pitchFamily="49" charset="-122"/>
                <a:cs typeface="IBM Plex Mono" pitchFamily="49" charset="-120"/>
              </a:rPr>
              <a:t>&lt;/li&gt;</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&lt;/ul&gt;</a:t>
            </a:r>
            <a:endParaRPr lang="en-US" sz="1200" dirty="0"/>
          </a:p>
          <a:p>
            <a:pPr algn="l" indent="0" marL="0">
              <a:lnSpc>
                <a:spcPts val="174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&lt;/li&gt;</a:t>
            </a:r>
            <a:endParaRPr lang="en-US" sz="1200" dirty="0"/>
          </a:p>
          <a:p>
            <a:pPr algn="l" indent="0" marL="0">
              <a:lnSpc>
                <a:spcPts val="1740"/>
              </a:lnSpc>
              <a:buNone/>
            </a:pPr>
            <a:r>
              <a:rPr lang="en-US" sz="1200" dirty="0">
                <a:solidFill>
                  <a:srgbClr val="FF9E64"/>
                </a:solidFill>
                <a:latin typeface="IBM Plex Mono" pitchFamily="49" charset="0"/>
                <a:ea typeface="IBM Plex Mono" pitchFamily="49" charset="-122"/>
                <a:cs typeface="IBM Plex Mono" pitchFamily="49" charset="-120"/>
              </a:rPr>
              <a:t>&lt;/ul&gt;</a:t>
            </a:r>
            <a:endParaRPr lang="en-US" sz="1200" dirty="0"/>
          </a:p>
        </p:txBody>
      </p:sp>
      <p:sp>
        <p:nvSpPr>
          <p:cNvPr id="5" name="Shape 3"/>
          <p:cNvSpPr/>
          <p:nvPr/>
        </p:nvSpPr>
        <p:spPr>
          <a:xfrm>
            <a:off x="6784975" y="1984276"/>
            <a:ext cx="4591050" cy="2503984"/>
          </a:xfrm>
          <a:prstGeom prst="roundRect">
            <a:avLst>
              <a:gd name="adj" fmla="val 3931"/>
            </a:avLst>
          </a:prstGeom>
          <a:solidFill>
            <a:srgbClr val="FFFDF9"/>
          </a:solidFill>
          <a:ln w="6350">
            <a:solidFill>
              <a:srgbClr val="E4E0D8"/>
            </a:solidFill>
            <a:prstDash val="solid"/>
          </a:ln>
        </p:spPr>
      </p:sp>
      <p:sp>
        <p:nvSpPr>
          <p:cNvPr id="6" name="Text 4"/>
          <p:cNvSpPr/>
          <p:nvPr/>
        </p:nvSpPr>
        <p:spPr>
          <a:xfrm>
            <a:off x="6991350" y="2165251"/>
            <a:ext cx="43036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75467"/>
                </a:solidFill>
                <a:latin typeface="IBM Plex Sans" pitchFamily="34" charset="0"/>
                <a:ea typeface="IBM Plex Sans" pitchFamily="34" charset="-122"/>
                <a:cs typeface="IBM Plex Sans" pitchFamily="34" charset="-120"/>
              </a:rPr>
              <a:t>RENDERS AS</a:t>
            </a:r>
            <a:endParaRPr lang="en-US" sz="1200" dirty="0"/>
          </a:p>
        </p:txBody>
      </p:sp>
      <p:sp>
        <p:nvSpPr>
          <p:cNvPr id="7" name="Text 5"/>
          <p:cNvSpPr/>
          <p:nvPr/>
        </p:nvSpPr>
        <p:spPr>
          <a:xfrm>
            <a:off x="6991350" y="2378571"/>
            <a:ext cx="4303649" cy="1954113"/>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F2A37"/>
                </a:solidFill>
                <a:latin typeface="IBM Plex Sans" pitchFamily="34" charset="0"/>
                <a:ea typeface="IBM Plex Sans" pitchFamily="34" charset="-122"/>
                <a:cs typeface="IBM Plex Sans" pitchFamily="34" charset="-120"/>
              </a:rPr>
              <a:t>• Front end</a:t>
            </a:r>
            <a:endParaRPr lang="en-US" sz="1400" dirty="0"/>
          </a:p>
          <a:p>
            <a:pPr algn="l" indent="0" marL="0">
              <a:lnSpc>
                <a:spcPts val="2170"/>
              </a:lnSpc>
              <a:buNone/>
            </a:pPr>
            <a:r>
              <a:rPr lang="en-US" sz="1400" dirty="0">
                <a:solidFill>
                  <a:srgbClr val="1F2A37"/>
                </a:solidFill>
                <a:latin typeface="IBM Plex Sans" pitchFamily="34" charset="0"/>
                <a:ea typeface="IBM Plex Sans" pitchFamily="34" charset="-122"/>
                <a:cs typeface="IBM Plex Sans" pitchFamily="34" charset="-120"/>
              </a:rPr>
              <a:t>     ◦ HTML</a:t>
            </a:r>
            <a:endParaRPr lang="en-US" sz="1400" dirty="0"/>
          </a:p>
          <a:p>
            <a:pPr algn="l" indent="0" marL="0">
              <a:lnSpc>
                <a:spcPts val="2170"/>
              </a:lnSpc>
              <a:buNone/>
            </a:pPr>
            <a:r>
              <a:rPr lang="en-US" sz="1400" dirty="0">
                <a:solidFill>
                  <a:srgbClr val="1F2A37"/>
                </a:solidFill>
                <a:latin typeface="IBM Plex Sans" pitchFamily="34" charset="0"/>
                <a:ea typeface="IBM Plex Sans" pitchFamily="34" charset="-122"/>
                <a:cs typeface="IBM Plex Sans" pitchFamily="34" charset="-120"/>
              </a:rPr>
              <a:t>     ◦ CSS</a:t>
            </a:r>
            <a:endParaRPr lang="en-US" sz="1400" dirty="0"/>
          </a:p>
          <a:p>
            <a:pPr algn="l" indent="0" marL="0">
              <a:lnSpc>
                <a:spcPts val="2170"/>
              </a:lnSpc>
              <a:buNone/>
            </a:pPr>
            <a:r>
              <a:rPr lang="en-US" sz="1400" dirty="0">
                <a:solidFill>
                  <a:srgbClr val="1F2A37"/>
                </a:solidFill>
                <a:latin typeface="IBM Plex Sans" pitchFamily="34" charset="0"/>
                <a:ea typeface="IBM Plex Sans" pitchFamily="34" charset="-122"/>
                <a:cs typeface="IBM Plex Sans" pitchFamily="34" charset="-120"/>
              </a:rPr>
              <a:t>     ◦ JavaScript</a:t>
            </a:r>
            <a:endParaRPr lang="en-US" sz="1400" dirty="0"/>
          </a:p>
          <a:p>
            <a:pPr algn="l" indent="0" marL="0">
              <a:lnSpc>
                <a:spcPts val="2170"/>
              </a:lnSpc>
              <a:buNone/>
            </a:pPr>
            <a:r>
              <a:rPr lang="en-US" sz="1400" dirty="0">
                <a:solidFill>
                  <a:srgbClr val="1F2A37"/>
                </a:solidFill>
                <a:latin typeface="IBM Plex Sans" pitchFamily="34" charset="0"/>
                <a:ea typeface="IBM Plex Sans" pitchFamily="34" charset="-122"/>
                <a:cs typeface="IBM Plex Sans" pitchFamily="34" charset="-120"/>
              </a:rPr>
              <a:t>• Back end</a:t>
            </a:r>
            <a:endParaRPr lang="en-US" sz="1400" dirty="0"/>
          </a:p>
          <a:p>
            <a:pPr algn="l" indent="0" marL="0">
              <a:lnSpc>
                <a:spcPts val="2170"/>
              </a:lnSpc>
              <a:buNone/>
            </a:pPr>
            <a:r>
              <a:rPr lang="en-US" sz="1400" dirty="0">
                <a:solidFill>
                  <a:srgbClr val="1F2A37"/>
                </a:solidFill>
                <a:latin typeface="IBM Plex Sans" pitchFamily="34" charset="0"/>
                <a:ea typeface="IBM Plex Sans" pitchFamily="34" charset="-122"/>
                <a:cs typeface="IBM Plex Sans" pitchFamily="34" charset="-120"/>
              </a:rPr>
              <a:t>     ◦ PHP</a:t>
            </a:r>
            <a:endParaRPr lang="en-US" sz="1400" dirty="0"/>
          </a:p>
          <a:p>
            <a:pPr algn="l" indent="0" marL="0">
              <a:lnSpc>
                <a:spcPts val="2170"/>
              </a:lnSpc>
              <a:buNone/>
            </a:pPr>
            <a:r>
              <a:rPr lang="en-US" sz="1400" dirty="0">
                <a:solidFill>
                  <a:srgbClr val="1F2A37"/>
                </a:solidFill>
                <a:latin typeface="IBM Plex Sans" pitchFamily="34" charset="0"/>
                <a:ea typeface="IBM Plex Sans" pitchFamily="34" charset="-122"/>
                <a:cs typeface="IBM Plex Sans" pitchFamily="34" charset="-120"/>
              </a:rPr>
              <a:t>     ◦ MySQL</a:t>
            </a:r>
            <a:endParaRPr lang="en-US" sz="1400" dirty="0"/>
          </a:p>
        </p:txBody>
      </p:sp>
      <p:sp>
        <p:nvSpPr>
          <p:cNvPr id="8" name="Text 6"/>
          <p:cNvSpPr/>
          <p:nvPr/>
        </p:nvSpPr>
        <p:spPr>
          <a:xfrm>
            <a:off x="6781800" y="4618434"/>
            <a:ext cx="473532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You can mix types: an ol of steps with a ul inside one step.</a:t>
            </a:r>
            <a:endParaRPr lang="en-US" sz="13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LISTS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Description list: dl, dt, dd</a:t>
            </a:r>
            <a:endParaRPr lang="en-US" sz="3200" dirty="0"/>
          </a:p>
        </p:txBody>
      </p:sp>
      <p:sp>
        <p:nvSpPr>
          <p:cNvPr id="4" name="Text 2"/>
          <p:cNvSpPr/>
          <p:nvPr/>
        </p:nvSpPr>
        <p:spPr>
          <a:xfrm>
            <a:off x="812800" y="1981101"/>
            <a:ext cx="5715000" cy="3221137"/>
          </a:xfrm>
          <a:prstGeom prst="roundRect">
            <a:avLst>
              <a:gd name="adj" fmla="val 3154"/>
            </a:avLst>
          </a:prstGeom>
          <a:solidFill>
            <a:srgbClr val="1B2430"/>
          </a:solidFill>
          <a:ln/>
        </p:spPr>
        <p:txBody>
          <a:bodyPr wrap="square" lIns="224242" tIns="173442" rIns="68032"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&lt;dl&gt;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&lt;dt&gt;</a:t>
            </a:r>
            <a:r>
              <a:rPr lang="en-US" sz="1300" dirty="0">
                <a:solidFill>
                  <a:srgbClr val="E6EDF3"/>
                </a:solidFill>
                <a:latin typeface="IBM Plex Mono" pitchFamily="49" charset="0"/>
                <a:ea typeface="IBM Plex Mono" pitchFamily="49" charset="-122"/>
                <a:cs typeface="IBM Plex Mono" pitchFamily="49" charset="-120"/>
              </a:rPr>
              <a:t>HTTP</a:t>
            </a:r>
            <a:r>
              <a:rPr lang="en-US" sz="1300" dirty="0">
                <a:solidFill>
                  <a:srgbClr val="FF9E64"/>
                </a:solidFill>
                <a:latin typeface="IBM Plex Mono" pitchFamily="49" charset="0"/>
                <a:ea typeface="IBM Plex Mono" pitchFamily="49" charset="-122"/>
                <a:cs typeface="IBM Plex Mono" pitchFamily="49" charset="-120"/>
              </a:rPr>
              <a:t>&lt;/dt&gt;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&lt;dd&gt;</a:t>
            </a:r>
            <a:r>
              <a:rPr lang="en-US" sz="1300" dirty="0">
                <a:solidFill>
                  <a:srgbClr val="E6EDF3"/>
                </a:solidFill>
                <a:latin typeface="IBM Plex Mono" pitchFamily="49" charset="0"/>
                <a:ea typeface="IBM Plex Mono" pitchFamily="49" charset="-122"/>
                <a:cs typeface="IBM Plex Mono" pitchFamily="49" charset="-120"/>
              </a:rPr>
              <a:t>Protocol for transferring web pages.</a:t>
            </a:r>
            <a:r>
              <a:rPr lang="en-US" sz="1300" dirty="0">
                <a:solidFill>
                  <a:srgbClr val="FF9E64"/>
                </a:solidFill>
                <a:latin typeface="IBM Plex Mono" pitchFamily="49" charset="0"/>
                <a:ea typeface="IBM Plex Mono" pitchFamily="49" charset="-122"/>
                <a:cs typeface="IBM Plex Mono" pitchFamily="49" charset="-120"/>
              </a:rPr>
              <a:t>&lt;/dd&gt;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&lt;dt&gt;</a:t>
            </a:r>
            <a:r>
              <a:rPr lang="en-US" sz="1300" dirty="0">
                <a:solidFill>
                  <a:srgbClr val="E6EDF3"/>
                </a:solidFill>
                <a:latin typeface="IBM Plex Mono" pitchFamily="49" charset="0"/>
                <a:ea typeface="IBM Plex Mono" pitchFamily="49" charset="-122"/>
                <a:cs typeface="IBM Plex Mono" pitchFamily="49" charset="-120"/>
              </a:rPr>
              <a:t>URL</a:t>
            </a:r>
            <a:r>
              <a:rPr lang="en-US" sz="1300" dirty="0">
                <a:solidFill>
                  <a:srgbClr val="FF9E64"/>
                </a:solidFill>
                <a:latin typeface="IBM Plex Mono" pitchFamily="49" charset="0"/>
                <a:ea typeface="IBM Plex Mono" pitchFamily="49" charset="-122"/>
                <a:cs typeface="IBM Plex Mono" pitchFamily="49" charset="-120"/>
              </a:rPr>
              <a:t>&lt;/dt&gt;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&lt;dd&gt;</a:t>
            </a:r>
            <a:r>
              <a:rPr lang="en-US" sz="1300" dirty="0">
                <a:solidFill>
                  <a:srgbClr val="E6EDF3"/>
                </a:solidFill>
                <a:latin typeface="IBM Plex Mono" pitchFamily="49" charset="0"/>
                <a:ea typeface="IBM Plex Mono" pitchFamily="49" charset="-122"/>
                <a:cs typeface="IBM Plex Mono" pitchFamily="49" charset="-120"/>
              </a:rPr>
              <a:t>The address of a resource.</a:t>
            </a:r>
            <a:r>
              <a:rPr lang="en-US" sz="1300" dirty="0">
                <a:solidFill>
                  <a:srgbClr val="FF9E64"/>
                </a:solidFill>
                <a:latin typeface="IBM Plex Mono" pitchFamily="49" charset="0"/>
                <a:ea typeface="IBM Plex Mono" pitchFamily="49" charset="-122"/>
                <a:cs typeface="IBM Plex Mono" pitchFamily="49" charset="-120"/>
              </a:rPr>
              <a:t>&lt;/dd&gt;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&lt;dt&gt;</a:t>
            </a:r>
            <a:r>
              <a:rPr lang="en-US" sz="1300" dirty="0">
                <a:solidFill>
                  <a:srgbClr val="E6EDF3"/>
                </a:solidFill>
                <a:latin typeface="IBM Plex Mono" pitchFamily="49" charset="0"/>
                <a:ea typeface="IBM Plex Mono" pitchFamily="49" charset="-122"/>
                <a:cs typeface="IBM Plex Mono" pitchFamily="49" charset="-120"/>
              </a:rPr>
              <a:t>Server</a:t>
            </a:r>
            <a:r>
              <a:rPr lang="en-US" sz="1300" dirty="0">
                <a:solidFill>
                  <a:srgbClr val="FF9E64"/>
                </a:solidFill>
                <a:latin typeface="IBM Plex Mono" pitchFamily="49" charset="0"/>
                <a:ea typeface="IBM Plex Mono" pitchFamily="49" charset="-122"/>
                <a:cs typeface="IBM Plex Mono" pitchFamily="49" charset="-120"/>
              </a:rPr>
              <a:t>&lt;/dt&gt;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&lt;dd&gt;</a:t>
            </a:r>
            <a:r>
              <a:rPr lang="en-US" sz="1300" dirty="0">
                <a:solidFill>
                  <a:srgbClr val="E6EDF3"/>
                </a:solidFill>
                <a:latin typeface="IBM Plex Mono" pitchFamily="49" charset="0"/>
                <a:ea typeface="IBM Plex Mono" pitchFamily="49" charset="-122"/>
                <a:cs typeface="IBM Plex Mono" pitchFamily="49" charset="-120"/>
              </a:rPr>
              <a:t>Hardware that hosts sites.</a:t>
            </a:r>
            <a:r>
              <a:rPr lang="en-US" sz="1300" dirty="0">
                <a:solidFill>
                  <a:srgbClr val="FF9E64"/>
                </a:solidFill>
                <a:latin typeface="IBM Plex Mono" pitchFamily="49" charset="0"/>
                <a:ea typeface="IBM Plex Mono" pitchFamily="49" charset="-122"/>
                <a:cs typeface="IBM Plex Mono" pitchFamily="49" charset="-120"/>
              </a:rPr>
              <a:t>&lt;/dd&gt;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&lt;dd&gt;</a:t>
            </a:r>
            <a:r>
              <a:rPr lang="en-US" sz="1300" dirty="0">
                <a:solidFill>
                  <a:srgbClr val="E6EDF3"/>
                </a:solidFill>
                <a:latin typeface="IBM Plex Mono" pitchFamily="49" charset="0"/>
                <a:ea typeface="IBM Plex Mono" pitchFamily="49" charset="-122"/>
                <a:cs typeface="IBM Plex Mono" pitchFamily="49" charset="-120"/>
              </a:rPr>
              <a:t>Software such as Apache.</a:t>
            </a:r>
            <a:r>
              <a:rPr lang="en-US" sz="1300" dirty="0">
                <a:solidFill>
                  <a:srgbClr val="FF9E64"/>
                </a:solidFill>
                <a:latin typeface="IBM Plex Mono" pitchFamily="49" charset="0"/>
                <a:ea typeface="IBM Plex Mono" pitchFamily="49" charset="-122"/>
                <a:cs typeface="IBM Plex Mono" pitchFamily="49" charset="-120"/>
              </a:rPr>
              <a:t>&lt;/dd&gt;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&lt;/dl&gt;</a:t>
            </a:r>
            <a:endParaRPr lang="en-US" sz="1300" dirty="0"/>
          </a:p>
        </p:txBody>
      </p:sp>
      <p:sp>
        <p:nvSpPr>
          <p:cNvPr id="5" name="Text 3"/>
          <p:cNvSpPr/>
          <p:nvPr/>
        </p:nvSpPr>
        <p:spPr>
          <a:xfrm>
            <a:off x="6781800" y="1981101"/>
            <a:ext cx="473532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dt</a:t>
            </a:r>
            <a:r>
              <a:rPr lang="en-US" sz="1400" dirty="0">
                <a:solidFill>
                  <a:srgbClr val="1F2A37"/>
                </a:solidFill>
                <a:latin typeface="IBM Plex Sans" pitchFamily="34" charset="0"/>
                <a:ea typeface="IBM Plex Sans" pitchFamily="34" charset="-122"/>
                <a:cs typeface="IBM Plex Sans" pitchFamily="34" charset="-120"/>
              </a:rPr>
              <a:t> — the term (description term)</a:t>
            </a:r>
            <a:endParaRPr lang="en-US" sz="1400" dirty="0"/>
          </a:p>
        </p:txBody>
      </p:sp>
      <p:sp>
        <p:nvSpPr>
          <p:cNvPr id="6" name="Text 4"/>
          <p:cNvSpPr/>
          <p:nvPr/>
        </p:nvSpPr>
        <p:spPr>
          <a:xfrm>
            <a:off x="6781800" y="2356941"/>
            <a:ext cx="473532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dd</a:t>
            </a:r>
            <a:r>
              <a:rPr lang="en-US" sz="1400" dirty="0">
                <a:solidFill>
                  <a:srgbClr val="1F2A37"/>
                </a:solidFill>
                <a:latin typeface="IBM Plex Sans" pitchFamily="34" charset="0"/>
                <a:ea typeface="IBM Plex Sans" pitchFamily="34" charset="-122"/>
                <a:cs typeface="IBM Plex Sans" pitchFamily="34" charset="-120"/>
              </a:rPr>
              <a:t> — its description; indented by default</a:t>
            </a:r>
            <a:endParaRPr lang="en-US" sz="1400" dirty="0"/>
          </a:p>
        </p:txBody>
      </p:sp>
      <p:sp>
        <p:nvSpPr>
          <p:cNvPr id="7" name="Text 5"/>
          <p:cNvSpPr/>
          <p:nvPr/>
        </p:nvSpPr>
        <p:spPr>
          <a:xfrm>
            <a:off x="6781800" y="2732782"/>
            <a:ext cx="473532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One term may have </a:t>
            </a:r>
            <a:r>
              <a:rPr lang="en-US" sz="1400" b="1" dirty="0">
                <a:solidFill>
                  <a:srgbClr val="1F2A37"/>
                </a:solidFill>
                <a:latin typeface="IBM Plex Sans" pitchFamily="34" charset="0"/>
                <a:ea typeface="IBM Plex Sans" pitchFamily="34" charset="-122"/>
                <a:cs typeface="IBM Plex Sans" pitchFamily="34" charset="-120"/>
              </a:rPr>
              <a:t>several dd</a:t>
            </a:r>
            <a:r>
              <a:rPr lang="en-US" sz="1400" dirty="0">
                <a:solidFill>
                  <a:srgbClr val="1F2A37"/>
                </a:solidFill>
                <a:latin typeface="IBM Plex Sans" pitchFamily="34" charset="0"/>
                <a:ea typeface="IBM Plex Sans" pitchFamily="34" charset="-122"/>
                <a:cs typeface="IBM Plex Sans" pitchFamily="34" charset="-120"/>
              </a:rPr>
              <a:t> (Server above), and several dt may share one dd.</a:t>
            </a:r>
            <a:endParaRPr lang="en-US" sz="1400" dirty="0"/>
          </a:p>
        </p:txBody>
      </p:sp>
      <p:sp>
        <p:nvSpPr>
          <p:cNvPr id="8" name="Text 6"/>
          <p:cNvSpPr/>
          <p:nvPr/>
        </p:nvSpPr>
        <p:spPr>
          <a:xfrm>
            <a:off x="6781800" y="3357463"/>
            <a:ext cx="54102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Uses: glossaries, FAQs, product specs, name–value metadata.</a:t>
            </a:r>
            <a:endParaRPr lang="en-US" sz="13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LISTS IN PRACTICE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Every navigation menu is a list of links</a:t>
            </a:r>
            <a:endParaRPr lang="en-US" sz="3200" dirty="0"/>
          </a:p>
        </p:txBody>
      </p:sp>
      <p:sp>
        <p:nvSpPr>
          <p:cNvPr id="4" name="Text 2"/>
          <p:cNvSpPr/>
          <p:nvPr/>
        </p:nvSpPr>
        <p:spPr>
          <a:xfrm>
            <a:off x="812800" y="1981101"/>
            <a:ext cx="5715000" cy="2453481"/>
          </a:xfrm>
          <a:prstGeom prst="roundRect">
            <a:avLst>
              <a:gd name="adj" fmla="val 4141"/>
            </a:avLst>
          </a:prstGeom>
          <a:solidFill>
            <a:srgbClr val="1B2430"/>
          </a:solidFill>
          <a:ln/>
        </p:spPr>
        <p:txBody>
          <a:bodyPr wrap="square" lIns="224242" tIns="173442" rIns="68032"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&lt;nav&gt;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&lt;ul&gt;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&lt;li&gt;&lt;a</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href</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"index.html"</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Home</a:t>
            </a:r>
            <a:r>
              <a:rPr lang="en-US" sz="1300" dirty="0">
                <a:solidFill>
                  <a:srgbClr val="FF9E64"/>
                </a:solidFill>
                <a:latin typeface="IBM Plex Mono" pitchFamily="49" charset="0"/>
                <a:ea typeface="IBM Plex Mono" pitchFamily="49" charset="-122"/>
                <a:cs typeface="IBM Plex Mono" pitchFamily="49" charset="-120"/>
              </a:rPr>
              <a:t>&lt;/a&gt;&lt;/li&gt;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&lt;li&gt;&lt;a</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href</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"about.html"</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About</a:t>
            </a:r>
            <a:r>
              <a:rPr lang="en-US" sz="1300" dirty="0">
                <a:solidFill>
                  <a:srgbClr val="FF9E64"/>
                </a:solidFill>
                <a:latin typeface="IBM Plex Mono" pitchFamily="49" charset="0"/>
                <a:ea typeface="IBM Plex Mono" pitchFamily="49" charset="-122"/>
                <a:cs typeface="IBM Plex Mono" pitchFamily="49" charset="-120"/>
              </a:rPr>
              <a:t>&lt;/a&gt;&lt;/li&gt;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&lt;li&gt;&lt;a</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href</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"courses.html"</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Courses</a:t>
            </a:r>
            <a:r>
              <a:rPr lang="en-US" sz="1300" dirty="0">
                <a:solidFill>
                  <a:srgbClr val="FF9E64"/>
                </a:solidFill>
                <a:latin typeface="IBM Plex Mono" pitchFamily="49" charset="0"/>
                <a:ea typeface="IBM Plex Mono" pitchFamily="49" charset="-122"/>
                <a:cs typeface="IBM Plex Mono" pitchFamily="49" charset="-120"/>
              </a:rPr>
              <a:t>&lt;/a&gt;&lt;/li&gt;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&lt;li&gt;&lt;a</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href</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"contact.html"</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Contact</a:t>
            </a:r>
            <a:r>
              <a:rPr lang="en-US" sz="1300" dirty="0">
                <a:solidFill>
                  <a:srgbClr val="FF9E64"/>
                </a:solidFill>
                <a:latin typeface="IBM Plex Mono" pitchFamily="49" charset="0"/>
                <a:ea typeface="IBM Plex Mono" pitchFamily="49" charset="-122"/>
                <a:cs typeface="IBM Plex Mono" pitchFamily="49" charset="-120"/>
              </a:rPr>
              <a:t>&lt;/a&gt;&lt;/li&gt;</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&lt;/ul&gt;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&lt;/nav&gt;</a:t>
            </a:r>
            <a:endParaRPr lang="en-US" sz="1300" dirty="0"/>
          </a:p>
        </p:txBody>
      </p:sp>
      <p:sp>
        <p:nvSpPr>
          <p:cNvPr id="5" name="Text 3"/>
          <p:cNvSpPr/>
          <p:nvPr/>
        </p:nvSpPr>
        <p:spPr>
          <a:xfrm>
            <a:off x="6781800" y="1981101"/>
            <a:ext cx="54102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nav</a:t>
            </a:r>
            <a:r>
              <a:rPr lang="en-US" sz="1400" dirty="0">
                <a:solidFill>
                  <a:srgbClr val="1F2A37"/>
                </a:solidFill>
                <a:latin typeface="IBM Plex Sans" pitchFamily="34" charset="0"/>
                <a:ea typeface="IBM Plex Sans" pitchFamily="34" charset="-122"/>
                <a:cs typeface="IBM Plex Sans" pitchFamily="34" charset="-120"/>
              </a:rPr>
              <a:t> marks the main navigation block (more in Lecture 4).</a:t>
            </a:r>
            <a:endParaRPr lang="en-US" sz="1400" dirty="0"/>
          </a:p>
        </p:txBody>
      </p:sp>
      <p:sp>
        <p:nvSpPr>
          <p:cNvPr id="6" name="Text 4"/>
          <p:cNvSpPr/>
          <p:nvPr/>
        </p:nvSpPr>
        <p:spPr>
          <a:xfrm>
            <a:off x="6781800" y="2356941"/>
            <a:ext cx="473532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A screen reader announces “navigation, list, 4 items” — users know how big the menu is.</a:t>
            </a:r>
            <a:endParaRPr lang="en-US" sz="1400" dirty="0"/>
          </a:p>
        </p:txBody>
      </p:sp>
      <p:sp>
        <p:nvSpPr>
          <p:cNvPr id="7" name="Text 5"/>
          <p:cNvSpPr/>
          <p:nvPr/>
        </p:nvSpPr>
        <p:spPr>
          <a:xfrm>
            <a:off x="6781800" y="2981623"/>
            <a:ext cx="473532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CSS later turns the vertical list into a horizontal bar; Bootstrap’s navbar is built the same way.</a:t>
            </a:r>
            <a:endParaRPr lang="en-US" sz="14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LINKS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anchor element puts the “hyper” in hypertext</a:t>
            </a:r>
            <a:endParaRPr lang="en-US" sz="3200" dirty="0"/>
          </a:p>
        </p:txBody>
      </p:sp>
      <p:sp>
        <p:nvSpPr>
          <p:cNvPr id="4" name="Text 2"/>
          <p:cNvSpPr/>
          <p:nvPr/>
        </p:nvSpPr>
        <p:spPr>
          <a:xfrm>
            <a:off x="812800" y="1981101"/>
            <a:ext cx="4882158" cy="624780"/>
          </a:xfrm>
          <a:custGeom>
            <a:avLst/>
            <a:gdLst/>
            <a:ahLst/>
            <a:cxnLst/>
            <a:rect l="l" t="t" r="r" b="b"/>
            <a:pathLst>
              <a:path w="4882158" h="624780">
                <a:moveTo>
                  <a:pt x="101600" y="0"/>
                </a:moveTo>
                <a:lnTo>
                  <a:pt x="4882158" y="0"/>
                </a:lnTo>
                <a:lnTo>
                  <a:pt x="4882158" y="624780"/>
                </a:lnTo>
                <a:lnTo>
                  <a:pt x="101600" y="624780"/>
                </a:lnTo>
                <a:arcTo hR="101600" wR="101600" stAng="5400000" swAng="5400000"/>
                <a:lnTo>
                  <a:pt x="0" y="101600"/>
                </a:lnTo>
                <a:arcTo hR="101600" wR="101600" stAng="10800000" swAng="5400000"/>
                <a:close/>
              </a:path>
            </a:pathLst>
          </a:custGeom>
          <a:solidFill>
            <a:srgbClr val="1B2430"/>
          </a:solidFill>
          <a:ln/>
        </p:spPr>
        <p:txBody>
          <a:bodyPr wrap="none" lIns="0" tIns="0" rIns="0" bIns="0" rtlCol="0" anchor="ctr">
            <a:normAutofit/>
          </a:bodyPr>
          <a:lstStyle/>
          <a:p>
            <a:pPr algn="ctr" indent="0" marL="0">
              <a:lnSpc>
                <a:spcPts val="2520"/>
              </a:lnSpc>
              <a:buNone/>
            </a:pPr>
            <a:r>
              <a:rPr lang="en-US" sz="1800" dirty="0">
                <a:solidFill>
                  <a:srgbClr val="FF9E64"/>
                </a:solidFill>
                <a:latin typeface="IBM Plex Mono" pitchFamily="49" charset="0"/>
                <a:ea typeface="IBM Plex Mono" pitchFamily="49" charset="-122"/>
                <a:cs typeface="IBM Plex Mono" pitchFamily="49" charset="-120"/>
              </a:rPr>
              <a:t>&lt;a </a:t>
            </a:r>
            <a:r>
              <a:rPr lang="en-US" sz="1800" dirty="0">
                <a:solidFill>
                  <a:srgbClr val="7DCFFF"/>
                </a:solidFill>
                <a:latin typeface="IBM Plex Mono" pitchFamily="49" charset="0"/>
                <a:ea typeface="IBM Plex Mono" pitchFamily="49" charset="-122"/>
                <a:cs typeface="IBM Plex Mono" pitchFamily="49" charset="-120"/>
              </a:rPr>
              <a:t>href</a:t>
            </a:r>
            <a:r>
              <a:rPr lang="en-US" sz="1800" dirty="0">
                <a:solidFill>
                  <a:srgbClr val="FF9E64"/>
                </a:solidFill>
                <a:latin typeface="IBM Plex Mono" pitchFamily="49" charset="0"/>
                <a:ea typeface="IBM Plex Mono" pitchFamily="49" charset="-122"/>
                <a:cs typeface="IBM Plex Mono" pitchFamily="49" charset="-120"/>
              </a:rPr>
              <a:t>=</a:t>
            </a:r>
            <a:r>
              <a:rPr lang="en-US" sz="1800" dirty="0">
                <a:solidFill>
                  <a:srgbClr val="9ECE6A"/>
                </a:solidFill>
                <a:latin typeface="IBM Plex Mono" pitchFamily="49" charset="0"/>
                <a:ea typeface="IBM Plex Mono" pitchFamily="49" charset="-122"/>
                <a:cs typeface="IBM Plex Mono" pitchFamily="49" charset="-120"/>
              </a:rPr>
              <a:t>"https://iqraisb.edu.pk"</a:t>
            </a:r>
            <a:r>
              <a:rPr lang="en-US" sz="1800" dirty="0">
                <a:solidFill>
                  <a:srgbClr val="FF9E64"/>
                </a:solidFill>
                <a:latin typeface="IBM Plex Mono" pitchFamily="49" charset="0"/>
                <a:ea typeface="IBM Plex Mono" pitchFamily="49" charset="-122"/>
                <a:cs typeface="IBM Plex Mono" pitchFamily="49" charset="-120"/>
              </a:rPr>
              <a:t>&gt;</a:t>
            </a:r>
            <a:endParaRPr lang="en-US" sz="1800" dirty="0"/>
          </a:p>
        </p:txBody>
      </p:sp>
      <p:sp>
        <p:nvSpPr>
          <p:cNvPr id="5" name="Text 3"/>
          <p:cNvSpPr/>
          <p:nvPr/>
        </p:nvSpPr>
        <p:spPr>
          <a:xfrm>
            <a:off x="812800" y="2682081"/>
            <a:ext cx="502862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75467"/>
                </a:solidFill>
                <a:latin typeface="IBM Plex Sans" pitchFamily="34" charset="0"/>
                <a:ea typeface="IBM Plex Sans" pitchFamily="34" charset="-122"/>
                <a:cs typeface="IBM Plex Sans" pitchFamily="34" charset="-120"/>
              </a:rPr>
              <a:t>href = the destination (hypertext reference)</a:t>
            </a:r>
            <a:endParaRPr lang="en-US" sz="1300" dirty="0"/>
          </a:p>
        </p:txBody>
      </p:sp>
      <p:sp>
        <p:nvSpPr>
          <p:cNvPr id="6" name="Text 4"/>
          <p:cNvSpPr/>
          <p:nvPr/>
        </p:nvSpPr>
        <p:spPr>
          <a:xfrm>
            <a:off x="5694958" y="1981101"/>
            <a:ext cx="2413000" cy="624780"/>
          </a:xfrm>
          <a:prstGeom prst="rect">
            <a:avLst/>
          </a:prstGeom>
          <a:solidFill>
            <a:srgbClr val="FCE7DA"/>
          </a:solidFill>
          <a:ln/>
        </p:spPr>
        <p:txBody>
          <a:bodyPr wrap="none" lIns="0" tIns="0" rIns="0" bIns="0" rtlCol="0" anchor="ctr">
            <a:normAutofit/>
          </a:bodyPr>
          <a:lstStyle/>
          <a:p>
            <a:pPr algn="ctr" indent="0" marL="0">
              <a:lnSpc>
                <a:spcPts val="2520"/>
              </a:lnSpc>
              <a:buNone/>
            </a:pPr>
            <a:r>
              <a:rPr lang="en-US" sz="1800" dirty="0">
                <a:solidFill>
                  <a:srgbClr val="16202E"/>
                </a:solidFill>
                <a:latin typeface="IBM Plex Mono" pitchFamily="49" charset="0"/>
                <a:ea typeface="IBM Plex Mono" pitchFamily="49" charset="-122"/>
                <a:cs typeface="IBM Plex Mono" pitchFamily="49" charset="-120"/>
              </a:rPr>
              <a:t>Iqra University</a:t>
            </a:r>
            <a:endParaRPr lang="en-US" sz="1800" dirty="0"/>
          </a:p>
        </p:txBody>
      </p:sp>
      <p:sp>
        <p:nvSpPr>
          <p:cNvPr id="7" name="Text 5"/>
          <p:cNvSpPr/>
          <p:nvPr/>
        </p:nvSpPr>
        <p:spPr>
          <a:xfrm>
            <a:off x="5694958" y="2682081"/>
            <a:ext cx="248539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75467"/>
                </a:solidFill>
                <a:latin typeface="IBM Plex Sans" pitchFamily="34" charset="0"/>
                <a:ea typeface="IBM Plex Sans" pitchFamily="34" charset="-122"/>
                <a:cs typeface="IBM Plex Sans" pitchFamily="34" charset="-120"/>
              </a:rPr>
              <a:t>Link text — what users click</a:t>
            </a:r>
            <a:endParaRPr lang="en-US" sz="1300" dirty="0"/>
          </a:p>
        </p:txBody>
      </p:sp>
      <p:sp>
        <p:nvSpPr>
          <p:cNvPr id="8" name="Text 6"/>
          <p:cNvSpPr/>
          <p:nvPr/>
        </p:nvSpPr>
        <p:spPr>
          <a:xfrm>
            <a:off x="8107958" y="1981101"/>
            <a:ext cx="904280" cy="624780"/>
          </a:xfrm>
          <a:custGeom>
            <a:avLst/>
            <a:gdLst/>
            <a:ahLst/>
            <a:cxnLst/>
            <a:rect l="l" t="t" r="r" b="b"/>
            <a:pathLst>
              <a:path w="904280" h="624780">
                <a:moveTo>
                  <a:pt x="0" y="0"/>
                </a:moveTo>
                <a:lnTo>
                  <a:pt x="802680" y="0"/>
                </a:lnTo>
                <a:arcTo hR="101600" wR="101600" stAng="16200000" swAng="5400000"/>
                <a:lnTo>
                  <a:pt x="904280" y="523180"/>
                </a:lnTo>
                <a:arcTo hR="101600" wR="101600" stAng="0" swAng="5400000"/>
                <a:lnTo>
                  <a:pt x="0" y="624780"/>
                </a:lnTo>
                <a:lnTo>
                  <a:pt x="0" y="0"/>
                </a:lnTo>
                <a:close/>
              </a:path>
            </a:pathLst>
          </a:custGeom>
          <a:solidFill>
            <a:srgbClr val="1B2430"/>
          </a:solidFill>
          <a:ln/>
        </p:spPr>
        <p:txBody>
          <a:bodyPr wrap="none" lIns="0" tIns="0" rIns="0" bIns="0" rtlCol="0" anchor="ctr">
            <a:normAutofit/>
          </a:bodyPr>
          <a:lstStyle/>
          <a:p>
            <a:pPr algn="ctr" indent="0" marL="0">
              <a:lnSpc>
                <a:spcPts val="2520"/>
              </a:lnSpc>
              <a:buNone/>
            </a:pPr>
            <a:r>
              <a:rPr lang="en-US" sz="1800" dirty="0">
                <a:solidFill>
                  <a:srgbClr val="FF9E64"/>
                </a:solidFill>
                <a:latin typeface="IBM Plex Mono" pitchFamily="49" charset="0"/>
                <a:ea typeface="IBM Plex Mono" pitchFamily="49" charset="-122"/>
                <a:cs typeface="IBM Plex Mono" pitchFamily="49" charset="-120"/>
              </a:rPr>
              <a:t>&lt;/a&gt;</a:t>
            </a:r>
            <a:endParaRPr lang="en-US" sz="1800" dirty="0"/>
          </a:p>
        </p:txBody>
      </p:sp>
      <p:sp>
        <p:nvSpPr>
          <p:cNvPr id="9" name="Shape 7"/>
          <p:cNvSpPr/>
          <p:nvPr/>
        </p:nvSpPr>
        <p:spPr>
          <a:xfrm>
            <a:off x="815975" y="3170337"/>
            <a:ext cx="3414117" cy="1141512"/>
          </a:xfrm>
          <a:prstGeom prst="roundRect">
            <a:avLst>
              <a:gd name="adj" fmla="val 8622"/>
            </a:avLst>
          </a:prstGeom>
          <a:solidFill>
            <a:srgbClr val="FFFDF9"/>
          </a:solidFill>
          <a:ln w="6350">
            <a:solidFill>
              <a:srgbClr val="E4E0D8"/>
            </a:solidFill>
            <a:prstDash val="solid"/>
          </a:ln>
        </p:spPr>
      </p:sp>
      <p:sp>
        <p:nvSpPr>
          <p:cNvPr id="10" name="Text 8"/>
          <p:cNvSpPr/>
          <p:nvPr/>
        </p:nvSpPr>
        <p:spPr>
          <a:xfrm>
            <a:off x="996950" y="3351312"/>
            <a:ext cx="314373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2318"/>
                </a:solidFill>
                <a:latin typeface="IBM Plex Sans" pitchFamily="34" charset="0"/>
                <a:ea typeface="IBM Plex Sans" pitchFamily="34" charset="-122"/>
                <a:cs typeface="IBM Plex Sans" pitchFamily="34" charset="-120"/>
              </a:rPr>
              <a:t>Weak link text</a:t>
            </a:r>
            <a:endParaRPr lang="en-US" sz="1300" dirty="0"/>
          </a:p>
        </p:txBody>
      </p:sp>
      <p:sp>
        <p:nvSpPr>
          <p:cNvPr id="11" name="Text 9"/>
          <p:cNvSpPr/>
          <p:nvPr/>
        </p:nvSpPr>
        <p:spPr>
          <a:xfrm>
            <a:off x="996950" y="3633192"/>
            <a:ext cx="314373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For the timetable, </a:t>
            </a:r>
            <a:r>
              <a:rPr lang="en-US" sz="1400" u="sng" dirty="0">
                <a:solidFill>
                  <a:srgbClr val="1F2A37"/>
                </a:solidFill>
                <a:latin typeface="IBM Plex Sans" pitchFamily="34" charset="0"/>
                <a:ea typeface="IBM Plex Sans" pitchFamily="34" charset="-122"/>
                <a:cs typeface="IBM Plex Sans" pitchFamily="34" charset="-120"/>
              </a:rPr>
              <a:t>click here</a:t>
            </a:r>
            <a:r>
              <a:rPr lang="en-US" sz="1400" dirty="0">
                <a:solidFill>
                  <a:srgbClr val="1F2A37"/>
                </a:solidFill>
                <a:latin typeface="IBM Plex Sans" pitchFamily="34" charset="0"/>
                <a:ea typeface="IBM Plex Sans" pitchFamily="34" charset="-122"/>
                <a:cs typeface="IBM Plex Sans" pitchFamily="34" charset="-120"/>
              </a:rPr>
              <a:t>.</a:t>
            </a:r>
            <a:endParaRPr lang="en-US" sz="1400" dirty="0"/>
          </a:p>
        </p:txBody>
      </p:sp>
      <p:sp>
        <p:nvSpPr>
          <p:cNvPr id="12" name="Shape 10"/>
          <p:cNvSpPr/>
          <p:nvPr/>
        </p:nvSpPr>
        <p:spPr>
          <a:xfrm>
            <a:off x="4388842" y="3170337"/>
            <a:ext cx="3414216" cy="1141512"/>
          </a:xfrm>
          <a:prstGeom prst="roundRect">
            <a:avLst>
              <a:gd name="adj" fmla="val 8622"/>
            </a:avLst>
          </a:prstGeom>
          <a:solidFill>
            <a:srgbClr val="FFFDF9"/>
          </a:solidFill>
          <a:ln w="6350">
            <a:solidFill>
              <a:srgbClr val="E4E0D8"/>
            </a:solidFill>
            <a:prstDash val="solid"/>
          </a:ln>
        </p:spPr>
      </p:sp>
      <p:sp>
        <p:nvSpPr>
          <p:cNvPr id="13" name="Text 11"/>
          <p:cNvSpPr/>
          <p:nvPr/>
        </p:nvSpPr>
        <p:spPr>
          <a:xfrm>
            <a:off x="4569817" y="3351312"/>
            <a:ext cx="314383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F7A1E"/>
                </a:solidFill>
                <a:latin typeface="IBM Plex Sans" pitchFamily="34" charset="0"/>
                <a:ea typeface="IBM Plex Sans" pitchFamily="34" charset="-122"/>
                <a:cs typeface="IBM Plex Sans" pitchFamily="34" charset="-120"/>
              </a:rPr>
              <a:t>Strong link text</a:t>
            </a:r>
            <a:endParaRPr lang="en-US" sz="1300" dirty="0"/>
          </a:p>
        </p:txBody>
      </p:sp>
      <p:sp>
        <p:nvSpPr>
          <p:cNvPr id="14" name="Text 12"/>
          <p:cNvSpPr/>
          <p:nvPr/>
        </p:nvSpPr>
        <p:spPr>
          <a:xfrm>
            <a:off x="4569817" y="3633192"/>
            <a:ext cx="314383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Download the </a:t>
            </a:r>
            <a:r>
              <a:rPr lang="en-US" sz="1400" u="sng" dirty="0">
                <a:solidFill>
                  <a:srgbClr val="1F2A37"/>
                </a:solidFill>
                <a:latin typeface="IBM Plex Sans" pitchFamily="34" charset="0"/>
                <a:ea typeface="IBM Plex Sans" pitchFamily="34" charset="-122"/>
                <a:cs typeface="IBM Plex Sans" pitchFamily="34" charset="-120"/>
              </a:rPr>
              <a:t>Fall 2026 timetable (PDF)</a:t>
            </a:r>
            <a:r>
              <a:rPr lang="en-US" sz="1400" dirty="0">
                <a:solidFill>
                  <a:srgbClr val="1F2A37"/>
                </a:solidFill>
                <a:latin typeface="IBM Plex Sans" pitchFamily="34" charset="0"/>
                <a:ea typeface="IBM Plex Sans" pitchFamily="34" charset="-122"/>
                <a:cs typeface="IBM Plex Sans" pitchFamily="34" charset="-120"/>
              </a:rPr>
              <a:t>.</a:t>
            </a:r>
            <a:endParaRPr lang="en-US" sz="1400" dirty="0"/>
          </a:p>
        </p:txBody>
      </p:sp>
      <p:sp>
        <p:nvSpPr>
          <p:cNvPr id="15" name="Shape 13"/>
          <p:cNvSpPr/>
          <p:nvPr/>
        </p:nvSpPr>
        <p:spPr>
          <a:xfrm>
            <a:off x="7961809" y="3170337"/>
            <a:ext cx="3414216" cy="1141512"/>
          </a:xfrm>
          <a:prstGeom prst="roundRect">
            <a:avLst>
              <a:gd name="adj" fmla="val 8622"/>
            </a:avLst>
          </a:prstGeom>
          <a:solidFill>
            <a:srgbClr val="FFFDF9"/>
          </a:solidFill>
          <a:ln w="6350">
            <a:solidFill>
              <a:srgbClr val="E4E0D8"/>
            </a:solidFill>
            <a:prstDash val="solid"/>
          </a:ln>
        </p:spPr>
      </p:sp>
      <p:sp>
        <p:nvSpPr>
          <p:cNvPr id="16" name="Text 14"/>
          <p:cNvSpPr/>
          <p:nvPr/>
        </p:nvSpPr>
        <p:spPr>
          <a:xfrm>
            <a:off x="8142784" y="3351312"/>
            <a:ext cx="314383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Anything can be a link</a:t>
            </a:r>
            <a:endParaRPr lang="en-US" sz="1300" dirty="0"/>
          </a:p>
        </p:txBody>
      </p:sp>
      <p:sp>
        <p:nvSpPr>
          <p:cNvPr id="17" name="Text 15"/>
          <p:cNvSpPr/>
          <p:nvPr/>
        </p:nvSpPr>
        <p:spPr>
          <a:xfrm>
            <a:off x="8142784" y="3633192"/>
            <a:ext cx="314383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Text, an image or a whole card; in HTML5, a can wrap block content.</a:t>
            </a:r>
            <a:endParaRPr lang="en-US" sz="14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LINKS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Absolute vs relative URLs</a:t>
            </a:r>
            <a:endParaRPr lang="en-US" sz="3200" dirty="0"/>
          </a:p>
        </p:txBody>
      </p:sp>
      <p:sp>
        <p:nvSpPr>
          <p:cNvPr id="4" name="Shape 2"/>
          <p:cNvSpPr/>
          <p:nvPr/>
        </p:nvSpPr>
        <p:spPr>
          <a:xfrm>
            <a:off x="812800" y="1981101"/>
            <a:ext cx="10566400" cy="869950"/>
          </a:xfrm>
          <a:prstGeom prst="roundRect">
            <a:avLst>
              <a:gd name="adj" fmla="val 11679"/>
            </a:avLst>
          </a:prstGeom>
          <a:solidFill>
            <a:srgbClr val="1B2430"/>
          </a:solidFill>
          <a:ln/>
        </p:spPr>
      </p:sp>
      <p:sp>
        <p:nvSpPr>
          <p:cNvPr id="5" name="Text 3"/>
          <p:cNvSpPr/>
          <p:nvPr/>
        </p:nvSpPr>
        <p:spPr>
          <a:xfrm>
            <a:off x="1066800" y="2158901"/>
            <a:ext cx="1036015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F9E64"/>
                </a:solidFill>
                <a:latin typeface="IBM Plex Mono" pitchFamily="49" charset="0"/>
                <a:ea typeface="IBM Plex Mono" pitchFamily="49" charset="-122"/>
                <a:cs typeface="IBM Plex Mono" pitchFamily="49" charset="-120"/>
              </a:rPr>
              <a:t>https://</a:t>
            </a:r>
            <a:r>
              <a:rPr lang="en-US" sz="1500" dirty="0">
                <a:solidFill>
                  <a:srgbClr val="7DCFFF"/>
                </a:solidFill>
                <a:latin typeface="IBM Plex Mono" pitchFamily="49" charset="0"/>
                <a:ea typeface="IBM Plex Mono" pitchFamily="49" charset="-122"/>
                <a:cs typeface="IBM Plex Mono" pitchFamily="49" charset="-120"/>
              </a:rPr>
              <a:t>www.example.com</a:t>
            </a:r>
            <a:r>
              <a:rPr lang="en-US" sz="1500" dirty="0">
                <a:solidFill>
                  <a:srgbClr val="9ECE6A"/>
                </a:solidFill>
                <a:latin typeface="IBM Plex Mono" pitchFamily="49" charset="0"/>
                <a:ea typeface="IBM Plex Mono" pitchFamily="49" charset="-122"/>
                <a:cs typeface="IBM Plex Mono" pitchFamily="49" charset="-120"/>
              </a:rPr>
              <a:t>/courses/web.html</a:t>
            </a:r>
            <a:r>
              <a:rPr lang="en-US" sz="1500" dirty="0">
                <a:solidFill>
                  <a:srgbClr val="E6EDF3"/>
                </a:solidFill>
                <a:latin typeface="IBM Plex Mono" pitchFamily="49" charset="0"/>
                <a:ea typeface="IBM Plex Mono" pitchFamily="49" charset="-122"/>
                <a:cs typeface="IBM Plex Mono" pitchFamily="49" charset="-120"/>
              </a:rPr>
              <a:t>?week=2</a:t>
            </a:r>
            <a:r>
              <a:rPr lang="en-US" sz="1500" dirty="0">
                <a:solidFill>
                  <a:srgbClr val="FF9E64"/>
                </a:solidFill>
                <a:latin typeface="IBM Plex Mono" pitchFamily="49" charset="0"/>
                <a:ea typeface="IBM Plex Mono" pitchFamily="49" charset="-122"/>
                <a:cs typeface="IBM Plex Mono" pitchFamily="49" charset="-120"/>
              </a:rPr>
              <a:t>#labs</a:t>
            </a:r>
            <a:endParaRPr lang="en-US" sz="1500" dirty="0"/>
          </a:p>
        </p:txBody>
      </p:sp>
      <p:sp>
        <p:nvSpPr>
          <p:cNvPr id="6" name="Text 4"/>
          <p:cNvSpPr/>
          <p:nvPr/>
        </p:nvSpPr>
        <p:spPr>
          <a:xfrm>
            <a:off x="1066800" y="2444651"/>
            <a:ext cx="10360152"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9FB0C3"/>
                </a:solidFill>
                <a:latin typeface="IBM Plex Sans" pitchFamily="34" charset="0"/>
                <a:ea typeface="IBM Plex Sans" pitchFamily="34" charset="-122"/>
                <a:cs typeface="IBM Plex Sans" pitchFamily="34" charset="-120"/>
              </a:rPr>
              <a:t>scheme · host · path · query · fragment — the URL anatomy from Week 2</a:t>
            </a:r>
            <a:endParaRPr lang="en-US" sz="1200" dirty="0"/>
          </a:p>
        </p:txBody>
      </p:sp>
      <p:sp>
        <p:nvSpPr>
          <p:cNvPr id="7" name="Shape 5"/>
          <p:cNvSpPr/>
          <p:nvPr/>
        </p:nvSpPr>
        <p:spPr>
          <a:xfrm>
            <a:off x="815975" y="3108226"/>
            <a:ext cx="3414117" cy="1715492"/>
          </a:xfrm>
          <a:prstGeom prst="roundRect">
            <a:avLst>
              <a:gd name="adj" fmla="val 5737"/>
            </a:avLst>
          </a:prstGeom>
          <a:solidFill>
            <a:srgbClr val="FFFDF9"/>
          </a:solidFill>
          <a:ln w="6350">
            <a:solidFill>
              <a:srgbClr val="E4E0D8"/>
            </a:solidFill>
            <a:prstDash val="solid"/>
          </a:ln>
        </p:spPr>
      </p:sp>
      <p:sp>
        <p:nvSpPr>
          <p:cNvPr id="8" name="Text 6"/>
          <p:cNvSpPr/>
          <p:nvPr/>
        </p:nvSpPr>
        <p:spPr>
          <a:xfrm>
            <a:off x="1022350" y="331460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Absolute</a:t>
            </a:r>
            <a:endParaRPr lang="en-US" sz="1600" dirty="0"/>
          </a:p>
        </p:txBody>
      </p:sp>
      <p:sp>
        <p:nvSpPr>
          <p:cNvPr id="9" name="Text 7"/>
          <p:cNvSpPr/>
          <p:nvPr/>
        </p:nvSpPr>
        <p:spPr>
          <a:xfrm>
            <a:off x="1022350" y="3634581"/>
            <a:ext cx="30914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BM Plex Mono" pitchFamily="49" charset="0"/>
                <a:ea typeface="IBM Plex Mono" pitchFamily="49" charset="-122"/>
                <a:cs typeface="IBM Plex Mono" pitchFamily="49" charset="-120"/>
              </a:rPr>
              <a:t>https://w3.org/</a:t>
            </a:r>
            <a:endParaRPr lang="en-US" sz="1200" dirty="0"/>
          </a:p>
        </p:txBody>
      </p:sp>
      <p:sp>
        <p:nvSpPr>
          <p:cNvPr id="10" name="Text 8"/>
          <p:cNvSpPr/>
          <p:nvPr/>
        </p:nvSpPr>
        <p:spPr>
          <a:xfrm>
            <a:off x="1022350" y="3924102"/>
            <a:ext cx="30914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Full address with scheme and host. Use for </a:t>
            </a:r>
            <a:r>
              <a:rPr lang="en-US" sz="1300" b="1" dirty="0">
                <a:solidFill>
                  <a:srgbClr val="1F2A37"/>
                </a:solidFill>
                <a:latin typeface="IBM Plex Sans" pitchFamily="34" charset="0"/>
                <a:ea typeface="IBM Plex Sans" pitchFamily="34" charset="-122"/>
                <a:cs typeface="IBM Plex Sans" pitchFamily="34" charset="-120"/>
              </a:rPr>
              <a:t>other websites</a:t>
            </a:r>
            <a:r>
              <a:rPr lang="en-US" sz="1300" dirty="0">
                <a:solidFill>
                  <a:srgbClr val="1F2A37"/>
                </a:solidFill>
                <a:latin typeface="IBM Plex Sans" pitchFamily="34" charset="0"/>
                <a:ea typeface="IBM Plex Sans" pitchFamily="34" charset="-122"/>
                <a:cs typeface="IBM Plex Sans" pitchFamily="34" charset="-120"/>
              </a:rPr>
              <a:t>.</a:t>
            </a:r>
            <a:endParaRPr lang="en-US" sz="1300" dirty="0"/>
          </a:p>
        </p:txBody>
      </p:sp>
      <p:sp>
        <p:nvSpPr>
          <p:cNvPr id="11" name="Shape 9"/>
          <p:cNvSpPr/>
          <p:nvPr/>
        </p:nvSpPr>
        <p:spPr>
          <a:xfrm>
            <a:off x="4388842" y="3108226"/>
            <a:ext cx="3414216" cy="1715492"/>
          </a:xfrm>
          <a:prstGeom prst="roundRect">
            <a:avLst>
              <a:gd name="adj" fmla="val 5737"/>
            </a:avLst>
          </a:prstGeom>
          <a:solidFill>
            <a:srgbClr val="FFFDF9"/>
          </a:solidFill>
          <a:ln w="6350">
            <a:solidFill>
              <a:srgbClr val="E4E0D8"/>
            </a:solidFill>
            <a:prstDash val="solid"/>
          </a:ln>
        </p:spPr>
      </p:sp>
      <p:sp>
        <p:nvSpPr>
          <p:cNvPr id="12" name="Text 10"/>
          <p:cNvSpPr/>
          <p:nvPr/>
        </p:nvSpPr>
        <p:spPr>
          <a:xfrm>
            <a:off x="4595217" y="331460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Relative</a:t>
            </a:r>
            <a:endParaRPr lang="en-US" sz="1600" dirty="0"/>
          </a:p>
        </p:txBody>
      </p:sp>
      <p:sp>
        <p:nvSpPr>
          <p:cNvPr id="13" name="Text 11"/>
          <p:cNvSpPr/>
          <p:nvPr/>
        </p:nvSpPr>
        <p:spPr>
          <a:xfrm>
            <a:off x="4595217" y="3634581"/>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BM Plex Mono" pitchFamily="49" charset="0"/>
                <a:ea typeface="IBM Plex Mono" pitchFamily="49" charset="-122"/>
                <a:cs typeface="IBM Plex Mono" pitchFamily="49" charset="-120"/>
              </a:rPr>
              <a:t>courses/web.html</a:t>
            </a:r>
            <a:endParaRPr lang="en-US" sz="1200" dirty="0"/>
          </a:p>
        </p:txBody>
      </p:sp>
      <p:sp>
        <p:nvSpPr>
          <p:cNvPr id="14" name="Text 12"/>
          <p:cNvSpPr/>
          <p:nvPr/>
        </p:nvSpPr>
        <p:spPr>
          <a:xfrm>
            <a:off x="4595217" y="3924102"/>
            <a:ext cx="309151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Path from the </a:t>
            </a:r>
            <a:r>
              <a:rPr lang="en-US" sz="1300" b="1" dirty="0">
                <a:solidFill>
                  <a:srgbClr val="1F2A37"/>
                </a:solidFill>
                <a:latin typeface="IBM Plex Sans" pitchFamily="34" charset="0"/>
                <a:ea typeface="IBM Plex Sans" pitchFamily="34" charset="-122"/>
                <a:cs typeface="IBM Plex Sans" pitchFamily="34" charset="-120"/>
              </a:rPr>
              <a:t>current page’s folder</a:t>
            </a:r>
            <a:r>
              <a:rPr lang="en-US" sz="1300" dirty="0">
                <a:solidFill>
                  <a:srgbClr val="1F2A37"/>
                </a:solidFill>
                <a:latin typeface="IBM Plex Sans" pitchFamily="34" charset="0"/>
                <a:ea typeface="IBM Plex Sans" pitchFamily="34" charset="-122"/>
                <a:cs typeface="IBM Plex Sans" pitchFamily="34" charset="-120"/>
              </a:rPr>
              <a:t>. Use inside your site; works offline and on any server.</a:t>
            </a:r>
            <a:endParaRPr lang="en-US" sz="1300" dirty="0"/>
          </a:p>
        </p:txBody>
      </p:sp>
      <p:sp>
        <p:nvSpPr>
          <p:cNvPr id="15" name="Shape 13"/>
          <p:cNvSpPr/>
          <p:nvPr/>
        </p:nvSpPr>
        <p:spPr>
          <a:xfrm>
            <a:off x="7961809" y="3108226"/>
            <a:ext cx="3414216" cy="1715492"/>
          </a:xfrm>
          <a:prstGeom prst="roundRect">
            <a:avLst>
              <a:gd name="adj" fmla="val 5737"/>
            </a:avLst>
          </a:prstGeom>
          <a:solidFill>
            <a:srgbClr val="FFFDF9"/>
          </a:solidFill>
          <a:ln w="6350">
            <a:solidFill>
              <a:srgbClr val="E4E0D8"/>
            </a:solidFill>
            <a:prstDash val="solid"/>
          </a:ln>
        </p:spPr>
      </p:sp>
      <p:sp>
        <p:nvSpPr>
          <p:cNvPr id="16" name="Text 14"/>
          <p:cNvSpPr/>
          <p:nvPr/>
        </p:nvSpPr>
        <p:spPr>
          <a:xfrm>
            <a:off x="8168184" y="331460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Root-relative</a:t>
            </a:r>
            <a:endParaRPr lang="en-US" sz="1600" dirty="0"/>
          </a:p>
        </p:txBody>
      </p:sp>
      <p:sp>
        <p:nvSpPr>
          <p:cNvPr id="17" name="Text 15"/>
          <p:cNvSpPr/>
          <p:nvPr/>
        </p:nvSpPr>
        <p:spPr>
          <a:xfrm>
            <a:off x="8168184" y="3634581"/>
            <a:ext cx="30915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BM Plex Mono" pitchFamily="49" charset="0"/>
                <a:ea typeface="IBM Plex Mono" pitchFamily="49" charset="-122"/>
                <a:cs typeface="IBM Plex Mono" pitchFamily="49" charset="-120"/>
              </a:rPr>
              <a:t>/courses/web.html</a:t>
            </a:r>
            <a:endParaRPr lang="en-US" sz="1200" dirty="0"/>
          </a:p>
        </p:txBody>
      </p:sp>
      <p:sp>
        <p:nvSpPr>
          <p:cNvPr id="18" name="Text 16"/>
          <p:cNvSpPr/>
          <p:nvPr/>
        </p:nvSpPr>
        <p:spPr>
          <a:xfrm>
            <a:off x="8168184" y="3924102"/>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Starts with / = from the </a:t>
            </a:r>
            <a:r>
              <a:rPr lang="en-US" sz="1300" b="1" dirty="0">
                <a:solidFill>
                  <a:srgbClr val="1F2A37"/>
                </a:solidFill>
                <a:latin typeface="IBM Plex Sans" pitchFamily="34" charset="0"/>
                <a:ea typeface="IBM Plex Sans" pitchFamily="34" charset="-122"/>
                <a:cs typeface="IBM Plex Sans" pitchFamily="34" charset="-120"/>
              </a:rPr>
              <a:t>site root</a:t>
            </a:r>
            <a:r>
              <a:rPr lang="en-US" sz="1300" dirty="0">
                <a:solidFill>
                  <a:srgbClr val="1F2A37"/>
                </a:solidFill>
                <a:latin typeface="IBM Plex Sans" pitchFamily="34" charset="0"/>
                <a:ea typeface="IBM Plex Sans" pitchFamily="34" charset="-122"/>
                <a:cs typeface="IBM Plex Sans" pitchFamily="34" charset="-120"/>
              </a:rPr>
              <a:t>. Needs a web server (XAMPP, Live Server).</a:t>
            </a:r>
            <a:endParaRPr lang="en-US" sz="13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PATHS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Navigating folders with relative paths</a:t>
            </a:r>
            <a:endParaRPr lang="en-US" sz="3200" dirty="0"/>
          </a:p>
        </p:txBody>
      </p:sp>
      <p:sp>
        <p:nvSpPr>
          <p:cNvPr id="4" name="Text 2"/>
          <p:cNvSpPr/>
          <p:nvPr/>
        </p:nvSpPr>
        <p:spPr>
          <a:xfrm>
            <a:off x="812800" y="1981101"/>
            <a:ext cx="3302000" cy="3221137"/>
          </a:xfrm>
          <a:prstGeom prst="roundRect">
            <a:avLst>
              <a:gd name="adj" fmla="val 3154"/>
            </a:avLst>
          </a:prstGeom>
          <a:solidFill>
            <a:srgbClr val="1B2430"/>
          </a:solidFill>
          <a:ln/>
        </p:spPr>
        <p:txBody>
          <a:bodyPr wrap="square" lIns="198842" tIns="173442" rIns="113498"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my-site/</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index.html</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about.html</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css/</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style.css</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images/</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logo.png</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courses/</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web.html</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a:t>
            </a:r>
            <a:r>
              <a:rPr lang="en-US" sz="1300" dirty="0">
                <a:solidFill>
                  <a:srgbClr val="FF9E64"/>
                </a:solidFill>
                <a:latin typeface="IBM Plex Mono" pitchFamily="49" charset="0"/>
                <a:ea typeface="IBM Plex Mono" pitchFamily="49" charset="-122"/>
                <a:cs typeface="IBM Plex Mono" pitchFamily="49" charset="-120"/>
              </a:rPr>
              <a:t>images/</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web.jpg</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381500" y="1993801"/>
          <a:ext cx="6997700" cy="2514898"/>
        </p:xfrm>
        <a:graphic>
          <a:graphicData uri="http://schemas.openxmlformats.org/drawingml/2006/table">
            <a:tbl>
              <a:tblPr/>
              <a:tblGrid>
                <a:gridCol w="2099310"/>
                <a:gridCol w="2099310"/>
                <a:gridCol w="2799080"/>
              </a:tblGrid>
              <a:tr h="359271">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From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href / src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index.html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about.html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about.html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index.html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web.html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courses/web.html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web.html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index.html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../index.html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web.html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logo.png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../images/logo.png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web.html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web.jpg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images/web.jpg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any page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style.css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/css/style.css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6" name="Text 3"/>
          <p:cNvSpPr/>
          <p:nvPr/>
        </p:nvSpPr>
        <p:spPr>
          <a:xfrm>
            <a:off x="812800" y="5456238"/>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folder/</a:t>
            </a:r>
            <a:r>
              <a:rPr lang="en-US" sz="1400" dirty="0">
                <a:solidFill>
                  <a:srgbClr val="1F2A37"/>
                </a:solidFill>
                <a:latin typeface="IBM Plex Sans" pitchFamily="34" charset="0"/>
                <a:ea typeface="IBM Plex Sans" pitchFamily="34" charset="-122"/>
                <a:cs typeface="IBM Plex Sans" pitchFamily="34" charset="-120"/>
              </a:rPr>
              <a:t> = go down into a folder · </a:t>
            </a:r>
            <a:r>
              <a:rPr lang="en-US" sz="1400" b="1" dirty="0">
                <a:solidFill>
                  <a:srgbClr val="1F2A37"/>
                </a:solidFill>
                <a:latin typeface="IBM Plex Sans" pitchFamily="34" charset="0"/>
                <a:ea typeface="IBM Plex Sans" pitchFamily="34" charset="-122"/>
                <a:cs typeface="IBM Plex Sans" pitchFamily="34" charset="-120"/>
              </a:rPr>
              <a:t>../</a:t>
            </a:r>
            <a:r>
              <a:rPr lang="en-US" sz="1400" dirty="0">
                <a:solidFill>
                  <a:srgbClr val="1F2A37"/>
                </a:solidFill>
                <a:latin typeface="IBM Plex Sans" pitchFamily="34" charset="0"/>
                <a:ea typeface="IBM Plex Sans" pitchFamily="34" charset="-122"/>
                <a:cs typeface="IBM Plex Sans" pitchFamily="34" charset="-120"/>
              </a:rPr>
              <a:t> = go up one level · </a:t>
            </a:r>
            <a:r>
              <a:rPr lang="en-US" sz="1400" b="1" dirty="0">
                <a:solidFill>
                  <a:srgbClr val="1F2A37"/>
                </a:solidFill>
                <a:latin typeface="IBM Plex Sans" pitchFamily="34" charset="0"/>
                <a:ea typeface="IBM Plex Sans" pitchFamily="34" charset="-122"/>
                <a:cs typeface="IBM Plex Sans" pitchFamily="34" charset="-120"/>
              </a:rPr>
              <a:t>../../</a:t>
            </a:r>
            <a:r>
              <a:rPr lang="en-US" sz="1400" dirty="0">
                <a:solidFill>
                  <a:srgbClr val="1F2A37"/>
                </a:solidFill>
                <a:latin typeface="IBM Plex Sans" pitchFamily="34" charset="0"/>
                <a:ea typeface="IBM Plex Sans" pitchFamily="34" charset="-122"/>
                <a:cs typeface="IBM Plex Sans" pitchFamily="34" charset="-120"/>
              </a:rPr>
              <a:t> = up two · </a:t>
            </a:r>
            <a:r>
              <a:rPr lang="en-US" sz="1400" b="1" dirty="0">
                <a:solidFill>
                  <a:srgbClr val="1F2A37"/>
                </a:solidFill>
                <a:latin typeface="IBM Plex Sans" pitchFamily="34" charset="0"/>
                <a:ea typeface="IBM Plex Sans" pitchFamily="34" charset="-122"/>
                <a:cs typeface="IBM Plex Sans" pitchFamily="34" charset="-120"/>
              </a:rPr>
              <a:t>/</a:t>
            </a:r>
            <a:r>
              <a:rPr lang="en-US" sz="1400" dirty="0">
                <a:solidFill>
                  <a:srgbClr val="1F2A37"/>
                </a:solidFill>
                <a:latin typeface="IBM Plex Sans" pitchFamily="34" charset="0"/>
                <a:ea typeface="IBM Plex Sans" pitchFamily="34" charset="-122"/>
                <a:cs typeface="IBM Plex Sans" pitchFamily="34" charset="-120"/>
              </a:rPr>
              <a:t> = start at the site root</a:t>
            </a:r>
            <a:endParaRPr lang="en-US" sz="14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9E64"/>
                </a:solidFill>
                <a:latin typeface="IBM Plex Sans" pitchFamily="34" charset="0"/>
                <a:ea typeface="IBM Plex Sans" pitchFamily="34" charset="-122"/>
                <a:cs typeface="IBM Plex Sans" pitchFamily="34" charset="-120"/>
              </a:rPr>
              <a:t>YOUR TURN · 5 MIN · PAIRS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F0"/>
                </a:solidFill>
                <a:latin typeface="IBM Plex Sans" pitchFamily="34" charset="0"/>
                <a:ea typeface="IBM Plex Sans" pitchFamily="34" charset="-122"/>
                <a:cs typeface="IBM Plex Sans" pitchFamily="34" charset="-120"/>
              </a:rPr>
              <a:t>Write the path</a:t>
            </a:r>
            <a:endParaRPr lang="en-US" sz="3200" dirty="0"/>
          </a:p>
        </p:txBody>
      </p:sp>
      <p:sp>
        <p:nvSpPr>
          <p:cNvPr id="4" name="Text 2"/>
          <p:cNvSpPr/>
          <p:nvPr/>
        </p:nvSpPr>
        <p:spPr>
          <a:xfrm>
            <a:off x="812800" y="1981101"/>
            <a:ext cx="3556000" cy="2709366"/>
          </a:xfrm>
          <a:prstGeom prst="roundRect">
            <a:avLst>
              <a:gd name="adj" fmla="val 3750"/>
            </a:avLst>
          </a:prstGeom>
          <a:solidFill>
            <a:srgbClr val="243142"/>
          </a:solidFill>
          <a:ln/>
        </p:spPr>
        <p:txBody>
          <a:bodyPr wrap="square" lIns="198842" tIns="173442" rIns="105878" bIns="148042" rtlCol="0" anchor="t">
            <a:normAutofit/>
          </a:bodyPr>
          <a:lstStyle/>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site/</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index.html</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blog/</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post1.html</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a:t>
            </a:r>
            <a:r>
              <a:rPr lang="en-US" sz="1300" dirty="0">
                <a:solidFill>
                  <a:srgbClr val="FF9E64"/>
                </a:solidFill>
                <a:latin typeface="IBM Plex Mono" pitchFamily="49" charset="0"/>
                <a:ea typeface="IBM Plex Mono" pitchFamily="49" charset="-122"/>
                <a:cs typeface="IBM Plex Mono" pitchFamily="49" charset="-120"/>
              </a:rPr>
              <a:t>2026/</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eid.html</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media/</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banner.jpg</a:t>
            </a:r>
            <a:endParaRPr lang="en-US" sz="1300" dirty="0"/>
          </a:p>
          <a:p>
            <a:pPr algn="l" indent="0" marL="0">
              <a:lnSpc>
                <a:spcPts val="2015"/>
              </a:lnSpc>
              <a:buNone/>
            </a:pPr>
            <a:r>
              <a:rPr lang="en-US" sz="1300" dirty="0">
                <a:solidFill>
                  <a:srgbClr val="E6EDF3"/>
                </a:solidFill>
                <a:latin typeface="IBM Plex Mono" pitchFamily="49" charset="0"/>
                <a:ea typeface="IBM Plex Mono" pitchFamily="49" charset="-122"/>
                <a:cs typeface="IBM Plex Mono" pitchFamily="49" charset="-120"/>
              </a:rPr>
              <a:t>   └─ talk.pdf</a:t>
            </a:r>
            <a:endParaRPr lang="en-US" sz="1300" dirty="0"/>
          </a:p>
        </p:txBody>
      </p:sp>
      <p:sp>
        <p:nvSpPr>
          <p:cNvPr id="5" name="Text 3"/>
          <p:cNvSpPr/>
          <p:nvPr/>
        </p:nvSpPr>
        <p:spPr>
          <a:xfrm>
            <a:off x="4673600" y="1981101"/>
            <a:ext cx="69067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1.</a:t>
            </a:r>
            <a:r>
              <a:rPr lang="en-US" sz="1500" dirty="0">
                <a:solidFill>
                  <a:srgbClr val="F7F5F0"/>
                </a:solidFill>
                <a:latin typeface="IBM Plex Sans" pitchFamily="34" charset="0"/>
                <a:ea typeface="IBM Plex Sans" pitchFamily="34" charset="-122"/>
                <a:cs typeface="IBM Plex Sans" pitchFamily="34" charset="-120"/>
              </a:rPr>
              <a:t> From index.html to eid.html</a:t>
            </a:r>
            <a:endParaRPr lang="en-US" sz="1500" dirty="0"/>
          </a:p>
        </p:txBody>
      </p:sp>
      <p:sp>
        <p:nvSpPr>
          <p:cNvPr id="6" name="Text 4"/>
          <p:cNvSpPr/>
          <p:nvPr/>
        </p:nvSpPr>
        <p:spPr>
          <a:xfrm>
            <a:off x="4673600" y="2400201"/>
            <a:ext cx="69067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2.</a:t>
            </a:r>
            <a:r>
              <a:rPr lang="en-US" sz="1500" dirty="0">
                <a:solidFill>
                  <a:srgbClr val="F7F5F0"/>
                </a:solidFill>
                <a:latin typeface="IBM Plex Sans" pitchFamily="34" charset="0"/>
                <a:ea typeface="IBM Plex Sans" pitchFamily="34" charset="-122"/>
                <a:cs typeface="IBM Plex Sans" pitchFamily="34" charset="-120"/>
              </a:rPr>
              <a:t> From post1.html to banner.jpg</a:t>
            </a:r>
            <a:endParaRPr lang="en-US" sz="1500" dirty="0"/>
          </a:p>
        </p:txBody>
      </p:sp>
      <p:sp>
        <p:nvSpPr>
          <p:cNvPr id="7" name="Text 5"/>
          <p:cNvSpPr/>
          <p:nvPr/>
        </p:nvSpPr>
        <p:spPr>
          <a:xfrm>
            <a:off x="4673600" y="2819301"/>
            <a:ext cx="69067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3.</a:t>
            </a:r>
            <a:r>
              <a:rPr lang="en-US" sz="1500" dirty="0">
                <a:solidFill>
                  <a:srgbClr val="F7F5F0"/>
                </a:solidFill>
                <a:latin typeface="IBM Plex Sans" pitchFamily="34" charset="0"/>
                <a:ea typeface="IBM Plex Sans" pitchFamily="34" charset="-122"/>
                <a:cs typeface="IBM Plex Sans" pitchFamily="34" charset="-120"/>
              </a:rPr>
              <a:t> From eid.html back to index.html</a:t>
            </a:r>
            <a:endParaRPr lang="en-US" sz="1500" dirty="0"/>
          </a:p>
        </p:txBody>
      </p:sp>
      <p:sp>
        <p:nvSpPr>
          <p:cNvPr id="8" name="Text 6"/>
          <p:cNvSpPr/>
          <p:nvPr/>
        </p:nvSpPr>
        <p:spPr>
          <a:xfrm>
            <a:off x="4673600" y="3238401"/>
            <a:ext cx="69067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4.</a:t>
            </a:r>
            <a:r>
              <a:rPr lang="en-US" sz="1500" dirty="0">
                <a:solidFill>
                  <a:srgbClr val="F7F5F0"/>
                </a:solidFill>
                <a:latin typeface="IBM Plex Sans" pitchFamily="34" charset="0"/>
                <a:ea typeface="IBM Plex Sans" pitchFamily="34" charset="-122"/>
                <a:cs typeface="IBM Plex Sans" pitchFamily="34" charset="-120"/>
              </a:rPr>
              <a:t> From eid.html to post1.html</a:t>
            </a:r>
            <a:endParaRPr lang="en-US" sz="1500" dirty="0"/>
          </a:p>
        </p:txBody>
      </p:sp>
      <p:sp>
        <p:nvSpPr>
          <p:cNvPr id="9" name="Text 7"/>
          <p:cNvSpPr/>
          <p:nvPr/>
        </p:nvSpPr>
        <p:spPr>
          <a:xfrm>
            <a:off x="4673600" y="3657501"/>
            <a:ext cx="690676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5.</a:t>
            </a:r>
            <a:r>
              <a:rPr lang="en-US" sz="1500" dirty="0">
                <a:solidFill>
                  <a:srgbClr val="F7F5F0"/>
                </a:solidFill>
                <a:latin typeface="IBM Plex Sans" pitchFamily="34" charset="0"/>
                <a:ea typeface="IBM Plex Sans" pitchFamily="34" charset="-122"/>
                <a:cs typeface="IBM Plex Sans" pitchFamily="34" charset="-120"/>
              </a:rPr>
              <a:t> From eid.html to talk.pdf</a:t>
            </a:r>
            <a:endParaRPr lang="en-US" sz="15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3"/>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LINKS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Linking to a section: fragment identifiers</a:t>
            </a:r>
            <a:endParaRPr lang="en-US" sz="3200" dirty="0"/>
          </a:p>
        </p:txBody>
      </p:sp>
      <p:sp>
        <p:nvSpPr>
          <p:cNvPr id="4" name="Text 2"/>
          <p:cNvSpPr/>
          <p:nvPr/>
        </p:nvSpPr>
        <p:spPr>
          <a:xfrm>
            <a:off x="812800" y="1981101"/>
            <a:ext cx="6223000" cy="2965252"/>
          </a:xfrm>
          <a:prstGeom prst="roundRect">
            <a:avLst>
              <a:gd name="adj" fmla="val 3426"/>
            </a:avLst>
          </a:prstGeom>
          <a:solidFill>
            <a:srgbClr val="1B2430"/>
          </a:solidFill>
          <a:ln/>
        </p:spPr>
        <p:txBody>
          <a:bodyPr wrap="square" lIns="224242" tIns="173442" rIns="52792" bIns="148042" rtlCol="0" anchor="t">
            <a:normAutofit/>
          </a:bodyPr>
          <a:lstStyle/>
          <a:p>
            <a:pPr algn="l" indent="0" marL="0">
              <a:lnSpc>
                <a:spcPts val="2015"/>
              </a:lnSpc>
              <a:buNone/>
            </a:pPr>
            <a:r>
              <a:rPr lang="en-US" sz="1300" dirty="0">
                <a:solidFill>
                  <a:srgbClr val="8B98A9"/>
                </a:solidFill>
                <a:latin typeface="IBM Plex Mono" pitchFamily="49" charset="0"/>
                <a:ea typeface="IBM Plex Mono" pitchFamily="49" charset="-122"/>
                <a:cs typeface="IBM Plex Mono" pitchFamily="49" charset="-120"/>
              </a:rPr>
              <a:t>&lt;!-- 1. Give the target an id --&gt;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&lt;h1</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id</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"top"</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Chicken Biryani</a:t>
            </a:r>
            <a:r>
              <a:rPr lang="en-US" sz="1300" dirty="0">
                <a:solidFill>
                  <a:srgbClr val="FF9E64"/>
                </a:solidFill>
                <a:latin typeface="IBM Plex Mono" pitchFamily="49" charset="0"/>
                <a:ea typeface="IBM Plex Mono" pitchFamily="49" charset="-122"/>
                <a:cs typeface="IBM Plex Mono" pitchFamily="49" charset="-120"/>
              </a:rPr>
              <a:t>&lt;/h1&gt;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&lt;h2</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id</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"method"</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Method</a:t>
            </a:r>
            <a:r>
              <a:rPr lang="en-US" sz="1300" dirty="0">
                <a:solidFill>
                  <a:srgbClr val="FF9E64"/>
                </a:solidFill>
                <a:latin typeface="IBM Plex Mono" pitchFamily="49" charset="0"/>
                <a:ea typeface="IBM Plex Mono" pitchFamily="49" charset="-122"/>
                <a:cs typeface="IBM Plex Mono" pitchFamily="49" charset="-120"/>
              </a:rPr>
              <a:t>&lt;/h2&gt;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8B98A9"/>
                </a:solidFill>
                <a:latin typeface="IBM Plex Mono" pitchFamily="49" charset="0"/>
                <a:ea typeface="IBM Plex Mono" pitchFamily="49" charset="-122"/>
                <a:cs typeface="IBM Plex Mono" pitchFamily="49" charset="-120"/>
              </a:rPr>
              <a:t>&lt;!-- 2. Link with # + id --&gt;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&lt;a</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href</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"#method"</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Jump to method</a:t>
            </a:r>
            <a:r>
              <a:rPr lang="en-US" sz="1300" dirty="0">
                <a:solidFill>
                  <a:srgbClr val="FF9E64"/>
                </a:solidFill>
                <a:latin typeface="IBM Plex Mono" pitchFamily="49" charset="0"/>
                <a:ea typeface="IBM Plex Mono" pitchFamily="49" charset="-122"/>
                <a:cs typeface="IBM Plex Mono" pitchFamily="49" charset="-120"/>
              </a:rPr>
              <a:t>&lt;/a&gt;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&lt;a</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href</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"#top"</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Back to top</a:t>
            </a:r>
            <a:r>
              <a:rPr lang="en-US" sz="1300" dirty="0">
                <a:solidFill>
                  <a:srgbClr val="FF9E64"/>
                </a:solidFill>
                <a:latin typeface="IBM Plex Mono" pitchFamily="49" charset="0"/>
                <a:ea typeface="IBM Plex Mono" pitchFamily="49" charset="-122"/>
                <a:cs typeface="IBM Plex Mono" pitchFamily="49" charset="-120"/>
              </a:rPr>
              <a:t>&lt;/a&gt;</a:t>
            </a:r>
            <a:endParaRPr lang="en-US" sz="1300" dirty="0"/>
          </a:p>
          <a:p>
            <a:pPr algn="l" indent="0" marL="0">
              <a:lnSpc>
                <a:spcPts val="2015"/>
              </a:lnSpc>
              <a:buNone/>
            </a:pPr>
            <a:endParaRPr lang="en-US" sz="1300" dirty="0"/>
          </a:p>
          <a:p>
            <a:pPr algn="l" indent="0" marL="0">
              <a:lnSpc>
                <a:spcPts val="2015"/>
              </a:lnSpc>
              <a:buNone/>
            </a:pPr>
            <a:r>
              <a:rPr lang="en-US" sz="1300" dirty="0">
                <a:solidFill>
                  <a:srgbClr val="8B98A9"/>
                </a:solidFill>
                <a:latin typeface="IBM Plex Mono" pitchFamily="49" charset="0"/>
                <a:ea typeface="IBM Plex Mono" pitchFamily="49" charset="-122"/>
                <a:cs typeface="IBM Plex Mono" pitchFamily="49" charset="-120"/>
              </a:rPr>
              <a:t>&lt;!-- 3. Section on another page --&gt;</a:t>
            </a:r>
            <a:endParaRPr lang="en-US" sz="1300" dirty="0"/>
          </a:p>
          <a:p>
            <a:pPr algn="l" indent="0" marL="0">
              <a:lnSpc>
                <a:spcPts val="2015"/>
              </a:lnSpc>
              <a:buNone/>
            </a:pPr>
            <a:r>
              <a:rPr lang="en-US" sz="1300" dirty="0">
                <a:solidFill>
                  <a:srgbClr val="FF9E64"/>
                </a:solidFill>
                <a:latin typeface="IBM Plex Mono" pitchFamily="49" charset="0"/>
                <a:ea typeface="IBM Plex Mono" pitchFamily="49" charset="-122"/>
                <a:cs typeface="IBM Plex Mono" pitchFamily="49" charset="-120"/>
              </a:rPr>
              <a:t>&lt;a</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href</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"about.html#team"</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Meet the team</a:t>
            </a:r>
            <a:r>
              <a:rPr lang="en-US" sz="1300" dirty="0">
                <a:solidFill>
                  <a:srgbClr val="FF9E64"/>
                </a:solidFill>
                <a:latin typeface="IBM Plex Mono" pitchFamily="49" charset="0"/>
                <a:ea typeface="IBM Plex Mono" pitchFamily="49" charset="-122"/>
                <a:cs typeface="IBM Plex Mono" pitchFamily="49" charset="-120"/>
              </a:rPr>
              <a:t>&lt;/a&gt;</a:t>
            </a:r>
            <a:endParaRPr lang="en-US" sz="1300" dirty="0"/>
          </a:p>
        </p:txBody>
      </p:sp>
      <p:sp>
        <p:nvSpPr>
          <p:cNvPr id="5" name="Text 3"/>
          <p:cNvSpPr/>
          <p:nvPr/>
        </p:nvSpPr>
        <p:spPr>
          <a:xfrm>
            <a:off x="7289800" y="1981101"/>
            <a:ext cx="421208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The </a:t>
            </a:r>
            <a:r>
              <a:rPr lang="en-US" sz="1400" b="1" dirty="0">
                <a:solidFill>
                  <a:srgbClr val="1F2A37"/>
                </a:solidFill>
                <a:latin typeface="IBM Plex Sans" pitchFamily="34" charset="0"/>
                <a:ea typeface="IBM Plex Sans" pitchFamily="34" charset="-122"/>
                <a:cs typeface="IBM Plex Sans" pitchFamily="34" charset="-120"/>
              </a:rPr>
              <a:t>id</a:t>
            </a:r>
            <a:r>
              <a:rPr lang="en-US" sz="1400" dirty="0">
                <a:solidFill>
                  <a:srgbClr val="1F2A37"/>
                </a:solidFill>
                <a:latin typeface="IBM Plex Sans" pitchFamily="34" charset="0"/>
                <a:ea typeface="IBM Plex Sans" pitchFamily="34" charset="-122"/>
                <a:cs typeface="IBM Plex Sans" pitchFamily="34" charset="-120"/>
              </a:rPr>
              <a:t> must be unique on the page and match exactly (case-sensitive).</a:t>
            </a:r>
            <a:endParaRPr lang="en-US" sz="1400" dirty="0"/>
          </a:p>
        </p:txBody>
      </p:sp>
      <p:sp>
        <p:nvSpPr>
          <p:cNvPr id="6" name="Text 4"/>
          <p:cNvSpPr/>
          <p:nvPr/>
        </p:nvSpPr>
        <p:spPr>
          <a:xfrm>
            <a:off x="7289800" y="2605782"/>
            <a:ext cx="421208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Great for long pages: a table of contents, FAQs, “back to top”.</a:t>
            </a:r>
            <a:endParaRPr lang="en-US" sz="1400" dirty="0"/>
          </a:p>
        </p:txBody>
      </p:sp>
      <p:sp>
        <p:nvSpPr>
          <p:cNvPr id="7" name="Text 5"/>
          <p:cNvSpPr/>
          <p:nvPr/>
        </p:nvSpPr>
        <p:spPr>
          <a:xfrm>
            <a:off x="7289800" y="3230463"/>
            <a:ext cx="421208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Old pages used &lt;a name="…"&gt; as a target; that is obsolete — use id.</a:t>
            </a:r>
            <a:endParaRPr lang="en-US" sz="13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LINKS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Opening a new tab — safely and sparingly</a:t>
            </a:r>
            <a:endParaRPr lang="en-US" sz="3200" dirty="0"/>
          </a:p>
        </p:txBody>
      </p:sp>
      <p:sp>
        <p:nvSpPr>
          <p:cNvPr id="4" name="Text 2"/>
          <p:cNvSpPr/>
          <p:nvPr/>
        </p:nvSpPr>
        <p:spPr>
          <a:xfrm>
            <a:off x="812800" y="1981101"/>
            <a:ext cx="10566400" cy="1232991"/>
          </a:xfrm>
          <a:prstGeom prst="roundRect">
            <a:avLst>
              <a:gd name="adj" fmla="val 8240"/>
            </a:avLst>
          </a:prstGeom>
          <a:solidFill>
            <a:srgbClr val="1B2430"/>
          </a:solidFill>
          <a:ln/>
        </p:spPr>
        <p:txBody>
          <a:bodyPr wrap="square" lIns="224242" tIns="173442" rIns="0" bIns="148042" rtlCol="0" anchor="t">
            <a:normAutofit/>
          </a:bodyPr>
          <a:lstStyle/>
          <a:p>
            <a:pPr algn="l" indent="0" marL="0">
              <a:lnSpc>
                <a:spcPts val="2170"/>
              </a:lnSpc>
              <a:buNone/>
            </a:pPr>
            <a:r>
              <a:rPr lang="en-US" sz="1400" dirty="0">
                <a:solidFill>
                  <a:srgbClr val="FF9E64"/>
                </a:solidFill>
                <a:latin typeface="IBM Plex Mono" pitchFamily="49" charset="0"/>
                <a:ea typeface="IBM Plex Mono" pitchFamily="49" charset="-122"/>
                <a:cs typeface="IBM Plex Mono" pitchFamily="49" charset="-120"/>
              </a:rPr>
              <a:t>&lt;a</a:t>
            </a: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href</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"https://developer.mozilla.org"</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target</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"_blank"</a:t>
            </a:r>
            <a:r>
              <a:rPr lang="en-US" sz="1400" dirty="0">
                <a:solidFill>
                  <a:srgbClr val="E6EDF3"/>
                </a:solidFill>
                <a:latin typeface="IBM Plex Mono" pitchFamily="49" charset="0"/>
                <a:ea typeface="IBM Plex Mono" pitchFamily="49" charset="-122"/>
                <a:cs typeface="IBM Plex Mono" pitchFamily="49" charset="-120"/>
              </a:rPr>
              <a:t> </a:t>
            </a:r>
            <a:r>
              <a:rPr lang="en-US" sz="1400" dirty="0">
                <a:solidFill>
                  <a:srgbClr val="7DCFFF"/>
                </a:solidFill>
                <a:latin typeface="IBM Plex Mono" pitchFamily="49" charset="0"/>
                <a:ea typeface="IBM Plex Mono" pitchFamily="49" charset="-122"/>
                <a:cs typeface="IBM Plex Mono" pitchFamily="49" charset="-120"/>
              </a:rPr>
              <a:t>rel</a:t>
            </a:r>
            <a:r>
              <a:rPr lang="en-US" sz="1400" dirty="0">
                <a:solidFill>
                  <a:srgbClr val="E6EDF3"/>
                </a:solidFill>
                <a:latin typeface="IBM Plex Mono" pitchFamily="49" charset="0"/>
                <a:ea typeface="IBM Plex Mono" pitchFamily="49" charset="-122"/>
                <a:cs typeface="IBM Plex Mono" pitchFamily="49" charset="-120"/>
              </a:rPr>
              <a:t>=</a:t>
            </a:r>
            <a:r>
              <a:rPr lang="en-US" sz="1400" dirty="0">
                <a:solidFill>
                  <a:srgbClr val="9ECE6A"/>
                </a:solidFill>
                <a:latin typeface="IBM Plex Mono" pitchFamily="49" charset="0"/>
                <a:ea typeface="IBM Plex Mono" pitchFamily="49" charset="-122"/>
                <a:cs typeface="IBM Plex Mono" pitchFamily="49" charset="-120"/>
              </a:rPr>
              <a:t>"noopener noreferrer"</a:t>
            </a:r>
            <a:r>
              <a:rPr lang="en-US" sz="1400" dirty="0">
                <a:solidFill>
                  <a:srgbClr val="FF9E64"/>
                </a:solidFill>
                <a:latin typeface="IBM Plex Mono" pitchFamily="49" charset="0"/>
                <a:ea typeface="IBM Plex Mono" pitchFamily="49" charset="-122"/>
                <a:cs typeface="IBM Plex Mono" pitchFamily="49" charset="-120"/>
              </a:rPr>
              <a:t>&gt;</a:t>
            </a:r>
            <a:endParaRPr lang="en-US" sz="1400" dirty="0"/>
          </a:p>
          <a:p>
            <a:pPr algn="l" indent="0" marL="0">
              <a:lnSpc>
                <a:spcPts val="2170"/>
              </a:lnSpc>
              <a:buNone/>
            </a:pPr>
            <a:r>
              <a:rPr lang="en-US" sz="1400" dirty="0">
                <a:solidFill>
                  <a:srgbClr val="E6EDF3"/>
                </a:solidFill>
                <a:latin typeface="IBM Plex Mono" pitchFamily="49" charset="0"/>
                <a:ea typeface="IBM Plex Mono" pitchFamily="49" charset="-122"/>
                <a:cs typeface="IBM Plex Mono" pitchFamily="49" charset="-120"/>
              </a:rPr>
              <a:t>  MDN Web Docs (opens in a new tab)</a:t>
            </a:r>
            <a:r>
              <a:rPr lang="en-US" sz="1400" dirty="0">
                <a:solidFill>
                  <a:srgbClr val="FF9E64"/>
                </a:solidFill>
                <a:latin typeface="IBM Plex Mono" pitchFamily="49" charset="0"/>
                <a:ea typeface="IBM Plex Mono" pitchFamily="49" charset="-122"/>
                <a:cs typeface="IBM Plex Mono" pitchFamily="49" charset="-120"/>
              </a:rPr>
              <a:t>&lt;/a&gt;</a:t>
            </a:r>
            <a:endParaRPr lang="en-US" sz="1400" dirty="0"/>
          </a:p>
        </p:txBody>
      </p:sp>
      <p:sp>
        <p:nvSpPr>
          <p:cNvPr id="5" name="Shape 3"/>
          <p:cNvSpPr/>
          <p:nvPr/>
        </p:nvSpPr>
        <p:spPr>
          <a:xfrm>
            <a:off x="815975" y="3471267"/>
            <a:ext cx="3414117" cy="1334591"/>
          </a:xfrm>
          <a:prstGeom prst="roundRect">
            <a:avLst>
              <a:gd name="adj" fmla="val 7375"/>
            </a:avLst>
          </a:prstGeom>
          <a:solidFill>
            <a:srgbClr val="FFFDF9"/>
          </a:solidFill>
          <a:ln w="6350">
            <a:solidFill>
              <a:srgbClr val="E4E0D8"/>
            </a:solidFill>
            <a:prstDash val="solid"/>
          </a:ln>
        </p:spPr>
      </p:sp>
      <p:sp>
        <p:nvSpPr>
          <p:cNvPr id="6" name="Text 4"/>
          <p:cNvSpPr/>
          <p:nvPr/>
        </p:nvSpPr>
        <p:spPr>
          <a:xfrm>
            <a:off x="996950" y="3652242"/>
            <a:ext cx="31437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target</a:t>
            </a:r>
            <a:endParaRPr lang="en-US" sz="1500" dirty="0"/>
          </a:p>
        </p:txBody>
      </p:sp>
      <p:sp>
        <p:nvSpPr>
          <p:cNvPr id="7" name="Text 5"/>
          <p:cNvSpPr/>
          <p:nvPr/>
        </p:nvSpPr>
        <p:spPr>
          <a:xfrm>
            <a:off x="996950" y="3931642"/>
            <a:ext cx="314373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_self (default, same tab) · _blank (new tab)</a:t>
            </a:r>
            <a:endParaRPr lang="en-US" sz="1300" dirty="0"/>
          </a:p>
        </p:txBody>
      </p:sp>
      <p:sp>
        <p:nvSpPr>
          <p:cNvPr id="8" name="Shape 6"/>
          <p:cNvSpPr/>
          <p:nvPr/>
        </p:nvSpPr>
        <p:spPr>
          <a:xfrm>
            <a:off x="4388842" y="3471267"/>
            <a:ext cx="3414216" cy="1334591"/>
          </a:xfrm>
          <a:prstGeom prst="roundRect">
            <a:avLst>
              <a:gd name="adj" fmla="val 7375"/>
            </a:avLst>
          </a:prstGeom>
          <a:solidFill>
            <a:srgbClr val="FFFDF9"/>
          </a:solidFill>
          <a:ln w="6350">
            <a:solidFill>
              <a:srgbClr val="E4E0D8"/>
            </a:solidFill>
            <a:prstDash val="solid"/>
          </a:ln>
        </p:spPr>
      </p:sp>
      <p:sp>
        <p:nvSpPr>
          <p:cNvPr id="9" name="Text 7"/>
          <p:cNvSpPr/>
          <p:nvPr/>
        </p:nvSpPr>
        <p:spPr>
          <a:xfrm>
            <a:off x="4569817" y="3652242"/>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rel="noopener"</a:t>
            </a:r>
            <a:endParaRPr lang="en-US" sz="1500" dirty="0"/>
          </a:p>
        </p:txBody>
      </p:sp>
      <p:sp>
        <p:nvSpPr>
          <p:cNvPr id="10" name="Text 8"/>
          <p:cNvSpPr/>
          <p:nvPr/>
        </p:nvSpPr>
        <p:spPr>
          <a:xfrm>
            <a:off x="4569817" y="3931642"/>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Stops the new page controlling yours through window.opener (“tabnabbing”).</a:t>
            </a:r>
            <a:endParaRPr lang="en-US" sz="1300" dirty="0"/>
          </a:p>
        </p:txBody>
      </p:sp>
      <p:sp>
        <p:nvSpPr>
          <p:cNvPr id="11" name="Shape 9"/>
          <p:cNvSpPr/>
          <p:nvPr/>
        </p:nvSpPr>
        <p:spPr>
          <a:xfrm>
            <a:off x="7961809" y="3471267"/>
            <a:ext cx="3414216" cy="1334591"/>
          </a:xfrm>
          <a:prstGeom prst="roundRect">
            <a:avLst>
              <a:gd name="adj" fmla="val 7375"/>
            </a:avLst>
          </a:prstGeom>
          <a:solidFill>
            <a:srgbClr val="FFFDF9"/>
          </a:solidFill>
          <a:ln w="6350">
            <a:solidFill>
              <a:srgbClr val="E4E0D8"/>
            </a:solidFill>
            <a:prstDash val="solid"/>
          </a:ln>
        </p:spPr>
      </p:sp>
      <p:sp>
        <p:nvSpPr>
          <p:cNvPr id="12" name="Text 10"/>
          <p:cNvSpPr/>
          <p:nvPr/>
        </p:nvSpPr>
        <p:spPr>
          <a:xfrm>
            <a:off x="8142784" y="3652242"/>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When to use it</a:t>
            </a:r>
            <a:endParaRPr lang="en-US" sz="1500" dirty="0"/>
          </a:p>
        </p:txBody>
      </p:sp>
      <p:sp>
        <p:nvSpPr>
          <p:cNvPr id="13" name="Text 11"/>
          <p:cNvSpPr/>
          <p:nvPr/>
        </p:nvSpPr>
        <p:spPr>
          <a:xfrm>
            <a:off x="8142784" y="3931642"/>
            <a:ext cx="314383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External sites or PDFs mid-task. Not for your own pages — users control their tabs.</a:t>
            </a:r>
            <a:endParaRPr lang="en-US" sz="13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LINKS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Email, phone and download links</a:t>
            </a:r>
            <a:endParaRPr lang="en-US" sz="3200" dirty="0"/>
          </a:p>
        </p:txBody>
      </p:sp>
      <p:sp>
        <p:nvSpPr>
          <p:cNvPr id="4" name="Text 2"/>
          <p:cNvSpPr/>
          <p:nvPr/>
        </p:nvSpPr>
        <p:spPr>
          <a:xfrm>
            <a:off x="812800" y="1981101"/>
            <a:ext cx="10566400" cy="1727002"/>
          </a:xfrm>
          <a:prstGeom prst="roundRect">
            <a:avLst>
              <a:gd name="adj" fmla="val 5883"/>
            </a:avLst>
          </a:prstGeom>
          <a:solidFill>
            <a:srgbClr val="1B2430"/>
          </a:solidFill>
          <a:ln/>
        </p:spPr>
        <p:txBody>
          <a:bodyPr wrap="square" lIns="224242" tIns="173442" rIns="0" bIns="148042" rtlCol="0" anchor="t">
            <a:normAutofit/>
          </a:bodyPr>
          <a:lstStyle/>
          <a:p>
            <a:pPr algn="l" indent="0" marL="0">
              <a:lnSpc>
                <a:spcPts val="2080"/>
              </a:lnSpc>
              <a:buNone/>
            </a:pPr>
            <a:r>
              <a:rPr lang="en-US" sz="1300" dirty="0">
                <a:solidFill>
                  <a:srgbClr val="FF9E64"/>
                </a:solidFill>
                <a:latin typeface="IBM Plex Mono" pitchFamily="49" charset="0"/>
                <a:ea typeface="IBM Plex Mono" pitchFamily="49" charset="-122"/>
                <a:cs typeface="IBM Plex Mono" pitchFamily="49" charset="-120"/>
              </a:rPr>
              <a:t>&lt;a</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href</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"mailto:faheem@iqraisb.edu.pk?subject=Lab%203%20query"</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Email the instructor</a:t>
            </a:r>
            <a:r>
              <a:rPr lang="en-US" sz="1300" dirty="0">
                <a:solidFill>
                  <a:srgbClr val="FF9E64"/>
                </a:solidFill>
                <a:latin typeface="IBM Plex Mono" pitchFamily="49" charset="0"/>
                <a:ea typeface="IBM Plex Mono" pitchFamily="49" charset="-122"/>
                <a:cs typeface="IBM Plex Mono" pitchFamily="49" charset="-120"/>
              </a:rPr>
              <a:t>&lt;/a&gt;</a:t>
            </a:r>
            <a:endParaRPr lang="en-US" sz="1300" dirty="0"/>
          </a:p>
          <a:p>
            <a:pPr algn="l" indent="0" marL="0">
              <a:lnSpc>
                <a:spcPts val="2080"/>
              </a:lnSpc>
              <a:buNone/>
            </a:pPr>
            <a:endParaRPr lang="en-US" sz="1300" dirty="0"/>
          </a:p>
          <a:p>
            <a:pPr algn="l" indent="0" marL="0">
              <a:lnSpc>
                <a:spcPts val="2080"/>
              </a:lnSpc>
              <a:buNone/>
            </a:pPr>
            <a:r>
              <a:rPr lang="en-US" sz="1300" dirty="0">
                <a:solidFill>
                  <a:srgbClr val="FF9E64"/>
                </a:solidFill>
                <a:latin typeface="IBM Plex Mono" pitchFamily="49" charset="0"/>
                <a:ea typeface="IBM Plex Mono" pitchFamily="49" charset="-122"/>
                <a:cs typeface="IBM Plex Mono" pitchFamily="49" charset="-120"/>
              </a:rPr>
              <a:t>&lt;a</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href</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"tel:+92510000000"</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Call the office</a:t>
            </a:r>
            <a:r>
              <a:rPr lang="en-US" sz="1300" dirty="0">
                <a:solidFill>
                  <a:srgbClr val="FF9E64"/>
                </a:solidFill>
                <a:latin typeface="IBM Plex Mono" pitchFamily="49" charset="0"/>
                <a:ea typeface="IBM Plex Mono" pitchFamily="49" charset="-122"/>
                <a:cs typeface="IBM Plex Mono" pitchFamily="49" charset="-120"/>
              </a:rPr>
              <a:t>&lt;/a&gt;</a:t>
            </a:r>
            <a:endParaRPr lang="en-US" sz="1300" dirty="0"/>
          </a:p>
          <a:p>
            <a:pPr algn="l" indent="0" marL="0">
              <a:lnSpc>
                <a:spcPts val="2080"/>
              </a:lnSpc>
              <a:buNone/>
            </a:pPr>
            <a:endParaRPr lang="en-US" sz="1300" dirty="0"/>
          </a:p>
          <a:p>
            <a:pPr algn="l" indent="0" marL="0">
              <a:lnSpc>
                <a:spcPts val="2080"/>
              </a:lnSpc>
              <a:buNone/>
            </a:pPr>
            <a:r>
              <a:rPr lang="en-US" sz="1300" dirty="0">
                <a:solidFill>
                  <a:srgbClr val="FF9E64"/>
                </a:solidFill>
                <a:latin typeface="IBM Plex Mono" pitchFamily="49" charset="0"/>
                <a:ea typeface="IBM Plex Mono" pitchFamily="49" charset="-122"/>
                <a:cs typeface="IBM Plex Mono" pitchFamily="49" charset="-120"/>
              </a:rPr>
              <a:t>&lt;a</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href</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9ECE6A"/>
                </a:solidFill>
                <a:latin typeface="IBM Plex Mono" pitchFamily="49" charset="0"/>
                <a:ea typeface="IBM Plex Mono" pitchFamily="49" charset="-122"/>
                <a:cs typeface="IBM Plex Mono" pitchFamily="49" charset="-120"/>
              </a:rPr>
              <a:t>"files/course-outline.pdf"</a:t>
            </a: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7DCFFF"/>
                </a:solidFill>
                <a:latin typeface="IBM Plex Mono" pitchFamily="49" charset="0"/>
                <a:ea typeface="IBM Plex Mono" pitchFamily="49" charset="-122"/>
                <a:cs typeface="IBM Plex Mono" pitchFamily="49" charset="-120"/>
              </a:rPr>
              <a:t>download</a:t>
            </a:r>
            <a:r>
              <a:rPr lang="en-US" sz="1300" dirty="0">
                <a:solidFill>
                  <a:srgbClr val="FF9E64"/>
                </a:solidFill>
                <a:latin typeface="IBM Plex Mono" pitchFamily="49" charset="0"/>
                <a:ea typeface="IBM Plex Mono" pitchFamily="49" charset="-122"/>
                <a:cs typeface="IBM Plex Mono" pitchFamily="49" charset="-120"/>
              </a:rPr>
              <a:t>&gt;</a:t>
            </a:r>
            <a:r>
              <a:rPr lang="en-US" sz="1300" dirty="0">
                <a:solidFill>
                  <a:srgbClr val="E6EDF3"/>
                </a:solidFill>
                <a:latin typeface="IBM Plex Mono" pitchFamily="49" charset="0"/>
                <a:ea typeface="IBM Plex Mono" pitchFamily="49" charset="-122"/>
                <a:cs typeface="IBM Plex Mono" pitchFamily="49" charset="-120"/>
              </a:rPr>
              <a:t>Download the outline (PDF)</a:t>
            </a:r>
            <a:r>
              <a:rPr lang="en-US" sz="1300" dirty="0">
                <a:solidFill>
                  <a:srgbClr val="FF9E64"/>
                </a:solidFill>
                <a:latin typeface="IBM Plex Mono" pitchFamily="49" charset="0"/>
                <a:ea typeface="IBM Plex Mono" pitchFamily="49" charset="-122"/>
                <a:cs typeface="IBM Plex Mono" pitchFamily="49" charset="-120"/>
              </a:rPr>
              <a:t>&lt;/a&gt;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3974802"/>
          <a:ext cx="10553700" cy="1543844"/>
        </p:xfrm>
        <a:graphic>
          <a:graphicData uri="http://schemas.openxmlformats.org/drawingml/2006/table">
            <a:tbl>
              <a:tblPr/>
              <a:tblGrid>
                <a:gridCol w="2532888"/>
                <a:gridCol w="8020812"/>
              </a:tblGrid>
              <a:tr h="385961">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Scheme / attribute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What happens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mailto: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Opens the user’s email app; ?subject= and &amp;body= prefill it (spaces as %20)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Dials on phones; use the international format +92…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download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Saves the file instead of opening it (same-origin files)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USABILITY &amp; ACCESSIBILITY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Links people can find and trust</a:t>
            </a:r>
            <a:endParaRPr lang="en-US" sz="3200" dirty="0"/>
          </a:p>
        </p:txBody>
      </p:sp>
      <p:sp>
        <p:nvSpPr>
          <p:cNvPr id="4" name="Shape 2"/>
          <p:cNvSpPr/>
          <p:nvPr/>
        </p:nvSpPr>
        <p:spPr>
          <a:xfrm>
            <a:off x="815975" y="1984276"/>
            <a:ext cx="5200650" cy="1169491"/>
          </a:xfrm>
          <a:prstGeom prst="roundRect">
            <a:avLst>
              <a:gd name="adj" fmla="val 8416"/>
            </a:avLst>
          </a:prstGeom>
          <a:solidFill>
            <a:srgbClr val="FFFDF9"/>
          </a:solidFill>
          <a:ln w="6350">
            <a:solidFill>
              <a:srgbClr val="E4E0D8"/>
            </a:solidFill>
            <a:prstDash val="solid"/>
          </a:ln>
        </p:spPr>
      </p:sp>
      <p:pic>
        <p:nvPicPr>
          <p:cNvPr id="5" name="Image 0" descr="Link">    </p:cNvPr>
          <p:cNvPicPr>
            <a:picLocks noChangeAspect="1"/>
          </p:cNvPicPr>
          <p:nvPr/>
        </p:nvPicPr>
        <p:blipFill>
          <a:blip r:embed="rId1"/>
          <a:srcRect l="0" r="0" t="0" b="0"/>
          <a:stretch/>
        </p:blipFill>
        <p:spPr>
          <a:xfrm>
            <a:off x="1022350" y="2190651"/>
            <a:ext cx="355600" cy="355600"/>
          </a:xfrm>
          <a:prstGeom prst="rect">
            <a:avLst/>
          </a:prstGeom>
        </p:spPr>
      </p:pic>
      <p:sp>
        <p:nvSpPr>
          <p:cNvPr id="6" name="Text 3"/>
          <p:cNvSpPr/>
          <p:nvPr/>
        </p:nvSpPr>
        <p:spPr>
          <a:xfrm>
            <a:off x="1530350" y="2190651"/>
            <a:ext cx="44082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Keyboard first</a:t>
            </a:r>
            <a:endParaRPr lang="en-US" sz="1600" dirty="0"/>
          </a:p>
        </p:txBody>
      </p:sp>
      <p:sp>
        <p:nvSpPr>
          <p:cNvPr id="7" name="Text 4"/>
          <p:cNvSpPr/>
          <p:nvPr/>
        </p:nvSpPr>
        <p:spPr>
          <a:xfrm>
            <a:off x="1530350" y="2485231"/>
            <a:ext cx="44082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Press Tab: every link must be reachable and show a visible focus ring. Real a elements do this for free.</a:t>
            </a:r>
            <a:endParaRPr lang="en-US" sz="1300" dirty="0"/>
          </a:p>
        </p:txBody>
      </p:sp>
      <p:sp>
        <p:nvSpPr>
          <p:cNvPr id="8" name="Shape 5"/>
          <p:cNvSpPr/>
          <p:nvPr/>
        </p:nvSpPr>
        <p:spPr>
          <a:xfrm>
            <a:off x="6175375" y="1984276"/>
            <a:ext cx="5200650" cy="1169491"/>
          </a:xfrm>
          <a:prstGeom prst="roundRect">
            <a:avLst>
              <a:gd name="adj" fmla="val 8416"/>
            </a:avLst>
          </a:prstGeom>
          <a:solidFill>
            <a:srgbClr val="FFFDF9"/>
          </a:solidFill>
          <a:ln w="6350">
            <a:solidFill>
              <a:srgbClr val="E4E0D8"/>
            </a:solidFill>
            <a:prstDash val="solid"/>
          </a:ln>
        </p:spPr>
      </p:sp>
      <p:pic>
        <p:nvPicPr>
          <p:cNvPr id="9" name="Image 1" descr="Search">    </p:cNvPr>
          <p:cNvPicPr>
            <a:picLocks noChangeAspect="1"/>
          </p:cNvPicPr>
          <p:nvPr/>
        </p:nvPicPr>
        <p:blipFill>
          <a:blip r:embed="rId2"/>
          <a:srcRect l="0" r="0" t="0" b="0"/>
          <a:stretch/>
        </p:blipFill>
        <p:spPr>
          <a:xfrm>
            <a:off x="6381750" y="2190651"/>
            <a:ext cx="355600" cy="355600"/>
          </a:xfrm>
          <a:prstGeom prst="rect">
            <a:avLst/>
          </a:prstGeom>
        </p:spPr>
      </p:pic>
      <p:sp>
        <p:nvSpPr>
          <p:cNvPr id="10" name="Text 6"/>
          <p:cNvSpPr/>
          <p:nvPr/>
        </p:nvSpPr>
        <p:spPr>
          <a:xfrm>
            <a:off x="6889750" y="2190651"/>
            <a:ext cx="44082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Image links need alt</a:t>
            </a:r>
            <a:endParaRPr lang="en-US" sz="1600" dirty="0"/>
          </a:p>
        </p:txBody>
      </p:sp>
      <p:sp>
        <p:nvSpPr>
          <p:cNvPr id="11" name="Text 7"/>
          <p:cNvSpPr/>
          <p:nvPr/>
        </p:nvSpPr>
        <p:spPr>
          <a:xfrm>
            <a:off x="6889750" y="2485231"/>
            <a:ext cx="44082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 logo linking home: alt="Iqra University — Home". The alt becomes the link text.</a:t>
            </a:r>
            <a:endParaRPr lang="en-US" sz="1300" dirty="0"/>
          </a:p>
        </p:txBody>
      </p:sp>
      <p:sp>
        <p:nvSpPr>
          <p:cNvPr id="12" name="Shape 8"/>
          <p:cNvSpPr/>
          <p:nvPr/>
        </p:nvSpPr>
        <p:spPr>
          <a:xfrm>
            <a:off x="815975" y="3312517"/>
            <a:ext cx="5200650" cy="1169491"/>
          </a:xfrm>
          <a:prstGeom prst="roundRect">
            <a:avLst>
              <a:gd name="adj" fmla="val 8416"/>
            </a:avLst>
          </a:prstGeom>
          <a:solidFill>
            <a:srgbClr val="FFFDF9"/>
          </a:solidFill>
          <a:ln w="6350">
            <a:solidFill>
              <a:srgbClr val="E4E0D8"/>
            </a:solidFill>
            <a:prstDash val="solid"/>
          </a:ln>
        </p:spPr>
      </p:sp>
      <p:pic>
        <p:nvPicPr>
          <p:cNvPr id="13" name="Image 2" descr="Chat">    </p:cNvPr>
          <p:cNvPicPr>
            <a:picLocks noChangeAspect="1"/>
          </p:cNvPicPr>
          <p:nvPr/>
        </p:nvPicPr>
        <p:blipFill>
          <a:blip r:embed="rId3"/>
          <a:srcRect l="0" r="0" t="0" b="0"/>
          <a:stretch/>
        </p:blipFill>
        <p:spPr>
          <a:xfrm>
            <a:off x="1022350" y="3518892"/>
            <a:ext cx="355600" cy="355600"/>
          </a:xfrm>
          <a:prstGeom prst="rect">
            <a:avLst/>
          </a:prstGeom>
        </p:spPr>
      </p:pic>
      <p:sp>
        <p:nvSpPr>
          <p:cNvPr id="14" name="Text 9"/>
          <p:cNvSpPr/>
          <p:nvPr/>
        </p:nvSpPr>
        <p:spPr>
          <a:xfrm>
            <a:off x="1530350" y="3518892"/>
            <a:ext cx="44082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title is a bonus only</a:t>
            </a:r>
            <a:endParaRPr lang="en-US" sz="1600" dirty="0"/>
          </a:p>
        </p:txBody>
      </p:sp>
      <p:sp>
        <p:nvSpPr>
          <p:cNvPr id="15" name="Text 10"/>
          <p:cNvSpPr/>
          <p:nvPr/>
        </p:nvSpPr>
        <p:spPr>
          <a:xfrm>
            <a:off x="1530350" y="3813473"/>
            <a:ext cx="44082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The title tooltip needs a mouse; touch and keyboard users never see it. Put key information in the link text.</a:t>
            </a:r>
            <a:endParaRPr lang="en-US" sz="1300" dirty="0"/>
          </a:p>
        </p:txBody>
      </p:sp>
      <p:sp>
        <p:nvSpPr>
          <p:cNvPr id="16" name="Shape 11"/>
          <p:cNvSpPr/>
          <p:nvPr/>
        </p:nvSpPr>
        <p:spPr>
          <a:xfrm>
            <a:off x="6175375" y="3312517"/>
            <a:ext cx="5200650" cy="1169491"/>
          </a:xfrm>
          <a:prstGeom prst="roundRect">
            <a:avLst>
              <a:gd name="adj" fmla="val 8416"/>
            </a:avLst>
          </a:prstGeom>
          <a:solidFill>
            <a:srgbClr val="FFFDF9"/>
          </a:solidFill>
          <a:ln w="6350">
            <a:solidFill>
              <a:srgbClr val="E4E0D8"/>
            </a:solidFill>
            <a:prstDash val="solid"/>
          </a:ln>
        </p:spPr>
      </p:sp>
      <p:pic>
        <p:nvPicPr>
          <p:cNvPr id="17" name="Image 3" descr="Settings">    </p:cNvPr>
          <p:cNvPicPr>
            <a:picLocks noChangeAspect="1"/>
          </p:cNvPicPr>
          <p:nvPr/>
        </p:nvPicPr>
        <p:blipFill>
          <a:blip r:embed="rId4"/>
          <a:srcRect l="0" r="0" t="0" b="0"/>
          <a:stretch/>
        </p:blipFill>
        <p:spPr>
          <a:xfrm>
            <a:off x="6381750" y="3518892"/>
            <a:ext cx="355600" cy="355600"/>
          </a:xfrm>
          <a:prstGeom prst="rect">
            <a:avLst/>
          </a:prstGeom>
        </p:spPr>
      </p:pic>
      <p:sp>
        <p:nvSpPr>
          <p:cNvPr id="18" name="Text 12"/>
          <p:cNvSpPr/>
          <p:nvPr/>
        </p:nvSpPr>
        <p:spPr>
          <a:xfrm>
            <a:off x="6889750" y="3518892"/>
            <a:ext cx="44082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Link states (CSS preview)</a:t>
            </a:r>
            <a:endParaRPr lang="en-US" sz="1600" dirty="0"/>
          </a:p>
        </p:txBody>
      </p:sp>
      <p:sp>
        <p:nvSpPr>
          <p:cNvPr id="19" name="Text 13"/>
          <p:cNvSpPr/>
          <p:nvPr/>
        </p:nvSpPr>
        <p:spPr>
          <a:xfrm>
            <a:off x="6889750" y="3813473"/>
            <a:ext cx="44831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:link · :visited · :hover · :focus · :active — styled in Week 4.</a:t>
            </a:r>
            <a:endParaRPr lang="en-US" sz="13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C2410C"/>
        </a:solidFill>
      </p:bgPr>
    </p:bg>
    <p:spTree>
      <p:nvGrpSpPr>
        <p:cNvPr id="1" name=""/>
        <p:cNvGrpSpPr/>
        <p:nvPr/>
      </p:nvGrpSpPr>
      <p:grpSpPr>
        <a:xfrm>
          <a:off x="0" y="0"/>
          <a:ext cx="0" cy="0"/>
          <a:chOff x="0" y="0"/>
          <a:chExt cx="0" cy="0"/>
        </a:xfrm>
      </p:grpSpPr>
      <p:sp>
        <p:nvSpPr>
          <p:cNvPr id="2" name="Text 0"/>
          <p:cNvSpPr/>
          <p:nvPr/>
        </p:nvSpPr>
        <p:spPr>
          <a:xfrm>
            <a:off x="812800" y="22377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F8F1"/>
                </a:solidFill>
                <a:latin typeface="IBM Plex Sans" pitchFamily="34" charset="0"/>
                <a:ea typeface="IBM Plex Sans" pitchFamily="34" charset="-122"/>
                <a:cs typeface="IBM Plex Sans" pitchFamily="34" charset="-120"/>
              </a:rPr>
              <a:t>0:55 – 1:05</a:t>
            </a:r>
            <a:endParaRPr lang="en-US" sz="1400" dirty="0"/>
          </a:p>
        </p:txBody>
      </p:sp>
      <p:sp>
        <p:nvSpPr>
          <p:cNvPr id="3" name="Text 1"/>
          <p:cNvSpPr/>
          <p:nvPr>
            <p:ph type="title"/>
          </p:nvPr>
        </p:nvSpPr>
        <p:spPr>
          <a:xfrm>
            <a:off x="812800" y="268982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FF8F1"/>
                </a:solidFill>
                <a:latin typeface="IBM Plex Sans" pitchFamily="34" charset="0"/>
                <a:ea typeface="IBM Plex Sans" pitchFamily="34" charset="-122"/>
                <a:cs typeface="IBM Plex Sans" pitchFamily="34" charset="-120"/>
              </a:rPr>
              <a:t>Break · 10 min</a:t>
            </a:r>
            <a:endParaRPr lang="en-US" sz="8000" dirty="0"/>
          </a:p>
        </p:txBody>
      </p:sp>
      <p:sp>
        <p:nvSpPr>
          <p:cNvPr id="4" name="Text 2"/>
          <p:cNvSpPr/>
          <p:nvPr/>
        </p:nvSpPr>
        <p:spPr>
          <a:xfrm>
            <a:off x="812800" y="390902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8F1"/>
                </a:solidFill>
                <a:latin typeface="IBM Plex Sans" pitchFamily="34" charset="0"/>
                <a:ea typeface="IBM Plex Sans" pitchFamily="34" charset="-122"/>
                <a:cs typeface="IBM Plex Sans" pitchFamily="34" charset="-120"/>
              </a:rPr>
              <a:t>When we return: open web-lab1 in VS Code with File › Open Folder.</a:t>
            </a:r>
            <a:endParaRPr lang="en-US" sz="2000" dirty="0"/>
          </a:p>
          <a:p>
            <a:pPr algn="l" indent="0" marL="0">
              <a:lnSpc>
                <a:spcPts val="2800"/>
              </a:lnSpc>
              <a:buNone/>
            </a:pPr>
            <a:r>
              <a:rPr lang="en-US" sz="2000" dirty="0">
                <a:solidFill>
                  <a:srgbClr val="FFF8F1"/>
                </a:solidFill>
                <a:latin typeface="IBM Plex Sans" pitchFamily="34" charset="0"/>
                <a:ea typeface="IBM Plex Sans" pitchFamily="34" charset="-122"/>
                <a:cs typeface="IBM Plex Sans" pitchFamily="34" charset="-120"/>
              </a:rPr>
              <a:t>We turn it into a real multi-page site.</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GUIDED DEMO · 10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same menu, from two different folders</a:t>
            </a:r>
            <a:endParaRPr lang="en-US" sz="3200" dirty="0"/>
          </a:p>
        </p:txBody>
      </p:sp>
      <p:sp>
        <p:nvSpPr>
          <p:cNvPr id="4" name="Text 2"/>
          <p:cNvSpPr/>
          <p:nvPr/>
        </p:nvSpPr>
        <p:spPr>
          <a:xfrm>
            <a:off x="812800" y="1981101"/>
            <a:ext cx="2667000" cy="1772444"/>
          </a:xfrm>
          <a:prstGeom prst="roundRect">
            <a:avLst>
              <a:gd name="adj" fmla="val 5732"/>
            </a:avLst>
          </a:prstGeom>
          <a:solidFill>
            <a:srgbClr val="1B2430"/>
          </a:solidFill>
          <a:ln/>
        </p:spPr>
        <p:txBody>
          <a:bodyPr wrap="square" lIns="173442" tIns="148042" rIns="105624" bIns="1226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web-lab1/</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index.html</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about.html</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images/</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recipes/</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 biryani.html</a:t>
            </a:r>
            <a:endParaRPr lang="en-US" sz="1200" dirty="0"/>
          </a:p>
        </p:txBody>
      </p:sp>
      <p:sp>
        <p:nvSpPr>
          <p:cNvPr id="5" name="Text 3"/>
          <p:cNvSpPr/>
          <p:nvPr/>
        </p:nvSpPr>
        <p:spPr>
          <a:xfrm>
            <a:off x="3683000" y="1981101"/>
            <a:ext cx="792708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75467"/>
                </a:solidFill>
                <a:latin typeface="IBM Plex Sans" pitchFamily="34" charset="0"/>
                <a:ea typeface="IBM Plex Sans" pitchFamily="34" charset="-122"/>
                <a:cs typeface="IBM Plex Sans" pitchFamily="34" charset="-120"/>
              </a:rPr>
              <a:t>In index.html</a:t>
            </a:r>
            <a:endParaRPr lang="en-US" sz="1300" dirty="0"/>
          </a:p>
        </p:txBody>
      </p:sp>
      <p:sp>
        <p:nvSpPr>
          <p:cNvPr id="6" name="Text 4"/>
          <p:cNvSpPr/>
          <p:nvPr/>
        </p:nvSpPr>
        <p:spPr>
          <a:xfrm>
            <a:off x="3683000" y="2313781"/>
            <a:ext cx="7696200" cy="762000"/>
          </a:xfrm>
          <a:prstGeom prst="roundRect">
            <a:avLst>
              <a:gd name="adj" fmla="val 13333"/>
            </a:avLst>
          </a:prstGeom>
          <a:solidFill>
            <a:srgbClr val="1B2430"/>
          </a:solidFill>
          <a:ln/>
        </p:spPr>
        <p:txBody>
          <a:bodyPr wrap="square" lIns="173442" tIns="122642" rIns="0" bIns="97242" rtlCol="0" anchor="t">
            <a:normAutofit/>
          </a:bodyPr>
          <a:lstStyle/>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&lt;li&gt;&lt;a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href</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"index.html"</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Home</a:t>
            </a:r>
            <a:r>
              <a:rPr lang="en-US" sz="1200" dirty="0">
                <a:solidFill>
                  <a:srgbClr val="FF9E64"/>
                </a:solidFill>
                <a:latin typeface="IBM Plex Mono" pitchFamily="49" charset="0"/>
                <a:ea typeface="IBM Plex Mono" pitchFamily="49" charset="-122"/>
                <a:cs typeface="IBM Plex Mono" pitchFamily="49" charset="-120"/>
              </a:rPr>
              <a:t>&lt;/a&gt;&lt;/li&gt;</a:t>
            </a:r>
            <a:endParaRPr lang="en-US" sz="1200" dirty="0"/>
          </a:p>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&lt;li&gt;&lt;a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href</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"recipes/biryani.html"</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Recipe</a:t>
            </a:r>
            <a:r>
              <a:rPr lang="en-US" sz="1200" dirty="0">
                <a:solidFill>
                  <a:srgbClr val="FF9E64"/>
                </a:solidFill>
                <a:latin typeface="IBM Plex Mono" pitchFamily="49" charset="0"/>
                <a:ea typeface="IBM Plex Mono" pitchFamily="49" charset="-122"/>
                <a:cs typeface="IBM Plex Mono" pitchFamily="49" charset="-120"/>
              </a:rPr>
              <a:t>&lt;/a&gt;&lt;/li&gt;</a:t>
            </a:r>
            <a:endParaRPr lang="en-US" sz="1200" dirty="0"/>
          </a:p>
        </p:txBody>
      </p:sp>
      <p:sp>
        <p:nvSpPr>
          <p:cNvPr id="7" name="Text 5"/>
          <p:cNvSpPr/>
          <p:nvPr/>
        </p:nvSpPr>
        <p:spPr>
          <a:xfrm>
            <a:off x="3683000" y="3177381"/>
            <a:ext cx="792708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75467"/>
                </a:solidFill>
                <a:latin typeface="IBM Plex Sans" pitchFamily="34" charset="0"/>
                <a:ea typeface="IBM Plex Sans" pitchFamily="34" charset="-122"/>
                <a:cs typeface="IBM Plex Sans" pitchFamily="34" charset="-120"/>
              </a:rPr>
              <a:t>In recipes/biryani.html</a:t>
            </a:r>
            <a:endParaRPr lang="en-US" sz="1300" dirty="0"/>
          </a:p>
        </p:txBody>
      </p:sp>
      <p:sp>
        <p:nvSpPr>
          <p:cNvPr id="8" name="Text 6"/>
          <p:cNvSpPr/>
          <p:nvPr/>
        </p:nvSpPr>
        <p:spPr>
          <a:xfrm>
            <a:off x="3683000" y="3510062"/>
            <a:ext cx="7696200" cy="762000"/>
          </a:xfrm>
          <a:prstGeom prst="roundRect">
            <a:avLst>
              <a:gd name="adj" fmla="val 13333"/>
            </a:avLst>
          </a:prstGeom>
          <a:solidFill>
            <a:srgbClr val="1B2430"/>
          </a:solidFill>
          <a:ln/>
        </p:spPr>
        <p:txBody>
          <a:bodyPr wrap="square" lIns="173442" tIns="122642" rIns="0" bIns="97242" rtlCol="0" anchor="t">
            <a:normAutofit/>
          </a:bodyPr>
          <a:lstStyle/>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&lt;li&gt;&lt;a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href</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"../index.html"</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Home</a:t>
            </a:r>
            <a:r>
              <a:rPr lang="en-US" sz="1200" dirty="0">
                <a:solidFill>
                  <a:srgbClr val="FF9E64"/>
                </a:solidFill>
                <a:latin typeface="IBM Plex Mono" pitchFamily="49" charset="0"/>
                <a:ea typeface="IBM Plex Mono" pitchFamily="49" charset="-122"/>
                <a:cs typeface="IBM Plex Mono" pitchFamily="49" charset="-120"/>
              </a:rPr>
              <a:t>&lt;/a&gt;&lt;/li&gt;</a:t>
            </a:r>
            <a:endParaRPr lang="en-US" sz="1200" dirty="0"/>
          </a:p>
          <a:p>
            <a:pPr algn="l" indent="0" marL="0">
              <a:lnSpc>
                <a:spcPts val="1800"/>
              </a:lnSpc>
              <a:buNone/>
            </a:pPr>
            <a:r>
              <a:rPr lang="en-US" sz="1200" dirty="0">
                <a:solidFill>
                  <a:srgbClr val="FF9E64"/>
                </a:solidFill>
                <a:latin typeface="IBM Plex Mono" pitchFamily="49" charset="0"/>
                <a:ea typeface="IBM Plex Mono" pitchFamily="49" charset="-122"/>
                <a:cs typeface="IBM Plex Mono" pitchFamily="49" charset="-120"/>
              </a:rPr>
              <a:t>&lt;li&gt;&lt;a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href</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"biryani.html"</a:t>
            </a:r>
            <a:r>
              <a:rPr lang="en-US" sz="1200" dirty="0">
                <a:solidFill>
                  <a:srgbClr val="FF9E64"/>
                </a:solidFill>
                <a:latin typeface="IBM Plex Mono" pitchFamily="49" charset="0"/>
                <a:ea typeface="IBM Plex Mono" pitchFamily="49" charset="-122"/>
                <a:cs typeface="IBM Plex Mono" pitchFamily="49" charset="-120"/>
              </a:rPr>
              <a:t>&gt;</a:t>
            </a:r>
            <a:r>
              <a:rPr lang="en-US" sz="1200" dirty="0">
                <a:solidFill>
                  <a:srgbClr val="E6EDF3"/>
                </a:solidFill>
                <a:latin typeface="IBM Plex Mono" pitchFamily="49" charset="0"/>
                <a:ea typeface="IBM Plex Mono" pitchFamily="49" charset="-122"/>
                <a:cs typeface="IBM Plex Mono" pitchFamily="49" charset="-120"/>
              </a:rPr>
              <a:t>Recipe</a:t>
            </a:r>
            <a:r>
              <a:rPr lang="en-US" sz="1200" dirty="0">
                <a:solidFill>
                  <a:srgbClr val="FF9E64"/>
                </a:solidFill>
                <a:latin typeface="IBM Plex Mono" pitchFamily="49" charset="0"/>
                <a:ea typeface="IBM Plex Mono" pitchFamily="49" charset="-122"/>
                <a:cs typeface="IBM Plex Mono" pitchFamily="49" charset="-120"/>
              </a:rPr>
              <a:t>&lt;/a&gt;&lt;/li&gt;</a:t>
            </a:r>
            <a:endParaRPr lang="en-US" sz="1200" dirty="0"/>
          </a:p>
        </p:txBody>
      </p:sp>
      <p:sp>
        <p:nvSpPr>
          <p:cNvPr id="9" name="Text 7"/>
          <p:cNvSpPr/>
          <p:nvPr/>
        </p:nvSpPr>
        <p:spPr>
          <a:xfrm>
            <a:off x="812800" y="452606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Lesson:</a:t>
            </a:r>
            <a:r>
              <a:rPr lang="en-US" sz="1400" dirty="0">
                <a:solidFill>
                  <a:srgbClr val="1F2A37"/>
                </a:solidFill>
                <a:latin typeface="IBM Plex Sans" pitchFamily="34" charset="0"/>
                <a:ea typeface="IBM Plex Sans" pitchFamily="34" charset="-122"/>
                <a:cs typeface="IBM Plex Sans" pitchFamily="34" charset="-120"/>
              </a:rPr>
              <a:t> relative paths depend on where the </a:t>
            </a:r>
            <a:r>
              <a:rPr lang="en-US" sz="1400" i="1" dirty="0">
                <a:solidFill>
                  <a:srgbClr val="1F2A37"/>
                </a:solidFill>
                <a:latin typeface="IBM Plex Sans" pitchFamily="34" charset="0"/>
                <a:ea typeface="IBM Plex Sans" pitchFamily="34" charset="-122"/>
                <a:cs typeface="IBM Plex Sans" pitchFamily="34" charset="-120"/>
              </a:rPr>
              <a:t>current</a:t>
            </a:r>
            <a:r>
              <a:rPr lang="en-US" sz="1400" dirty="0">
                <a:solidFill>
                  <a:srgbClr val="1F2A37"/>
                </a:solidFill>
                <a:latin typeface="IBM Plex Sans" pitchFamily="34" charset="0"/>
                <a:ea typeface="IBM Plex Sans" pitchFamily="34" charset="-122"/>
                <a:cs typeface="IBM Plex Sans" pitchFamily="34" charset="-120"/>
              </a:rPr>
              <a:t> file lives. Copy-pasting a menu into a subfolder breaks it.</a:t>
            </a:r>
            <a:endParaRPr lang="en-US" sz="14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LAB 3 · 30 MIN · INDIVIDUAL</a:t>
            </a:r>
            <a:endParaRPr lang="en-US" sz="1200" dirty="0"/>
          </a:p>
        </p:txBody>
      </p:sp>
      <p:sp>
        <p:nvSpPr>
          <p:cNvPr id="3" name="Text 1"/>
          <p:cNvSpPr/>
          <p:nvPr>
            <p:ph type="title"/>
          </p:nvPr>
        </p:nvSpPr>
        <p:spPr>
          <a:xfrm>
            <a:off x="812800" y="1254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Turn your pages into a linked mini-site</a:t>
            </a:r>
            <a:endParaRPr lang="en-US" sz="3200" dirty="0"/>
          </a:p>
        </p:txBody>
      </p:sp>
      <p:sp>
        <p:nvSpPr>
          <p:cNvPr id="4" name="Text 2"/>
          <p:cNvSpPr/>
          <p:nvPr/>
        </p:nvSpPr>
        <p:spPr>
          <a:xfrm>
            <a:off x="812800" y="1930301"/>
            <a:ext cx="5974747"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1.</a:t>
            </a:r>
            <a:r>
              <a:rPr lang="en-US" sz="1350" dirty="0">
                <a:solidFill>
                  <a:srgbClr val="1F2A37"/>
                </a:solidFill>
                <a:latin typeface="IBM Plex Sans" pitchFamily="34" charset="0"/>
                <a:ea typeface="IBM Plex Sans" pitchFamily="34" charset="-122"/>
                <a:cs typeface="IBM Plex Sans" pitchFamily="34" charset="-120"/>
              </a:rPr>
              <a:t> Structure: index.html, about.html, recipes/biryani.html, images/.</a:t>
            </a:r>
            <a:endParaRPr lang="en-US" sz="1350" dirty="0"/>
          </a:p>
        </p:txBody>
      </p:sp>
      <p:sp>
        <p:nvSpPr>
          <p:cNvPr id="5" name="Text 3"/>
          <p:cNvSpPr/>
          <p:nvPr/>
        </p:nvSpPr>
        <p:spPr>
          <a:xfrm>
            <a:off x="812800" y="2259211"/>
            <a:ext cx="5974747"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2.</a:t>
            </a:r>
            <a:r>
              <a:rPr lang="en-US" sz="1350" dirty="0">
                <a:solidFill>
                  <a:srgbClr val="1F2A37"/>
                </a:solidFill>
                <a:latin typeface="IBM Plex Sans" pitchFamily="34" charset="0"/>
                <a:ea typeface="IBM Plex Sans" pitchFamily="34" charset="-122"/>
                <a:cs typeface="IBM Plex Sans" pitchFamily="34" charset="-120"/>
              </a:rPr>
              <a:t> Same nav (nav › ul › li › a) on every page, with correct paths.</a:t>
            </a:r>
            <a:endParaRPr lang="en-US" sz="1350" dirty="0"/>
          </a:p>
        </p:txBody>
      </p:sp>
      <p:sp>
        <p:nvSpPr>
          <p:cNvPr id="6" name="Text 4"/>
          <p:cNvSpPr/>
          <p:nvPr/>
        </p:nvSpPr>
        <p:spPr>
          <a:xfrm>
            <a:off x="812800" y="2588121"/>
            <a:ext cx="5974747"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3.</a:t>
            </a:r>
            <a:r>
              <a:rPr lang="en-US" sz="1350" dirty="0">
                <a:solidFill>
                  <a:srgbClr val="1F2A37"/>
                </a:solidFill>
                <a:latin typeface="IBM Plex Sans" pitchFamily="34" charset="0"/>
                <a:ea typeface="IBM Plex Sans" pitchFamily="34" charset="-122"/>
                <a:cs typeface="IBM Plex Sans" pitchFamily="34" charset="-120"/>
              </a:rPr>
              <a:t> Recipe: ingredients as ul, method as ol, a nested ul inside one step.</a:t>
            </a:r>
            <a:endParaRPr lang="en-US" sz="1350" dirty="0"/>
          </a:p>
        </p:txBody>
      </p:sp>
      <p:sp>
        <p:nvSpPr>
          <p:cNvPr id="7" name="Text 5"/>
          <p:cNvSpPr/>
          <p:nvPr/>
        </p:nvSpPr>
        <p:spPr>
          <a:xfrm>
            <a:off x="812800" y="2917031"/>
            <a:ext cx="6003925"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4.</a:t>
            </a:r>
            <a:r>
              <a:rPr lang="en-US" sz="1350" dirty="0">
                <a:solidFill>
                  <a:srgbClr val="1F2A37"/>
                </a:solidFill>
                <a:latin typeface="IBM Plex Sans" pitchFamily="34" charset="0"/>
                <a:ea typeface="IBM Plex Sans" pitchFamily="34" charset="-122"/>
                <a:cs typeface="IBM Plex Sans" pitchFamily="34" charset="-120"/>
              </a:rPr>
              <a:t> Recipe: a mini table of contents with #fragment links and “Back to top”.</a:t>
            </a:r>
            <a:endParaRPr lang="en-US" sz="1350" dirty="0"/>
          </a:p>
        </p:txBody>
      </p:sp>
      <p:sp>
        <p:nvSpPr>
          <p:cNvPr id="8" name="Text 6"/>
          <p:cNvSpPr/>
          <p:nvPr/>
        </p:nvSpPr>
        <p:spPr>
          <a:xfrm>
            <a:off x="812800" y="3245941"/>
            <a:ext cx="5974747" cy="50542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5.</a:t>
            </a:r>
            <a:r>
              <a:rPr lang="en-US" sz="1350" dirty="0">
                <a:solidFill>
                  <a:srgbClr val="1F2A37"/>
                </a:solidFill>
                <a:latin typeface="IBM Plex Sans" pitchFamily="34" charset="0"/>
                <a:ea typeface="IBM Plex Sans" pitchFamily="34" charset="-122"/>
                <a:cs typeface="IBM Plex Sans" pitchFamily="34" charset="-120"/>
              </a:rPr>
              <a:t> About: a dl glossary of 3 web terms; a mailto link; one external link that opens safely in a new tab.</a:t>
            </a:r>
            <a:endParaRPr lang="en-US" sz="1350" dirty="0"/>
          </a:p>
        </p:txBody>
      </p:sp>
      <p:sp>
        <p:nvSpPr>
          <p:cNvPr id="9" name="Text 7"/>
          <p:cNvSpPr/>
          <p:nvPr/>
        </p:nvSpPr>
        <p:spPr>
          <a:xfrm>
            <a:off x="812800" y="3814862"/>
            <a:ext cx="5974747" cy="265410"/>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6.</a:t>
            </a:r>
            <a:r>
              <a:rPr lang="en-US" sz="1350" dirty="0">
                <a:solidFill>
                  <a:srgbClr val="1F2A37"/>
                </a:solidFill>
                <a:latin typeface="IBM Plex Sans" pitchFamily="34" charset="0"/>
                <a:ea typeface="IBM Plex Sans" pitchFamily="34" charset="-122"/>
                <a:cs typeface="IBM Plex Sans" pitchFamily="34" charset="-120"/>
              </a:rPr>
              <a:t> Click every link. Validate every page.</a:t>
            </a:r>
            <a:endParaRPr lang="en-US" sz="1350" dirty="0"/>
          </a:p>
        </p:txBody>
      </p:sp>
      <p:sp>
        <p:nvSpPr>
          <p:cNvPr id="10" name="Shape 8"/>
          <p:cNvSpPr/>
          <p:nvPr/>
        </p:nvSpPr>
        <p:spPr>
          <a:xfrm>
            <a:off x="6819900" y="1933476"/>
            <a:ext cx="4556125" cy="2129433"/>
          </a:xfrm>
          <a:prstGeom prst="roundRect">
            <a:avLst>
              <a:gd name="adj" fmla="val 4622"/>
            </a:avLst>
          </a:prstGeom>
          <a:solidFill>
            <a:srgbClr val="FFFDF9"/>
          </a:solidFill>
          <a:ln w="6350">
            <a:solidFill>
              <a:srgbClr val="D9D3C7"/>
            </a:solidFill>
            <a:prstDash val="solid"/>
          </a:ln>
        </p:spPr>
      </p:sp>
      <p:sp>
        <p:nvSpPr>
          <p:cNvPr id="11" name="Text 9"/>
          <p:cNvSpPr/>
          <p:nvPr/>
        </p:nvSpPr>
        <p:spPr>
          <a:xfrm>
            <a:off x="7026275" y="2139851"/>
            <a:ext cx="42676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Submit on LMS</a:t>
            </a:r>
            <a:endParaRPr lang="en-US" sz="1600" dirty="0"/>
          </a:p>
        </p:txBody>
      </p:sp>
      <p:sp>
        <p:nvSpPr>
          <p:cNvPr id="12" name="Text 10"/>
          <p:cNvSpPr/>
          <p:nvPr/>
        </p:nvSpPr>
        <p:spPr>
          <a:xfrm>
            <a:off x="7026275" y="2485231"/>
            <a:ext cx="42676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Zip of the whole web-lab1 folder (not single files) + validator screenshots</a:t>
            </a:r>
            <a:endParaRPr lang="en-US" sz="1300" dirty="0"/>
          </a:p>
        </p:txBody>
      </p:sp>
      <p:sp>
        <p:nvSpPr>
          <p:cNvPr id="13" name="Text 11"/>
          <p:cNvSpPr/>
          <p:nvPr/>
        </p:nvSpPr>
        <p:spPr>
          <a:xfrm>
            <a:off x="7026275" y="3048992"/>
            <a:ext cx="42676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Stretch goal</a:t>
            </a:r>
            <a:endParaRPr lang="en-US" sz="1600" dirty="0"/>
          </a:p>
        </p:txBody>
      </p:sp>
      <p:sp>
        <p:nvSpPr>
          <p:cNvPr id="14" name="Text 12"/>
          <p:cNvSpPr/>
          <p:nvPr/>
        </p:nvSpPr>
        <p:spPr>
          <a:xfrm>
            <a:off x="7026275" y="3394373"/>
            <a:ext cx="42676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Add courses/ with two pages that link to each other and back home.</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Why links break after you upload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607965"/>
        </p:xfrm>
        <a:graphic>
          <a:graphicData uri="http://schemas.openxmlformats.org/drawingml/2006/table">
            <a:tbl>
              <a:tblPr/>
              <a:tblGrid>
                <a:gridCol w="4221480"/>
                <a:gridCol w="3166110"/>
                <a:gridCol w="3166110"/>
              </a:tblGrid>
              <a:tr h="372566">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Broken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Why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Fix</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href="C:\Users\Ali\site\about.html"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Path exists only on your laptop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href="about.html"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href="images\logo.png"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Backslash is Windows-only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Forward slash /</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href="www.google.com"</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No scheme = treated as relative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https://www.google.com</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About.html vs about.html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Linux servers are case-sensitive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All lowercase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my page.html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Spaces become %20 and break</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my-page.html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Menu copied into a subfolder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Paths are relative to the file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Add ../</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9E64"/>
                </a:solidFill>
                <a:latin typeface="IBM Plex Sans" pitchFamily="34" charset="0"/>
                <a:ea typeface="IBM Plex Sans" pitchFamily="34" charset="-122"/>
                <a:cs typeface="IBM Plex Sans" pitchFamily="34" charset="-120"/>
              </a:rPr>
              <a:t>QUICK CHECK · 5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F0"/>
                </a:solidFill>
                <a:latin typeface="IBM Plex Sans" pitchFamily="34" charset="0"/>
                <a:ea typeface="IBM Plex Sans" pitchFamily="34" charset="-122"/>
                <a:cs typeface="IBM Plex Sans" pitchFamily="34" charset="-120"/>
              </a:rPr>
              <a:t>Five questions — answer on paper</a:t>
            </a:r>
            <a:endParaRPr lang="en-US" sz="3200" dirty="0"/>
          </a:p>
        </p:txBody>
      </p:sp>
      <p:sp>
        <p:nvSpPr>
          <p:cNvPr id="4" name="Text 2"/>
          <p:cNvSpPr/>
          <p:nvPr/>
        </p:nvSpPr>
        <p:spPr>
          <a:xfrm>
            <a:off x="812800" y="19811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1.</a:t>
            </a:r>
            <a:r>
              <a:rPr lang="en-US" sz="1500" dirty="0">
                <a:solidFill>
                  <a:srgbClr val="F7F5F0"/>
                </a:solidFill>
                <a:latin typeface="IBM Plex Sans" pitchFamily="34" charset="0"/>
                <a:ea typeface="IBM Plex Sans" pitchFamily="34" charset="-122"/>
                <a:cs typeface="IBM Plex Sans" pitchFamily="34" charset="-120"/>
              </a:rPr>
              <a:t> Which list for: (a) steps to install XAMPP (b) a glossary (c) course features?</a:t>
            </a:r>
            <a:endParaRPr lang="en-US" sz="1500" dirty="0"/>
          </a:p>
        </p:txBody>
      </p:sp>
      <p:sp>
        <p:nvSpPr>
          <p:cNvPr id="5" name="Text 3"/>
          <p:cNvSpPr/>
          <p:nvPr/>
        </p:nvSpPr>
        <p:spPr>
          <a:xfrm>
            <a:off x="812800" y="23748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2.</a:t>
            </a:r>
            <a:r>
              <a:rPr lang="en-US" sz="1500" dirty="0">
                <a:solidFill>
                  <a:srgbClr val="F7F5F0"/>
                </a:solidFill>
                <a:latin typeface="IBM Plex Sans" pitchFamily="34" charset="0"/>
                <a:ea typeface="IBM Plex Sans" pitchFamily="34" charset="-122"/>
                <a:cs typeface="IBM Plex Sans" pitchFamily="34" charset="-120"/>
              </a:rPr>
              <a:t> What is the only element allowed as a direct child of ul?</a:t>
            </a:r>
            <a:endParaRPr lang="en-US" sz="1500" dirty="0"/>
          </a:p>
        </p:txBody>
      </p:sp>
      <p:sp>
        <p:nvSpPr>
          <p:cNvPr id="6" name="Text 4"/>
          <p:cNvSpPr/>
          <p:nvPr/>
        </p:nvSpPr>
        <p:spPr>
          <a:xfrm>
            <a:off x="812800" y="27685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3.</a:t>
            </a:r>
            <a:r>
              <a:rPr lang="en-US" sz="1500" dirty="0">
                <a:solidFill>
                  <a:srgbClr val="F7F5F0"/>
                </a:solidFill>
                <a:latin typeface="IBM Plex Sans" pitchFamily="34" charset="0"/>
                <a:ea typeface="IBM Plex Sans" pitchFamily="34" charset="-122"/>
                <a:cs typeface="IBM Plex Sans" pitchFamily="34" charset="-120"/>
              </a:rPr>
              <a:t> From docs/2026/notes.html, write the path to images/logo.png in the site root.</a:t>
            </a:r>
            <a:endParaRPr lang="en-US" sz="1500" dirty="0"/>
          </a:p>
        </p:txBody>
      </p:sp>
      <p:sp>
        <p:nvSpPr>
          <p:cNvPr id="7" name="Text 5"/>
          <p:cNvSpPr/>
          <p:nvPr/>
        </p:nvSpPr>
        <p:spPr>
          <a:xfrm>
            <a:off x="812800" y="31622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4.</a:t>
            </a:r>
            <a:r>
              <a:rPr lang="en-US" sz="1500" dirty="0">
                <a:solidFill>
                  <a:srgbClr val="F7F5F0"/>
                </a:solidFill>
                <a:latin typeface="IBM Plex Sans" pitchFamily="34" charset="0"/>
                <a:ea typeface="IBM Plex Sans" pitchFamily="34" charset="-122"/>
                <a:cs typeface="IBM Plex Sans" pitchFamily="34" charset="-120"/>
              </a:rPr>
              <a:t> Write a link that jumps to the element with id="faq" on contact.html.</a:t>
            </a:r>
            <a:endParaRPr lang="en-US" sz="1500" dirty="0"/>
          </a:p>
        </p:txBody>
      </p:sp>
      <p:sp>
        <p:nvSpPr>
          <p:cNvPr id="8" name="Text 6"/>
          <p:cNvSpPr/>
          <p:nvPr/>
        </p:nvSpPr>
        <p:spPr>
          <a:xfrm>
            <a:off x="812800" y="35559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5.</a:t>
            </a:r>
            <a:r>
              <a:rPr lang="en-US" sz="1500" dirty="0">
                <a:solidFill>
                  <a:srgbClr val="F7F5F0"/>
                </a:solidFill>
                <a:latin typeface="IBM Plex Sans" pitchFamily="34" charset="0"/>
                <a:ea typeface="IBM Plex Sans" pitchFamily="34" charset="-122"/>
                <a:cs typeface="IBM Plex Sans" pitchFamily="34" charset="-120"/>
              </a:rPr>
              <a:t> Why add rel="noopener" to a target="_blank" link?</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3"/>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Key takeaways</a:t>
            </a:r>
            <a:endParaRPr lang="en-US" sz="3200" dirty="0"/>
          </a:p>
        </p:txBody>
      </p:sp>
      <p:sp>
        <p:nvSpPr>
          <p:cNvPr id="4" name="Shape 2"/>
          <p:cNvSpPr/>
          <p:nvPr/>
        </p:nvSpPr>
        <p:spPr>
          <a:xfrm>
            <a:off x="831850" y="1981101"/>
            <a:ext cx="0" cy="584200"/>
          </a:xfrm>
          <a:prstGeom prst="line">
            <a:avLst/>
          </a:prstGeom>
          <a:noFill/>
          <a:ln w="38100">
            <a:solidFill>
              <a:srgbClr val="C2410C"/>
            </a:solidFill>
            <a:prstDash val="solid"/>
          </a:ln>
        </p:spPr>
      </p:sp>
      <p:sp>
        <p:nvSpPr>
          <p:cNvPr id="5" name="Text 3"/>
          <p:cNvSpPr/>
          <p:nvPr/>
        </p:nvSpPr>
        <p:spPr>
          <a:xfrm>
            <a:off x="1003300" y="20065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ul</a:t>
            </a:r>
            <a:r>
              <a:rPr lang="en-US" sz="1500" dirty="0">
                <a:solidFill>
                  <a:srgbClr val="1F2A37"/>
                </a:solidFill>
                <a:latin typeface="IBM Plex Sans" pitchFamily="34" charset="0"/>
                <a:ea typeface="IBM Plex Sans" pitchFamily="34" charset="-122"/>
                <a:cs typeface="IBM Plex Sans" pitchFamily="34" charset="-120"/>
              </a:rPr>
              <a:t> when order doesn’t matter, </a:t>
            </a:r>
            <a:r>
              <a:rPr lang="en-US" sz="1500" b="1" dirty="0">
                <a:solidFill>
                  <a:srgbClr val="1F2A37"/>
                </a:solidFill>
                <a:latin typeface="IBM Plex Sans" pitchFamily="34" charset="0"/>
                <a:ea typeface="IBM Plex Sans" pitchFamily="34" charset="-122"/>
                <a:cs typeface="IBM Plex Sans" pitchFamily="34" charset="-120"/>
              </a:rPr>
              <a:t>ol</a:t>
            </a:r>
            <a:r>
              <a:rPr lang="en-US" sz="1500" dirty="0">
                <a:solidFill>
                  <a:srgbClr val="1F2A37"/>
                </a:solidFill>
                <a:latin typeface="IBM Plex Sans" pitchFamily="34" charset="0"/>
                <a:ea typeface="IBM Plex Sans" pitchFamily="34" charset="-122"/>
                <a:cs typeface="IBM Plex Sans" pitchFamily="34" charset="-120"/>
              </a:rPr>
              <a:t> when it does, </a:t>
            </a:r>
            <a:r>
              <a:rPr lang="en-US" sz="1500" b="1" dirty="0">
                <a:solidFill>
                  <a:srgbClr val="1F2A37"/>
                </a:solidFill>
                <a:latin typeface="IBM Plex Sans" pitchFamily="34" charset="0"/>
                <a:ea typeface="IBM Plex Sans" pitchFamily="34" charset="-122"/>
                <a:cs typeface="IBM Plex Sans" pitchFamily="34" charset="-120"/>
              </a:rPr>
              <a:t>dl</a:t>
            </a:r>
            <a:r>
              <a:rPr lang="en-US" sz="1500" dirty="0">
                <a:solidFill>
                  <a:srgbClr val="1F2A37"/>
                </a:solidFill>
                <a:latin typeface="IBM Plex Sans" pitchFamily="34" charset="0"/>
                <a:ea typeface="IBM Plex Sans" pitchFamily="34" charset="-122"/>
                <a:cs typeface="IBM Plex Sans" pitchFamily="34" charset="-120"/>
              </a:rPr>
              <a:t> for term–description pairs.</a:t>
            </a:r>
            <a:endParaRPr lang="en-US" sz="1500" dirty="0"/>
          </a:p>
        </p:txBody>
      </p:sp>
      <p:sp>
        <p:nvSpPr>
          <p:cNvPr id="6" name="Shape 4"/>
          <p:cNvSpPr/>
          <p:nvPr/>
        </p:nvSpPr>
        <p:spPr>
          <a:xfrm>
            <a:off x="6267450" y="1981101"/>
            <a:ext cx="0" cy="584200"/>
          </a:xfrm>
          <a:prstGeom prst="line">
            <a:avLst/>
          </a:prstGeom>
          <a:noFill/>
          <a:ln w="38100">
            <a:solidFill>
              <a:srgbClr val="C2410C"/>
            </a:solidFill>
            <a:prstDash val="solid"/>
          </a:ln>
        </p:spPr>
      </p:sp>
      <p:sp>
        <p:nvSpPr>
          <p:cNvPr id="7" name="Text 5"/>
          <p:cNvSpPr/>
          <p:nvPr/>
        </p:nvSpPr>
        <p:spPr>
          <a:xfrm>
            <a:off x="6438900" y="20065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Nest a list </a:t>
            </a:r>
            <a:r>
              <a:rPr lang="en-US" sz="1500" b="1" dirty="0">
                <a:solidFill>
                  <a:srgbClr val="1F2A37"/>
                </a:solidFill>
                <a:latin typeface="IBM Plex Sans" pitchFamily="34" charset="0"/>
                <a:ea typeface="IBM Plex Sans" pitchFamily="34" charset="-122"/>
                <a:cs typeface="IBM Plex Sans" pitchFamily="34" charset="-120"/>
              </a:rPr>
              <a:t>inside an li</a:t>
            </a:r>
            <a:r>
              <a:rPr lang="en-US" sz="1500" dirty="0">
                <a:solidFill>
                  <a:srgbClr val="1F2A37"/>
                </a:solidFill>
                <a:latin typeface="IBM Plex Sans" pitchFamily="34" charset="0"/>
                <a:ea typeface="IBM Plex Sans" pitchFamily="34" charset="-122"/>
                <a:cs typeface="IBM Plex Sans" pitchFamily="34" charset="-120"/>
              </a:rPr>
              <a:t>; only li can be a direct child of ul/ol.</a:t>
            </a:r>
            <a:endParaRPr lang="en-US" sz="1500" dirty="0"/>
          </a:p>
        </p:txBody>
      </p:sp>
      <p:sp>
        <p:nvSpPr>
          <p:cNvPr id="8" name="Shape 6"/>
          <p:cNvSpPr/>
          <p:nvPr/>
        </p:nvSpPr>
        <p:spPr>
          <a:xfrm>
            <a:off x="831850" y="2692301"/>
            <a:ext cx="0" cy="584200"/>
          </a:xfrm>
          <a:prstGeom prst="line">
            <a:avLst/>
          </a:prstGeom>
          <a:noFill/>
          <a:ln w="38100">
            <a:solidFill>
              <a:srgbClr val="C2410C"/>
            </a:solidFill>
            <a:prstDash val="solid"/>
          </a:ln>
        </p:spPr>
      </p:sp>
      <p:sp>
        <p:nvSpPr>
          <p:cNvPr id="9" name="Text 7"/>
          <p:cNvSpPr/>
          <p:nvPr/>
        </p:nvSpPr>
        <p:spPr>
          <a:xfrm>
            <a:off x="1003300" y="27177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Navigation = </a:t>
            </a:r>
            <a:r>
              <a:rPr lang="en-US" sz="1500" b="1" dirty="0">
                <a:solidFill>
                  <a:srgbClr val="1F2A37"/>
                </a:solidFill>
                <a:latin typeface="IBM Plex Sans" pitchFamily="34" charset="0"/>
                <a:ea typeface="IBM Plex Sans" pitchFamily="34" charset="-122"/>
                <a:cs typeface="IBM Plex Sans" pitchFamily="34" charset="-120"/>
              </a:rPr>
              <a:t>nav › ul › li › a</a:t>
            </a:r>
            <a:r>
              <a:rPr lang="en-US" sz="1500" dirty="0">
                <a:solidFill>
                  <a:srgbClr val="1F2A37"/>
                </a:solidFill>
                <a:latin typeface="IBM Plex Sans" pitchFamily="34" charset="0"/>
                <a:ea typeface="IBM Plex Sans" pitchFamily="34" charset="-122"/>
                <a:cs typeface="IBM Plex Sans" pitchFamily="34" charset="-120"/>
              </a:rPr>
              <a:t>.</a:t>
            </a:r>
            <a:endParaRPr lang="en-US" sz="1500" dirty="0"/>
          </a:p>
        </p:txBody>
      </p:sp>
      <p:sp>
        <p:nvSpPr>
          <p:cNvPr id="10" name="Shape 8"/>
          <p:cNvSpPr/>
          <p:nvPr/>
        </p:nvSpPr>
        <p:spPr>
          <a:xfrm>
            <a:off x="6267450" y="2692301"/>
            <a:ext cx="0" cy="584200"/>
          </a:xfrm>
          <a:prstGeom prst="line">
            <a:avLst/>
          </a:prstGeom>
          <a:noFill/>
          <a:ln w="38100">
            <a:solidFill>
              <a:srgbClr val="C2410C"/>
            </a:solidFill>
            <a:prstDash val="solid"/>
          </a:ln>
        </p:spPr>
      </p:sp>
      <p:sp>
        <p:nvSpPr>
          <p:cNvPr id="11" name="Text 9"/>
          <p:cNvSpPr/>
          <p:nvPr/>
        </p:nvSpPr>
        <p:spPr>
          <a:xfrm>
            <a:off x="6438900" y="27177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Absolute URLs for other sites; </a:t>
            </a:r>
            <a:r>
              <a:rPr lang="en-US" sz="1500" b="1" dirty="0">
                <a:solidFill>
                  <a:srgbClr val="1F2A37"/>
                </a:solidFill>
                <a:latin typeface="IBM Plex Sans" pitchFamily="34" charset="0"/>
                <a:ea typeface="IBM Plex Sans" pitchFamily="34" charset="-122"/>
                <a:cs typeface="IBM Plex Sans" pitchFamily="34" charset="-120"/>
              </a:rPr>
              <a:t>relative</a:t>
            </a:r>
            <a:r>
              <a:rPr lang="en-US" sz="1500" dirty="0">
                <a:solidFill>
                  <a:srgbClr val="1F2A37"/>
                </a:solidFill>
                <a:latin typeface="IBM Plex Sans" pitchFamily="34" charset="0"/>
                <a:ea typeface="IBM Plex Sans" pitchFamily="34" charset="-122"/>
                <a:cs typeface="IBM Plex Sans" pitchFamily="34" charset="-120"/>
              </a:rPr>
              <a:t> paths inside yours; ../ goes up a level.</a:t>
            </a:r>
            <a:endParaRPr lang="en-US" sz="1500" dirty="0"/>
          </a:p>
        </p:txBody>
      </p:sp>
      <p:sp>
        <p:nvSpPr>
          <p:cNvPr id="12" name="Shape 10"/>
          <p:cNvSpPr/>
          <p:nvPr/>
        </p:nvSpPr>
        <p:spPr>
          <a:xfrm>
            <a:off x="831850" y="3403501"/>
            <a:ext cx="0" cy="584200"/>
          </a:xfrm>
          <a:prstGeom prst="line">
            <a:avLst/>
          </a:prstGeom>
          <a:noFill/>
          <a:ln w="38100">
            <a:solidFill>
              <a:srgbClr val="C2410C"/>
            </a:solidFill>
            <a:prstDash val="solid"/>
          </a:ln>
        </p:spPr>
      </p:sp>
      <p:sp>
        <p:nvSpPr>
          <p:cNvPr id="13" name="Text 11"/>
          <p:cNvSpPr/>
          <p:nvPr/>
        </p:nvSpPr>
        <p:spPr>
          <a:xfrm>
            <a:off x="1003300" y="34289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#id</a:t>
            </a:r>
            <a:r>
              <a:rPr lang="en-US" sz="1500" dirty="0">
                <a:solidFill>
                  <a:srgbClr val="1F2A37"/>
                </a:solidFill>
                <a:latin typeface="IBM Plex Sans" pitchFamily="34" charset="0"/>
                <a:ea typeface="IBM Plex Sans" pitchFamily="34" charset="-122"/>
                <a:cs typeface="IBM Plex Sans" pitchFamily="34" charset="-120"/>
              </a:rPr>
              <a:t> links jump within a page; mailto:, tel: and download cover special cases.</a:t>
            </a:r>
            <a:endParaRPr lang="en-US" sz="1500" dirty="0"/>
          </a:p>
        </p:txBody>
      </p:sp>
      <p:sp>
        <p:nvSpPr>
          <p:cNvPr id="14" name="Shape 12"/>
          <p:cNvSpPr/>
          <p:nvPr/>
        </p:nvSpPr>
        <p:spPr>
          <a:xfrm>
            <a:off x="6267450" y="3403501"/>
            <a:ext cx="0" cy="584200"/>
          </a:xfrm>
          <a:prstGeom prst="line">
            <a:avLst/>
          </a:prstGeom>
          <a:noFill/>
          <a:ln w="38100">
            <a:solidFill>
              <a:srgbClr val="C2410C"/>
            </a:solidFill>
            <a:prstDash val="solid"/>
          </a:ln>
        </p:spPr>
      </p:sp>
      <p:sp>
        <p:nvSpPr>
          <p:cNvPr id="15" name="Text 13"/>
          <p:cNvSpPr/>
          <p:nvPr/>
        </p:nvSpPr>
        <p:spPr>
          <a:xfrm>
            <a:off x="6438900" y="34289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Descriptive link text; </a:t>
            </a:r>
            <a:r>
              <a:rPr lang="en-US" sz="1500" b="1" dirty="0">
                <a:solidFill>
                  <a:srgbClr val="1F2A37"/>
                </a:solidFill>
                <a:latin typeface="IBM Plex Sans" pitchFamily="34" charset="0"/>
                <a:ea typeface="IBM Plex Sans" pitchFamily="34" charset="-122"/>
                <a:cs typeface="IBM Plex Sans" pitchFamily="34" charset="-120"/>
              </a:rPr>
              <a:t>noopener</a:t>
            </a:r>
            <a:r>
              <a:rPr lang="en-US" sz="1500" dirty="0">
                <a:solidFill>
                  <a:srgbClr val="1F2A37"/>
                </a:solidFill>
                <a:latin typeface="IBM Plex Sans" pitchFamily="34" charset="0"/>
                <a:ea typeface="IBM Plex Sans" pitchFamily="34" charset="-122"/>
                <a:cs typeface="IBM Plex Sans" pitchFamily="34" charset="-120"/>
              </a:rPr>
              <a:t> on new tabs; test with the keyboard.</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BEFORE NEXT LECTURE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Homework &amp; preparation</a:t>
            </a:r>
            <a:endParaRPr lang="en-US" sz="3200" dirty="0"/>
          </a:p>
        </p:txBody>
      </p:sp>
      <p:sp>
        <p:nvSpPr>
          <p:cNvPr id="4" name="Shape 2"/>
          <p:cNvSpPr/>
          <p:nvPr/>
        </p:nvSpPr>
        <p:spPr>
          <a:xfrm>
            <a:off x="815975" y="1984276"/>
            <a:ext cx="3418384" cy="2088852"/>
          </a:xfrm>
          <a:prstGeom prst="roundRect">
            <a:avLst>
              <a:gd name="adj" fmla="val 4712"/>
            </a:avLst>
          </a:prstGeom>
          <a:solidFill>
            <a:srgbClr val="FFFDF9"/>
          </a:solidFill>
          <a:ln w="6350">
            <a:solidFill>
              <a:srgbClr val="E4E0D8"/>
            </a:solidFill>
            <a:prstDash val="solid"/>
          </a:ln>
        </p:spPr>
      </p:sp>
      <p:pic>
        <p:nvPicPr>
          <p:cNvPr id="5" name="Image 0" descr="Book">    </p:cNvPr>
          <p:cNvPicPr>
            <a:picLocks noChangeAspect="1"/>
          </p:cNvPicPr>
          <p:nvPr/>
        </p:nvPicPr>
        <p:blipFill>
          <a:blip r:embed="rId1"/>
          <a:srcRect l="0" r="0" t="0" b="0"/>
          <a:stretch/>
        </p:blipFill>
        <p:spPr>
          <a:xfrm>
            <a:off x="1022350" y="2190651"/>
            <a:ext cx="304800" cy="304800"/>
          </a:xfrm>
          <a:prstGeom prst="rect">
            <a:avLst/>
          </a:prstGeom>
        </p:spPr>
      </p:pic>
      <p:sp>
        <p:nvSpPr>
          <p:cNvPr id="6" name="Text 3"/>
          <p:cNvSpPr/>
          <p:nvPr/>
        </p:nvSpPr>
        <p:spPr>
          <a:xfrm>
            <a:off x="1022350" y="2597051"/>
            <a:ext cx="3095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Read</a:t>
            </a:r>
            <a:endParaRPr lang="en-US" sz="1600" dirty="0"/>
          </a:p>
        </p:txBody>
      </p:sp>
      <p:sp>
        <p:nvSpPr>
          <p:cNvPr id="7" name="Text 4"/>
          <p:cNvSpPr/>
          <p:nvPr/>
        </p:nvSpPr>
        <p:spPr>
          <a:xfrm>
            <a:off x="1022350" y="2942431"/>
            <a:ext cx="3095803" cy="949722"/>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1F2A37"/>
                </a:solidFill>
                <a:latin typeface="IBM Plex Sans" pitchFamily="34" charset="0"/>
                <a:ea typeface="IBM Plex Sans" pitchFamily="34" charset="-122"/>
                <a:cs typeface="IBM Plex Sans" pitchFamily="34" charset="-120"/>
              </a:rPr>
              <a:t>Learning Web Design</a:t>
            </a:r>
            <a:r>
              <a:rPr lang="en-US" sz="1300" dirty="0">
                <a:solidFill>
                  <a:srgbClr val="1F2A37"/>
                </a:solidFill>
                <a:latin typeface="IBM Plex Sans" pitchFamily="34" charset="0"/>
                <a:ea typeface="IBM Plex Sans" pitchFamily="34" charset="-122"/>
                <a:cs typeface="IBM Plex Sans" pitchFamily="34" charset="-120"/>
              </a:rPr>
              <a:t>, Ch. 5 Lists section and Ch. 6 Adding Links (the href attribute, linking within your site, mail and telephone links)</a:t>
            </a:r>
            <a:endParaRPr lang="en-US" sz="1300" dirty="0"/>
          </a:p>
        </p:txBody>
      </p:sp>
      <p:sp>
        <p:nvSpPr>
          <p:cNvPr id="8" name="Shape 5"/>
          <p:cNvSpPr/>
          <p:nvPr/>
        </p:nvSpPr>
        <p:spPr>
          <a:xfrm>
            <a:off x="4393109" y="1984276"/>
            <a:ext cx="3418483" cy="2088852"/>
          </a:xfrm>
          <a:prstGeom prst="roundRect">
            <a:avLst>
              <a:gd name="adj" fmla="val 4712"/>
            </a:avLst>
          </a:prstGeom>
          <a:solidFill>
            <a:srgbClr val="FFFDF9"/>
          </a:solidFill>
          <a:ln w="6350">
            <a:solidFill>
              <a:srgbClr val="E4E0D8"/>
            </a:solidFill>
            <a:prstDash val="solid"/>
          </a:ln>
        </p:spPr>
      </p:sp>
      <p:pic>
        <p:nvPicPr>
          <p:cNvPr id="9" name="Image 1" descr="Wrench">    </p:cNvPr>
          <p:cNvPicPr>
            <a:picLocks noChangeAspect="1"/>
          </p:cNvPicPr>
          <p:nvPr/>
        </p:nvPicPr>
        <p:blipFill>
          <a:blip r:embed="rId2"/>
          <a:srcRect l="0" r="0" t="0" b="0"/>
          <a:stretch/>
        </p:blipFill>
        <p:spPr>
          <a:xfrm>
            <a:off x="4599484" y="2190651"/>
            <a:ext cx="304800" cy="304800"/>
          </a:xfrm>
          <a:prstGeom prst="rect">
            <a:avLst/>
          </a:prstGeom>
        </p:spPr>
      </p:pic>
      <p:sp>
        <p:nvSpPr>
          <p:cNvPr id="10" name="Text 6"/>
          <p:cNvSpPr/>
          <p:nvPr/>
        </p:nvSpPr>
        <p:spPr>
          <a:xfrm>
            <a:off x="4599484" y="2597051"/>
            <a:ext cx="309590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Practise</a:t>
            </a:r>
            <a:endParaRPr lang="en-US" sz="1600" dirty="0"/>
          </a:p>
        </p:txBody>
      </p:sp>
      <p:sp>
        <p:nvSpPr>
          <p:cNvPr id="11" name="Text 7"/>
          <p:cNvSpPr/>
          <p:nvPr/>
        </p:nvSpPr>
        <p:spPr>
          <a:xfrm>
            <a:off x="4599484" y="2942431"/>
            <a:ext cx="3095905"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Finish Lab 3 and the stretch goal. Draw your site’s folder tree and write every path on paper.</a:t>
            </a:r>
            <a:endParaRPr lang="en-US" sz="1300" dirty="0"/>
          </a:p>
        </p:txBody>
      </p:sp>
      <p:sp>
        <p:nvSpPr>
          <p:cNvPr id="12" name="Shape 8"/>
          <p:cNvSpPr/>
          <p:nvPr/>
        </p:nvSpPr>
        <p:spPr>
          <a:xfrm>
            <a:off x="7967166" y="1981101"/>
            <a:ext cx="3412034" cy="2095202"/>
          </a:xfrm>
          <a:prstGeom prst="roundRect">
            <a:avLst>
              <a:gd name="adj" fmla="val 4849"/>
            </a:avLst>
          </a:prstGeom>
          <a:solidFill>
            <a:srgbClr val="16202E"/>
          </a:solidFill>
          <a:ln/>
        </p:spPr>
      </p:sp>
      <p:pic>
        <p:nvPicPr>
          <p:cNvPr id="13" name="Image 2" descr="Lightbulb">    </p:cNvPr>
          <p:cNvPicPr>
            <a:picLocks noChangeAspect="1"/>
          </p:cNvPicPr>
          <p:nvPr/>
        </p:nvPicPr>
        <p:blipFill>
          <a:blip r:embed="rId3"/>
          <a:srcRect l="0" r="0" t="0" b="0"/>
          <a:stretch/>
        </p:blipFill>
        <p:spPr>
          <a:xfrm>
            <a:off x="8170366" y="2184301"/>
            <a:ext cx="304800" cy="304800"/>
          </a:xfrm>
          <a:prstGeom prst="rect">
            <a:avLst/>
          </a:prstGeom>
        </p:spPr>
      </p:pic>
      <p:sp>
        <p:nvSpPr>
          <p:cNvPr id="14" name="Text 9"/>
          <p:cNvSpPr/>
          <p:nvPr/>
        </p:nvSpPr>
        <p:spPr>
          <a:xfrm>
            <a:off x="8170366" y="2590701"/>
            <a:ext cx="3095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Next: Lecture 4</a:t>
            </a:r>
            <a:endParaRPr lang="en-US" sz="1600" dirty="0"/>
          </a:p>
        </p:txBody>
      </p:sp>
      <p:sp>
        <p:nvSpPr>
          <p:cNvPr id="15" name="Text 10"/>
          <p:cNvSpPr/>
          <p:nvPr/>
        </p:nvSpPr>
        <p:spPr>
          <a:xfrm>
            <a:off x="8170366" y="2936081"/>
            <a:ext cx="309580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Tables, div &amp; span, and HTML5 semantic page layout</a:t>
            </a:r>
            <a:endParaRPr lang="en-US" sz="13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2 · Lecture 3 — Lists, Links &amp; File Paths</a:t>
            </a:r>
            <a:endParaRPr lang="en-US" sz="1200" dirty="0"/>
          </a:p>
        </p:txBody>
      </p:sp>
    </p:spTree>
  </p:cSld>
  <p:clrMapOvr>
    <a:masterClrMapping/>
  </p:clrMapOvr>
</p:sld>
</file>

<file path=ppt/theme/theme1.xml><?xml version="1.0" encoding="utf-8"?>
<a:theme xmlns:a="http://schemas.openxmlformats.org/drawingml/2006/main" name="HTML W2·L3 – Lists, Links &amp; File Paths">
  <a:themeElements>
    <a:clrScheme name="HTML W2·L3 – Lists, Links &amp; File Paths">
      <a:dk1>
        <a:srgbClr val="16202E"/>
      </a:dk1>
      <a:lt1>
        <a:srgbClr val="F7F5F0"/>
      </a:lt1>
      <a:dk2>
        <a:srgbClr val="4E555F"/>
      </a:dk2>
      <a:lt2>
        <a:srgbClr val="E1E0DD"/>
      </a:lt2>
      <a:accent1>
        <a:srgbClr val="C2410C"/>
      </a:accent1>
      <a:accent2>
        <a:srgbClr val="FF9E64"/>
      </a:accent2>
      <a:accent3>
        <a:srgbClr val="1D4ED8"/>
      </a:accent3>
      <a:accent4>
        <a:srgbClr val="B42318"/>
      </a:accent4>
      <a:accent5>
        <a:srgbClr val="3F7A1E"/>
      </a:accent5>
      <a:accent6>
        <a:srgbClr val="667085"/>
      </a:accent6>
      <a:hlink>
        <a:srgbClr val="0563C1"/>
      </a:hlink>
      <a:folHlink>
        <a:srgbClr val="954F72"/>
      </a:folHlink>
    </a:clrScheme>
    <a:fontScheme name="HTML W2·L3 – Lists, Links &amp; File Path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W2·L3 – Lists, Links &amp; File Paths</dc:title>
  <dc:subject/>
  <dc:creator/>
  <cp:lastModifiedBy/>
  <cp:revision>1</cp:revision>
  <dcterms:created xsi:type="dcterms:W3CDTF">2026-10-24T07:34:10Z</dcterms:created>
  <dcterms:modified xsi:type="dcterms:W3CDTF">2026-10-24T07:34:10Z</dcterms:modified>
</cp:coreProperties>
</file>