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2 maps to the course card’s Lecture 5, An overview of HTML (basic tags). Today’s theme is semantics: choosing each element for what the content means, not for how it looks.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rhythm as every lecture in this module so students know what to expect. Ask students to keep their Lab 1 folder open; today’s lab extends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01 is conceptual (CLO 1: standards and semantics). Outcomes 02 to 04 are practical (CLO 2). The lab at the end checks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 tag is the marker in angle brackets; an element is opening tag, content and closing tag together. 2 Any of br, hr, img, input, meta, link. 3 Head holds metadata such as charset, viewport, title and links to CSS; body holds visible content. 4 Consistent rendering across browsers, accessibility, search engines and easier debugging. Time the skeleton challenge; most students should finish within 90 seconds by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principle for the whole module. Ask: who reads your HTML besides humans? Collect answers (browsers, Google bot, screen readers like NVDA, translation tools, your own CSS). The default appearance of elements is only the browser’s style sheet; CSS can make an h2 look like anything. So never pick an element because of its default size or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panel imitates the default browser sizes, roughly 2em down to 0.67em. HTML technically allows several h1 elements, but one h1 per page is the strong professional and accessibility recommendation. Going back up levels is fine (h4 to h2 when a new major section starts). Ask students to draw the heading outline of the university website’s admissions page as homework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indentation here is only for readability; HTML does not care about indentation. Demo: install the HeadingsMap browser extension or use the Accessibility pane in DevTools to show the outline of a real page. Point out that the numbering is implied by the heading levels, which is exactly how a screen reader user experiences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bad habit: using several br elements or empty p elements to push content down the page. Spacing is a CSS job (margin and padding, Week 5). The address example is a legitimate br use because the line structure is part of the content. In HTML5 hr is semantic (a thematic break), even though it draws a horizontal rule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the cite attribute (a URL, not shown) from the cite element (a visible title, italic by default). Never use blockquote just to indent text; that is presentational. The first quote text is illustrative wording rather than a verbatim W3C quotation, so present it as an example of markup.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 is the only common element that switches off whitespace collapsing, which ties back to Lecture 1. If you put HTML code inside pre, you still need to escape angle brackets with entities, which leads into the entities slide later. Developer blogs and documentation sites such as MDN use pre with code for every code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exam question: difference between strong and b, and between em and i. Rule: ask whether the text is more important or stressed (strong, em) or merely set apart stylistically (b, i). Demonstrate em changing meaning: I never said she stole the money, read with emphasis on different words. u also exists for unarticulated annotations such as spelling errors, but avoid it because underlined text looks like a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 element lets search engines and calendars understand dates written in any human format. abbr shows a tooltip on hover and helps screen readers. address is for contact details of the page or article author, not for any postal address. span is listed here as a preview; Lecture 4 covers div and span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this live and render it in the browser rather than relying on the approximation in the lower panel: abbr shows a dotted underline, del is struck through, ins is underlined, small is smaller. Hover over WE to show the tooltip. Point out that the date and room number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browser reads a less-than sign as the start of a tag, and an ampersand as the start of an entity. Demonstrate by writing 5 less-than 10 and less-than b greater-than in a paragraph; the browser treats it as a bold tag. Do not use chains of nbsp to indent or space content; that is CSS work. Encourage students to bookmark the MDN or W3Schools entity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will meet these tags in old tutorials, legacy university systems and older slides, so they must recognise them, but they lose marks if they use them. Browsers still render most of them for backward compatibility, yet the validator reports them as obsolete. This slide is a natural bridge to the CSS lectures in Week 4. Link to CLO 1: standards evolved to separate structure from presentation for maintainability.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one in six people worldwide live with some form of disability, according to the WHO. If time allows, turn on Windows Narrator (Ctrl+Win+Enter) or NVDA for 60 seconds on a well-structured page, then on a badly structured one. This experience usually convinces students more than any rule. Accessibility also relates to CLO 3 (user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Ten-minute timer. During the break, write the lab URL or the LMS location of the starter text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the plain text first and ask the class which element each line should become; type their suggestions and correct them. The approach mirrors Chapter 5, Putting It All Together, in Learning Web Design. The event, numbers and email are a fictional example for practice; the judge quote is a placeholder to fill with any line you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may choose any dish or a recipe they brought. Ingredients use br today on purpose; in Lecture 3 they refactor this into a proper ul list, which shows why lists exist. Marking guide: heading hierarchy 3, correct inline semantics 3, quote and cite 1, entities and footer 1, validation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Use &amp;lt;p&amp;gt; for paragraphs &amp;amp; &amp;lt;br&amp;gt; for line breaks. B: 5 &amp;lt; 10 and 10 &amp;gt; 5. C: The sign said “Tom &amp;amp; Jerry’s Caf&amp;eacute;” &amp;copy; 2026 (with UTF-8 you can type é and © directly; the ampersand must still be escaped). D: 12&amp;nbsp;km. Ask pairs to show what happened when they forgot to escape A: the browser created real p and br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these from what you saw during the lab; most classes make at least four of the six. Tell students this table is the marking rubric for the text-markup part of Assignment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strong, because the warning has real importance. 2 It skips a level (h1 to h3); use h2 before h3. 3 pre. 4 CO, then sub 2 close sub; and abbr title="HyperText Transfer Protocol" HTTP close abbr. 5 It mixes presentation into the structure layer; HTML 4.01 deprecated it and HTML5 made it obsolete in favour of CSS, which is reusable and maintainable.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Revisit the outcomes slide for a quick self-rating. Week 1 is done: students can now write a complete, valid page of well-structured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that Quiz 1 in Week 5 includes the skeleton, heading rules, strong versus b and entities. Ask them to keep web-lab1 intact; Lecture 3 links index.html and recipe.html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1901"/>
            <a:ext cx="10566400" cy="4013299"/>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1901"/>
            <a:ext cx="10566400" cy="4013299"/>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9E64"/>
                </a:solidFill>
                <a:latin typeface="IBM Plex Sans" pitchFamily="34" charset="0"/>
                <a:ea typeface="IBM Plex Sans" pitchFamily="34" charset="-122"/>
                <a:cs typeface="IBM Plex Sans" pitchFamily="34" charset="-120"/>
              </a:rPr>
              <a:t>CSC-312 WEB ENGINEERING · HTML MODULE</a:t>
            </a:r>
            <a:endParaRPr lang="en-US" sz="1400" dirty="0"/>
          </a:p>
        </p:txBody>
      </p:sp>
      <p:sp>
        <p:nvSpPr>
          <p:cNvPr id="3" name="Text 1"/>
          <p:cNvSpPr/>
          <p:nvPr/>
        </p:nvSpPr>
        <p:spPr>
          <a:xfrm>
            <a:off x="812800" y="121404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0C3"/>
                </a:solidFill>
                <a:latin typeface="IBM Plex Mono" pitchFamily="49" charset="0"/>
                <a:ea typeface="IBM Plex Mono" pitchFamily="49" charset="-122"/>
                <a:cs typeface="IBM Plex Mono" pitchFamily="49" charset="-120"/>
              </a:rPr>
              <a:t>Week 1 · Lecture 2 of 6</a:t>
            </a:r>
            <a:endParaRPr lang="en-US" sz="1600" dirty="0"/>
          </a:p>
        </p:txBody>
      </p:sp>
      <p:sp>
        <p:nvSpPr>
          <p:cNvPr id="4" name="Text 2"/>
          <p:cNvSpPr/>
          <p:nvPr>
            <p:ph type="title"/>
          </p:nvPr>
        </p:nvSpPr>
        <p:spPr>
          <a:xfrm>
            <a:off x="812800" y="298579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F0"/>
                </a:solidFill>
                <a:latin typeface="IBM Plex Sans" pitchFamily="34" charset="0"/>
                <a:ea typeface="IBM Plex Sans" pitchFamily="34" charset="-122"/>
                <a:cs typeface="IBM Plex Sans" pitchFamily="34" charset="-120"/>
              </a:rPr>
              <a:t>Marking Up Text</a:t>
            </a:r>
            <a:endParaRPr lang="en-US" sz="6000" dirty="0"/>
          </a:p>
        </p:txBody>
      </p:sp>
      <p:sp>
        <p:nvSpPr>
          <p:cNvPr id="5" name="Text 3"/>
          <p:cNvSpPr/>
          <p:nvPr/>
        </p:nvSpPr>
        <p:spPr>
          <a:xfrm>
            <a:off x="812800" y="398909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E0"/>
                </a:solidFill>
                <a:latin typeface="IBM Plex Sans" pitchFamily="34" charset="0"/>
                <a:ea typeface="IBM Plex Sans" pitchFamily="34" charset="-122"/>
                <a:cs typeface="IBM Plex Sans" pitchFamily="34" charset="-120"/>
              </a:rPr>
              <a:t>Headings, paragraphs, quotations, inline semantics and character entities</a:t>
            </a:r>
            <a:endParaRPr lang="en-US" sz="1800" dirty="0"/>
          </a:p>
        </p:txBody>
      </p:sp>
      <p:sp>
        <p:nvSpPr>
          <p:cNvPr id="6" name="Text 4"/>
          <p:cNvSpPr/>
          <p:nvPr/>
        </p:nvSpPr>
        <p:spPr>
          <a:xfrm>
            <a:off x="812800" y="5796359"/>
            <a:ext cx="501360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4E0"/>
                </a:solidFill>
                <a:latin typeface="IBM Plex Sans" pitchFamily="34" charset="0"/>
                <a:ea typeface="IBM Plex Sans" pitchFamily="34" charset="-122"/>
                <a:cs typeface="IBM Plex Sans" pitchFamily="34" charset="-120"/>
              </a:rPr>
              <a:t>Dr. Faheem Shaukat · BSCS 6th Semester · Fall 2026</a:t>
            </a:r>
            <a:endParaRPr lang="en-US" sz="1400" dirty="0"/>
          </a:p>
        </p:txBody>
      </p:sp>
      <p:sp>
        <p:nvSpPr>
          <p:cNvPr id="7" name="Text 5"/>
          <p:cNvSpPr/>
          <p:nvPr/>
        </p:nvSpPr>
        <p:spPr>
          <a:xfrm>
            <a:off x="8434784" y="5796359"/>
            <a:ext cx="2944416"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FF9E64"/>
                </a:solidFill>
                <a:latin typeface="IBM Plex Mono" pitchFamily="49" charset="0"/>
                <a:ea typeface="IBM Plex Mono" pitchFamily="49" charset="-122"/>
                <a:cs typeface="IBM Plex Mono" pitchFamily="49" charset="-120"/>
              </a:rPr>
              <a:t>&lt;h1&gt; &lt;p&gt; &lt;strong&gt; &amp;amp;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TODAY’S 2-HOUR PLAN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Agenda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2743200"/>
        </p:xfrm>
        <a:graphic>
          <a:graphicData uri="http://schemas.openxmlformats.org/drawingml/2006/table">
            <a:tbl>
              <a:tblPr/>
              <a:tblGrid>
                <a:gridCol w="1899666"/>
                <a:gridCol w="3166110"/>
                <a:gridCol w="5487924"/>
              </a:tblGrid>
              <a:tr h="412750">
                <a:tc>
                  <a:txBody>
                    <a:bodyPr/>
                    <a:lstStyle/>
                    <a:p>
                      <a:pPr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Time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Segment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What we do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0:00 – 0:10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Recap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Lecture 1 in five minutes, skeleton challenge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6794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0:10 – 0:55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Part A · Theory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Semantics, headings, paragraphs, quotes, inline elements, entities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0:55 – 1:05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9B9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9B9AE"/>
                      </a:solidFill>
                      <a:prstDash val="solid"/>
                      <a:round/>
                      <a:headEnd type="none" w="med" len="med"/>
                      <a:tailEnd type="none" w="med" len="med"/>
                    </a:lnB>
                    <a:solidFill>
                      <a:srgbClr val="FCE7DA"/>
                    </a:solidFill>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Break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9B9AE"/>
                      </a:solidFill>
                      <a:prstDash val="solid"/>
                      <a:round/>
                      <a:headEnd type="none" w="med" len="med"/>
                      <a:tailEnd type="none" w="med" len="med"/>
                    </a:lnL>
                    <a:lnR w="12700" cap="flat" cmpd="sng" algn="ctr">
                      <a:solidFill>
                        <a:srgbClr val="C9B9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9B9AE"/>
                      </a:solidFill>
                      <a:prstDash val="solid"/>
                      <a:round/>
                      <a:headEnd type="none" w="med" len="med"/>
                      <a:tailEnd type="none" w="med" len="med"/>
                    </a:lnB>
                    <a:solidFill>
                      <a:srgbClr val="FCE7DA"/>
                    </a:solidFill>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10 minutes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9B9AE"/>
                      </a:solidFill>
                      <a:prstDash val="solid"/>
                      <a:round/>
                      <a:headEnd type="none" w="med" len="med"/>
                      <a:tailEnd type="none" w="med" len="med"/>
                    </a:lnL>
                    <a:lnR w="12700" cap="flat" cmpd="sng" algn="ctr">
                      <a:solidFill>
                        <a:srgbClr val="C9B9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9B9AE"/>
                      </a:solidFill>
                      <a:prstDash val="solid"/>
                      <a:round/>
                      <a:headEnd type="none" w="med" len="med"/>
                      <a:tailEnd type="none" w="med" len="med"/>
                    </a:lnB>
                    <a:solidFill>
                      <a:srgbClr val="FCE7DA"/>
                    </a:solidFill>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1:05 – 1:45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9B9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Part B · Hands-on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9B9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Mark up an article, Lab 2, entities challenge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9B9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1:45 – 2:00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Wrap-up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Common mistakes, quick check, homework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LEARNING OUTCOMES · CLO 1, CLO 2</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By the end of today you can…</a:t>
            </a:r>
            <a:endParaRPr lang="en-US" sz="3200" dirty="0"/>
          </a:p>
        </p:txBody>
      </p:sp>
      <p:sp>
        <p:nvSpPr>
          <p:cNvPr id="4" name="Shape 2"/>
          <p:cNvSpPr/>
          <p:nvPr/>
        </p:nvSpPr>
        <p:spPr>
          <a:xfrm>
            <a:off x="815975" y="1984276"/>
            <a:ext cx="5200650" cy="1333500"/>
          </a:xfrm>
          <a:prstGeom prst="roundRect">
            <a:avLst>
              <a:gd name="adj" fmla="val 7381"/>
            </a:avLst>
          </a:prstGeom>
          <a:solidFill>
            <a:srgbClr val="FFFDF9"/>
          </a:solidFill>
          <a:ln w="6350">
            <a:solidFill>
              <a:srgbClr val="E4E0D8"/>
            </a:solidFill>
            <a:prstDash val="solid"/>
          </a:ln>
        </p:spPr>
      </p:sp>
      <p:sp>
        <p:nvSpPr>
          <p:cNvPr id="5" name="Text 3"/>
          <p:cNvSpPr/>
          <p:nvPr/>
        </p:nvSpPr>
        <p:spPr>
          <a:xfrm>
            <a:off x="1022350" y="219065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01</a:t>
            </a:r>
            <a:endParaRPr lang="en-US" sz="2000" dirty="0"/>
          </a:p>
        </p:txBody>
      </p:sp>
      <p:sp>
        <p:nvSpPr>
          <p:cNvPr id="6" name="Text 4"/>
          <p:cNvSpPr/>
          <p:nvPr/>
        </p:nvSpPr>
        <p:spPr>
          <a:xfrm>
            <a:off x="1022350" y="2597051"/>
            <a:ext cx="493153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Explain semantic markup and why meaning matters more than appearance</a:t>
            </a:r>
            <a:endParaRPr lang="en-US" sz="1500" dirty="0"/>
          </a:p>
        </p:txBody>
      </p:sp>
      <p:sp>
        <p:nvSpPr>
          <p:cNvPr id="7" name="Shape 5"/>
          <p:cNvSpPr/>
          <p:nvPr/>
        </p:nvSpPr>
        <p:spPr>
          <a:xfrm>
            <a:off x="6175375" y="1984276"/>
            <a:ext cx="5200650" cy="1333500"/>
          </a:xfrm>
          <a:prstGeom prst="roundRect">
            <a:avLst>
              <a:gd name="adj" fmla="val 7381"/>
            </a:avLst>
          </a:prstGeom>
          <a:solidFill>
            <a:srgbClr val="FFFDF9"/>
          </a:solidFill>
          <a:ln w="6350">
            <a:solidFill>
              <a:srgbClr val="E4E0D8"/>
            </a:solidFill>
            <a:prstDash val="solid"/>
          </a:ln>
        </p:spPr>
      </p:sp>
      <p:sp>
        <p:nvSpPr>
          <p:cNvPr id="8" name="Text 6"/>
          <p:cNvSpPr/>
          <p:nvPr/>
        </p:nvSpPr>
        <p:spPr>
          <a:xfrm>
            <a:off x="6381750" y="219065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02</a:t>
            </a:r>
            <a:endParaRPr lang="en-US" sz="2000" dirty="0"/>
          </a:p>
        </p:txBody>
      </p:sp>
      <p:sp>
        <p:nvSpPr>
          <p:cNvPr id="9" name="Text 7"/>
          <p:cNvSpPr/>
          <p:nvPr/>
        </p:nvSpPr>
        <p:spPr>
          <a:xfrm>
            <a:off x="6381750" y="2597051"/>
            <a:ext cx="493153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Structure content with a correct heading hierarchy, paragraphs and breaks</a:t>
            </a:r>
            <a:endParaRPr lang="en-US" sz="1500" dirty="0"/>
          </a:p>
        </p:txBody>
      </p:sp>
      <p:sp>
        <p:nvSpPr>
          <p:cNvPr id="10" name="Shape 8"/>
          <p:cNvSpPr/>
          <p:nvPr/>
        </p:nvSpPr>
        <p:spPr>
          <a:xfrm>
            <a:off x="815975" y="3476526"/>
            <a:ext cx="5200650" cy="1333500"/>
          </a:xfrm>
          <a:prstGeom prst="roundRect">
            <a:avLst>
              <a:gd name="adj" fmla="val 7381"/>
            </a:avLst>
          </a:prstGeom>
          <a:solidFill>
            <a:srgbClr val="FFFDF9"/>
          </a:solidFill>
          <a:ln w="6350">
            <a:solidFill>
              <a:srgbClr val="E4E0D8"/>
            </a:solidFill>
            <a:prstDash val="solid"/>
          </a:ln>
        </p:spPr>
      </p:sp>
      <p:sp>
        <p:nvSpPr>
          <p:cNvPr id="11" name="Text 9"/>
          <p:cNvSpPr/>
          <p:nvPr/>
        </p:nvSpPr>
        <p:spPr>
          <a:xfrm>
            <a:off x="1022350" y="368290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03</a:t>
            </a:r>
            <a:endParaRPr lang="en-US" sz="2000" dirty="0"/>
          </a:p>
        </p:txBody>
      </p:sp>
      <p:sp>
        <p:nvSpPr>
          <p:cNvPr id="12" name="Text 10"/>
          <p:cNvSpPr/>
          <p:nvPr/>
        </p:nvSpPr>
        <p:spPr>
          <a:xfrm>
            <a:off x="1022350" y="4089301"/>
            <a:ext cx="493153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Choose the right inline element: strong vs b, em vs i, abbr, time, sub, sup…</a:t>
            </a:r>
            <a:endParaRPr lang="en-US" sz="1500" dirty="0"/>
          </a:p>
        </p:txBody>
      </p:sp>
      <p:sp>
        <p:nvSpPr>
          <p:cNvPr id="13" name="Shape 11"/>
          <p:cNvSpPr/>
          <p:nvPr/>
        </p:nvSpPr>
        <p:spPr>
          <a:xfrm>
            <a:off x="6175375" y="3476526"/>
            <a:ext cx="5200650" cy="1333500"/>
          </a:xfrm>
          <a:prstGeom prst="roundRect">
            <a:avLst>
              <a:gd name="adj" fmla="val 7381"/>
            </a:avLst>
          </a:prstGeom>
          <a:solidFill>
            <a:srgbClr val="FFFDF9"/>
          </a:solidFill>
          <a:ln w="6350">
            <a:solidFill>
              <a:srgbClr val="E4E0D8"/>
            </a:solidFill>
            <a:prstDash val="solid"/>
          </a:ln>
        </p:spPr>
      </p:sp>
      <p:sp>
        <p:nvSpPr>
          <p:cNvPr id="14" name="Text 12"/>
          <p:cNvSpPr/>
          <p:nvPr/>
        </p:nvSpPr>
        <p:spPr>
          <a:xfrm>
            <a:off x="6381750" y="368290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04</a:t>
            </a:r>
            <a:endParaRPr lang="en-US" sz="2000" dirty="0"/>
          </a:p>
        </p:txBody>
      </p:sp>
      <p:sp>
        <p:nvSpPr>
          <p:cNvPr id="15" name="Text 13"/>
          <p:cNvSpPr/>
          <p:nvPr/>
        </p:nvSpPr>
        <p:spPr>
          <a:xfrm>
            <a:off x="6381750" y="4089301"/>
            <a:ext cx="4931537"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Display reserved and special characters using entities</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RECAP · 10 MIN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Last lecture in four questions</a:t>
            </a:r>
            <a:endParaRPr lang="en-US" sz="3200" dirty="0"/>
          </a:p>
        </p:txBody>
      </p:sp>
      <p:sp>
        <p:nvSpPr>
          <p:cNvPr id="4" name="Text 2"/>
          <p:cNvSpPr/>
          <p:nvPr/>
        </p:nvSpPr>
        <p:spPr>
          <a:xfrm>
            <a:off x="812800" y="1981101"/>
            <a:ext cx="651433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2410C"/>
                </a:solidFill>
                <a:latin typeface="IBM Plex Sans" pitchFamily="34" charset="0"/>
                <a:ea typeface="IBM Plex Sans" pitchFamily="34" charset="-122"/>
                <a:cs typeface="IBM Plex Sans" pitchFamily="34" charset="-120"/>
              </a:rPr>
              <a:t>1.</a:t>
            </a:r>
            <a:r>
              <a:rPr lang="en-US" sz="1500" dirty="0">
                <a:solidFill>
                  <a:srgbClr val="1F2A37"/>
                </a:solidFill>
                <a:latin typeface="IBM Plex Sans" pitchFamily="34" charset="0"/>
                <a:ea typeface="IBM Plex Sans" pitchFamily="34" charset="-122"/>
                <a:cs typeface="IBM Plex Sans" pitchFamily="34" charset="-120"/>
              </a:rPr>
              <a:t> Tag vs element — what is the difference?</a:t>
            </a:r>
            <a:endParaRPr lang="en-US" sz="1500" dirty="0"/>
          </a:p>
        </p:txBody>
      </p:sp>
      <p:sp>
        <p:nvSpPr>
          <p:cNvPr id="5" name="Text 3"/>
          <p:cNvSpPr/>
          <p:nvPr/>
        </p:nvSpPr>
        <p:spPr>
          <a:xfrm>
            <a:off x="812800" y="2374801"/>
            <a:ext cx="651433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2410C"/>
                </a:solidFill>
                <a:latin typeface="IBM Plex Sans" pitchFamily="34" charset="0"/>
                <a:ea typeface="IBM Plex Sans" pitchFamily="34" charset="-122"/>
                <a:cs typeface="IBM Plex Sans" pitchFamily="34" charset="-120"/>
              </a:rPr>
              <a:t>2.</a:t>
            </a:r>
            <a:r>
              <a:rPr lang="en-US" sz="1500" dirty="0">
                <a:solidFill>
                  <a:srgbClr val="1F2A37"/>
                </a:solidFill>
                <a:latin typeface="IBM Plex Sans" pitchFamily="34" charset="0"/>
                <a:ea typeface="IBM Plex Sans" pitchFamily="34" charset="-122"/>
                <a:cs typeface="IBM Plex Sans" pitchFamily="34" charset="-120"/>
              </a:rPr>
              <a:t> Name three void elements.</a:t>
            </a:r>
            <a:endParaRPr lang="en-US" sz="1500" dirty="0"/>
          </a:p>
        </p:txBody>
      </p:sp>
      <p:sp>
        <p:nvSpPr>
          <p:cNvPr id="6" name="Text 4"/>
          <p:cNvSpPr/>
          <p:nvPr/>
        </p:nvSpPr>
        <p:spPr>
          <a:xfrm>
            <a:off x="812800" y="2768501"/>
            <a:ext cx="651433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2410C"/>
                </a:solidFill>
                <a:latin typeface="IBM Plex Sans" pitchFamily="34" charset="0"/>
                <a:ea typeface="IBM Plex Sans" pitchFamily="34" charset="-122"/>
                <a:cs typeface="IBM Plex Sans" pitchFamily="34" charset="-120"/>
              </a:rPr>
              <a:t>3.</a:t>
            </a:r>
            <a:r>
              <a:rPr lang="en-US" sz="1500" dirty="0">
                <a:solidFill>
                  <a:srgbClr val="1F2A37"/>
                </a:solidFill>
                <a:latin typeface="IBM Plex Sans" pitchFamily="34" charset="0"/>
                <a:ea typeface="IBM Plex Sans" pitchFamily="34" charset="-122"/>
                <a:cs typeface="IBM Plex Sans" pitchFamily="34" charset="-120"/>
              </a:rPr>
              <a:t> What goes in head, and what goes in body?</a:t>
            </a:r>
            <a:endParaRPr lang="en-US" sz="1500" dirty="0"/>
          </a:p>
        </p:txBody>
      </p:sp>
      <p:sp>
        <p:nvSpPr>
          <p:cNvPr id="7" name="Text 5"/>
          <p:cNvSpPr/>
          <p:nvPr/>
        </p:nvSpPr>
        <p:spPr>
          <a:xfrm>
            <a:off x="812800" y="3162201"/>
            <a:ext cx="651433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2410C"/>
                </a:solidFill>
                <a:latin typeface="IBM Plex Sans" pitchFamily="34" charset="0"/>
                <a:ea typeface="IBM Plex Sans" pitchFamily="34" charset="-122"/>
                <a:cs typeface="IBM Plex Sans" pitchFamily="34" charset="-120"/>
              </a:rPr>
              <a:t>4.</a:t>
            </a:r>
            <a:r>
              <a:rPr lang="en-US" sz="1500" dirty="0">
                <a:solidFill>
                  <a:srgbClr val="1F2A37"/>
                </a:solidFill>
                <a:latin typeface="IBM Plex Sans" pitchFamily="34" charset="0"/>
                <a:ea typeface="IBM Plex Sans" pitchFamily="34" charset="-122"/>
                <a:cs typeface="IBM Plex Sans" pitchFamily="34" charset="-120"/>
              </a:rPr>
              <a:t> Why must we validate our pages?</a:t>
            </a:r>
            <a:endParaRPr lang="en-US" sz="1500" dirty="0"/>
          </a:p>
        </p:txBody>
      </p:sp>
      <p:sp>
        <p:nvSpPr>
          <p:cNvPr id="8" name="Shape 6"/>
          <p:cNvSpPr/>
          <p:nvPr/>
        </p:nvSpPr>
        <p:spPr>
          <a:xfrm>
            <a:off x="7442200" y="1981101"/>
            <a:ext cx="3937000" cy="2219722"/>
          </a:xfrm>
          <a:prstGeom prst="roundRect">
            <a:avLst>
              <a:gd name="adj" fmla="val 4577"/>
            </a:avLst>
          </a:prstGeom>
          <a:solidFill>
            <a:srgbClr val="16202E"/>
          </a:solidFill>
          <a:ln/>
        </p:spPr>
      </p:sp>
      <p:pic>
        <p:nvPicPr>
          <p:cNvPr id="9" name="Image 0" descr="Clock">    </p:cNvPr>
          <p:cNvPicPr>
            <a:picLocks noChangeAspect="1"/>
          </p:cNvPicPr>
          <p:nvPr/>
        </p:nvPicPr>
        <p:blipFill>
          <a:blip r:embed="rId1"/>
          <a:srcRect l="0" r="0" t="0" b="0"/>
          <a:stretch/>
        </p:blipFill>
        <p:spPr>
          <a:xfrm>
            <a:off x="7696200" y="2235101"/>
            <a:ext cx="406400" cy="406400"/>
          </a:xfrm>
          <a:prstGeom prst="rect">
            <a:avLst/>
          </a:prstGeom>
        </p:spPr>
      </p:pic>
      <p:sp>
        <p:nvSpPr>
          <p:cNvPr id="10" name="Text 7"/>
          <p:cNvSpPr/>
          <p:nvPr/>
        </p:nvSpPr>
        <p:spPr>
          <a:xfrm>
            <a:off x="7696200" y="2768501"/>
            <a:ext cx="353187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5F0"/>
                </a:solidFill>
                <a:latin typeface="IBM Plex Sans" pitchFamily="34" charset="0"/>
                <a:ea typeface="IBM Plex Sans" pitchFamily="34" charset="-122"/>
                <a:cs typeface="IBM Plex Sans" pitchFamily="34" charset="-120"/>
              </a:rPr>
              <a:t>90-second challenge</a:t>
            </a:r>
            <a:endParaRPr lang="en-US" sz="2000" dirty="0"/>
          </a:p>
        </p:txBody>
      </p:sp>
      <p:sp>
        <p:nvSpPr>
          <p:cNvPr id="11" name="Text 8"/>
          <p:cNvSpPr/>
          <p:nvPr/>
        </p:nvSpPr>
        <p:spPr>
          <a:xfrm>
            <a:off x="7696200" y="3200301"/>
            <a:ext cx="353187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4E0"/>
                </a:solidFill>
                <a:latin typeface="IBM Plex Sans" pitchFamily="34" charset="0"/>
                <a:ea typeface="IBM Plex Sans" pitchFamily="34" charset="-122"/>
                <a:cs typeface="IBM Plex Sans" pitchFamily="34" charset="-120"/>
              </a:rPr>
              <a:t>Write the complete HTML5 skeleton from memory on paper. Swap with your neighbour and check against Lecture 1.</a:t>
            </a:r>
            <a:endParaRPr lang="en-US" sz="14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THEORY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Semantic markup: meaning first, looks later</a:t>
            </a:r>
            <a:endParaRPr lang="en-US" sz="3200" dirty="0"/>
          </a:p>
        </p:txBody>
      </p:sp>
      <p:sp>
        <p:nvSpPr>
          <p:cNvPr id="4" name="Text 2"/>
          <p:cNvSpPr/>
          <p:nvPr/>
        </p:nvSpPr>
        <p:spPr>
          <a:xfrm>
            <a:off x="812800" y="1981101"/>
            <a:ext cx="533704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2318"/>
                </a:solidFill>
                <a:latin typeface="IBM Plex Sans" pitchFamily="34" charset="0"/>
                <a:ea typeface="IBM Plex Sans" pitchFamily="34" charset="-122"/>
                <a:cs typeface="IBM Plex Sans" pitchFamily="34" charset="-120"/>
              </a:rPr>
              <a:t>Looks like a heading</a:t>
            </a:r>
            <a:endParaRPr lang="en-US" sz="1400" dirty="0"/>
          </a:p>
        </p:txBody>
      </p:sp>
      <p:sp>
        <p:nvSpPr>
          <p:cNvPr id="5" name="Text 3"/>
          <p:cNvSpPr/>
          <p:nvPr/>
        </p:nvSpPr>
        <p:spPr>
          <a:xfrm>
            <a:off x="812800" y="2331541"/>
            <a:ext cx="5181600" cy="622300"/>
          </a:xfrm>
          <a:prstGeom prst="roundRect">
            <a:avLst>
              <a:gd name="adj" fmla="val 16327"/>
            </a:avLst>
          </a:prstGeom>
          <a:solidFill>
            <a:srgbClr val="1B2430"/>
          </a:solidFill>
          <a:ln/>
        </p:spPr>
        <p:txBody>
          <a:bodyPr wrap="square" lIns="198842" tIns="148042" rIns="57110" bIns="122642" rtlCol="0" anchor="t">
            <a:normAutofit/>
          </a:bodyPr>
          <a:lstStyle/>
          <a:p>
            <a:pPr algn="l" indent="0" marL="0">
              <a:lnSpc>
                <a:spcPts val="2100"/>
              </a:lnSpc>
              <a:buNone/>
            </a:pPr>
            <a:r>
              <a:rPr lang="en-US" sz="1400" dirty="0">
                <a:solidFill>
                  <a:srgbClr val="FF9E64"/>
                </a:solidFill>
                <a:latin typeface="IBM Plex Mono" pitchFamily="49" charset="0"/>
                <a:ea typeface="IBM Plex Mono" pitchFamily="49" charset="-122"/>
                <a:cs typeface="IBM Plex Mono" pitchFamily="49" charset="-120"/>
              </a:rPr>
              <a:t>&lt;p&gt;&lt;b&gt;</a:t>
            </a:r>
            <a:r>
              <a:rPr lang="en-US" sz="1400" dirty="0">
                <a:solidFill>
                  <a:srgbClr val="E6EDF3"/>
                </a:solidFill>
                <a:latin typeface="IBM Plex Mono" pitchFamily="49" charset="0"/>
                <a:ea typeface="IBM Plex Mono" pitchFamily="49" charset="-122"/>
                <a:cs typeface="IBM Plex Mono" pitchFamily="49" charset="-120"/>
              </a:rPr>
              <a:t>Our Menu</a:t>
            </a:r>
            <a:r>
              <a:rPr lang="en-US" sz="1400" dirty="0">
                <a:solidFill>
                  <a:srgbClr val="FF9E64"/>
                </a:solidFill>
                <a:latin typeface="IBM Plex Mono" pitchFamily="49" charset="0"/>
                <a:ea typeface="IBM Plex Mono" pitchFamily="49" charset="-122"/>
                <a:cs typeface="IBM Plex Mono" pitchFamily="49" charset="-120"/>
              </a:rPr>
              <a:t>&lt;/b&gt;&lt;/p&gt;</a:t>
            </a:r>
            <a:endParaRPr lang="en-US" sz="1400" dirty="0"/>
          </a:p>
        </p:txBody>
      </p:sp>
      <p:sp>
        <p:nvSpPr>
          <p:cNvPr id="6" name="Text 4"/>
          <p:cNvSpPr/>
          <p:nvPr/>
        </p:nvSpPr>
        <p:spPr>
          <a:xfrm>
            <a:off x="812800" y="3055441"/>
            <a:ext cx="533704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To a screen reader or Google this is just bold text.</a:t>
            </a:r>
            <a:endParaRPr lang="en-US" sz="1300" dirty="0"/>
          </a:p>
        </p:txBody>
      </p:sp>
      <p:sp>
        <p:nvSpPr>
          <p:cNvPr id="7" name="Text 5"/>
          <p:cNvSpPr/>
          <p:nvPr/>
        </p:nvSpPr>
        <p:spPr>
          <a:xfrm>
            <a:off x="6197600" y="1981101"/>
            <a:ext cx="533704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F7A1E"/>
                </a:solidFill>
                <a:latin typeface="IBM Plex Sans" pitchFamily="34" charset="0"/>
                <a:ea typeface="IBM Plex Sans" pitchFamily="34" charset="-122"/>
                <a:cs typeface="IBM Plex Sans" pitchFamily="34" charset="-120"/>
              </a:rPr>
              <a:t>Is a heading</a:t>
            </a:r>
            <a:endParaRPr lang="en-US" sz="1400" dirty="0"/>
          </a:p>
        </p:txBody>
      </p:sp>
      <p:sp>
        <p:nvSpPr>
          <p:cNvPr id="8" name="Text 6"/>
          <p:cNvSpPr/>
          <p:nvPr/>
        </p:nvSpPr>
        <p:spPr>
          <a:xfrm>
            <a:off x="6197600" y="2331541"/>
            <a:ext cx="5181600" cy="622300"/>
          </a:xfrm>
          <a:prstGeom prst="roundRect">
            <a:avLst>
              <a:gd name="adj" fmla="val 16327"/>
            </a:avLst>
          </a:prstGeom>
          <a:solidFill>
            <a:srgbClr val="1B2430"/>
          </a:solidFill>
          <a:ln/>
        </p:spPr>
        <p:txBody>
          <a:bodyPr wrap="square" lIns="198842" tIns="148042" rIns="57110" bIns="122642" rtlCol="0" anchor="t">
            <a:normAutofit/>
          </a:bodyPr>
          <a:lstStyle/>
          <a:p>
            <a:pPr algn="l" indent="0" marL="0">
              <a:lnSpc>
                <a:spcPts val="2100"/>
              </a:lnSpc>
              <a:buNone/>
            </a:pPr>
            <a:r>
              <a:rPr lang="en-US" sz="1400" dirty="0">
                <a:solidFill>
                  <a:srgbClr val="FF9E64"/>
                </a:solidFill>
                <a:latin typeface="IBM Plex Mono" pitchFamily="49" charset="0"/>
                <a:ea typeface="IBM Plex Mono" pitchFamily="49" charset="-122"/>
                <a:cs typeface="IBM Plex Mono" pitchFamily="49" charset="-120"/>
              </a:rPr>
              <a:t>&lt;h2&gt;</a:t>
            </a:r>
            <a:r>
              <a:rPr lang="en-US" sz="1400" dirty="0">
                <a:solidFill>
                  <a:srgbClr val="E6EDF3"/>
                </a:solidFill>
                <a:latin typeface="IBM Plex Mono" pitchFamily="49" charset="0"/>
                <a:ea typeface="IBM Plex Mono" pitchFamily="49" charset="-122"/>
                <a:cs typeface="IBM Plex Mono" pitchFamily="49" charset="-120"/>
              </a:rPr>
              <a:t>Our Menu</a:t>
            </a:r>
            <a:r>
              <a:rPr lang="en-US" sz="1400" dirty="0">
                <a:solidFill>
                  <a:srgbClr val="FF9E64"/>
                </a:solidFill>
                <a:latin typeface="IBM Plex Mono" pitchFamily="49" charset="0"/>
                <a:ea typeface="IBM Plex Mono" pitchFamily="49" charset="-122"/>
                <a:cs typeface="IBM Plex Mono" pitchFamily="49" charset="-120"/>
              </a:rPr>
              <a:t>&lt;/h2&gt;</a:t>
            </a:r>
            <a:endParaRPr lang="en-US" sz="1400" dirty="0"/>
          </a:p>
        </p:txBody>
      </p:sp>
      <p:sp>
        <p:nvSpPr>
          <p:cNvPr id="9" name="Text 7"/>
          <p:cNvSpPr/>
          <p:nvPr/>
        </p:nvSpPr>
        <p:spPr>
          <a:xfrm>
            <a:off x="6197600" y="3055441"/>
            <a:ext cx="533704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Machines now know a new section starts here.</a:t>
            </a:r>
            <a:endParaRPr lang="en-US" sz="1300" dirty="0"/>
          </a:p>
        </p:txBody>
      </p:sp>
      <p:sp>
        <p:nvSpPr>
          <p:cNvPr id="10" name="Text 8"/>
          <p:cNvSpPr/>
          <p:nvPr/>
        </p:nvSpPr>
        <p:spPr>
          <a:xfrm>
            <a:off x="815975" y="3543697"/>
            <a:ext cx="2540000" cy="773311"/>
          </a:xfrm>
          <a:prstGeom prst="roundRect">
            <a:avLst>
              <a:gd name="adj" fmla="val 12728"/>
            </a:avLst>
          </a:prstGeom>
          <a:solidFill>
            <a:srgbClr val="FFFDF9"/>
          </a:solidFill>
          <a:ln w="6350">
            <a:solidFill>
              <a:srgbClr val="E4E0D8"/>
            </a:solidFill>
            <a:prstDash val="solid"/>
          </a:ln>
        </p:spPr>
        <p:txBody>
          <a:bodyPr wrap="square" lIns="126747" tIns="126747" rIns="59882" bIns="101347"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Screen readers</a:t>
            </a:r>
            <a:r>
              <a:rPr lang="en-US" sz="1300" dirty="0">
                <a:solidFill>
                  <a:srgbClr val="1F2A37"/>
                </a:solidFill>
                <a:latin typeface="IBM Plex Sans" pitchFamily="34" charset="0"/>
                <a:ea typeface="IBM Plex Sans" pitchFamily="34" charset="-122"/>
                <a:cs typeface="IBM Plex Sans" pitchFamily="34" charset="-120"/>
              </a:rPr>
              <a:t> jump between headings</a:t>
            </a:r>
            <a:endParaRPr lang="en-US" sz="1300" dirty="0"/>
          </a:p>
        </p:txBody>
      </p:sp>
      <p:sp>
        <p:nvSpPr>
          <p:cNvPr id="11" name="Text 9"/>
          <p:cNvSpPr/>
          <p:nvPr/>
        </p:nvSpPr>
        <p:spPr>
          <a:xfrm>
            <a:off x="3489325" y="3543697"/>
            <a:ext cx="2540000" cy="773311"/>
          </a:xfrm>
          <a:prstGeom prst="roundRect">
            <a:avLst>
              <a:gd name="adj" fmla="val 12728"/>
            </a:avLst>
          </a:prstGeom>
          <a:solidFill>
            <a:srgbClr val="FFFDF9"/>
          </a:solidFill>
          <a:ln w="6350">
            <a:solidFill>
              <a:srgbClr val="E4E0D8"/>
            </a:solidFill>
            <a:prstDash val="solid"/>
          </a:ln>
        </p:spPr>
        <p:txBody>
          <a:bodyPr wrap="square" lIns="126747" tIns="126747" rIns="59882" bIns="101347"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Search engines</a:t>
            </a:r>
            <a:r>
              <a:rPr lang="en-US" sz="1300" dirty="0">
                <a:solidFill>
                  <a:srgbClr val="1F2A37"/>
                </a:solidFill>
                <a:latin typeface="IBM Plex Sans" pitchFamily="34" charset="0"/>
                <a:ea typeface="IBM Plex Sans" pitchFamily="34" charset="-122"/>
                <a:cs typeface="IBM Plex Sans" pitchFamily="34" charset="-120"/>
              </a:rPr>
              <a:t> weigh headings to rank pages</a:t>
            </a:r>
            <a:endParaRPr lang="en-US" sz="1300" dirty="0"/>
          </a:p>
        </p:txBody>
      </p:sp>
      <p:sp>
        <p:nvSpPr>
          <p:cNvPr id="12" name="Text 10"/>
          <p:cNvSpPr/>
          <p:nvPr/>
        </p:nvSpPr>
        <p:spPr>
          <a:xfrm>
            <a:off x="6162675" y="3543697"/>
            <a:ext cx="2540000" cy="773311"/>
          </a:xfrm>
          <a:prstGeom prst="roundRect">
            <a:avLst>
              <a:gd name="adj" fmla="val 12728"/>
            </a:avLst>
          </a:prstGeom>
          <a:solidFill>
            <a:srgbClr val="FFFDF9"/>
          </a:solidFill>
          <a:ln w="6350">
            <a:solidFill>
              <a:srgbClr val="E4E0D8"/>
            </a:solidFill>
            <a:prstDash val="solid"/>
          </a:ln>
        </p:spPr>
        <p:txBody>
          <a:bodyPr wrap="square" lIns="126747" tIns="126747" rIns="59882" bIns="101347"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Reader mode</a:t>
            </a:r>
            <a:r>
              <a:rPr lang="en-US" sz="1300" dirty="0">
                <a:solidFill>
                  <a:srgbClr val="1F2A37"/>
                </a:solidFill>
                <a:latin typeface="IBM Plex Sans" pitchFamily="34" charset="0"/>
                <a:ea typeface="IBM Plex Sans" pitchFamily="34" charset="-122"/>
                <a:cs typeface="IBM Plex Sans" pitchFamily="34" charset="-120"/>
              </a:rPr>
              <a:t> and voice assistants rely on it</a:t>
            </a:r>
            <a:endParaRPr lang="en-US" sz="1300" dirty="0"/>
          </a:p>
        </p:txBody>
      </p:sp>
      <p:sp>
        <p:nvSpPr>
          <p:cNvPr id="13" name="Text 11"/>
          <p:cNvSpPr/>
          <p:nvPr/>
        </p:nvSpPr>
        <p:spPr>
          <a:xfrm>
            <a:off x="8836025" y="3543697"/>
            <a:ext cx="2540000" cy="773311"/>
          </a:xfrm>
          <a:prstGeom prst="roundRect">
            <a:avLst>
              <a:gd name="adj" fmla="val 12728"/>
            </a:avLst>
          </a:prstGeom>
          <a:solidFill>
            <a:srgbClr val="FFFDF9"/>
          </a:solidFill>
          <a:ln w="6350">
            <a:solidFill>
              <a:srgbClr val="E4E0D8"/>
            </a:solidFill>
            <a:prstDash val="solid"/>
          </a:ln>
        </p:spPr>
        <p:txBody>
          <a:bodyPr wrap="square" lIns="126747" tIns="126747" rIns="59882" bIns="101347"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CSS and JS</a:t>
            </a:r>
            <a:r>
              <a:rPr lang="en-US" sz="1300" dirty="0">
                <a:solidFill>
                  <a:srgbClr val="1F2A37"/>
                </a:solidFill>
                <a:latin typeface="IBM Plex Sans" pitchFamily="34" charset="0"/>
                <a:ea typeface="IBM Plex Sans" pitchFamily="34" charset="-122"/>
                <a:cs typeface="IBM Plex Sans" pitchFamily="34" charset="-120"/>
              </a:rPr>
              <a:t> target meaningful elements</a:t>
            </a:r>
            <a:endParaRPr lang="en-US" sz="13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THEORY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Six levels of headings: h1 to h6</a:t>
            </a:r>
            <a:endParaRPr lang="en-US" sz="3200" dirty="0"/>
          </a:p>
        </p:txBody>
      </p:sp>
      <p:sp>
        <p:nvSpPr>
          <p:cNvPr id="4" name="Shape 2"/>
          <p:cNvSpPr/>
          <p:nvPr/>
        </p:nvSpPr>
        <p:spPr>
          <a:xfrm>
            <a:off x="815975" y="1984276"/>
            <a:ext cx="5200650" cy="2364581"/>
          </a:xfrm>
          <a:prstGeom prst="roundRect">
            <a:avLst>
              <a:gd name="adj" fmla="val 4162"/>
            </a:avLst>
          </a:prstGeom>
          <a:solidFill>
            <a:srgbClr val="FFFDF9"/>
          </a:solidFill>
          <a:ln w="6350">
            <a:solidFill>
              <a:srgbClr val="E4E0D8"/>
            </a:solidFill>
            <a:prstDash val="solid"/>
          </a:ln>
        </p:spPr>
      </p:sp>
      <p:sp>
        <p:nvSpPr>
          <p:cNvPr id="5" name="Text 3"/>
          <p:cNvSpPr/>
          <p:nvPr/>
        </p:nvSpPr>
        <p:spPr>
          <a:xfrm>
            <a:off x="1073150" y="2190651"/>
            <a:ext cx="4826889"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F2A37"/>
                </a:solidFill>
                <a:latin typeface="IBM Plex Sans" pitchFamily="34" charset="0"/>
                <a:ea typeface="IBM Plex Sans" pitchFamily="34" charset="-122"/>
                <a:cs typeface="IBM Plex Sans" pitchFamily="34" charset="-120"/>
              </a:rPr>
              <a:t>h1 Page title</a:t>
            </a:r>
            <a:endParaRPr lang="en-US" sz="3000" dirty="0"/>
          </a:p>
        </p:txBody>
      </p:sp>
      <p:sp>
        <p:nvSpPr>
          <p:cNvPr id="6" name="Text 4"/>
          <p:cNvSpPr/>
          <p:nvPr/>
        </p:nvSpPr>
        <p:spPr>
          <a:xfrm>
            <a:off x="1073150" y="2673251"/>
            <a:ext cx="4826889"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F2A37"/>
                </a:solidFill>
                <a:latin typeface="IBM Plex Sans" pitchFamily="34" charset="0"/>
                <a:ea typeface="IBM Plex Sans" pitchFamily="34" charset="-122"/>
                <a:cs typeface="IBM Plex Sans" pitchFamily="34" charset="-120"/>
              </a:rPr>
              <a:t>h2 Main section</a:t>
            </a:r>
            <a:endParaRPr lang="en-US" sz="2400" dirty="0"/>
          </a:p>
        </p:txBody>
      </p:sp>
      <p:sp>
        <p:nvSpPr>
          <p:cNvPr id="7" name="Text 5"/>
          <p:cNvSpPr/>
          <p:nvPr/>
        </p:nvSpPr>
        <p:spPr>
          <a:xfrm>
            <a:off x="1073150" y="3072011"/>
            <a:ext cx="4826889"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F2A37"/>
                </a:solidFill>
                <a:latin typeface="IBM Plex Sans" pitchFamily="34" charset="0"/>
                <a:ea typeface="IBM Plex Sans" pitchFamily="34" charset="-122"/>
                <a:cs typeface="IBM Plex Sans" pitchFamily="34" charset="-120"/>
              </a:rPr>
              <a:t>h3 Subsection</a:t>
            </a:r>
            <a:endParaRPr lang="en-US" sz="2000" dirty="0"/>
          </a:p>
        </p:txBody>
      </p:sp>
      <p:sp>
        <p:nvSpPr>
          <p:cNvPr id="8" name="Text 6"/>
          <p:cNvSpPr/>
          <p:nvPr/>
        </p:nvSpPr>
        <p:spPr>
          <a:xfrm>
            <a:off x="1073150" y="3414911"/>
            <a:ext cx="4826889" cy="262830"/>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F2A37"/>
                </a:solidFill>
                <a:latin typeface="IBM Plex Sans" pitchFamily="34" charset="0"/>
                <a:ea typeface="IBM Plex Sans" pitchFamily="34" charset="-122"/>
                <a:cs typeface="IBM Plex Sans" pitchFamily="34" charset="-120"/>
              </a:rPr>
              <a:t>h4 Sub-subsection</a:t>
            </a:r>
            <a:endParaRPr lang="en-US" sz="1700" dirty="0"/>
          </a:p>
        </p:txBody>
      </p:sp>
      <p:sp>
        <p:nvSpPr>
          <p:cNvPr id="9" name="Text 7"/>
          <p:cNvSpPr/>
          <p:nvPr/>
        </p:nvSpPr>
        <p:spPr>
          <a:xfrm>
            <a:off x="1073150" y="3715841"/>
            <a:ext cx="4826889" cy="220960"/>
          </a:xfrm>
          <a:prstGeom prst="rect">
            <a:avLst/>
          </a:prstGeom>
          <a:noFill/>
          <a:ln/>
        </p:spPr>
        <p:txBody>
          <a:bodyPr wrap="square" lIns="0" tIns="0" rIns="0" bIns="0" rtlCol="0" anchor="t">
            <a:normAutofit/>
          </a:bodyPr>
          <a:lstStyle/>
          <a:p>
            <a:pPr algn="l" indent="0" marL="0">
              <a:lnSpc>
                <a:spcPts val="1540"/>
              </a:lnSpc>
              <a:buNone/>
            </a:pPr>
            <a:r>
              <a:rPr lang="en-US" sz="1400" b="1" dirty="0">
                <a:solidFill>
                  <a:srgbClr val="1F2A37"/>
                </a:solidFill>
                <a:latin typeface="IBM Plex Sans" pitchFamily="34" charset="0"/>
                <a:ea typeface="IBM Plex Sans" pitchFamily="34" charset="-122"/>
                <a:cs typeface="IBM Plex Sans" pitchFamily="34" charset="-120"/>
              </a:rPr>
              <a:t>h5 Rarely needed</a:t>
            </a:r>
            <a:endParaRPr lang="en-US" sz="1400" dirty="0"/>
          </a:p>
        </p:txBody>
      </p:sp>
      <p:sp>
        <p:nvSpPr>
          <p:cNvPr id="10" name="Text 8"/>
          <p:cNvSpPr/>
          <p:nvPr/>
        </p:nvSpPr>
        <p:spPr>
          <a:xfrm>
            <a:off x="1073150" y="3974902"/>
            <a:ext cx="4826889" cy="192980"/>
          </a:xfrm>
          <a:prstGeom prst="rect">
            <a:avLst/>
          </a:prstGeom>
          <a:noFill/>
          <a:ln/>
        </p:spPr>
        <p:txBody>
          <a:bodyPr wrap="square" lIns="0" tIns="0" rIns="0" bIns="0" rtlCol="0" anchor="t">
            <a:normAutofit/>
          </a:bodyPr>
          <a:lstStyle/>
          <a:p>
            <a:pPr algn="l" indent="0" marL="0">
              <a:lnSpc>
                <a:spcPts val="1320"/>
              </a:lnSpc>
              <a:buNone/>
            </a:pPr>
            <a:r>
              <a:rPr lang="en-US" sz="1200" b="1" dirty="0">
                <a:solidFill>
                  <a:srgbClr val="1F2A37"/>
                </a:solidFill>
                <a:latin typeface="IBM Plex Sans" pitchFamily="34" charset="0"/>
                <a:ea typeface="IBM Plex Sans" pitchFamily="34" charset="-122"/>
                <a:cs typeface="IBM Plex Sans" pitchFamily="34" charset="-120"/>
              </a:rPr>
              <a:t>h6 Almost never</a:t>
            </a:r>
            <a:endParaRPr lang="en-US" sz="1200" dirty="0"/>
          </a:p>
        </p:txBody>
      </p:sp>
      <p:sp>
        <p:nvSpPr>
          <p:cNvPr id="11" name="Text 9"/>
          <p:cNvSpPr/>
          <p:nvPr/>
        </p:nvSpPr>
        <p:spPr>
          <a:xfrm>
            <a:off x="6375400" y="1981101"/>
            <a:ext cx="515391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One h1</a:t>
            </a:r>
            <a:r>
              <a:rPr lang="en-US" sz="1500" dirty="0">
                <a:solidFill>
                  <a:srgbClr val="1F2A37"/>
                </a:solidFill>
                <a:latin typeface="IBM Plex Sans" pitchFamily="34" charset="0"/>
                <a:ea typeface="IBM Plex Sans" pitchFamily="34" charset="-122"/>
                <a:cs typeface="IBM Plex Sans" pitchFamily="34" charset="-120"/>
              </a:rPr>
              <a:t> per page — what the page is about.</a:t>
            </a:r>
            <a:endParaRPr lang="en-US" sz="1500" dirty="0"/>
          </a:p>
        </p:txBody>
      </p:sp>
      <p:sp>
        <p:nvSpPr>
          <p:cNvPr id="12" name="Text 10"/>
          <p:cNvSpPr/>
          <p:nvPr/>
        </p:nvSpPr>
        <p:spPr>
          <a:xfrm>
            <a:off x="6375400" y="2400201"/>
            <a:ext cx="515391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Don’t skip levels</a:t>
            </a:r>
            <a:r>
              <a:rPr lang="en-US" sz="1500" dirty="0">
                <a:solidFill>
                  <a:srgbClr val="1F2A37"/>
                </a:solidFill>
                <a:latin typeface="IBM Plex Sans" pitchFamily="34" charset="0"/>
                <a:ea typeface="IBM Plex Sans" pitchFamily="34" charset="-122"/>
                <a:cs typeface="IBM Plex Sans" pitchFamily="34" charset="-120"/>
              </a:rPr>
              <a:t> going down: h2 → h3, not h2 → h4.</a:t>
            </a:r>
            <a:endParaRPr lang="en-US" sz="1500" dirty="0"/>
          </a:p>
        </p:txBody>
      </p:sp>
      <p:sp>
        <p:nvSpPr>
          <p:cNvPr id="13" name="Text 11"/>
          <p:cNvSpPr/>
          <p:nvPr/>
        </p:nvSpPr>
        <p:spPr>
          <a:xfrm>
            <a:off x="6375400" y="2819301"/>
            <a:ext cx="515391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Not for size.</a:t>
            </a:r>
            <a:r>
              <a:rPr lang="en-US" sz="1500" dirty="0">
                <a:solidFill>
                  <a:srgbClr val="1F2A37"/>
                </a:solidFill>
                <a:latin typeface="IBM Plex Sans" pitchFamily="34" charset="0"/>
                <a:ea typeface="IBM Plex Sans" pitchFamily="34" charset="-122"/>
                <a:cs typeface="IBM Plex Sans" pitchFamily="34" charset="-120"/>
              </a:rPr>
              <a:t> Need big text? Use CSS.</a:t>
            </a:r>
            <a:endParaRPr lang="en-US" sz="1500" dirty="0"/>
          </a:p>
        </p:txBody>
      </p:sp>
      <p:sp>
        <p:nvSpPr>
          <p:cNvPr id="14" name="Text 12"/>
          <p:cNvSpPr/>
          <p:nvPr/>
        </p:nvSpPr>
        <p:spPr>
          <a:xfrm>
            <a:off x="6375400" y="3238401"/>
            <a:ext cx="58166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Headings form an outline</a:t>
            </a:r>
            <a:r>
              <a:rPr lang="en-US" sz="1500" dirty="0">
                <a:solidFill>
                  <a:srgbClr val="1F2A37"/>
                </a:solidFill>
                <a:latin typeface="IBM Plex Sans" pitchFamily="34" charset="0"/>
                <a:ea typeface="IBM Plex Sans" pitchFamily="34" charset="-122"/>
                <a:cs typeface="IBM Plex Sans" pitchFamily="34" charset="-120"/>
              </a:rPr>
              <a:t>, like a book’s table of contents.</a:t>
            </a:r>
            <a:endParaRPr lang="en-US" sz="15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CODE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Headings create the document outline</a:t>
            </a:r>
            <a:endParaRPr lang="en-US" sz="3200" dirty="0"/>
          </a:p>
        </p:txBody>
      </p:sp>
      <p:sp>
        <p:nvSpPr>
          <p:cNvPr id="4" name="Text 2"/>
          <p:cNvSpPr/>
          <p:nvPr/>
        </p:nvSpPr>
        <p:spPr>
          <a:xfrm>
            <a:off x="812800" y="1981101"/>
            <a:ext cx="6096000" cy="3221137"/>
          </a:xfrm>
          <a:prstGeom prst="roundRect">
            <a:avLst>
              <a:gd name="adj" fmla="val 3154"/>
            </a:avLst>
          </a:prstGeom>
          <a:solidFill>
            <a:srgbClr val="1B2430"/>
          </a:solidFill>
          <a:ln/>
        </p:spPr>
        <p:txBody>
          <a:bodyPr wrap="square" lIns="224242" tIns="173442" rIns="56602" bIns="148042" rtlCol="0" anchor="t">
            <a:normAutofit/>
          </a:bodyPr>
          <a:lstStyle/>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&lt;h1&gt;</a:t>
            </a:r>
            <a:r>
              <a:rPr lang="en-US" sz="1300" dirty="0">
                <a:solidFill>
                  <a:srgbClr val="E6EDF3"/>
                </a:solidFill>
                <a:latin typeface="IBM Plex Mono" pitchFamily="49" charset="0"/>
                <a:ea typeface="IBM Plex Mono" pitchFamily="49" charset="-122"/>
                <a:cs typeface="IBM Plex Mono" pitchFamily="49" charset="-120"/>
              </a:rPr>
              <a:t>Department of Computer Science</a:t>
            </a:r>
            <a:r>
              <a:rPr lang="en-US" sz="1300" dirty="0">
                <a:solidFill>
                  <a:srgbClr val="FF9E64"/>
                </a:solidFill>
                <a:latin typeface="IBM Plex Mono" pitchFamily="49" charset="0"/>
                <a:ea typeface="IBM Plex Mono" pitchFamily="49" charset="-122"/>
                <a:cs typeface="IBM Plex Mono" pitchFamily="49" charset="-120"/>
              </a:rPr>
              <a:t>&lt;/h1&gt;</a:t>
            </a:r>
            <a:endParaRPr lang="en-US" sz="1300" dirty="0"/>
          </a:p>
          <a:p>
            <a:pPr algn="l" indent="0" marL="0">
              <a:lnSpc>
                <a:spcPts val="2015"/>
              </a:lnSpc>
              <a:buNone/>
            </a:pP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&lt;h2&gt;</a:t>
            </a:r>
            <a:r>
              <a:rPr lang="en-US" sz="1300" dirty="0">
                <a:solidFill>
                  <a:srgbClr val="E6EDF3"/>
                </a:solidFill>
                <a:latin typeface="IBM Plex Mono" pitchFamily="49" charset="0"/>
                <a:ea typeface="IBM Plex Mono" pitchFamily="49" charset="-122"/>
                <a:cs typeface="IBM Plex Mono" pitchFamily="49" charset="-120"/>
              </a:rPr>
              <a:t>Programs</a:t>
            </a:r>
            <a:r>
              <a:rPr lang="en-US" sz="1300" dirty="0">
                <a:solidFill>
                  <a:srgbClr val="FF9E64"/>
                </a:solidFill>
                <a:latin typeface="IBM Plex Mono" pitchFamily="49" charset="0"/>
                <a:ea typeface="IBM Plex Mono" pitchFamily="49" charset="-122"/>
                <a:cs typeface="IBM Plex Mono" pitchFamily="49" charset="-120"/>
              </a:rPr>
              <a:t>&lt;/h2&gt;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&lt;h3&gt;</a:t>
            </a:r>
            <a:r>
              <a:rPr lang="en-US" sz="1300" dirty="0">
                <a:solidFill>
                  <a:srgbClr val="E6EDF3"/>
                </a:solidFill>
                <a:latin typeface="IBM Plex Mono" pitchFamily="49" charset="0"/>
                <a:ea typeface="IBM Plex Mono" pitchFamily="49" charset="-122"/>
                <a:cs typeface="IBM Plex Mono" pitchFamily="49" charset="-120"/>
              </a:rPr>
              <a:t>BS Computer Science</a:t>
            </a:r>
            <a:r>
              <a:rPr lang="en-US" sz="1300" dirty="0">
                <a:solidFill>
                  <a:srgbClr val="FF9E64"/>
                </a:solidFill>
                <a:latin typeface="IBM Plex Mono" pitchFamily="49" charset="0"/>
                <a:ea typeface="IBM Plex Mono" pitchFamily="49" charset="-122"/>
                <a:cs typeface="IBM Plex Mono" pitchFamily="49" charset="-120"/>
              </a:rPr>
              <a:t>&lt;/h3&gt;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&lt;h3&gt;</a:t>
            </a:r>
            <a:r>
              <a:rPr lang="en-US" sz="1300" dirty="0">
                <a:solidFill>
                  <a:srgbClr val="E6EDF3"/>
                </a:solidFill>
                <a:latin typeface="IBM Plex Mono" pitchFamily="49" charset="0"/>
                <a:ea typeface="IBM Plex Mono" pitchFamily="49" charset="-122"/>
                <a:cs typeface="IBM Plex Mono" pitchFamily="49" charset="-120"/>
              </a:rPr>
              <a:t>BS Software Engineering</a:t>
            </a:r>
            <a:r>
              <a:rPr lang="en-US" sz="1300" dirty="0">
                <a:solidFill>
                  <a:srgbClr val="FF9E64"/>
                </a:solidFill>
                <a:latin typeface="IBM Plex Mono" pitchFamily="49" charset="0"/>
                <a:ea typeface="IBM Plex Mono" pitchFamily="49" charset="-122"/>
                <a:cs typeface="IBM Plex Mono" pitchFamily="49" charset="-120"/>
              </a:rPr>
              <a:t>&lt;/h3&gt;</a:t>
            </a:r>
            <a:endParaRPr lang="en-US" sz="1300" dirty="0"/>
          </a:p>
          <a:p>
            <a:pPr algn="l" indent="0" marL="0">
              <a:lnSpc>
                <a:spcPts val="2015"/>
              </a:lnSpc>
              <a:buNone/>
            </a:pP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&lt;h2&gt;</a:t>
            </a:r>
            <a:r>
              <a:rPr lang="en-US" sz="1300" dirty="0">
                <a:solidFill>
                  <a:srgbClr val="E6EDF3"/>
                </a:solidFill>
                <a:latin typeface="IBM Plex Mono" pitchFamily="49" charset="0"/>
                <a:ea typeface="IBM Plex Mono" pitchFamily="49" charset="-122"/>
                <a:cs typeface="IBM Plex Mono" pitchFamily="49" charset="-120"/>
              </a:rPr>
              <a:t>Faculty</a:t>
            </a:r>
            <a:r>
              <a:rPr lang="en-US" sz="1300" dirty="0">
                <a:solidFill>
                  <a:srgbClr val="FF9E64"/>
                </a:solidFill>
                <a:latin typeface="IBM Plex Mono" pitchFamily="49" charset="0"/>
                <a:ea typeface="IBM Plex Mono" pitchFamily="49" charset="-122"/>
                <a:cs typeface="IBM Plex Mono" pitchFamily="49" charset="-120"/>
              </a:rPr>
              <a:t>&lt;/h2&gt;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&lt;h3&gt;</a:t>
            </a:r>
            <a:r>
              <a:rPr lang="en-US" sz="1300" dirty="0">
                <a:solidFill>
                  <a:srgbClr val="E6EDF3"/>
                </a:solidFill>
                <a:latin typeface="IBM Plex Mono" pitchFamily="49" charset="0"/>
                <a:ea typeface="IBM Plex Mono" pitchFamily="49" charset="-122"/>
                <a:cs typeface="IBM Plex Mono" pitchFamily="49" charset="-120"/>
              </a:rPr>
              <a:t>Research Groups</a:t>
            </a:r>
            <a:r>
              <a:rPr lang="en-US" sz="1300" dirty="0">
                <a:solidFill>
                  <a:srgbClr val="FF9E64"/>
                </a:solidFill>
                <a:latin typeface="IBM Plex Mono" pitchFamily="49" charset="0"/>
                <a:ea typeface="IBM Plex Mono" pitchFamily="49" charset="-122"/>
                <a:cs typeface="IBM Plex Mono" pitchFamily="49" charset="-120"/>
              </a:rPr>
              <a:t>&lt;/h3&gt;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&lt;h4&gt;</a:t>
            </a:r>
            <a:r>
              <a:rPr lang="en-US" sz="1300" dirty="0">
                <a:solidFill>
                  <a:srgbClr val="E6EDF3"/>
                </a:solidFill>
                <a:latin typeface="IBM Plex Mono" pitchFamily="49" charset="0"/>
                <a:ea typeface="IBM Plex Mono" pitchFamily="49" charset="-122"/>
                <a:cs typeface="IBM Plex Mono" pitchFamily="49" charset="-120"/>
              </a:rPr>
              <a:t>Web &amp; Cloud Lab</a:t>
            </a:r>
            <a:r>
              <a:rPr lang="en-US" sz="1300" dirty="0">
                <a:solidFill>
                  <a:srgbClr val="FF9E64"/>
                </a:solidFill>
                <a:latin typeface="IBM Plex Mono" pitchFamily="49" charset="0"/>
                <a:ea typeface="IBM Plex Mono" pitchFamily="49" charset="-122"/>
                <a:cs typeface="IBM Plex Mono" pitchFamily="49" charset="-120"/>
              </a:rPr>
              <a:t>&lt;/h4&gt;</a:t>
            </a:r>
            <a:endParaRPr lang="en-US" sz="1300" dirty="0"/>
          </a:p>
          <a:p>
            <a:pPr algn="l" indent="0" marL="0">
              <a:lnSpc>
                <a:spcPts val="2015"/>
              </a:lnSpc>
              <a:buNone/>
            </a:pP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&lt;h2&gt;</a:t>
            </a:r>
            <a:r>
              <a:rPr lang="en-US" sz="1300" dirty="0">
                <a:solidFill>
                  <a:srgbClr val="E6EDF3"/>
                </a:solidFill>
                <a:latin typeface="IBM Plex Mono" pitchFamily="49" charset="0"/>
                <a:ea typeface="IBM Plex Mono" pitchFamily="49" charset="-122"/>
                <a:cs typeface="IBM Plex Mono" pitchFamily="49" charset="-120"/>
              </a:rPr>
              <a:t>Contact</a:t>
            </a:r>
            <a:r>
              <a:rPr lang="en-US" sz="1300" dirty="0">
                <a:solidFill>
                  <a:srgbClr val="FF9E64"/>
                </a:solidFill>
                <a:latin typeface="IBM Plex Mono" pitchFamily="49" charset="0"/>
                <a:ea typeface="IBM Plex Mono" pitchFamily="49" charset="-122"/>
                <a:cs typeface="IBM Plex Mono" pitchFamily="49" charset="-120"/>
              </a:rPr>
              <a:t>&lt;/h2&gt;</a:t>
            </a:r>
            <a:endParaRPr lang="en-US" sz="1300" dirty="0"/>
          </a:p>
        </p:txBody>
      </p:sp>
      <p:sp>
        <p:nvSpPr>
          <p:cNvPr id="5" name="Text 3"/>
          <p:cNvSpPr/>
          <p:nvPr/>
        </p:nvSpPr>
        <p:spPr>
          <a:xfrm>
            <a:off x="7162800" y="1981101"/>
            <a:ext cx="43428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75467"/>
                </a:solidFill>
                <a:latin typeface="IBM Plex Sans" pitchFamily="34" charset="0"/>
                <a:ea typeface="IBM Plex Sans" pitchFamily="34" charset="-122"/>
                <a:cs typeface="IBM Plex Sans" pitchFamily="34" charset="-120"/>
              </a:rPr>
              <a:t>The outline machines see</a:t>
            </a:r>
            <a:endParaRPr lang="en-US" sz="1300" dirty="0"/>
          </a:p>
        </p:txBody>
      </p:sp>
      <p:sp>
        <p:nvSpPr>
          <p:cNvPr id="6" name="Text 4"/>
          <p:cNvSpPr/>
          <p:nvPr/>
        </p:nvSpPr>
        <p:spPr>
          <a:xfrm>
            <a:off x="7165975" y="2291556"/>
            <a:ext cx="4210050" cy="2474913"/>
          </a:xfrm>
          <a:prstGeom prst="roundRect">
            <a:avLst>
              <a:gd name="adj" fmla="val 3977"/>
            </a:avLst>
          </a:prstGeom>
          <a:solidFill>
            <a:srgbClr val="FFFDF9"/>
          </a:solidFill>
          <a:ln w="6350">
            <a:solidFill>
              <a:srgbClr val="E4E0D8"/>
            </a:solidFill>
            <a:prstDash val="solid"/>
          </a:ln>
        </p:spPr>
        <p:txBody>
          <a:bodyPr wrap="square" lIns="152147" tIns="152147" rIns="36704" bIns="126747" rtlCol="0" anchor="t">
            <a:normAutofit/>
          </a:bodyPr>
          <a:lstStyle/>
          <a:p>
            <a:pPr algn="l" indent="0" marL="0">
              <a:lnSpc>
                <a:spcPts val="2080"/>
              </a:lnSpc>
              <a:buNone/>
            </a:pPr>
            <a:r>
              <a:rPr lang="en-US" sz="1300" dirty="0">
                <a:solidFill>
                  <a:srgbClr val="1F2A37"/>
                </a:solidFill>
                <a:latin typeface="IBM Plex Mono" pitchFamily="49" charset="0"/>
                <a:ea typeface="IBM Plex Mono" pitchFamily="49" charset="-122"/>
                <a:cs typeface="IBM Plex Mono" pitchFamily="49" charset="-120"/>
              </a:rPr>
              <a:t>1 Dept. of CS</a:t>
            </a:r>
            <a:endParaRPr lang="en-US" sz="1300" dirty="0"/>
          </a:p>
          <a:p>
            <a:pPr algn="l" indent="0" marL="0">
              <a:lnSpc>
                <a:spcPts val="2080"/>
              </a:lnSpc>
              <a:buNone/>
            </a:pPr>
            <a:r>
              <a:rPr lang="en-US" sz="1300" dirty="0">
                <a:solidFill>
                  <a:srgbClr val="1F2A37"/>
                </a:solidFill>
                <a:latin typeface="IBM Plex Mono" pitchFamily="49" charset="0"/>
                <a:ea typeface="IBM Plex Mono" pitchFamily="49" charset="-122"/>
                <a:cs typeface="IBM Plex Mono" pitchFamily="49" charset="-120"/>
              </a:rPr>
              <a:t>  1.1 Programs</a:t>
            </a:r>
            <a:endParaRPr lang="en-US" sz="1300" dirty="0"/>
          </a:p>
          <a:p>
            <a:pPr algn="l" indent="0" marL="0">
              <a:lnSpc>
                <a:spcPts val="2080"/>
              </a:lnSpc>
              <a:buNone/>
            </a:pPr>
            <a:r>
              <a:rPr lang="en-US" sz="1300" dirty="0">
                <a:solidFill>
                  <a:srgbClr val="1F2A37"/>
                </a:solidFill>
                <a:latin typeface="IBM Plex Mono" pitchFamily="49" charset="0"/>
                <a:ea typeface="IBM Plex Mono" pitchFamily="49" charset="-122"/>
                <a:cs typeface="IBM Plex Mono" pitchFamily="49" charset="-120"/>
              </a:rPr>
              <a:t>    1.1.1 BSCS</a:t>
            </a:r>
            <a:endParaRPr lang="en-US" sz="1300" dirty="0"/>
          </a:p>
          <a:p>
            <a:pPr algn="l" indent="0" marL="0">
              <a:lnSpc>
                <a:spcPts val="2080"/>
              </a:lnSpc>
              <a:buNone/>
            </a:pPr>
            <a:r>
              <a:rPr lang="en-US" sz="1300" dirty="0">
                <a:solidFill>
                  <a:srgbClr val="1F2A37"/>
                </a:solidFill>
                <a:latin typeface="IBM Plex Mono" pitchFamily="49" charset="0"/>
                <a:ea typeface="IBM Plex Mono" pitchFamily="49" charset="-122"/>
                <a:cs typeface="IBM Plex Mono" pitchFamily="49" charset="-120"/>
              </a:rPr>
              <a:t>    1.1.2 BSSE</a:t>
            </a:r>
            <a:endParaRPr lang="en-US" sz="1300" dirty="0"/>
          </a:p>
          <a:p>
            <a:pPr algn="l" indent="0" marL="0">
              <a:lnSpc>
                <a:spcPts val="2080"/>
              </a:lnSpc>
              <a:buNone/>
            </a:pPr>
            <a:r>
              <a:rPr lang="en-US" sz="1300" dirty="0">
                <a:solidFill>
                  <a:srgbClr val="1F2A37"/>
                </a:solidFill>
                <a:latin typeface="IBM Plex Mono" pitchFamily="49" charset="0"/>
                <a:ea typeface="IBM Plex Mono" pitchFamily="49" charset="-122"/>
                <a:cs typeface="IBM Plex Mono" pitchFamily="49" charset="-120"/>
              </a:rPr>
              <a:t>  1.2 Faculty</a:t>
            </a:r>
            <a:endParaRPr lang="en-US" sz="1300" dirty="0"/>
          </a:p>
          <a:p>
            <a:pPr algn="l" indent="0" marL="0">
              <a:lnSpc>
                <a:spcPts val="2080"/>
              </a:lnSpc>
              <a:buNone/>
            </a:pPr>
            <a:r>
              <a:rPr lang="en-US" sz="1300" dirty="0">
                <a:solidFill>
                  <a:srgbClr val="1F2A37"/>
                </a:solidFill>
                <a:latin typeface="IBM Plex Mono" pitchFamily="49" charset="0"/>
                <a:ea typeface="IBM Plex Mono" pitchFamily="49" charset="-122"/>
                <a:cs typeface="IBM Plex Mono" pitchFamily="49" charset="-120"/>
              </a:rPr>
              <a:t>    1.2.1 Research</a:t>
            </a:r>
            <a:endParaRPr lang="en-US" sz="1300" dirty="0"/>
          </a:p>
          <a:p>
            <a:pPr algn="l" indent="0" marL="0">
              <a:lnSpc>
                <a:spcPts val="2080"/>
              </a:lnSpc>
              <a:buNone/>
            </a:pPr>
            <a:r>
              <a:rPr lang="en-US" sz="1300" dirty="0">
                <a:solidFill>
                  <a:srgbClr val="1F2A37"/>
                </a:solidFill>
                <a:latin typeface="IBM Plex Mono" pitchFamily="49" charset="0"/>
                <a:ea typeface="IBM Plex Mono" pitchFamily="49" charset="-122"/>
                <a:cs typeface="IBM Plex Mono" pitchFamily="49" charset="-120"/>
              </a:rPr>
              <a:t>      1.2.1.1 Web Lab</a:t>
            </a:r>
            <a:endParaRPr lang="en-US" sz="1300" dirty="0"/>
          </a:p>
          <a:p>
            <a:pPr algn="l" indent="0" marL="0">
              <a:lnSpc>
                <a:spcPts val="2080"/>
              </a:lnSpc>
              <a:buNone/>
            </a:pPr>
            <a:r>
              <a:rPr lang="en-US" sz="1300" dirty="0">
                <a:solidFill>
                  <a:srgbClr val="1F2A37"/>
                </a:solidFill>
                <a:latin typeface="IBM Plex Mono" pitchFamily="49" charset="0"/>
                <a:ea typeface="IBM Plex Mono" pitchFamily="49" charset="-122"/>
                <a:cs typeface="IBM Plex Mono" pitchFamily="49" charset="-120"/>
              </a:rPr>
              <a:t>  1.3 Contact</a:t>
            </a:r>
            <a:endParaRPr lang="en-US" sz="1300" dirty="0"/>
          </a:p>
        </p:txBody>
      </p:sp>
      <p:sp>
        <p:nvSpPr>
          <p:cNvPr id="7"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THEORY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Paragraphs, line breaks and thematic breaks</a:t>
            </a:r>
            <a:endParaRPr lang="en-US" sz="3200" dirty="0"/>
          </a:p>
        </p:txBody>
      </p:sp>
      <p:sp>
        <p:nvSpPr>
          <p:cNvPr id="4" name="Text 2"/>
          <p:cNvSpPr/>
          <p:nvPr/>
        </p:nvSpPr>
        <p:spPr>
          <a:xfrm>
            <a:off x="812800" y="1981101"/>
            <a:ext cx="5969000" cy="2965252"/>
          </a:xfrm>
          <a:prstGeom prst="roundRect">
            <a:avLst>
              <a:gd name="adj" fmla="val 3426"/>
            </a:avLst>
          </a:prstGeom>
          <a:solidFill>
            <a:srgbClr val="1B2430"/>
          </a:solidFill>
          <a:ln/>
        </p:spPr>
        <p:txBody>
          <a:bodyPr wrap="square" lIns="224242" tIns="173442" rIns="60412" bIns="148042" rtlCol="0" anchor="t">
            <a:normAutofit/>
          </a:bodyPr>
          <a:lstStyle/>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&lt;p&gt;</a:t>
            </a:r>
            <a:r>
              <a:rPr lang="en-US" sz="1300" dirty="0">
                <a:solidFill>
                  <a:srgbClr val="E6EDF3"/>
                </a:solidFill>
                <a:latin typeface="IBM Plex Mono" pitchFamily="49" charset="0"/>
                <a:ea typeface="IBM Plex Mono" pitchFamily="49" charset="-122"/>
                <a:cs typeface="IBM Plex Mono" pitchFamily="49" charset="-120"/>
              </a:rPr>
              <a:t>HTML ignores extra spaces</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and line breaks in your code.</a:t>
            </a:r>
            <a:r>
              <a:rPr lang="en-US" sz="1300" dirty="0">
                <a:solidFill>
                  <a:srgbClr val="FF9E64"/>
                </a:solidFill>
                <a:latin typeface="IBM Plex Mono" pitchFamily="49" charset="0"/>
                <a:ea typeface="IBM Plex Mono" pitchFamily="49" charset="-122"/>
                <a:cs typeface="IBM Plex Mono" pitchFamily="49" charset="-120"/>
              </a:rPr>
              <a:t>&lt;/p&gt;</a:t>
            </a:r>
            <a:endParaRPr lang="en-US" sz="1300" dirty="0"/>
          </a:p>
          <a:p>
            <a:pPr algn="l" indent="0" marL="0">
              <a:lnSpc>
                <a:spcPts val="2015"/>
              </a:lnSpc>
              <a:buNone/>
            </a:pP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&lt;p&gt;</a:t>
            </a:r>
            <a:r>
              <a:rPr lang="en-US" sz="1300" dirty="0">
                <a:solidFill>
                  <a:srgbClr val="E6EDF3"/>
                </a:solidFill>
                <a:latin typeface="IBM Plex Mono" pitchFamily="49" charset="0"/>
                <a:ea typeface="IBM Plex Mono" pitchFamily="49" charset="-122"/>
                <a:cs typeface="IBM Plex Mono" pitchFamily="49" charset="-120"/>
              </a:rPr>
              <a:t>Iqra University</a:t>
            </a:r>
            <a:r>
              <a:rPr lang="en-US" sz="1300" dirty="0">
                <a:solidFill>
                  <a:srgbClr val="FF9E64"/>
                </a:solidFill>
                <a:latin typeface="IBM Plex Mono" pitchFamily="49" charset="0"/>
                <a:ea typeface="IBM Plex Mono" pitchFamily="49" charset="-122"/>
                <a:cs typeface="IBM Plex Mono" pitchFamily="49" charset="-120"/>
              </a:rPr>
              <a:t>&lt;br&gt;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Sector H-9, Islamabad</a:t>
            </a:r>
            <a:r>
              <a:rPr lang="en-US" sz="1300" dirty="0">
                <a:solidFill>
                  <a:srgbClr val="FF9E64"/>
                </a:solidFill>
                <a:latin typeface="IBM Plex Mono" pitchFamily="49" charset="0"/>
                <a:ea typeface="IBM Plex Mono" pitchFamily="49" charset="-122"/>
                <a:cs typeface="IBM Plex Mono" pitchFamily="49" charset="-120"/>
              </a:rPr>
              <a:t>&lt;br&gt;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Pakistan</a:t>
            </a:r>
            <a:r>
              <a:rPr lang="en-US" sz="1300" dirty="0">
                <a:solidFill>
                  <a:srgbClr val="FF9E64"/>
                </a:solidFill>
                <a:latin typeface="IBM Plex Mono" pitchFamily="49" charset="0"/>
                <a:ea typeface="IBM Plex Mono" pitchFamily="49" charset="-122"/>
                <a:cs typeface="IBM Plex Mono" pitchFamily="49" charset="-120"/>
              </a:rPr>
              <a:t>&lt;/p&gt;</a:t>
            </a:r>
            <a:endParaRPr lang="en-US" sz="1300" dirty="0"/>
          </a:p>
          <a:p>
            <a:pPr algn="l" indent="0" marL="0">
              <a:lnSpc>
                <a:spcPts val="2015"/>
              </a:lnSpc>
              <a:buNone/>
            </a:pP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&lt;hr&gt;</a:t>
            </a:r>
            <a:endParaRPr lang="en-US" sz="1300" dirty="0"/>
          </a:p>
          <a:p>
            <a:pPr algn="l" indent="0" marL="0">
              <a:lnSpc>
                <a:spcPts val="2015"/>
              </a:lnSpc>
              <a:buNone/>
            </a:pP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&lt;p&gt;</a:t>
            </a:r>
            <a:r>
              <a:rPr lang="en-US" sz="1300" dirty="0">
                <a:solidFill>
                  <a:srgbClr val="E6EDF3"/>
                </a:solidFill>
                <a:latin typeface="IBM Plex Mono" pitchFamily="49" charset="0"/>
                <a:ea typeface="IBM Plex Mono" pitchFamily="49" charset="-122"/>
                <a:cs typeface="IBM Plex Mono" pitchFamily="49" charset="-120"/>
              </a:rPr>
              <a:t>A new topic starts here.</a:t>
            </a:r>
            <a:r>
              <a:rPr lang="en-US" sz="1300" dirty="0">
                <a:solidFill>
                  <a:srgbClr val="FF9E64"/>
                </a:solidFill>
                <a:latin typeface="IBM Plex Mono" pitchFamily="49" charset="0"/>
                <a:ea typeface="IBM Plex Mono" pitchFamily="49" charset="-122"/>
                <a:cs typeface="IBM Plex Mono" pitchFamily="49" charset="-120"/>
              </a:rPr>
              <a:t>&lt;/p&gt;</a:t>
            </a:r>
            <a:endParaRPr lang="en-US" sz="1300" dirty="0"/>
          </a:p>
        </p:txBody>
      </p:sp>
      <p:sp>
        <p:nvSpPr>
          <p:cNvPr id="5" name="Text 3"/>
          <p:cNvSpPr/>
          <p:nvPr/>
        </p:nvSpPr>
        <p:spPr>
          <a:xfrm>
            <a:off x="7038975" y="1984276"/>
            <a:ext cx="4337050" cy="808831"/>
          </a:xfrm>
          <a:prstGeom prst="roundRect">
            <a:avLst>
              <a:gd name="adj" fmla="val 12169"/>
            </a:avLst>
          </a:prstGeom>
          <a:solidFill>
            <a:srgbClr val="FFFDF9"/>
          </a:solidFill>
          <a:ln w="6350">
            <a:solidFill>
              <a:srgbClr val="E4E0D8"/>
            </a:solidFill>
            <a:prstDash val="solid"/>
          </a:ln>
        </p:spPr>
        <p:txBody>
          <a:bodyPr wrap="square" lIns="126747" tIns="126747" rIns="5970" bIns="101347"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&lt;p&gt;</a:t>
            </a:r>
            <a:r>
              <a:rPr lang="en-US" sz="1400" dirty="0">
                <a:solidFill>
                  <a:srgbClr val="1F2A37"/>
                </a:solidFill>
                <a:latin typeface="IBM Plex Sans" pitchFamily="34" charset="0"/>
                <a:ea typeface="IBM Plex Sans" pitchFamily="34" charset="-122"/>
                <a:cs typeface="IBM Plex Sans" pitchFamily="34" charset="-120"/>
              </a:rPr>
              <a:t> — a block of related sentences; browsers add space above and below.</a:t>
            </a:r>
            <a:endParaRPr lang="en-US" sz="1400" dirty="0"/>
          </a:p>
        </p:txBody>
      </p:sp>
      <p:sp>
        <p:nvSpPr>
          <p:cNvPr id="6" name="Text 4"/>
          <p:cNvSpPr/>
          <p:nvPr/>
        </p:nvSpPr>
        <p:spPr>
          <a:xfrm>
            <a:off x="7038975" y="2926457"/>
            <a:ext cx="4337050" cy="808831"/>
          </a:xfrm>
          <a:prstGeom prst="roundRect">
            <a:avLst>
              <a:gd name="adj" fmla="val 12169"/>
            </a:avLst>
          </a:prstGeom>
          <a:solidFill>
            <a:srgbClr val="FFFDF9"/>
          </a:solidFill>
          <a:ln w="6350">
            <a:solidFill>
              <a:srgbClr val="E4E0D8"/>
            </a:solidFill>
            <a:prstDash val="solid"/>
          </a:ln>
        </p:spPr>
        <p:txBody>
          <a:bodyPr wrap="square" lIns="126747" tIns="126747" rIns="5970" bIns="101347"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&lt;br&gt;</a:t>
            </a:r>
            <a:r>
              <a:rPr lang="en-US" sz="1400" dirty="0">
                <a:solidFill>
                  <a:srgbClr val="1F2A37"/>
                </a:solidFill>
                <a:latin typeface="IBM Plex Sans" pitchFamily="34" charset="0"/>
                <a:ea typeface="IBM Plex Sans" pitchFamily="34" charset="-122"/>
                <a:cs typeface="IBM Plex Sans" pitchFamily="34" charset="-120"/>
              </a:rPr>
              <a:t> — a line break </a:t>
            </a:r>
            <a:r>
              <a:rPr lang="en-US" sz="1400" i="1" dirty="0">
                <a:solidFill>
                  <a:srgbClr val="1F2A37"/>
                </a:solidFill>
                <a:latin typeface="IBM Plex Sans" pitchFamily="34" charset="0"/>
                <a:ea typeface="IBM Plex Sans" pitchFamily="34" charset="-122"/>
                <a:cs typeface="IBM Plex Sans" pitchFamily="34" charset="-120"/>
              </a:rPr>
              <a:t>inside</a:t>
            </a:r>
            <a:r>
              <a:rPr lang="en-US" sz="1400" dirty="0">
                <a:solidFill>
                  <a:srgbClr val="1F2A37"/>
                </a:solidFill>
                <a:latin typeface="IBM Plex Sans" pitchFamily="34" charset="0"/>
                <a:ea typeface="IBM Plex Sans" pitchFamily="34" charset="-122"/>
                <a:cs typeface="IBM Plex Sans" pitchFamily="34" charset="-120"/>
              </a:rPr>
              <a:t> content where lines matter: addresses, poems.</a:t>
            </a:r>
            <a:endParaRPr lang="en-US" sz="1400" dirty="0"/>
          </a:p>
        </p:txBody>
      </p:sp>
      <p:sp>
        <p:nvSpPr>
          <p:cNvPr id="7" name="Text 5"/>
          <p:cNvSpPr/>
          <p:nvPr/>
        </p:nvSpPr>
        <p:spPr>
          <a:xfrm>
            <a:off x="7038975" y="3868638"/>
            <a:ext cx="4337050" cy="808831"/>
          </a:xfrm>
          <a:prstGeom prst="roundRect">
            <a:avLst>
              <a:gd name="adj" fmla="val 12169"/>
            </a:avLst>
          </a:prstGeom>
          <a:solidFill>
            <a:srgbClr val="FFFDF9"/>
          </a:solidFill>
          <a:ln w="6350">
            <a:solidFill>
              <a:srgbClr val="E4E0D8"/>
            </a:solidFill>
            <a:prstDash val="solid"/>
          </a:ln>
        </p:spPr>
        <p:txBody>
          <a:bodyPr wrap="square" lIns="126747" tIns="126747" rIns="5970" bIns="101347"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&lt;hr&gt;</a:t>
            </a:r>
            <a:r>
              <a:rPr lang="en-US" sz="1400" dirty="0">
                <a:solidFill>
                  <a:srgbClr val="1F2A37"/>
                </a:solidFill>
                <a:latin typeface="IBM Plex Sans" pitchFamily="34" charset="0"/>
                <a:ea typeface="IBM Plex Sans" pitchFamily="34" charset="-122"/>
                <a:cs typeface="IBM Plex Sans" pitchFamily="34" charset="-120"/>
              </a:rPr>
              <a:t> — a thematic break: a change of topic or scene, not just a line.</a:t>
            </a:r>
            <a:endParaRPr lang="en-US" sz="14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THEORY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Quotations: blockquote, q and cite</a:t>
            </a:r>
            <a:endParaRPr lang="en-US" sz="3200" dirty="0"/>
          </a:p>
        </p:txBody>
      </p:sp>
      <p:sp>
        <p:nvSpPr>
          <p:cNvPr id="4" name="Text 2"/>
          <p:cNvSpPr/>
          <p:nvPr/>
        </p:nvSpPr>
        <p:spPr>
          <a:xfrm>
            <a:off x="812800" y="1981101"/>
            <a:ext cx="10566400" cy="2197596"/>
          </a:xfrm>
          <a:prstGeom prst="roundRect">
            <a:avLst>
              <a:gd name="adj" fmla="val 4623"/>
            </a:avLst>
          </a:prstGeom>
          <a:solidFill>
            <a:srgbClr val="1B2430"/>
          </a:solidFill>
          <a:ln/>
        </p:spPr>
        <p:txBody>
          <a:bodyPr wrap="square" lIns="224242" tIns="173442" rIns="0" bIns="148042" rtlCol="0" anchor="t">
            <a:normAutofit/>
          </a:bodyPr>
          <a:lstStyle/>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&lt;blockquote</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cite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"https://www.w3.org/standards/"</a:t>
            </a:r>
            <a:r>
              <a:rPr lang="en-US" sz="1300" dirty="0">
                <a:solidFill>
                  <a:srgbClr val="FF9E64"/>
                </a:solidFill>
                <a:latin typeface="IBM Plex Mono" pitchFamily="49" charset="0"/>
                <a:ea typeface="IBM Plex Mono" pitchFamily="49" charset="-122"/>
                <a:cs typeface="IBM Plex Mono" pitchFamily="49" charset="-120"/>
              </a:rPr>
              <a:t>&gt;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&lt;p&gt;</a:t>
            </a:r>
            <a:r>
              <a:rPr lang="en-US" sz="1300" dirty="0">
                <a:solidFill>
                  <a:srgbClr val="E6EDF3"/>
                </a:solidFill>
                <a:latin typeface="IBM Plex Mono" pitchFamily="49" charset="0"/>
                <a:ea typeface="IBM Plex Mono" pitchFamily="49" charset="-122"/>
                <a:cs typeface="IBM Plex Mono" pitchFamily="49" charset="-120"/>
              </a:rPr>
              <a:t>Web standards are the building blocks of a consistent web.</a:t>
            </a:r>
            <a:r>
              <a:rPr lang="en-US" sz="1300" dirty="0">
                <a:solidFill>
                  <a:srgbClr val="FF9E64"/>
                </a:solidFill>
                <a:latin typeface="IBM Plex Mono" pitchFamily="49" charset="0"/>
                <a:ea typeface="IBM Plex Mono" pitchFamily="49" charset="-122"/>
                <a:cs typeface="IBM Plex Mono" pitchFamily="49" charset="-120"/>
              </a:rPr>
              <a:t>&lt;/p&gt;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&lt;/blockquote&gt;</a:t>
            </a:r>
            <a:endParaRPr lang="en-US" sz="1300" dirty="0"/>
          </a:p>
          <a:p>
            <a:pPr algn="l" indent="0" marL="0">
              <a:lnSpc>
                <a:spcPts val="2015"/>
              </a:lnSpc>
              <a:buNone/>
            </a:pP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&lt;p&gt;</a:t>
            </a:r>
            <a:r>
              <a:rPr lang="en-US" sz="1300" dirty="0">
                <a:solidFill>
                  <a:srgbClr val="E6EDF3"/>
                </a:solidFill>
                <a:latin typeface="IBM Plex Mono" pitchFamily="49" charset="0"/>
                <a:ea typeface="IBM Plex Mono" pitchFamily="49" charset="-122"/>
                <a:cs typeface="IBM Plex Mono" pitchFamily="49" charset="-120"/>
              </a:rPr>
              <a:t>At London 2012, Berners-Lee tweeted </a:t>
            </a:r>
            <a:r>
              <a:rPr lang="en-US" sz="1300" dirty="0">
                <a:solidFill>
                  <a:srgbClr val="FF9E64"/>
                </a:solidFill>
                <a:latin typeface="IBM Plex Mono" pitchFamily="49" charset="0"/>
                <a:ea typeface="IBM Plex Mono" pitchFamily="49" charset="-122"/>
                <a:cs typeface="IBM Plex Mono" pitchFamily="49" charset="-120"/>
              </a:rPr>
              <a:t>&lt;q&gt;</a:t>
            </a:r>
            <a:r>
              <a:rPr lang="en-US" sz="1300" dirty="0">
                <a:solidFill>
                  <a:srgbClr val="E6EDF3"/>
                </a:solidFill>
                <a:latin typeface="IBM Plex Mono" pitchFamily="49" charset="0"/>
                <a:ea typeface="IBM Plex Mono" pitchFamily="49" charset="-122"/>
                <a:cs typeface="IBM Plex Mono" pitchFamily="49" charset="-120"/>
              </a:rPr>
              <a:t>This is for everyone</a:t>
            </a:r>
            <a:r>
              <a:rPr lang="en-US" sz="1300" dirty="0">
                <a:solidFill>
                  <a:srgbClr val="FF9E64"/>
                </a:solidFill>
                <a:latin typeface="IBM Plex Mono" pitchFamily="49" charset="0"/>
                <a:ea typeface="IBM Plex Mono" pitchFamily="49" charset="-122"/>
                <a:cs typeface="IBM Plex Mono" pitchFamily="49" charset="-120"/>
              </a:rPr>
              <a:t>&lt;/q&gt;</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FF9E64"/>
                </a:solidFill>
                <a:latin typeface="IBM Plex Mono" pitchFamily="49" charset="0"/>
                <a:ea typeface="IBM Plex Mono" pitchFamily="49" charset="-122"/>
                <a:cs typeface="IBM Plex Mono" pitchFamily="49" charset="-120"/>
              </a:rPr>
              <a:t>&lt;/p&gt;</a:t>
            </a:r>
            <a:endParaRPr lang="en-US" sz="1300" dirty="0"/>
          </a:p>
          <a:p>
            <a:pPr algn="l" indent="0" marL="0">
              <a:lnSpc>
                <a:spcPts val="2015"/>
              </a:lnSpc>
              <a:buNone/>
            </a:pP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&lt;p&gt;</a:t>
            </a:r>
            <a:r>
              <a:rPr lang="en-US" sz="1300" dirty="0">
                <a:solidFill>
                  <a:srgbClr val="E6EDF3"/>
                </a:solidFill>
                <a:latin typeface="IBM Plex Mono" pitchFamily="49" charset="0"/>
                <a:ea typeface="IBM Plex Mono" pitchFamily="49" charset="-122"/>
                <a:cs typeface="IBM Plex Mono" pitchFamily="49" charset="-120"/>
              </a:rPr>
              <a:t>Read </a:t>
            </a:r>
            <a:r>
              <a:rPr lang="en-US" sz="1300" dirty="0">
                <a:solidFill>
                  <a:srgbClr val="FF9E64"/>
                </a:solidFill>
                <a:latin typeface="IBM Plex Mono" pitchFamily="49" charset="0"/>
                <a:ea typeface="IBM Plex Mono" pitchFamily="49" charset="-122"/>
                <a:cs typeface="IBM Plex Mono" pitchFamily="49" charset="-120"/>
              </a:rPr>
              <a:t>&lt;cite&gt;</a:t>
            </a:r>
            <a:r>
              <a:rPr lang="en-US" sz="1300" dirty="0">
                <a:solidFill>
                  <a:srgbClr val="E6EDF3"/>
                </a:solidFill>
                <a:latin typeface="IBM Plex Mono" pitchFamily="49" charset="0"/>
                <a:ea typeface="IBM Plex Mono" pitchFamily="49" charset="-122"/>
                <a:cs typeface="IBM Plex Mono" pitchFamily="49" charset="-120"/>
              </a:rPr>
              <a:t>Learning Web Design</a:t>
            </a:r>
            <a:r>
              <a:rPr lang="en-US" sz="1300" dirty="0">
                <a:solidFill>
                  <a:srgbClr val="FF9E64"/>
                </a:solidFill>
                <a:latin typeface="IBM Plex Mono" pitchFamily="49" charset="0"/>
                <a:ea typeface="IBM Plex Mono" pitchFamily="49" charset="-122"/>
                <a:cs typeface="IBM Plex Mono" pitchFamily="49" charset="-120"/>
              </a:rPr>
              <a:t>&lt;/cite&gt;</a:t>
            </a:r>
            <a:r>
              <a:rPr lang="en-US" sz="1300" dirty="0">
                <a:solidFill>
                  <a:srgbClr val="E6EDF3"/>
                </a:solidFill>
                <a:latin typeface="IBM Plex Mono" pitchFamily="49" charset="0"/>
                <a:ea typeface="IBM Plex Mono" pitchFamily="49" charset="-122"/>
                <a:cs typeface="IBM Plex Mono" pitchFamily="49" charset="-120"/>
              </a:rPr>
              <a:t> by Robbins.</a:t>
            </a:r>
            <a:r>
              <a:rPr lang="en-US" sz="1300" dirty="0">
                <a:solidFill>
                  <a:srgbClr val="FF9E64"/>
                </a:solidFill>
                <a:latin typeface="IBM Plex Mono" pitchFamily="49" charset="0"/>
                <a:ea typeface="IBM Plex Mono" pitchFamily="49" charset="-122"/>
                <a:cs typeface="IBM Plex Mono" pitchFamily="49" charset="-120"/>
              </a:rPr>
              <a:t>&lt;/p&gt;</a:t>
            </a:r>
            <a:endParaRPr lang="en-US" sz="1300" dirty="0"/>
          </a:p>
        </p:txBody>
      </p:sp>
      <p:sp>
        <p:nvSpPr>
          <p:cNvPr id="5" name="Text 3"/>
          <p:cNvSpPr/>
          <p:nvPr/>
        </p:nvSpPr>
        <p:spPr>
          <a:xfrm>
            <a:off x="815975" y="4435872"/>
            <a:ext cx="3414117" cy="1057672"/>
          </a:xfrm>
          <a:prstGeom prst="roundRect">
            <a:avLst>
              <a:gd name="adj" fmla="val 9306"/>
            </a:avLst>
          </a:prstGeom>
          <a:solidFill>
            <a:srgbClr val="FFFDF9"/>
          </a:solidFill>
          <a:ln w="6350">
            <a:solidFill>
              <a:srgbClr val="E4E0D8"/>
            </a:solidFill>
            <a:prstDash val="solid"/>
          </a:ln>
        </p:spPr>
        <p:txBody>
          <a:bodyPr wrap="square" lIns="126747" tIns="126747" rIns="33658" bIns="101347"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blockquote</a:t>
            </a:r>
            <a:r>
              <a:rPr lang="en-US" sz="1400" dirty="0">
                <a:solidFill>
                  <a:srgbClr val="1F2A37"/>
                </a:solidFill>
                <a:latin typeface="IBM Plex Sans" pitchFamily="34" charset="0"/>
                <a:ea typeface="IBM Plex Sans" pitchFamily="34" charset="-122"/>
                <a:cs typeface="IBM Plex Sans" pitchFamily="34" charset="-120"/>
              </a:rPr>
              <a:t> — a long, block-level quote; indented by default. Its cite attribute holds the source URL.</a:t>
            </a:r>
            <a:endParaRPr lang="en-US" sz="1400" dirty="0"/>
          </a:p>
        </p:txBody>
      </p:sp>
      <p:sp>
        <p:nvSpPr>
          <p:cNvPr id="6" name="Text 4"/>
          <p:cNvSpPr/>
          <p:nvPr/>
        </p:nvSpPr>
        <p:spPr>
          <a:xfrm>
            <a:off x="4388842" y="4435872"/>
            <a:ext cx="3414216" cy="1057672"/>
          </a:xfrm>
          <a:prstGeom prst="roundRect">
            <a:avLst>
              <a:gd name="adj" fmla="val 9306"/>
            </a:avLst>
          </a:prstGeom>
          <a:solidFill>
            <a:srgbClr val="FFFDF9"/>
          </a:solidFill>
          <a:ln w="6350">
            <a:solidFill>
              <a:srgbClr val="E4E0D8"/>
            </a:solidFill>
            <a:prstDash val="solid"/>
          </a:ln>
        </p:spPr>
        <p:txBody>
          <a:bodyPr wrap="square" lIns="126747" tIns="126747" rIns="33655" bIns="101347"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q</a:t>
            </a:r>
            <a:r>
              <a:rPr lang="en-US" sz="1400" dirty="0">
                <a:solidFill>
                  <a:srgbClr val="1F2A37"/>
                </a:solidFill>
                <a:latin typeface="IBM Plex Sans" pitchFamily="34" charset="0"/>
                <a:ea typeface="IBM Plex Sans" pitchFamily="34" charset="-122"/>
                <a:cs typeface="IBM Plex Sans" pitchFamily="34" charset="-120"/>
              </a:rPr>
              <a:t> — a short inline quote; the browser adds quotation marks for you.</a:t>
            </a:r>
            <a:endParaRPr lang="en-US" sz="1400" dirty="0"/>
          </a:p>
        </p:txBody>
      </p:sp>
      <p:sp>
        <p:nvSpPr>
          <p:cNvPr id="7" name="Text 5"/>
          <p:cNvSpPr/>
          <p:nvPr/>
        </p:nvSpPr>
        <p:spPr>
          <a:xfrm>
            <a:off x="7961809" y="4435872"/>
            <a:ext cx="3414216" cy="1057672"/>
          </a:xfrm>
          <a:prstGeom prst="roundRect">
            <a:avLst>
              <a:gd name="adj" fmla="val 9306"/>
            </a:avLst>
          </a:prstGeom>
          <a:solidFill>
            <a:srgbClr val="FFFDF9"/>
          </a:solidFill>
          <a:ln w="6350">
            <a:solidFill>
              <a:srgbClr val="E4E0D8"/>
            </a:solidFill>
            <a:prstDash val="solid"/>
          </a:ln>
        </p:spPr>
        <p:txBody>
          <a:bodyPr wrap="square" lIns="126747" tIns="126747" rIns="33655" bIns="101347"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cite</a:t>
            </a:r>
            <a:r>
              <a:rPr lang="en-US" sz="1400" dirty="0">
                <a:solidFill>
                  <a:srgbClr val="1F2A37"/>
                </a:solidFill>
                <a:latin typeface="IBM Plex Sans" pitchFamily="34" charset="0"/>
                <a:ea typeface="IBM Plex Sans" pitchFamily="34" charset="-122"/>
                <a:cs typeface="IBM Plex Sans" pitchFamily="34" charset="-120"/>
              </a:rPr>
              <a:t> (element) — the title of a work: a book, film, paper or song.</a:t>
            </a:r>
            <a:endParaRPr lang="en-US" sz="14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THEORY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Showing code and computer text</a:t>
            </a:r>
            <a:endParaRPr lang="en-US" sz="3200" dirty="0"/>
          </a:p>
        </p:txBody>
      </p:sp>
      <p:sp>
        <p:nvSpPr>
          <p:cNvPr id="4" name="Text 2"/>
          <p:cNvSpPr/>
          <p:nvPr/>
        </p:nvSpPr>
        <p:spPr>
          <a:xfrm>
            <a:off x="812800" y="1981101"/>
            <a:ext cx="5969000" cy="3221137"/>
          </a:xfrm>
          <a:prstGeom prst="roundRect">
            <a:avLst>
              <a:gd name="adj" fmla="val 3154"/>
            </a:avLst>
          </a:prstGeom>
          <a:solidFill>
            <a:srgbClr val="1B2430"/>
          </a:solidFill>
          <a:ln/>
        </p:spPr>
        <p:txBody>
          <a:bodyPr wrap="square" lIns="224242" tIns="173442" rIns="60412" bIns="148042" rtlCol="0" anchor="t">
            <a:normAutofit/>
          </a:bodyPr>
          <a:lstStyle/>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&lt;pre&gt;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Name    Marks</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Ali     87</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Sana    92</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&lt;/pre&gt;</a:t>
            </a:r>
            <a:endParaRPr lang="en-US" sz="1300" dirty="0"/>
          </a:p>
          <a:p>
            <a:pPr algn="l" indent="0" marL="0">
              <a:lnSpc>
                <a:spcPts val="2015"/>
              </a:lnSpc>
              <a:buNone/>
            </a:pP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&lt;p&gt;</a:t>
            </a:r>
            <a:r>
              <a:rPr lang="en-US" sz="1300" dirty="0">
                <a:solidFill>
                  <a:srgbClr val="E6EDF3"/>
                </a:solidFill>
                <a:latin typeface="IBM Plex Mono" pitchFamily="49" charset="0"/>
                <a:ea typeface="IBM Plex Mono" pitchFamily="49" charset="-122"/>
                <a:cs typeface="IBM Plex Mono" pitchFamily="49" charset="-120"/>
              </a:rPr>
              <a:t>Use the </a:t>
            </a:r>
            <a:r>
              <a:rPr lang="en-US" sz="1300" dirty="0">
                <a:solidFill>
                  <a:srgbClr val="FF9E64"/>
                </a:solidFill>
                <a:latin typeface="IBM Plex Mono" pitchFamily="49" charset="0"/>
                <a:ea typeface="IBM Plex Mono" pitchFamily="49" charset="-122"/>
                <a:cs typeface="IBM Plex Mono" pitchFamily="49" charset="-120"/>
              </a:rPr>
              <a:t>&lt;code&gt;</a:t>
            </a:r>
            <a:r>
              <a:rPr lang="en-US" sz="1300" dirty="0">
                <a:solidFill>
                  <a:srgbClr val="E6EDF3"/>
                </a:solidFill>
                <a:latin typeface="IBM Plex Mono" pitchFamily="49" charset="0"/>
                <a:ea typeface="IBM Plex Mono" pitchFamily="49" charset="-122"/>
                <a:cs typeface="IBM Plex Mono" pitchFamily="49" charset="-120"/>
              </a:rPr>
              <a:t>console.log()</a:t>
            </a:r>
            <a:r>
              <a:rPr lang="en-US" sz="1300" dirty="0">
                <a:solidFill>
                  <a:srgbClr val="FF9E64"/>
                </a:solidFill>
                <a:latin typeface="IBM Plex Mono" pitchFamily="49" charset="0"/>
                <a:ea typeface="IBM Plex Mono" pitchFamily="49" charset="-122"/>
                <a:cs typeface="IBM Plex Mono" pitchFamily="49" charset="-120"/>
              </a:rPr>
              <a:t>&lt;/code&gt;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function to debug.</a:t>
            </a:r>
            <a:r>
              <a:rPr lang="en-US" sz="1300" dirty="0">
                <a:solidFill>
                  <a:srgbClr val="FF9E64"/>
                </a:solidFill>
                <a:latin typeface="IBM Plex Mono" pitchFamily="49" charset="0"/>
                <a:ea typeface="IBM Plex Mono" pitchFamily="49" charset="-122"/>
                <a:cs typeface="IBM Plex Mono" pitchFamily="49" charset="-120"/>
              </a:rPr>
              <a:t>&lt;/p&gt;</a:t>
            </a:r>
            <a:endParaRPr lang="en-US" sz="1300" dirty="0"/>
          </a:p>
          <a:p>
            <a:pPr algn="l" indent="0" marL="0">
              <a:lnSpc>
                <a:spcPts val="2015"/>
              </a:lnSpc>
              <a:buNone/>
            </a:pP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&lt;p&gt;</a:t>
            </a:r>
            <a:r>
              <a:rPr lang="en-US" sz="1300" dirty="0">
                <a:solidFill>
                  <a:srgbClr val="E6EDF3"/>
                </a:solidFill>
                <a:latin typeface="IBM Plex Mono" pitchFamily="49" charset="0"/>
                <a:ea typeface="IBM Plex Mono" pitchFamily="49" charset="-122"/>
                <a:cs typeface="IBM Plex Mono" pitchFamily="49" charset="-120"/>
              </a:rPr>
              <a:t>Press </a:t>
            </a:r>
            <a:r>
              <a:rPr lang="en-US" sz="1300" dirty="0">
                <a:solidFill>
                  <a:srgbClr val="FF9E64"/>
                </a:solidFill>
                <a:latin typeface="IBM Plex Mono" pitchFamily="49" charset="0"/>
                <a:ea typeface="IBM Plex Mono" pitchFamily="49" charset="-122"/>
                <a:cs typeface="IBM Plex Mono" pitchFamily="49" charset="-120"/>
              </a:rPr>
              <a:t>&lt;kbd&gt;</a:t>
            </a:r>
            <a:r>
              <a:rPr lang="en-US" sz="1300" dirty="0">
                <a:solidFill>
                  <a:srgbClr val="E6EDF3"/>
                </a:solidFill>
                <a:latin typeface="IBM Plex Mono" pitchFamily="49" charset="0"/>
                <a:ea typeface="IBM Plex Mono" pitchFamily="49" charset="-122"/>
                <a:cs typeface="IBM Plex Mono" pitchFamily="49" charset="-120"/>
              </a:rPr>
              <a:t>Ctrl</a:t>
            </a:r>
            <a:r>
              <a:rPr lang="en-US" sz="1300" dirty="0">
                <a:solidFill>
                  <a:srgbClr val="FF9E64"/>
                </a:solidFill>
                <a:latin typeface="IBM Plex Mono" pitchFamily="49" charset="0"/>
                <a:ea typeface="IBM Plex Mono" pitchFamily="49" charset="-122"/>
                <a:cs typeface="IBM Plex Mono" pitchFamily="49" charset="-120"/>
              </a:rPr>
              <a:t>&lt;/kbd&gt;</a:t>
            </a:r>
            <a:r>
              <a:rPr lang="en-US" sz="1300" dirty="0">
                <a:solidFill>
                  <a:srgbClr val="E6EDF3"/>
                </a:solidFill>
                <a:latin typeface="IBM Plex Mono" pitchFamily="49" charset="0"/>
                <a:ea typeface="IBM Plex Mono" pitchFamily="49" charset="-122"/>
                <a:cs typeface="IBM Plex Mono" pitchFamily="49" charset="-120"/>
              </a:rPr>
              <a:t> + </a:t>
            </a:r>
            <a:r>
              <a:rPr lang="en-US" sz="1300" dirty="0">
                <a:solidFill>
                  <a:srgbClr val="FF9E64"/>
                </a:solidFill>
                <a:latin typeface="IBM Plex Mono" pitchFamily="49" charset="0"/>
                <a:ea typeface="IBM Plex Mono" pitchFamily="49" charset="-122"/>
                <a:cs typeface="IBM Plex Mono" pitchFamily="49" charset="-120"/>
              </a:rPr>
              <a:t>&lt;kbd&gt;</a:t>
            </a:r>
            <a:r>
              <a:rPr lang="en-US" sz="1300" dirty="0">
                <a:solidFill>
                  <a:srgbClr val="E6EDF3"/>
                </a:solidFill>
                <a:latin typeface="IBM Plex Mono" pitchFamily="49" charset="0"/>
                <a:ea typeface="IBM Plex Mono" pitchFamily="49" charset="-122"/>
                <a:cs typeface="IBM Plex Mono" pitchFamily="49" charset="-120"/>
              </a:rPr>
              <a:t>S</a:t>
            </a:r>
            <a:r>
              <a:rPr lang="en-US" sz="1300" dirty="0">
                <a:solidFill>
                  <a:srgbClr val="FF9E64"/>
                </a:solidFill>
                <a:latin typeface="IBM Plex Mono" pitchFamily="49" charset="0"/>
                <a:ea typeface="IBM Plex Mono" pitchFamily="49" charset="-122"/>
                <a:cs typeface="IBM Plex Mono" pitchFamily="49" charset="-120"/>
              </a:rPr>
              <a:t>&lt;/kbd&gt;</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FF9E64"/>
                </a:solidFill>
                <a:latin typeface="IBM Plex Mono" pitchFamily="49" charset="0"/>
                <a:ea typeface="IBM Plex Mono" pitchFamily="49" charset="-122"/>
                <a:cs typeface="IBM Plex Mono" pitchFamily="49" charset="-120"/>
              </a:rPr>
              <a:t>&lt;/p&gt;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&lt;p&gt;</a:t>
            </a:r>
            <a:r>
              <a:rPr lang="en-US" sz="1300" dirty="0">
                <a:solidFill>
                  <a:srgbClr val="E6EDF3"/>
                </a:solidFill>
                <a:latin typeface="IBM Plex Mono" pitchFamily="49" charset="0"/>
                <a:ea typeface="IBM Plex Mono" pitchFamily="49" charset="-122"/>
                <a:cs typeface="IBM Plex Mono" pitchFamily="49" charset="-120"/>
              </a:rPr>
              <a:t>Output: </a:t>
            </a:r>
            <a:r>
              <a:rPr lang="en-US" sz="1300" dirty="0">
                <a:solidFill>
                  <a:srgbClr val="FF9E64"/>
                </a:solidFill>
                <a:latin typeface="IBM Plex Mono" pitchFamily="49" charset="0"/>
                <a:ea typeface="IBM Plex Mono" pitchFamily="49" charset="-122"/>
                <a:cs typeface="IBM Plex Mono" pitchFamily="49" charset="-120"/>
              </a:rPr>
              <a:t>&lt;samp&gt;</a:t>
            </a:r>
            <a:r>
              <a:rPr lang="en-US" sz="1300" dirty="0">
                <a:solidFill>
                  <a:srgbClr val="E6EDF3"/>
                </a:solidFill>
                <a:latin typeface="IBM Plex Mono" pitchFamily="49" charset="0"/>
                <a:ea typeface="IBM Plex Mono" pitchFamily="49" charset="-122"/>
                <a:cs typeface="IBM Plex Mono" pitchFamily="49" charset="-120"/>
              </a:rPr>
              <a:t>File saved</a:t>
            </a:r>
            <a:r>
              <a:rPr lang="en-US" sz="1300" dirty="0">
                <a:solidFill>
                  <a:srgbClr val="FF9E64"/>
                </a:solidFill>
                <a:latin typeface="IBM Plex Mono" pitchFamily="49" charset="0"/>
                <a:ea typeface="IBM Plex Mono" pitchFamily="49" charset="-122"/>
                <a:cs typeface="IBM Plex Mono" pitchFamily="49" charset="-120"/>
              </a:rPr>
              <a:t>&lt;/samp&gt;&lt;/p&gt;</a:t>
            </a:r>
            <a:endParaRPr lang="en-US" sz="1300" dirty="0"/>
          </a:p>
        </p:txBody>
      </p:sp>
      <p:sp>
        <p:nvSpPr>
          <p:cNvPr id="5" name="Text 3"/>
          <p:cNvSpPr/>
          <p:nvPr/>
        </p:nvSpPr>
        <p:spPr>
          <a:xfrm>
            <a:off x="7035800" y="1981101"/>
            <a:ext cx="447370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pre</a:t>
            </a:r>
            <a:r>
              <a:rPr lang="en-US" sz="1400" dirty="0">
                <a:solidFill>
                  <a:srgbClr val="1F2A37"/>
                </a:solidFill>
                <a:latin typeface="IBM Plex Sans" pitchFamily="34" charset="0"/>
                <a:ea typeface="IBM Plex Sans" pitchFamily="34" charset="-122"/>
                <a:cs typeface="IBM Plex Sans" pitchFamily="34" charset="-120"/>
              </a:rPr>
              <a:t> — keeps spaces and line breaks exactly; monospace font</a:t>
            </a:r>
            <a:endParaRPr lang="en-US" sz="1400" dirty="0"/>
          </a:p>
        </p:txBody>
      </p:sp>
      <p:sp>
        <p:nvSpPr>
          <p:cNvPr id="6" name="Text 4"/>
          <p:cNvSpPr/>
          <p:nvPr/>
        </p:nvSpPr>
        <p:spPr>
          <a:xfrm>
            <a:off x="7035800" y="2580382"/>
            <a:ext cx="447370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code</a:t>
            </a:r>
            <a:r>
              <a:rPr lang="en-US" sz="1400" dirty="0">
                <a:solidFill>
                  <a:srgbClr val="1F2A37"/>
                </a:solidFill>
                <a:latin typeface="IBM Plex Sans" pitchFamily="34" charset="0"/>
                <a:ea typeface="IBM Plex Sans" pitchFamily="34" charset="-122"/>
                <a:cs typeface="IBM Plex Sans" pitchFamily="34" charset="-120"/>
              </a:rPr>
              <a:t> — a fragment of computer code</a:t>
            </a:r>
            <a:endParaRPr lang="en-US" sz="1400" dirty="0"/>
          </a:p>
        </p:txBody>
      </p:sp>
      <p:sp>
        <p:nvSpPr>
          <p:cNvPr id="7" name="Text 5"/>
          <p:cNvSpPr/>
          <p:nvPr/>
        </p:nvSpPr>
        <p:spPr>
          <a:xfrm>
            <a:off x="7035800" y="2930823"/>
            <a:ext cx="447370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kbd</a:t>
            </a:r>
            <a:r>
              <a:rPr lang="en-US" sz="1400" dirty="0">
                <a:solidFill>
                  <a:srgbClr val="1F2A37"/>
                </a:solidFill>
                <a:latin typeface="IBM Plex Sans" pitchFamily="34" charset="0"/>
                <a:ea typeface="IBM Plex Sans" pitchFamily="34" charset="-122"/>
                <a:cs typeface="IBM Plex Sans" pitchFamily="34" charset="-120"/>
              </a:rPr>
              <a:t> — keys the user types</a:t>
            </a:r>
            <a:endParaRPr lang="en-US" sz="1400" dirty="0"/>
          </a:p>
        </p:txBody>
      </p:sp>
      <p:sp>
        <p:nvSpPr>
          <p:cNvPr id="8" name="Text 6"/>
          <p:cNvSpPr/>
          <p:nvPr/>
        </p:nvSpPr>
        <p:spPr>
          <a:xfrm>
            <a:off x="7035800" y="3281263"/>
            <a:ext cx="447370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samp</a:t>
            </a:r>
            <a:r>
              <a:rPr lang="en-US" sz="1400" dirty="0">
                <a:solidFill>
                  <a:srgbClr val="1F2A37"/>
                </a:solidFill>
                <a:latin typeface="IBM Plex Sans" pitchFamily="34" charset="0"/>
                <a:ea typeface="IBM Plex Sans" pitchFamily="34" charset="-122"/>
                <a:cs typeface="IBM Plex Sans" pitchFamily="34" charset="-120"/>
              </a:rPr>
              <a:t> — sample program output</a:t>
            </a:r>
            <a:endParaRPr lang="en-US" sz="1400" dirty="0"/>
          </a:p>
        </p:txBody>
      </p:sp>
      <p:sp>
        <p:nvSpPr>
          <p:cNvPr id="9" name="Text 7"/>
          <p:cNvSpPr/>
          <p:nvPr/>
        </p:nvSpPr>
        <p:spPr>
          <a:xfrm>
            <a:off x="7035800" y="3631704"/>
            <a:ext cx="447370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var</a:t>
            </a:r>
            <a:r>
              <a:rPr lang="en-US" sz="1400" dirty="0">
                <a:solidFill>
                  <a:srgbClr val="1F2A37"/>
                </a:solidFill>
                <a:latin typeface="IBM Plex Sans" pitchFamily="34" charset="0"/>
                <a:ea typeface="IBM Plex Sans" pitchFamily="34" charset="-122"/>
                <a:cs typeface="IBM Plex Sans" pitchFamily="34" charset="-120"/>
              </a:rPr>
              <a:t> — a variable, e.g. </a:t>
            </a:r>
            <a:r>
              <a:rPr lang="en-US" sz="1400" i="1" dirty="0">
                <a:solidFill>
                  <a:srgbClr val="1F2A37"/>
                </a:solidFill>
                <a:latin typeface="IBM Plex Sans" pitchFamily="34" charset="0"/>
                <a:ea typeface="IBM Plex Sans" pitchFamily="34" charset="-122"/>
                <a:cs typeface="IBM Plex Sans" pitchFamily="34" charset="-120"/>
              </a:rPr>
              <a:t>x</a:t>
            </a:r>
            <a:r>
              <a:rPr lang="en-US" sz="1400" dirty="0">
                <a:solidFill>
                  <a:srgbClr val="1F2A37"/>
                </a:solidFill>
                <a:latin typeface="IBM Plex Sans" pitchFamily="34" charset="0"/>
                <a:ea typeface="IBM Plex Sans" pitchFamily="34" charset="-122"/>
                <a:cs typeface="IBM Plex Sans" pitchFamily="34" charset="-120"/>
              </a:rPr>
              <a:t> in maths</a:t>
            </a:r>
            <a:endParaRPr lang="en-US" sz="1400" dirty="0"/>
          </a:p>
        </p:txBody>
      </p:sp>
      <p:sp>
        <p:nvSpPr>
          <p:cNvPr id="10" name="Text 8"/>
          <p:cNvSpPr/>
          <p:nvPr/>
        </p:nvSpPr>
        <p:spPr>
          <a:xfrm>
            <a:off x="7035800" y="3982145"/>
            <a:ext cx="447370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For a block of code: &lt;pre&gt;&lt;code&gt;…&lt;/code&gt;&lt;/pre&gt;</a:t>
            </a:r>
            <a:endParaRPr lang="en-US" sz="13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INLINE ELEMENTS (1 OF 2)</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Same look, different meaning</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3087688"/>
        </p:xfrm>
        <a:graphic>
          <a:graphicData uri="http://schemas.openxmlformats.org/drawingml/2006/table">
            <a:tbl>
              <a:tblPr/>
              <a:tblGrid>
                <a:gridCol w="1477518"/>
                <a:gridCol w="1688592"/>
                <a:gridCol w="4221480"/>
                <a:gridCol w="3166110"/>
              </a:tblGrid>
              <a:tr h="385961">
                <a:tc>
                  <a:txBody>
                    <a:bodyPr/>
                    <a:lstStyle/>
                    <a:p>
                      <a:pPr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Element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Default look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Meaning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Use it for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strong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Bold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Strong importance, seriousness, urgency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Warning: do not unplug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Bold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Draw attention, no extra importance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Keywords, product names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em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Italic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Stress emphasis that changes meaning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I said Monday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Italic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Alternate voice or mood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Terms, foreign words, ship names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mark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Highlight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Relevant to the reader right now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Search matches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small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Smaller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Side comments, fine print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Legal notes, copyright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Strike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No longer accurate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Old price: Rs 2,000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INLINE ELEMENTS (2 OF 2)</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Elements that add precise meaning</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2874169"/>
        </p:xfrm>
        <a:graphic>
          <a:graphicData uri="http://schemas.openxmlformats.org/drawingml/2006/table">
            <a:tbl>
              <a:tblPr/>
              <a:tblGrid>
                <a:gridCol w="1688592"/>
                <a:gridCol w="4010406"/>
                <a:gridCol w="4854702"/>
              </a:tblGrid>
              <a:tr h="359271">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Element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Meaning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Example markup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sub / sup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Subscript / superscript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H&lt;sub&gt;2&lt;/sub&gt;O · x&lt;sup&gt;2&lt;/sup&gt;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abbr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Abbreviation; title gives the full form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&lt;abbr title="HyperText Transfer Protocol"&gt;HTTP&lt;/abbr&gt;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dfn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The defining instance of a term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&lt;dfn&gt;Markup&lt;/dfn&gt; 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time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Machine-readable date or time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&lt;time datetime="2026-11-02"&gt;2 Nov&lt;/time&gt;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del / ins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Text removed / inserted in an edit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&lt;del&gt;Monday&lt;/del&gt; &lt;ins&gt;Tuesday&lt;/ins&gt;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address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Contact information for the author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&lt;address&gt;faheem@iqraisb.edu.pk&lt;/address&gt;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span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No meaning: a hook for CSS or JS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&lt;span class="price"&gt;Rs 500&lt;/span&gt;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7927"/>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C2410C"/>
                </a:solidFill>
                <a:latin typeface="IBM Plex Sans" pitchFamily="34" charset="0"/>
                <a:ea typeface="IBM Plex Sans" pitchFamily="34" charset="-122"/>
                <a:cs typeface="IBM Plex Sans" pitchFamily="34" charset="-120"/>
              </a:rPr>
              <a:t>PART A · CODE</a:t>
            </a:r>
            <a:endParaRPr lang="en-US" sz="1196" dirty="0"/>
          </a:p>
        </p:txBody>
      </p:sp>
      <p:sp>
        <p:nvSpPr>
          <p:cNvPr id="3" name="Text 1"/>
          <p:cNvSpPr/>
          <p:nvPr>
            <p:ph type="title"/>
          </p:nvPr>
        </p:nvSpPr>
        <p:spPr>
          <a:xfrm>
            <a:off x="812800" y="1279327"/>
            <a:ext cx="10883392" cy="470793"/>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Inline elements working together</a:t>
            </a:r>
            <a:endParaRPr lang="en-US" sz="3200" dirty="0"/>
          </a:p>
        </p:txBody>
      </p:sp>
      <p:sp>
        <p:nvSpPr>
          <p:cNvPr id="4" name="Text 2"/>
          <p:cNvSpPr/>
          <p:nvPr/>
        </p:nvSpPr>
        <p:spPr>
          <a:xfrm>
            <a:off x="812800" y="1978720"/>
            <a:ext cx="10566400" cy="2446238"/>
          </a:xfrm>
          <a:prstGeom prst="roundRect">
            <a:avLst>
              <a:gd name="adj" fmla="val 4153"/>
            </a:avLst>
          </a:prstGeom>
          <a:solidFill>
            <a:srgbClr val="1B2430"/>
          </a:solidFill>
          <a:ln/>
        </p:spPr>
        <p:txBody>
          <a:bodyPr wrap="square" lIns="224242" tIns="173442" rIns="0" bIns="148042" rtlCol="0" anchor="t">
            <a:normAutofit/>
          </a:bodyPr>
          <a:lstStyle/>
          <a:p>
            <a:pPr algn="l" indent="0" marL="0">
              <a:lnSpc>
                <a:spcPts val="2009"/>
              </a:lnSpc>
              <a:buNone/>
            </a:pPr>
            <a:r>
              <a:rPr lang="en-US" sz="1296" dirty="0">
                <a:solidFill>
                  <a:srgbClr val="FF9E64"/>
                </a:solidFill>
                <a:latin typeface="IBM Plex Mono" pitchFamily="49" charset="0"/>
                <a:ea typeface="IBM Plex Mono" pitchFamily="49" charset="-122"/>
                <a:cs typeface="IBM Plex Mono" pitchFamily="49" charset="-120"/>
              </a:rPr>
              <a:t>&lt;p&gt;</a:t>
            </a:r>
            <a:r>
              <a:rPr lang="en-US" sz="1296" dirty="0">
                <a:solidFill>
                  <a:srgbClr val="E6EDF3"/>
                </a:solidFill>
                <a:latin typeface="IBM Plex Mono" pitchFamily="49" charset="0"/>
                <a:ea typeface="IBM Plex Mono" pitchFamily="49" charset="-122"/>
                <a:cs typeface="IBM Plex Mono" pitchFamily="49" charset="-120"/>
              </a:rPr>
              <a:t>The </a:t>
            </a:r>
            <a:r>
              <a:rPr lang="en-US" sz="1296" dirty="0">
                <a:solidFill>
                  <a:srgbClr val="FF9E64"/>
                </a:solidFill>
                <a:latin typeface="IBM Plex Mono" pitchFamily="49" charset="0"/>
                <a:ea typeface="IBM Plex Mono" pitchFamily="49" charset="-122"/>
                <a:cs typeface="IBM Plex Mono" pitchFamily="49" charset="-120"/>
              </a:rPr>
              <a:t>&lt;abbr</a:t>
            </a:r>
            <a:r>
              <a:rPr lang="en-US" sz="1296" dirty="0">
                <a:solidFill>
                  <a:srgbClr val="E6EDF3"/>
                </a:solidFill>
                <a:latin typeface="IBM Plex Mono" pitchFamily="49" charset="0"/>
                <a:ea typeface="IBM Plex Mono" pitchFamily="49" charset="-122"/>
                <a:cs typeface="IBM Plex Mono" pitchFamily="49" charset="-120"/>
              </a:rPr>
              <a:t> </a:t>
            </a:r>
            <a:r>
              <a:rPr lang="en-US" sz="1296" dirty="0">
                <a:solidFill>
                  <a:srgbClr val="7DCFFF"/>
                </a:solidFill>
                <a:latin typeface="IBM Plex Mono" pitchFamily="49" charset="0"/>
                <a:ea typeface="IBM Plex Mono" pitchFamily="49" charset="-122"/>
                <a:cs typeface="IBM Plex Mono" pitchFamily="49" charset="-120"/>
              </a:rPr>
              <a:t>title</a:t>
            </a:r>
            <a:r>
              <a:rPr lang="en-US" sz="1296" dirty="0">
                <a:solidFill>
                  <a:srgbClr val="E6EDF3"/>
                </a:solidFill>
                <a:latin typeface="IBM Plex Mono" pitchFamily="49" charset="0"/>
                <a:ea typeface="IBM Plex Mono" pitchFamily="49" charset="-122"/>
                <a:cs typeface="IBM Plex Mono" pitchFamily="49" charset="-120"/>
              </a:rPr>
              <a:t>=</a:t>
            </a:r>
            <a:r>
              <a:rPr lang="en-US" sz="1296" dirty="0">
                <a:solidFill>
                  <a:srgbClr val="9ECE6A"/>
                </a:solidFill>
                <a:latin typeface="IBM Plex Mono" pitchFamily="49" charset="0"/>
                <a:ea typeface="IBM Plex Mono" pitchFamily="49" charset="-122"/>
                <a:cs typeface="IBM Plex Mono" pitchFamily="49" charset="-120"/>
              </a:rPr>
              <a:t>"Web Engineering"</a:t>
            </a:r>
            <a:r>
              <a:rPr lang="en-US" sz="1296" dirty="0">
                <a:solidFill>
                  <a:srgbClr val="FF9E64"/>
                </a:solidFill>
                <a:latin typeface="IBM Plex Mono" pitchFamily="49" charset="0"/>
                <a:ea typeface="IBM Plex Mono" pitchFamily="49" charset="-122"/>
                <a:cs typeface="IBM Plex Mono" pitchFamily="49" charset="-120"/>
              </a:rPr>
              <a:t>&gt;</a:t>
            </a:r>
            <a:r>
              <a:rPr lang="en-US" sz="1296" dirty="0">
                <a:solidFill>
                  <a:srgbClr val="E6EDF3"/>
                </a:solidFill>
                <a:latin typeface="IBM Plex Mono" pitchFamily="49" charset="0"/>
                <a:ea typeface="IBM Plex Mono" pitchFamily="49" charset="-122"/>
                <a:cs typeface="IBM Plex Mono" pitchFamily="49" charset="-120"/>
              </a:rPr>
              <a:t>WE</a:t>
            </a:r>
            <a:r>
              <a:rPr lang="en-US" sz="1296" dirty="0">
                <a:solidFill>
                  <a:srgbClr val="FF9E64"/>
                </a:solidFill>
                <a:latin typeface="IBM Plex Mono" pitchFamily="49" charset="0"/>
                <a:ea typeface="IBM Plex Mono" pitchFamily="49" charset="-122"/>
                <a:cs typeface="IBM Plex Mono" pitchFamily="49" charset="-120"/>
              </a:rPr>
              <a:t>&lt;/abbr&gt;</a:t>
            </a:r>
            <a:r>
              <a:rPr lang="en-US" sz="1296" dirty="0">
                <a:solidFill>
                  <a:srgbClr val="E6EDF3"/>
                </a:solidFill>
                <a:latin typeface="IBM Plex Mono" pitchFamily="49" charset="0"/>
                <a:ea typeface="IBM Plex Mono" pitchFamily="49" charset="-122"/>
                <a:cs typeface="IBM Plex Mono" pitchFamily="49" charset="-120"/>
              </a:rPr>
              <a:t> quiz is on</a:t>
            </a:r>
            <a:endParaRPr lang="en-US" sz="1296" dirty="0"/>
          </a:p>
          <a:p>
            <a:pPr algn="l" indent="0" marL="0">
              <a:lnSpc>
                <a:spcPts val="2009"/>
              </a:lnSpc>
              <a:buNone/>
            </a:pPr>
            <a:r>
              <a:rPr lang="en-US" sz="1296" dirty="0">
                <a:solidFill>
                  <a:srgbClr val="E6EDF3"/>
                </a:solidFill>
                <a:latin typeface="IBM Plex Mono" pitchFamily="49" charset="0"/>
                <a:ea typeface="IBM Plex Mono" pitchFamily="49" charset="-122"/>
                <a:cs typeface="IBM Plex Mono" pitchFamily="49" charset="-120"/>
              </a:rPr>
              <a:t>  </a:t>
            </a:r>
            <a:r>
              <a:rPr lang="en-US" sz="1296" dirty="0">
                <a:solidFill>
                  <a:srgbClr val="FF9E64"/>
                </a:solidFill>
                <a:latin typeface="IBM Plex Mono" pitchFamily="49" charset="0"/>
                <a:ea typeface="IBM Plex Mono" pitchFamily="49" charset="-122"/>
                <a:cs typeface="IBM Plex Mono" pitchFamily="49" charset="-120"/>
              </a:rPr>
              <a:t>&lt;time</a:t>
            </a:r>
            <a:r>
              <a:rPr lang="en-US" sz="1296" dirty="0">
                <a:solidFill>
                  <a:srgbClr val="E6EDF3"/>
                </a:solidFill>
                <a:latin typeface="IBM Plex Mono" pitchFamily="49" charset="0"/>
                <a:ea typeface="IBM Plex Mono" pitchFamily="49" charset="-122"/>
                <a:cs typeface="IBM Plex Mono" pitchFamily="49" charset="-120"/>
              </a:rPr>
              <a:t> </a:t>
            </a:r>
            <a:r>
              <a:rPr lang="en-US" sz="1296" dirty="0">
                <a:solidFill>
                  <a:srgbClr val="7DCFFF"/>
                </a:solidFill>
                <a:latin typeface="IBM Plex Mono" pitchFamily="49" charset="0"/>
                <a:ea typeface="IBM Plex Mono" pitchFamily="49" charset="-122"/>
                <a:cs typeface="IBM Plex Mono" pitchFamily="49" charset="-120"/>
              </a:rPr>
              <a:t>datetime</a:t>
            </a:r>
            <a:r>
              <a:rPr lang="en-US" sz="1296" dirty="0">
                <a:solidFill>
                  <a:srgbClr val="E6EDF3"/>
                </a:solidFill>
                <a:latin typeface="IBM Plex Mono" pitchFamily="49" charset="0"/>
                <a:ea typeface="IBM Plex Mono" pitchFamily="49" charset="-122"/>
                <a:cs typeface="IBM Plex Mono" pitchFamily="49" charset="-120"/>
              </a:rPr>
              <a:t>=</a:t>
            </a:r>
            <a:r>
              <a:rPr lang="en-US" sz="1296" dirty="0">
                <a:solidFill>
                  <a:srgbClr val="9ECE6A"/>
                </a:solidFill>
                <a:latin typeface="IBM Plex Mono" pitchFamily="49" charset="0"/>
                <a:ea typeface="IBM Plex Mono" pitchFamily="49" charset="-122"/>
                <a:cs typeface="IBM Plex Mono" pitchFamily="49" charset="-120"/>
              </a:rPr>
              <a:t>"2026-11-09"</a:t>
            </a:r>
            <a:r>
              <a:rPr lang="en-US" sz="1296" dirty="0">
                <a:solidFill>
                  <a:srgbClr val="FF9E64"/>
                </a:solidFill>
                <a:latin typeface="IBM Plex Mono" pitchFamily="49" charset="0"/>
                <a:ea typeface="IBM Plex Mono" pitchFamily="49" charset="-122"/>
                <a:cs typeface="IBM Plex Mono" pitchFamily="49" charset="-120"/>
              </a:rPr>
              <a:t>&gt;</a:t>
            </a:r>
            <a:r>
              <a:rPr lang="en-US" sz="1296" dirty="0">
                <a:solidFill>
                  <a:srgbClr val="E6EDF3"/>
                </a:solidFill>
                <a:latin typeface="IBM Plex Mono" pitchFamily="49" charset="0"/>
                <a:ea typeface="IBM Plex Mono" pitchFamily="49" charset="-122"/>
                <a:cs typeface="IBM Plex Mono" pitchFamily="49" charset="-120"/>
              </a:rPr>
              <a:t>9 November</a:t>
            </a:r>
            <a:r>
              <a:rPr lang="en-US" sz="1296" dirty="0">
                <a:solidFill>
                  <a:srgbClr val="FF9E64"/>
                </a:solidFill>
                <a:latin typeface="IBM Plex Mono" pitchFamily="49" charset="0"/>
                <a:ea typeface="IBM Plex Mono" pitchFamily="49" charset="-122"/>
                <a:cs typeface="IBM Plex Mono" pitchFamily="49" charset="-120"/>
              </a:rPr>
              <a:t>&lt;/time&gt;</a:t>
            </a:r>
            <a:r>
              <a:rPr lang="en-US" sz="1296" dirty="0">
                <a:solidFill>
                  <a:srgbClr val="E6EDF3"/>
                </a:solidFill>
                <a:latin typeface="IBM Plex Mono" pitchFamily="49" charset="0"/>
                <a:ea typeface="IBM Plex Mono" pitchFamily="49" charset="-122"/>
                <a:cs typeface="IBM Plex Mono" pitchFamily="49" charset="-120"/>
              </a:rPr>
              <a:t>.</a:t>
            </a:r>
            <a:endParaRPr lang="en-US" sz="1296" dirty="0"/>
          </a:p>
          <a:p>
            <a:pPr algn="l" indent="0" marL="0">
              <a:lnSpc>
                <a:spcPts val="2009"/>
              </a:lnSpc>
              <a:buNone/>
            </a:pPr>
            <a:r>
              <a:rPr lang="en-US" sz="1296" dirty="0">
                <a:solidFill>
                  <a:srgbClr val="E6EDF3"/>
                </a:solidFill>
                <a:latin typeface="IBM Plex Mono" pitchFamily="49" charset="0"/>
                <a:ea typeface="IBM Plex Mono" pitchFamily="49" charset="-122"/>
                <a:cs typeface="IBM Plex Mono" pitchFamily="49" charset="-120"/>
              </a:rPr>
              <a:t>  </a:t>
            </a:r>
            <a:r>
              <a:rPr lang="en-US" sz="1296" dirty="0">
                <a:solidFill>
                  <a:srgbClr val="FF9E64"/>
                </a:solidFill>
                <a:latin typeface="IBM Plex Mono" pitchFamily="49" charset="0"/>
                <a:ea typeface="IBM Plex Mono" pitchFamily="49" charset="-122"/>
                <a:cs typeface="IBM Plex Mono" pitchFamily="49" charset="-120"/>
              </a:rPr>
              <a:t>&lt;strong&gt;</a:t>
            </a:r>
            <a:r>
              <a:rPr lang="en-US" sz="1296" dirty="0">
                <a:solidFill>
                  <a:srgbClr val="E6EDF3"/>
                </a:solidFill>
                <a:latin typeface="IBM Plex Mono" pitchFamily="49" charset="0"/>
                <a:ea typeface="IBM Plex Mono" pitchFamily="49" charset="-122"/>
                <a:cs typeface="IBM Plex Mono" pitchFamily="49" charset="-120"/>
              </a:rPr>
              <a:t>Phones must be switched off.</a:t>
            </a:r>
            <a:r>
              <a:rPr lang="en-US" sz="1296" dirty="0">
                <a:solidFill>
                  <a:srgbClr val="FF9E64"/>
                </a:solidFill>
                <a:latin typeface="IBM Plex Mono" pitchFamily="49" charset="0"/>
                <a:ea typeface="IBM Plex Mono" pitchFamily="49" charset="-122"/>
                <a:cs typeface="IBM Plex Mono" pitchFamily="49" charset="-120"/>
              </a:rPr>
              <a:t>&lt;/strong&gt;&lt;/p&gt;</a:t>
            </a:r>
            <a:endParaRPr lang="en-US" sz="1296" dirty="0"/>
          </a:p>
          <a:p>
            <a:pPr algn="l" indent="0" marL="0">
              <a:lnSpc>
                <a:spcPts val="2009"/>
              </a:lnSpc>
              <a:buNone/>
            </a:pPr>
            <a:endParaRPr lang="en-US" sz="1296" dirty="0"/>
          </a:p>
          <a:p>
            <a:pPr algn="l" indent="0" marL="0">
              <a:lnSpc>
                <a:spcPts val="2009"/>
              </a:lnSpc>
              <a:buNone/>
            </a:pPr>
            <a:r>
              <a:rPr lang="en-US" sz="1296" dirty="0">
                <a:solidFill>
                  <a:srgbClr val="FF9E64"/>
                </a:solidFill>
                <a:latin typeface="IBM Plex Mono" pitchFamily="49" charset="0"/>
                <a:ea typeface="IBM Plex Mono" pitchFamily="49" charset="-122"/>
                <a:cs typeface="IBM Plex Mono" pitchFamily="49" charset="-120"/>
              </a:rPr>
              <a:t>&lt;p&gt;</a:t>
            </a:r>
            <a:r>
              <a:rPr lang="en-US" sz="1296" dirty="0">
                <a:solidFill>
                  <a:srgbClr val="E6EDF3"/>
                </a:solidFill>
                <a:latin typeface="IBM Plex Mono" pitchFamily="49" charset="0"/>
                <a:ea typeface="IBM Plex Mono" pitchFamily="49" charset="-122"/>
                <a:cs typeface="IBM Plex Mono" pitchFamily="49" charset="-120"/>
              </a:rPr>
              <a:t>Water is H</a:t>
            </a:r>
            <a:r>
              <a:rPr lang="en-US" sz="1296" dirty="0">
                <a:solidFill>
                  <a:srgbClr val="FF9E64"/>
                </a:solidFill>
                <a:latin typeface="IBM Plex Mono" pitchFamily="49" charset="0"/>
                <a:ea typeface="IBM Plex Mono" pitchFamily="49" charset="-122"/>
                <a:cs typeface="IBM Plex Mono" pitchFamily="49" charset="-120"/>
              </a:rPr>
              <a:t>&lt;sub&gt;</a:t>
            </a:r>
            <a:r>
              <a:rPr lang="en-US" sz="1296" dirty="0">
                <a:solidFill>
                  <a:srgbClr val="E6EDF3"/>
                </a:solidFill>
                <a:latin typeface="IBM Plex Mono" pitchFamily="49" charset="0"/>
                <a:ea typeface="IBM Plex Mono" pitchFamily="49" charset="-122"/>
                <a:cs typeface="IBM Plex Mono" pitchFamily="49" charset="-120"/>
              </a:rPr>
              <a:t>2</a:t>
            </a:r>
            <a:r>
              <a:rPr lang="en-US" sz="1296" dirty="0">
                <a:solidFill>
                  <a:srgbClr val="FF9E64"/>
                </a:solidFill>
                <a:latin typeface="IBM Plex Mono" pitchFamily="49" charset="0"/>
                <a:ea typeface="IBM Plex Mono" pitchFamily="49" charset="-122"/>
                <a:cs typeface="IBM Plex Mono" pitchFamily="49" charset="-120"/>
              </a:rPr>
              <a:t>&lt;/sub&gt;</a:t>
            </a:r>
            <a:r>
              <a:rPr lang="en-US" sz="1296" dirty="0">
                <a:solidFill>
                  <a:srgbClr val="E6EDF3"/>
                </a:solidFill>
                <a:latin typeface="IBM Plex Mono" pitchFamily="49" charset="0"/>
                <a:ea typeface="IBM Plex Mono" pitchFamily="49" charset="-122"/>
                <a:cs typeface="IBM Plex Mono" pitchFamily="49" charset="-120"/>
              </a:rPr>
              <a:t>O and E = mc</a:t>
            </a:r>
            <a:r>
              <a:rPr lang="en-US" sz="1296" dirty="0">
                <a:solidFill>
                  <a:srgbClr val="FF9E64"/>
                </a:solidFill>
                <a:latin typeface="IBM Plex Mono" pitchFamily="49" charset="0"/>
                <a:ea typeface="IBM Plex Mono" pitchFamily="49" charset="-122"/>
                <a:cs typeface="IBM Plex Mono" pitchFamily="49" charset="-120"/>
              </a:rPr>
              <a:t>&lt;sup&gt;</a:t>
            </a:r>
            <a:r>
              <a:rPr lang="en-US" sz="1296" dirty="0">
                <a:solidFill>
                  <a:srgbClr val="E6EDF3"/>
                </a:solidFill>
                <a:latin typeface="IBM Plex Mono" pitchFamily="49" charset="0"/>
                <a:ea typeface="IBM Plex Mono" pitchFamily="49" charset="-122"/>
                <a:cs typeface="IBM Plex Mono" pitchFamily="49" charset="-120"/>
              </a:rPr>
              <a:t>2</a:t>
            </a:r>
            <a:r>
              <a:rPr lang="en-US" sz="1296" dirty="0">
                <a:solidFill>
                  <a:srgbClr val="FF9E64"/>
                </a:solidFill>
                <a:latin typeface="IBM Plex Mono" pitchFamily="49" charset="0"/>
                <a:ea typeface="IBM Plex Mono" pitchFamily="49" charset="-122"/>
                <a:cs typeface="IBM Plex Mono" pitchFamily="49" charset="-120"/>
              </a:rPr>
              <a:t>&lt;/sup&gt;</a:t>
            </a:r>
            <a:r>
              <a:rPr lang="en-US" sz="1296" dirty="0">
                <a:solidFill>
                  <a:srgbClr val="E6EDF3"/>
                </a:solidFill>
                <a:latin typeface="IBM Plex Mono" pitchFamily="49" charset="0"/>
                <a:ea typeface="IBM Plex Mono" pitchFamily="49" charset="-122"/>
                <a:cs typeface="IBM Plex Mono" pitchFamily="49" charset="-120"/>
              </a:rPr>
              <a:t>.</a:t>
            </a:r>
            <a:r>
              <a:rPr lang="en-US" sz="1296" dirty="0">
                <a:solidFill>
                  <a:srgbClr val="FF9E64"/>
                </a:solidFill>
                <a:latin typeface="IBM Plex Mono" pitchFamily="49" charset="0"/>
                <a:ea typeface="IBM Plex Mono" pitchFamily="49" charset="-122"/>
                <a:cs typeface="IBM Plex Mono" pitchFamily="49" charset="-120"/>
              </a:rPr>
              <a:t>&lt;/p&gt;</a:t>
            </a:r>
            <a:endParaRPr lang="en-US" sz="1296" dirty="0"/>
          </a:p>
          <a:p>
            <a:pPr algn="l" indent="0" marL="0">
              <a:lnSpc>
                <a:spcPts val="2009"/>
              </a:lnSpc>
              <a:buNone/>
            </a:pPr>
            <a:endParaRPr lang="en-US" sz="1296" dirty="0"/>
          </a:p>
          <a:p>
            <a:pPr algn="l" indent="0" marL="0">
              <a:lnSpc>
                <a:spcPts val="2009"/>
              </a:lnSpc>
              <a:buNone/>
            </a:pPr>
            <a:r>
              <a:rPr lang="en-US" sz="1296" dirty="0">
                <a:solidFill>
                  <a:srgbClr val="FF9E64"/>
                </a:solidFill>
                <a:latin typeface="IBM Plex Mono" pitchFamily="49" charset="0"/>
                <a:ea typeface="IBM Plex Mono" pitchFamily="49" charset="-122"/>
                <a:cs typeface="IBM Plex Mono" pitchFamily="49" charset="-120"/>
              </a:rPr>
              <a:t>&lt;p&gt;</a:t>
            </a:r>
            <a:r>
              <a:rPr lang="en-US" sz="1296" dirty="0">
                <a:solidFill>
                  <a:srgbClr val="E6EDF3"/>
                </a:solidFill>
                <a:latin typeface="IBM Plex Mono" pitchFamily="49" charset="0"/>
                <a:ea typeface="IBM Plex Mono" pitchFamily="49" charset="-122"/>
                <a:cs typeface="IBM Plex Mono" pitchFamily="49" charset="-120"/>
              </a:rPr>
              <a:t>Lab moved from </a:t>
            </a:r>
            <a:r>
              <a:rPr lang="en-US" sz="1296" dirty="0">
                <a:solidFill>
                  <a:srgbClr val="FF9E64"/>
                </a:solidFill>
                <a:latin typeface="IBM Plex Mono" pitchFamily="49" charset="0"/>
                <a:ea typeface="IBM Plex Mono" pitchFamily="49" charset="-122"/>
                <a:cs typeface="IBM Plex Mono" pitchFamily="49" charset="-120"/>
              </a:rPr>
              <a:t>&lt;del&gt;</a:t>
            </a:r>
            <a:r>
              <a:rPr lang="en-US" sz="1296" dirty="0">
                <a:solidFill>
                  <a:srgbClr val="E6EDF3"/>
                </a:solidFill>
                <a:latin typeface="IBM Plex Mono" pitchFamily="49" charset="0"/>
                <a:ea typeface="IBM Plex Mono" pitchFamily="49" charset="-122"/>
                <a:cs typeface="IBM Plex Mono" pitchFamily="49" charset="-120"/>
              </a:rPr>
              <a:t>LR 27</a:t>
            </a:r>
            <a:r>
              <a:rPr lang="en-US" sz="1296" dirty="0">
                <a:solidFill>
                  <a:srgbClr val="FF9E64"/>
                </a:solidFill>
                <a:latin typeface="IBM Plex Mono" pitchFamily="49" charset="0"/>
                <a:ea typeface="IBM Plex Mono" pitchFamily="49" charset="-122"/>
                <a:cs typeface="IBM Plex Mono" pitchFamily="49" charset="-120"/>
              </a:rPr>
              <a:t>&lt;/del&gt;</a:t>
            </a:r>
            <a:r>
              <a:rPr lang="en-US" sz="1296" dirty="0">
                <a:solidFill>
                  <a:srgbClr val="E6EDF3"/>
                </a:solidFill>
                <a:latin typeface="IBM Plex Mono" pitchFamily="49" charset="0"/>
                <a:ea typeface="IBM Plex Mono" pitchFamily="49" charset="-122"/>
                <a:cs typeface="IBM Plex Mono" pitchFamily="49" charset="-120"/>
              </a:rPr>
              <a:t> to </a:t>
            </a:r>
            <a:r>
              <a:rPr lang="en-US" sz="1296" dirty="0">
                <a:solidFill>
                  <a:srgbClr val="FF9E64"/>
                </a:solidFill>
                <a:latin typeface="IBM Plex Mono" pitchFamily="49" charset="0"/>
                <a:ea typeface="IBM Plex Mono" pitchFamily="49" charset="-122"/>
                <a:cs typeface="IBM Plex Mono" pitchFamily="49" charset="-120"/>
              </a:rPr>
              <a:t>&lt;ins&gt;</a:t>
            </a:r>
            <a:r>
              <a:rPr lang="en-US" sz="1296" dirty="0">
                <a:solidFill>
                  <a:srgbClr val="E6EDF3"/>
                </a:solidFill>
                <a:latin typeface="IBM Plex Mono" pitchFamily="49" charset="0"/>
                <a:ea typeface="IBM Plex Mono" pitchFamily="49" charset="-122"/>
                <a:cs typeface="IBM Plex Mono" pitchFamily="49" charset="-120"/>
              </a:rPr>
              <a:t>LR 42</a:t>
            </a:r>
            <a:r>
              <a:rPr lang="en-US" sz="1296" dirty="0">
                <a:solidFill>
                  <a:srgbClr val="FF9E64"/>
                </a:solidFill>
                <a:latin typeface="IBM Plex Mono" pitchFamily="49" charset="0"/>
                <a:ea typeface="IBM Plex Mono" pitchFamily="49" charset="-122"/>
                <a:cs typeface="IBM Plex Mono" pitchFamily="49" charset="-120"/>
              </a:rPr>
              <a:t>&lt;/ins&gt;</a:t>
            </a:r>
            <a:r>
              <a:rPr lang="en-US" sz="1296" dirty="0">
                <a:solidFill>
                  <a:srgbClr val="E6EDF3"/>
                </a:solidFill>
                <a:latin typeface="IBM Plex Mono" pitchFamily="49" charset="0"/>
                <a:ea typeface="IBM Plex Mono" pitchFamily="49" charset="-122"/>
                <a:cs typeface="IBM Plex Mono" pitchFamily="49" charset="-120"/>
              </a:rPr>
              <a:t>.</a:t>
            </a:r>
            <a:endParaRPr lang="en-US" sz="1296" dirty="0"/>
          </a:p>
          <a:p>
            <a:pPr algn="l" indent="0" marL="0">
              <a:lnSpc>
                <a:spcPts val="2009"/>
              </a:lnSpc>
              <a:buNone/>
            </a:pPr>
            <a:r>
              <a:rPr lang="en-US" sz="1296" dirty="0">
                <a:solidFill>
                  <a:srgbClr val="E6EDF3"/>
                </a:solidFill>
                <a:latin typeface="IBM Plex Mono" pitchFamily="49" charset="0"/>
                <a:ea typeface="IBM Plex Mono" pitchFamily="49" charset="-122"/>
                <a:cs typeface="IBM Plex Mono" pitchFamily="49" charset="-120"/>
              </a:rPr>
              <a:t>  </a:t>
            </a:r>
            <a:r>
              <a:rPr lang="en-US" sz="1296" dirty="0">
                <a:solidFill>
                  <a:srgbClr val="FF9E64"/>
                </a:solidFill>
                <a:latin typeface="IBM Plex Mono" pitchFamily="49" charset="0"/>
                <a:ea typeface="IBM Plex Mono" pitchFamily="49" charset="-122"/>
                <a:cs typeface="IBM Plex Mono" pitchFamily="49" charset="-120"/>
              </a:rPr>
              <a:t>&lt;small&gt;</a:t>
            </a:r>
            <a:r>
              <a:rPr lang="en-US" sz="1296" dirty="0">
                <a:solidFill>
                  <a:srgbClr val="E6EDF3"/>
                </a:solidFill>
                <a:latin typeface="IBM Plex Mono" pitchFamily="49" charset="0"/>
                <a:ea typeface="IBM Plex Mono" pitchFamily="49" charset="-122"/>
                <a:cs typeface="IBM Plex Mono" pitchFamily="49" charset="-120"/>
              </a:rPr>
              <a:t>© 2026 Iqra University</a:t>
            </a:r>
            <a:r>
              <a:rPr lang="en-US" sz="1296" dirty="0">
                <a:solidFill>
                  <a:srgbClr val="FF9E64"/>
                </a:solidFill>
                <a:latin typeface="IBM Plex Mono" pitchFamily="49" charset="0"/>
                <a:ea typeface="IBM Plex Mono" pitchFamily="49" charset="-122"/>
                <a:cs typeface="IBM Plex Mono" pitchFamily="49" charset="-120"/>
              </a:rPr>
              <a:t>&lt;/small&gt;&lt;/p&gt;</a:t>
            </a:r>
            <a:endParaRPr lang="en-US" sz="1296" dirty="0"/>
          </a:p>
        </p:txBody>
      </p:sp>
      <p:sp>
        <p:nvSpPr>
          <p:cNvPr id="5" name="Shape 3"/>
          <p:cNvSpPr/>
          <p:nvPr/>
        </p:nvSpPr>
        <p:spPr>
          <a:xfrm>
            <a:off x="815975" y="4682133"/>
            <a:ext cx="10560050" cy="1156692"/>
          </a:xfrm>
          <a:prstGeom prst="roundRect">
            <a:avLst>
              <a:gd name="adj" fmla="val 8509"/>
            </a:avLst>
          </a:prstGeom>
          <a:solidFill>
            <a:srgbClr val="FFFDF9"/>
          </a:solidFill>
          <a:ln w="6350">
            <a:solidFill>
              <a:srgbClr val="E4E0D8"/>
            </a:solidFill>
            <a:prstDash val="solid"/>
          </a:ln>
        </p:spPr>
      </p:sp>
      <p:sp>
        <p:nvSpPr>
          <p:cNvPr id="6" name="Text 4"/>
          <p:cNvSpPr/>
          <p:nvPr/>
        </p:nvSpPr>
        <p:spPr>
          <a:xfrm>
            <a:off x="1047750" y="4863108"/>
            <a:ext cx="10399395" cy="237927"/>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475467"/>
                </a:solidFill>
                <a:latin typeface="IBM Plex Sans" pitchFamily="34" charset="0"/>
                <a:ea typeface="IBM Plex Sans" pitchFamily="34" charset="-122"/>
                <a:cs typeface="IBM Plex Sans" pitchFamily="34" charset="-120"/>
              </a:rPr>
              <a:t>RENDERS AS</a:t>
            </a:r>
            <a:endParaRPr lang="en-US" sz="1196" dirty="0"/>
          </a:p>
        </p:txBody>
      </p:sp>
      <p:sp>
        <p:nvSpPr>
          <p:cNvPr id="7" name="Text 5"/>
          <p:cNvSpPr/>
          <p:nvPr/>
        </p:nvSpPr>
        <p:spPr>
          <a:xfrm>
            <a:off x="1047750" y="5126434"/>
            <a:ext cx="10399395" cy="556816"/>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F2A37"/>
                </a:solidFill>
                <a:latin typeface="IBM Plex Sans" pitchFamily="34" charset="0"/>
                <a:ea typeface="IBM Plex Sans" pitchFamily="34" charset="-122"/>
                <a:cs typeface="IBM Plex Sans" pitchFamily="34" charset="-120"/>
              </a:rPr>
              <a:t>The </a:t>
            </a:r>
            <a:r>
              <a:rPr lang="en-US" sz="1400" u="sng" dirty="0">
                <a:solidFill>
                  <a:srgbClr val="1F2A37"/>
                </a:solidFill>
                <a:latin typeface="IBM Plex Sans" pitchFamily="34" charset="0"/>
                <a:ea typeface="IBM Plex Sans" pitchFamily="34" charset="-122"/>
                <a:cs typeface="IBM Plex Sans" pitchFamily="34" charset="-120"/>
              </a:rPr>
              <a:t>WE</a:t>
            </a:r>
            <a:r>
              <a:rPr lang="en-US" sz="1400" dirty="0">
                <a:solidFill>
                  <a:srgbClr val="1F2A37"/>
                </a:solidFill>
                <a:latin typeface="IBM Plex Sans" pitchFamily="34" charset="0"/>
                <a:ea typeface="IBM Plex Sans" pitchFamily="34" charset="-122"/>
                <a:cs typeface="IBM Plex Sans" pitchFamily="34" charset="-120"/>
              </a:rPr>
              <a:t> quiz is on 9 November. </a:t>
            </a:r>
            <a:r>
              <a:rPr lang="en-US" sz="1400" b="1" dirty="0">
                <a:solidFill>
                  <a:srgbClr val="1F2A37"/>
                </a:solidFill>
                <a:latin typeface="IBM Plex Sans" pitchFamily="34" charset="0"/>
                <a:ea typeface="IBM Plex Sans" pitchFamily="34" charset="-122"/>
                <a:cs typeface="IBM Plex Sans" pitchFamily="34" charset="-120"/>
              </a:rPr>
              <a:t>Phones must be switched off.</a:t>
            </a:r>
            <a:r>
              <a:rPr lang="en-US" sz="1400" dirty="0">
                <a:solidFill>
                  <a:srgbClr val="1F2A37"/>
                </a:solidFill>
                <a:latin typeface="IBM Plex Sans" pitchFamily="34" charset="0"/>
                <a:ea typeface="IBM Plex Sans" pitchFamily="34" charset="-122"/>
                <a:cs typeface="IBM Plex Sans" pitchFamily="34" charset="-120"/>
              </a:rPr>
              <a:t> Water is H₂O and E = mc². Lab moved from </a:t>
            </a:r>
            <a:r>
              <a:rPr lang="en-US" sz="1400" dirty="0">
                <a:solidFill>
                  <a:srgbClr val="B42318"/>
                </a:solidFill>
                <a:latin typeface="IBM Plex Sans" pitchFamily="34" charset="0"/>
                <a:ea typeface="IBM Plex Sans" pitchFamily="34" charset="-122"/>
                <a:cs typeface="IBM Plex Sans" pitchFamily="34" charset="-120"/>
              </a:rPr>
              <a:t>LR 27</a:t>
            </a:r>
            <a:r>
              <a:rPr lang="en-US" sz="1400" dirty="0">
                <a:solidFill>
                  <a:srgbClr val="1F2A37"/>
                </a:solidFill>
                <a:latin typeface="IBM Plex Sans" pitchFamily="34" charset="0"/>
                <a:ea typeface="IBM Plex Sans" pitchFamily="34" charset="-122"/>
                <a:cs typeface="IBM Plex Sans" pitchFamily="34" charset="-120"/>
              </a:rPr>
              <a:t> (struck through) to </a:t>
            </a:r>
            <a:r>
              <a:rPr lang="en-US" sz="1400" u="sng" dirty="0">
                <a:solidFill>
                  <a:srgbClr val="1F2A37"/>
                </a:solidFill>
                <a:latin typeface="IBM Plex Sans" pitchFamily="34" charset="0"/>
                <a:ea typeface="IBM Plex Sans" pitchFamily="34" charset="-122"/>
                <a:cs typeface="IBM Plex Sans" pitchFamily="34" charset="-120"/>
              </a:rPr>
              <a:t>LR 42</a:t>
            </a:r>
            <a:r>
              <a:rPr lang="en-US" sz="1400" dirty="0">
                <a:solidFill>
                  <a:srgbClr val="1F2A37"/>
                </a:solidFill>
                <a:latin typeface="IBM Plex Sans" pitchFamily="34" charset="0"/>
                <a:ea typeface="IBM Plex Sans" pitchFamily="34" charset="-122"/>
                <a:cs typeface="IBM Plex Sans" pitchFamily="34" charset="-120"/>
              </a:rPr>
              <a:t>. © 2026 Iqra University</a:t>
            </a:r>
            <a:endParaRPr lang="en-US" sz="14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THEORY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Character entities: escaping reserved characters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6845300" cy="2980531"/>
        </p:xfrm>
        <a:graphic>
          <a:graphicData uri="http://schemas.openxmlformats.org/drawingml/2006/table">
            <a:tbl>
              <a:tblPr/>
              <a:tblGrid>
                <a:gridCol w="958342"/>
                <a:gridCol w="1642872"/>
                <a:gridCol w="1505966"/>
                <a:gridCol w="2738120"/>
              </a:tblGrid>
              <a:tr h="372566">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Shows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Named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Number</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When to use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&lt;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&amp;lt;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&amp;#60;</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Always, in text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&gt;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&amp;gt;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&amp;#62;</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Good practice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&amp;</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&amp;amp;</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&amp;#38;</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Always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&amp;quot;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&amp;#34;</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Inside attribute values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(space)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&amp;nbsp;</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&amp;#160;</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Keep “10 km” on one line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&amp;copy;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&amp;#169;</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Copyright notice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&amp;trade;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&amp;#8482;</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Trademark</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7924800" y="1981101"/>
            <a:ext cx="355803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Format: </a:t>
            </a:r>
            <a:r>
              <a:rPr lang="en-US" sz="1400" b="1" dirty="0">
                <a:solidFill>
                  <a:srgbClr val="1F2A37"/>
                </a:solidFill>
                <a:latin typeface="IBM Plex Sans" pitchFamily="34" charset="0"/>
                <a:ea typeface="IBM Plex Sans" pitchFamily="34" charset="-122"/>
                <a:cs typeface="IBM Plex Sans" pitchFamily="34" charset="-120"/>
              </a:rPr>
              <a:t>&amp;name;</a:t>
            </a:r>
            <a:r>
              <a:rPr lang="en-US" sz="1400" dirty="0">
                <a:solidFill>
                  <a:srgbClr val="1F2A37"/>
                </a:solidFill>
                <a:latin typeface="IBM Plex Sans" pitchFamily="34" charset="0"/>
                <a:ea typeface="IBM Plex Sans" pitchFamily="34" charset="-122"/>
                <a:cs typeface="IBM Plex Sans" pitchFamily="34" charset="-120"/>
              </a:rPr>
              <a:t> or </a:t>
            </a:r>
            <a:r>
              <a:rPr lang="en-US" sz="1400" b="1" dirty="0">
                <a:solidFill>
                  <a:srgbClr val="1F2A37"/>
                </a:solidFill>
                <a:latin typeface="IBM Plex Sans" pitchFamily="34" charset="0"/>
                <a:ea typeface="IBM Plex Sans" pitchFamily="34" charset="-122"/>
                <a:cs typeface="IBM Plex Sans" pitchFamily="34" charset="-120"/>
              </a:rPr>
              <a:t>&amp;#number;</a:t>
            </a:r>
            <a:r>
              <a:rPr lang="en-US" sz="1400" dirty="0">
                <a:solidFill>
                  <a:srgbClr val="1F2A37"/>
                </a:solidFill>
                <a:latin typeface="IBM Plex Sans" pitchFamily="34" charset="0"/>
                <a:ea typeface="IBM Plex Sans" pitchFamily="34" charset="-122"/>
                <a:cs typeface="IBM Plex Sans" pitchFamily="34" charset="-120"/>
              </a:rPr>
              <a:t> — don’t forget the semicolon.</a:t>
            </a:r>
            <a:endParaRPr lang="en-US" sz="1400" dirty="0"/>
          </a:p>
        </p:txBody>
      </p:sp>
      <p:sp>
        <p:nvSpPr>
          <p:cNvPr id="6" name="Text 3"/>
          <p:cNvSpPr/>
          <p:nvPr/>
        </p:nvSpPr>
        <p:spPr>
          <a:xfrm>
            <a:off x="7924800" y="2605782"/>
            <a:ext cx="355803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With </a:t>
            </a:r>
            <a:r>
              <a:rPr lang="en-US" sz="1400" b="1" dirty="0">
                <a:solidFill>
                  <a:srgbClr val="1F2A37"/>
                </a:solidFill>
                <a:latin typeface="IBM Plex Sans" pitchFamily="34" charset="0"/>
                <a:ea typeface="IBM Plex Sans" pitchFamily="34" charset="-122"/>
                <a:cs typeface="IBM Plex Sans" pitchFamily="34" charset="-120"/>
              </a:rPr>
              <a:t>UTF-8</a:t>
            </a:r>
            <a:r>
              <a:rPr lang="en-US" sz="1400" dirty="0">
                <a:solidFill>
                  <a:srgbClr val="1F2A37"/>
                </a:solidFill>
                <a:latin typeface="IBM Plex Sans" pitchFamily="34" charset="0"/>
                <a:ea typeface="IBM Plex Sans" pitchFamily="34" charset="-122"/>
                <a:cs typeface="IBM Plex Sans" pitchFamily="34" charset="-120"/>
              </a:rPr>
              <a:t> you can type ©, é or اردو directly. You only </a:t>
            </a:r>
            <a:r>
              <a:rPr lang="en-US" sz="1400" i="1" dirty="0">
                <a:solidFill>
                  <a:srgbClr val="1F2A37"/>
                </a:solidFill>
                <a:latin typeface="IBM Plex Sans" pitchFamily="34" charset="0"/>
                <a:ea typeface="IBM Plex Sans" pitchFamily="34" charset="-122"/>
                <a:cs typeface="IBM Plex Sans" pitchFamily="34" charset="-120"/>
              </a:rPr>
              <a:t>must</a:t>
            </a:r>
            <a:r>
              <a:rPr lang="en-US" sz="1400" dirty="0">
                <a:solidFill>
                  <a:srgbClr val="1F2A37"/>
                </a:solidFill>
                <a:latin typeface="IBM Plex Sans" pitchFamily="34" charset="0"/>
                <a:ea typeface="IBM Plex Sans" pitchFamily="34" charset="-122"/>
                <a:cs typeface="IBM Plex Sans" pitchFamily="34" charset="-120"/>
              </a:rPr>
              <a:t> escape &lt; and &amp;.</a:t>
            </a:r>
            <a:endParaRPr lang="en-US" sz="14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WEB STANDARDS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Obsolete presentational tags — recognise, don’t use</a:t>
            </a:r>
            <a:endParaRPr lang="en-US" sz="3200" dirty="0"/>
          </a:p>
        </p:txBody>
      </p:sp>
      <p:sp>
        <p:nvSpPr>
          <p:cNvPr id="4" name="Text 2"/>
          <p:cNvSpPr/>
          <p:nvPr/>
        </p:nvSpPr>
        <p:spPr>
          <a:xfrm>
            <a:off x="812800" y="1981101"/>
            <a:ext cx="533704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2318"/>
                </a:solidFill>
                <a:latin typeface="IBM Plex Sans" pitchFamily="34" charset="0"/>
                <a:ea typeface="IBM Plex Sans" pitchFamily="34" charset="-122"/>
                <a:cs typeface="IBM Plex Sans" pitchFamily="34" charset="-120"/>
              </a:rPr>
              <a:t>1990s style (obsolete)</a:t>
            </a:r>
            <a:endParaRPr lang="en-US" sz="1400" dirty="0"/>
          </a:p>
        </p:txBody>
      </p:sp>
      <p:sp>
        <p:nvSpPr>
          <p:cNvPr id="5" name="Text 3"/>
          <p:cNvSpPr/>
          <p:nvPr/>
        </p:nvSpPr>
        <p:spPr>
          <a:xfrm>
            <a:off x="812800" y="2331541"/>
            <a:ext cx="5181600" cy="1536303"/>
          </a:xfrm>
          <a:prstGeom prst="roundRect">
            <a:avLst>
              <a:gd name="adj" fmla="val 6613"/>
            </a:avLst>
          </a:prstGeom>
          <a:solidFill>
            <a:srgbClr val="1B2430"/>
          </a:solidFill>
          <a:ln/>
        </p:spPr>
        <p:txBody>
          <a:bodyPr wrap="square" lIns="198842" tIns="148042" rIns="57110" bIns="122642" rtlCol="0" anchor="t">
            <a:normAutofit/>
          </a:bodyPr>
          <a:lstStyle/>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&lt;body</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bgcolor</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"yellow"</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&lt;center&gt;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&lt;font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face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"Verdana"</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size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"5"</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color</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"red"</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Welcome</a:t>
            </a:r>
            <a:r>
              <a:rPr lang="en-US" sz="1200" dirty="0">
                <a:solidFill>
                  <a:srgbClr val="FF9E64"/>
                </a:solidFill>
                <a:latin typeface="IBM Plex Mono" pitchFamily="49" charset="0"/>
                <a:ea typeface="IBM Plex Mono" pitchFamily="49" charset="-122"/>
                <a:cs typeface="IBM Plex Mono" pitchFamily="49" charset="-120"/>
              </a:rPr>
              <a:t>&lt;/font&gt;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&lt;/center&gt;</a:t>
            </a:r>
            <a:endParaRPr lang="en-US" sz="1200" dirty="0"/>
          </a:p>
        </p:txBody>
      </p:sp>
      <p:sp>
        <p:nvSpPr>
          <p:cNvPr id="6" name="Text 4"/>
          <p:cNvSpPr/>
          <p:nvPr/>
        </p:nvSpPr>
        <p:spPr>
          <a:xfrm>
            <a:off x="6197600" y="1981101"/>
            <a:ext cx="533704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F7A1E"/>
                </a:solidFill>
                <a:latin typeface="IBM Plex Sans" pitchFamily="34" charset="0"/>
                <a:ea typeface="IBM Plex Sans" pitchFamily="34" charset="-122"/>
                <a:cs typeface="IBM Plex Sans" pitchFamily="34" charset="-120"/>
              </a:rPr>
              <a:t>Modern: HTML + CSS</a:t>
            </a:r>
            <a:endParaRPr lang="en-US" sz="1400" dirty="0"/>
          </a:p>
        </p:txBody>
      </p:sp>
      <p:sp>
        <p:nvSpPr>
          <p:cNvPr id="7" name="Text 5"/>
          <p:cNvSpPr/>
          <p:nvPr/>
        </p:nvSpPr>
        <p:spPr>
          <a:xfrm>
            <a:off x="6197600" y="2331541"/>
            <a:ext cx="5181600" cy="1536303"/>
          </a:xfrm>
          <a:prstGeom prst="roundRect">
            <a:avLst>
              <a:gd name="adj" fmla="val 6613"/>
            </a:avLst>
          </a:prstGeom>
          <a:solidFill>
            <a:srgbClr val="1B2430"/>
          </a:solidFill>
          <a:ln/>
        </p:spPr>
        <p:txBody>
          <a:bodyPr wrap="square" lIns="198842" tIns="148042" rIns="57110" bIns="122642" rtlCol="0" anchor="t">
            <a:normAutofit/>
          </a:bodyPr>
          <a:lstStyle/>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&lt;h1</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class</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"welcome"</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Welcome</a:t>
            </a:r>
            <a:r>
              <a:rPr lang="en-US" sz="1200" dirty="0">
                <a:solidFill>
                  <a:srgbClr val="FF9E64"/>
                </a:solidFill>
                <a:latin typeface="IBM Plex Mono" pitchFamily="49" charset="0"/>
                <a:ea typeface="IBM Plex Mono" pitchFamily="49" charset="-122"/>
                <a:cs typeface="IBM Plex Mono" pitchFamily="49" charset="-120"/>
              </a:rPr>
              <a:t>&lt;/h1&gt;</a:t>
            </a:r>
            <a:endParaRPr lang="en-US" sz="1200" dirty="0"/>
          </a:p>
          <a:p>
            <a:pPr algn="l" indent="0" marL="0">
              <a:lnSpc>
                <a:spcPts val="1860"/>
              </a:lnSpc>
              <a:buNone/>
            </a:pPr>
            <a:endParaRPr lang="en-US" sz="1200" dirty="0"/>
          </a:p>
          <a:p>
            <a:pPr algn="l" indent="0" marL="0">
              <a:lnSpc>
                <a:spcPts val="1860"/>
              </a:lnSpc>
              <a:buNone/>
            </a:pPr>
            <a:r>
              <a:rPr lang="en-US" sz="1200" dirty="0">
                <a:solidFill>
                  <a:srgbClr val="8B98A9"/>
                </a:solidFill>
                <a:latin typeface="IBM Plex Mono" pitchFamily="49" charset="0"/>
                <a:ea typeface="IBM Plex Mono" pitchFamily="49" charset="-122"/>
                <a:cs typeface="IBM Plex Mono" pitchFamily="49" charset="-120"/>
              </a:rPr>
              <a:t>/* in style.css */</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.welcome { </a:t>
            </a:r>
            <a:r>
              <a:rPr lang="en-US" sz="1200" dirty="0">
                <a:solidFill>
                  <a:srgbClr val="7DCFFF"/>
                </a:solidFill>
                <a:latin typeface="IBM Plex Mono" pitchFamily="49" charset="0"/>
                <a:ea typeface="IBM Plex Mono" pitchFamily="49" charset="-122"/>
                <a:cs typeface="IBM Plex Mono" pitchFamily="49" charset="-120"/>
              </a:rPr>
              <a:t>text-align</a:t>
            </a:r>
            <a:r>
              <a:rPr lang="en-US" sz="1200" dirty="0">
                <a:solidFill>
                  <a:srgbClr val="E6EDF3"/>
                </a:solidFill>
                <a:latin typeface="IBM Plex Mono" pitchFamily="49" charset="0"/>
                <a:ea typeface="IBM Plex Mono" pitchFamily="49" charset="-122"/>
                <a:cs typeface="IBM Plex Mono" pitchFamily="49" charset="-120"/>
              </a:rPr>
              <a:t>: center;</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font-family</a:t>
            </a:r>
            <a:r>
              <a:rPr lang="en-US" sz="1200" dirty="0">
                <a:solidFill>
                  <a:srgbClr val="E6EDF3"/>
                </a:solidFill>
                <a:latin typeface="IBM Plex Mono" pitchFamily="49" charset="0"/>
                <a:ea typeface="IBM Plex Mono" pitchFamily="49" charset="-122"/>
                <a:cs typeface="IBM Plex Mono" pitchFamily="49" charset="-120"/>
              </a:rPr>
              <a:t>: Verdana; </a:t>
            </a:r>
            <a:r>
              <a:rPr lang="en-US" sz="1200" dirty="0">
                <a:solidFill>
                  <a:srgbClr val="7DCFFF"/>
                </a:solidFill>
                <a:latin typeface="IBM Plex Mono" pitchFamily="49" charset="0"/>
                <a:ea typeface="IBM Plex Mono" pitchFamily="49" charset="-122"/>
                <a:cs typeface="IBM Plex Mono" pitchFamily="49" charset="-120"/>
              </a:rPr>
              <a:t>color</a:t>
            </a:r>
            <a:r>
              <a:rPr lang="en-US" sz="1200" dirty="0">
                <a:solidFill>
                  <a:srgbClr val="E6EDF3"/>
                </a:solidFill>
                <a:latin typeface="IBM Plex Mono" pitchFamily="49" charset="0"/>
                <a:ea typeface="IBM Plex Mono" pitchFamily="49" charset="-122"/>
                <a:cs typeface="IBM Plex Mono" pitchFamily="49" charset="-120"/>
              </a:rPr>
              <a:t>: red; }</a:t>
            </a:r>
            <a:endParaRPr lang="en-US" sz="1200" dirty="0"/>
          </a:p>
        </p:txBody>
      </p:sp>
      <p:sp>
        <p:nvSpPr>
          <p:cNvPr id="8" name="Text 6"/>
          <p:cNvSpPr/>
          <p:nvPr/>
        </p:nvSpPr>
        <p:spPr>
          <a:xfrm>
            <a:off x="812800" y="4121845"/>
            <a:ext cx="1088339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Obsolete:</a:t>
            </a:r>
            <a:r>
              <a:rPr lang="en-US" sz="1400" dirty="0">
                <a:solidFill>
                  <a:srgbClr val="1F2A37"/>
                </a:solidFill>
                <a:latin typeface="IBM Plex Sans" pitchFamily="34" charset="0"/>
                <a:ea typeface="IBM Plex Sans" pitchFamily="34" charset="-122"/>
                <a:cs typeface="IBM Plex Sans" pitchFamily="34" charset="-120"/>
              </a:rPr>
              <a:t> font, center, big, strike, tt, frameset, marquee · attributes align, bgcolor, border, width on cells. </a:t>
            </a:r>
            <a:r>
              <a:rPr lang="en-US" sz="1400" dirty="0">
                <a:solidFill>
                  <a:srgbClr val="475467"/>
                </a:solidFill>
                <a:latin typeface="IBM Plex Sans" pitchFamily="34" charset="0"/>
                <a:ea typeface="IBM Plex Sans" pitchFamily="34" charset="-122"/>
                <a:cs typeface="IBM Plex Sans" pitchFamily="34" charset="-120"/>
              </a:rPr>
              <a:t>One stylesheet can restyle a 500-page site; font tags must be edited 500 times.</a:t>
            </a:r>
            <a:endParaRPr lang="en-US" sz="14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ACCESSIBILITY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Good text markup is accessible markup</a:t>
            </a:r>
            <a:endParaRPr lang="en-US" sz="3200" dirty="0"/>
          </a:p>
        </p:txBody>
      </p:sp>
      <p:sp>
        <p:nvSpPr>
          <p:cNvPr id="4" name="Shape 2"/>
          <p:cNvSpPr/>
          <p:nvPr/>
        </p:nvSpPr>
        <p:spPr>
          <a:xfrm>
            <a:off x="815975" y="1984276"/>
            <a:ext cx="5200650" cy="1169491"/>
          </a:xfrm>
          <a:prstGeom prst="roundRect">
            <a:avLst>
              <a:gd name="adj" fmla="val 8416"/>
            </a:avLst>
          </a:prstGeom>
          <a:solidFill>
            <a:srgbClr val="FFFDF9"/>
          </a:solidFill>
          <a:ln w="6350">
            <a:solidFill>
              <a:srgbClr val="E4E0D8"/>
            </a:solidFill>
            <a:prstDash val="solid"/>
          </a:ln>
        </p:spPr>
      </p:sp>
      <p:pic>
        <p:nvPicPr>
          <p:cNvPr id="5" name="Image 0" descr="Users">    </p:cNvPr>
          <p:cNvPicPr>
            <a:picLocks noChangeAspect="1"/>
          </p:cNvPicPr>
          <p:nvPr/>
        </p:nvPicPr>
        <p:blipFill>
          <a:blip r:embed="rId1"/>
          <a:srcRect l="0" r="0" t="0" b="0"/>
          <a:stretch/>
        </p:blipFill>
        <p:spPr>
          <a:xfrm>
            <a:off x="1022350" y="2190651"/>
            <a:ext cx="355600" cy="355600"/>
          </a:xfrm>
          <a:prstGeom prst="rect">
            <a:avLst/>
          </a:prstGeom>
        </p:spPr>
      </p:pic>
      <p:sp>
        <p:nvSpPr>
          <p:cNvPr id="6" name="Text 3"/>
          <p:cNvSpPr/>
          <p:nvPr/>
        </p:nvSpPr>
        <p:spPr>
          <a:xfrm>
            <a:off x="1530350" y="2190651"/>
            <a:ext cx="440829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Headings = navigation</a:t>
            </a:r>
            <a:endParaRPr lang="en-US" sz="1600" dirty="0"/>
          </a:p>
        </p:txBody>
      </p:sp>
      <p:sp>
        <p:nvSpPr>
          <p:cNvPr id="7" name="Text 4"/>
          <p:cNvSpPr/>
          <p:nvPr/>
        </p:nvSpPr>
        <p:spPr>
          <a:xfrm>
            <a:off x="1530350" y="2485231"/>
            <a:ext cx="44082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Screen-reader users press H to jump between headings. A broken outline means a lost user.</a:t>
            </a:r>
            <a:endParaRPr lang="en-US" sz="1300" dirty="0"/>
          </a:p>
        </p:txBody>
      </p:sp>
      <p:sp>
        <p:nvSpPr>
          <p:cNvPr id="8" name="Shape 5"/>
          <p:cNvSpPr/>
          <p:nvPr/>
        </p:nvSpPr>
        <p:spPr>
          <a:xfrm>
            <a:off x="6175375" y="1984276"/>
            <a:ext cx="5200650" cy="1169491"/>
          </a:xfrm>
          <a:prstGeom prst="roundRect">
            <a:avLst>
              <a:gd name="adj" fmla="val 8416"/>
            </a:avLst>
          </a:prstGeom>
          <a:solidFill>
            <a:srgbClr val="FFFDF9"/>
          </a:solidFill>
          <a:ln w="6350">
            <a:solidFill>
              <a:srgbClr val="E4E0D8"/>
            </a:solidFill>
            <a:prstDash val="solid"/>
          </a:ln>
        </p:spPr>
      </p:sp>
      <p:pic>
        <p:nvPicPr>
          <p:cNvPr id="9" name="Image 1" descr="Globe">    </p:cNvPr>
          <p:cNvPicPr>
            <a:picLocks noChangeAspect="1"/>
          </p:cNvPicPr>
          <p:nvPr/>
        </p:nvPicPr>
        <p:blipFill>
          <a:blip r:embed="rId2"/>
          <a:srcRect l="0" r="0" t="0" b="0"/>
          <a:stretch/>
        </p:blipFill>
        <p:spPr>
          <a:xfrm>
            <a:off x="6381750" y="2190651"/>
            <a:ext cx="355600" cy="355600"/>
          </a:xfrm>
          <a:prstGeom prst="rect">
            <a:avLst/>
          </a:prstGeom>
        </p:spPr>
      </p:pic>
      <p:sp>
        <p:nvSpPr>
          <p:cNvPr id="10" name="Text 6"/>
          <p:cNvSpPr/>
          <p:nvPr/>
        </p:nvSpPr>
        <p:spPr>
          <a:xfrm>
            <a:off x="6889750" y="2190651"/>
            <a:ext cx="440829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Declare the language</a:t>
            </a:r>
            <a:endParaRPr lang="en-US" sz="1600" dirty="0"/>
          </a:p>
        </p:txBody>
      </p:sp>
      <p:sp>
        <p:nvSpPr>
          <p:cNvPr id="11" name="Text 7"/>
          <p:cNvSpPr/>
          <p:nvPr/>
        </p:nvSpPr>
        <p:spPr>
          <a:xfrm>
            <a:off x="6889750" y="2485231"/>
            <a:ext cx="44082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lang="en" on html, lang="ur" on Urdu passages, so the voice pronounces words correctly.</a:t>
            </a:r>
            <a:endParaRPr lang="en-US" sz="1300" dirty="0"/>
          </a:p>
        </p:txBody>
      </p:sp>
      <p:sp>
        <p:nvSpPr>
          <p:cNvPr id="12" name="Shape 8"/>
          <p:cNvSpPr/>
          <p:nvPr/>
        </p:nvSpPr>
        <p:spPr>
          <a:xfrm>
            <a:off x="815975" y="3312517"/>
            <a:ext cx="5200650" cy="1169491"/>
          </a:xfrm>
          <a:prstGeom prst="roundRect">
            <a:avLst>
              <a:gd name="adj" fmla="val 8416"/>
            </a:avLst>
          </a:prstGeom>
          <a:solidFill>
            <a:srgbClr val="FFFDF9"/>
          </a:solidFill>
          <a:ln w="6350">
            <a:solidFill>
              <a:srgbClr val="E4E0D8"/>
            </a:solidFill>
            <a:prstDash val="solid"/>
          </a:ln>
        </p:spPr>
      </p:sp>
      <p:pic>
        <p:nvPicPr>
          <p:cNvPr id="13" name="Image 2" descr="Search">    </p:cNvPr>
          <p:cNvPicPr>
            <a:picLocks noChangeAspect="1"/>
          </p:cNvPicPr>
          <p:nvPr/>
        </p:nvPicPr>
        <p:blipFill>
          <a:blip r:embed="rId3"/>
          <a:srcRect l="0" r="0" t="0" b="0"/>
          <a:stretch/>
        </p:blipFill>
        <p:spPr>
          <a:xfrm>
            <a:off x="1022350" y="3518892"/>
            <a:ext cx="355600" cy="355600"/>
          </a:xfrm>
          <a:prstGeom prst="rect">
            <a:avLst/>
          </a:prstGeom>
        </p:spPr>
      </p:pic>
      <p:sp>
        <p:nvSpPr>
          <p:cNvPr id="14" name="Text 9"/>
          <p:cNvSpPr/>
          <p:nvPr/>
        </p:nvSpPr>
        <p:spPr>
          <a:xfrm>
            <a:off x="1530350" y="3518892"/>
            <a:ext cx="440829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Expand abbreviations</a:t>
            </a:r>
            <a:endParaRPr lang="en-US" sz="1600" dirty="0"/>
          </a:p>
        </p:txBody>
      </p:sp>
      <p:sp>
        <p:nvSpPr>
          <p:cNvPr id="15" name="Text 10"/>
          <p:cNvSpPr/>
          <p:nvPr/>
        </p:nvSpPr>
        <p:spPr>
          <a:xfrm>
            <a:off x="1530350" y="3813473"/>
            <a:ext cx="44082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Use abbr with title on first use: not everyone knows CGPA or HEC.</a:t>
            </a:r>
            <a:endParaRPr lang="en-US" sz="1300" dirty="0"/>
          </a:p>
        </p:txBody>
      </p:sp>
      <p:sp>
        <p:nvSpPr>
          <p:cNvPr id="16" name="Shape 11"/>
          <p:cNvSpPr/>
          <p:nvPr/>
        </p:nvSpPr>
        <p:spPr>
          <a:xfrm>
            <a:off x="6175375" y="3312517"/>
            <a:ext cx="5200650" cy="1169491"/>
          </a:xfrm>
          <a:prstGeom prst="roundRect">
            <a:avLst>
              <a:gd name="adj" fmla="val 8416"/>
            </a:avLst>
          </a:prstGeom>
          <a:solidFill>
            <a:srgbClr val="FFFDF9"/>
          </a:solidFill>
          <a:ln w="6350">
            <a:solidFill>
              <a:srgbClr val="E4E0D8"/>
            </a:solidFill>
            <a:prstDash val="solid"/>
          </a:ln>
        </p:spPr>
      </p:sp>
      <p:pic>
        <p:nvPicPr>
          <p:cNvPr id="17" name="Image 3" descr="Warning">    </p:cNvPr>
          <p:cNvPicPr>
            <a:picLocks noChangeAspect="1"/>
          </p:cNvPicPr>
          <p:nvPr/>
        </p:nvPicPr>
        <p:blipFill>
          <a:blip r:embed="rId4"/>
          <a:srcRect l="0" r="0" t="0" b="0"/>
          <a:stretch/>
        </p:blipFill>
        <p:spPr>
          <a:xfrm>
            <a:off x="6381750" y="3518892"/>
            <a:ext cx="355600" cy="355600"/>
          </a:xfrm>
          <a:prstGeom prst="rect">
            <a:avLst/>
          </a:prstGeom>
        </p:spPr>
      </p:pic>
      <p:sp>
        <p:nvSpPr>
          <p:cNvPr id="18" name="Text 12"/>
          <p:cNvSpPr/>
          <p:nvPr/>
        </p:nvSpPr>
        <p:spPr>
          <a:xfrm>
            <a:off x="6889750" y="3518892"/>
            <a:ext cx="440829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Don’t fake structure</a:t>
            </a:r>
            <a:endParaRPr lang="en-US" sz="1600" dirty="0"/>
          </a:p>
        </p:txBody>
      </p:sp>
      <p:sp>
        <p:nvSpPr>
          <p:cNvPr id="19" name="Text 13"/>
          <p:cNvSpPr/>
          <p:nvPr/>
        </p:nvSpPr>
        <p:spPr>
          <a:xfrm>
            <a:off x="6889750" y="3813473"/>
            <a:ext cx="44082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Bold text and br tags look like structure to eyes, but they are invisible to assistive technology.</a:t>
            </a:r>
            <a:endParaRPr lang="en-US" sz="1300" dirty="0"/>
          </a:p>
        </p:txBody>
      </p:sp>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C2410C"/>
        </a:solidFill>
      </p:bgPr>
    </p:bg>
    <p:spTree>
      <p:nvGrpSpPr>
        <p:cNvPr id="1" name=""/>
        <p:cNvGrpSpPr/>
        <p:nvPr/>
      </p:nvGrpSpPr>
      <p:grpSpPr>
        <a:xfrm>
          <a:off x="0" y="0"/>
          <a:ext cx="0" cy="0"/>
          <a:chOff x="0" y="0"/>
          <a:chExt cx="0" cy="0"/>
        </a:xfrm>
      </p:grpSpPr>
      <p:sp>
        <p:nvSpPr>
          <p:cNvPr id="2" name="Text 0"/>
          <p:cNvSpPr/>
          <p:nvPr/>
        </p:nvSpPr>
        <p:spPr>
          <a:xfrm>
            <a:off x="812800" y="223778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F8F1"/>
                </a:solidFill>
                <a:latin typeface="IBM Plex Sans" pitchFamily="34" charset="0"/>
                <a:ea typeface="IBM Plex Sans" pitchFamily="34" charset="-122"/>
                <a:cs typeface="IBM Plex Sans" pitchFamily="34" charset="-120"/>
              </a:rPr>
              <a:t>0:55 – 1:05</a:t>
            </a:r>
            <a:endParaRPr lang="en-US" sz="1400" dirty="0"/>
          </a:p>
        </p:txBody>
      </p:sp>
      <p:sp>
        <p:nvSpPr>
          <p:cNvPr id="3" name="Text 1"/>
          <p:cNvSpPr/>
          <p:nvPr>
            <p:ph type="title"/>
          </p:nvPr>
        </p:nvSpPr>
        <p:spPr>
          <a:xfrm>
            <a:off x="812800" y="268982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dirty="0">
                <a:solidFill>
                  <a:srgbClr val="FFF8F1"/>
                </a:solidFill>
                <a:latin typeface="IBM Plex Sans" pitchFamily="34" charset="0"/>
                <a:ea typeface="IBM Plex Sans" pitchFamily="34" charset="-122"/>
                <a:cs typeface="IBM Plex Sans" pitchFamily="34" charset="-120"/>
              </a:rPr>
              <a:t>Break · 10 min</a:t>
            </a:r>
            <a:endParaRPr lang="en-US" sz="8000" dirty="0"/>
          </a:p>
        </p:txBody>
      </p:sp>
      <p:sp>
        <p:nvSpPr>
          <p:cNvPr id="4" name="Text 2"/>
          <p:cNvSpPr/>
          <p:nvPr/>
        </p:nvSpPr>
        <p:spPr>
          <a:xfrm>
            <a:off x="812800" y="3909020"/>
            <a:ext cx="10883392"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F8F1"/>
                </a:solidFill>
                <a:latin typeface="IBM Plex Sans" pitchFamily="34" charset="0"/>
                <a:ea typeface="IBM Plex Sans" pitchFamily="34" charset="-122"/>
                <a:cs typeface="IBM Plex Sans" pitchFamily="34" charset="-120"/>
              </a:rPr>
              <a:t>When we return: open your web-lab1 folder.</a:t>
            </a:r>
            <a:endParaRPr lang="en-US" sz="2000" dirty="0"/>
          </a:p>
          <a:p>
            <a:pPr algn="l" indent="0" marL="0">
              <a:lnSpc>
                <a:spcPts val="2800"/>
              </a:lnSpc>
              <a:buNone/>
            </a:pPr>
            <a:r>
              <a:rPr lang="en-US" sz="2000" dirty="0">
                <a:solidFill>
                  <a:srgbClr val="FFF8F1"/>
                </a:solidFill>
                <a:latin typeface="IBM Plex Sans" pitchFamily="34" charset="0"/>
                <a:ea typeface="IBM Plex Sans" pitchFamily="34" charset="-122"/>
                <a:cs typeface="IBM Plex Sans" pitchFamily="34" charset="-120"/>
              </a:rPr>
              <a:t>Have the article or recipe you brought ready.</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PART B · GUIDED DEMO · 10 MIN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From plain text to a marked-up article</a:t>
            </a:r>
            <a:endParaRPr lang="en-US" sz="3200" dirty="0"/>
          </a:p>
        </p:txBody>
      </p:sp>
      <p:sp>
        <p:nvSpPr>
          <p:cNvPr id="4" name="Text 2"/>
          <p:cNvSpPr/>
          <p:nvPr/>
        </p:nvSpPr>
        <p:spPr>
          <a:xfrm>
            <a:off x="812800" y="1981101"/>
            <a:ext cx="10566400" cy="3003947"/>
          </a:xfrm>
          <a:prstGeom prst="roundRect">
            <a:avLst>
              <a:gd name="adj" fmla="val 3382"/>
            </a:avLst>
          </a:prstGeom>
          <a:solidFill>
            <a:srgbClr val="1B2430"/>
          </a:solidFill>
          <a:ln/>
        </p:spPr>
        <p:txBody>
          <a:bodyPr wrap="square" lIns="224242" tIns="173442" rIns="0" bIns="148042" rtlCol="0" anchor="t">
            <a:normAutofit/>
          </a:bodyPr>
          <a:lstStyle/>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&lt;h1&gt;</a:t>
            </a:r>
            <a:r>
              <a:rPr lang="en-US" sz="1200" dirty="0">
                <a:solidFill>
                  <a:srgbClr val="E6EDF3"/>
                </a:solidFill>
                <a:latin typeface="IBM Plex Mono" pitchFamily="49" charset="0"/>
                <a:ea typeface="IBM Plex Mono" pitchFamily="49" charset="-122"/>
                <a:cs typeface="IBM Plex Mono" pitchFamily="49" charset="-120"/>
              </a:rPr>
              <a:t>CS Department Hosts Web Week</a:t>
            </a:r>
            <a:r>
              <a:rPr lang="en-US" sz="1200" dirty="0">
                <a:solidFill>
                  <a:srgbClr val="FF9E64"/>
                </a:solidFill>
                <a:latin typeface="IBM Plex Mono" pitchFamily="49" charset="0"/>
                <a:ea typeface="IBM Plex Mono" pitchFamily="49" charset="-122"/>
                <a:cs typeface="IBM Plex Mono" pitchFamily="49" charset="-120"/>
              </a:rPr>
              <a:t>&lt;/h1&gt;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&lt;p&gt;&lt;small&gt;</a:t>
            </a:r>
            <a:r>
              <a:rPr lang="en-US" sz="1200" dirty="0">
                <a:solidFill>
                  <a:srgbClr val="E6EDF3"/>
                </a:solidFill>
                <a:latin typeface="IBM Plex Mono" pitchFamily="49" charset="0"/>
                <a:ea typeface="IBM Plex Mono" pitchFamily="49" charset="-122"/>
                <a:cs typeface="IBM Plex Mono" pitchFamily="49" charset="-120"/>
              </a:rPr>
              <a:t>Published </a:t>
            </a:r>
            <a:r>
              <a:rPr lang="en-US" sz="1200" dirty="0">
                <a:solidFill>
                  <a:srgbClr val="FF9E64"/>
                </a:solidFill>
                <a:latin typeface="IBM Plex Mono" pitchFamily="49" charset="0"/>
                <a:ea typeface="IBM Plex Mono" pitchFamily="49" charset="-122"/>
                <a:cs typeface="IBM Plex Mono" pitchFamily="49" charset="-120"/>
              </a:rPr>
              <a:t>&lt;time</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datetime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"2026-11-03"</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3 November 2026</a:t>
            </a:r>
            <a:r>
              <a:rPr lang="en-US" sz="1200" dirty="0">
                <a:solidFill>
                  <a:srgbClr val="FF9E64"/>
                </a:solidFill>
                <a:latin typeface="IBM Plex Mono" pitchFamily="49" charset="0"/>
                <a:ea typeface="IBM Plex Mono" pitchFamily="49" charset="-122"/>
                <a:cs typeface="IBM Plex Mono" pitchFamily="49" charset="-120"/>
              </a:rPr>
              <a:t>&lt;/time&gt;&lt;/small&gt;&lt;/p&gt;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&lt;p&gt;</a:t>
            </a:r>
            <a:r>
              <a:rPr lang="en-US" sz="1200" dirty="0">
                <a:solidFill>
                  <a:srgbClr val="E6EDF3"/>
                </a:solidFill>
                <a:latin typeface="IBM Plex Mono" pitchFamily="49" charset="0"/>
                <a:ea typeface="IBM Plex Mono" pitchFamily="49" charset="-122"/>
                <a:cs typeface="IBM Plex Mono" pitchFamily="49" charset="-120"/>
              </a:rPr>
              <a:t>Students built </a:t>
            </a:r>
            <a:r>
              <a:rPr lang="en-US" sz="1200" dirty="0">
                <a:solidFill>
                  <a:srgbClr val="FF9E64"/>
                </a:solidFill>
                <a:latin typeface="IBM Plex Mono" pitchFamily="49" charset="0"/>
                <a:ea typeface="IBM Plex Mono" pitchFamily="49" charset="-122"/>
                <a:cs typeface="IBM Plex Mono" pitchFamily="49" charset="-120"/>
              </a:rPr>
              <a:t>&lt;strong&gt;</a:t>
            </a:r>
            <a:r>
              <a:rPr lang="en-US" sz="1200" dirty="0">
                <a:solidFill>
                  <a:srgbClr val="E6EDF3"/>
                </a:solidFill>
                <a:latin typeface="IBM Plex Mono" pitchFamily="49" charset="0"/>
                <a:ea typeface="IBM Plex Mono" pitchFamily="49" charset="-122"/>
                <a:cs typeface="IBM Plex Mono" pitchFamily="49" charset="-120"/>
              </a:rPr>
              <a:t>40 websites</a:t>
            </a:r>
            <a:r>
              <a:rPr lang="en-US" sz="1200" dirty="0">
                <a:solidFill>
                  <a:srgbClr val="FF9E64"/>
                </a:solidFill>
                <a:latin typeface="IBM Plex Mono" pitchFamily="49" charset="0"/>
                <a:ea typeface="IBM Plex Mono" pitchFamily="49" charset="-122"/>
                <a:cs typeface="IBM Plex Mono" pitchFamily="49" charset="-120"/>
              </a:rPr>
              <a:t>&lt;/strong&gt;</a:t>
            </a:r>
            <a:r>
              <a:rPr lang="en-US" sz="1200" dirty="0">
                <a:solidFill>
                  <a:srgbClr val="E6EDF3"/>
                </a:solidFill>
                <a:latin typeface="IBM Plex Mono" pitchFamily="49" charset="0"/>
                <a:ea typeface="IBM Plex Mono" pitchFamily="49" charset="-122"/>
                <a:cs typeface="IBM Plex Mono" pitchFamily="49" charset="-120"/>
              </a:rPr>
              <a:t> using only </a:t>
            </a:r>
            <a:r>
              <a:rPr lang="en-US" sz="1200" dirty="0">
                <a:solidFill>
                  <a:srgbClr val="FF9E64"/>
                </a:solidFill>
                <a:latin typeface="IBM Plex Mono" pitchFamily="49" charset="0"/>
                <a:ea typeface="IBM Plex Mono" pitchFamily="49" charset="-122"/>
                <a:cs typeface="IBM Plex Mono" pitchFamily="49" charset="-120"/>
              </a:rPr>
              <a:t>&lt;abbr</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title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"HyperText Markup Language"</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HTML</a:t>
            </a:r>
            <a:r>
              <a:rPr lang="en-US" sz="1200" dirty="0">
                <a:solidFill>
                  <a:srgbClr val="FF9E64"/>
                </a:solidFill>
                <a:latin typeface="IBM Plex Mono" pitchFamily="49" charset="0"/>
                <a:ea typeface="IBM Plex Mono" pitchFamily="49" charset="-122"/>
                <a:cs typeface="IBM Plex Mono" pitchFamily="49" charset="-120"/>
              </a:rPr>
              <a:t>&lt;/abbr&gt;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FF9E64"/>
                </a:solidFill>
                <a:latin typeface="IBM Plex Mono" pitchFamily="49" charset="0"/>
                <a:ea typeface="IBM Plex Mono" pitchFamily="49" charset="-122"/>
                <a:cs typeface="IBM Plex Mono" pitchFamily="49" charset="-120"/>
              </a:rPr>
              <a:t>&lt;/p&gt;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&lt;h2&gt;</a:t>
            </a:r>
            <a:r>
              <a:rPr lang="en-US" sz="1200" dirty="0">
                <a:solidFill>
                  <a:srgbClr val="E6EDF3"/>
                </a:solidFill>
                <a:latin typeface="IBM Plex Mono" pitchFamily="49" charset="0"/>
                <a:ea typeface="IBM Plex Mono" pitchFamily="49" charset="-122"/>
                <a:cs typeface="IBM Plex Mono" pitchFamily="49" charset="-120"/>
              </a:rPr>
              <a:t>What the judges said</a:t>
            </a:r>
            <a:r>
              <a:rPr lang="en-US" sz="1200" dirty="0">
                <a:solidFill>
                  <a:srgbClr val="FF9E64"/>
                </a:solidFill>
                <a:latin typeface="IBM Plex Mono" pitchFamily="49" charset="0"/>
                <a:ea typeface="IBM Plex Mono" pitchFamily="49" charset="-122"/>
                <a:cs typeface="IBM Plex Mono" pitchFamily="49" charset="-120"/>
              </a:rPr>
              <a:t>&lt;/h2&gt;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&lt;blockquote&gt;&lt;p&gt;</a:t>
            </a:r>
            <a:r>
              <a:rPr lang="en-US" sz="1200" dirty="0">
                <a:solidFill>
                  <a:srgbClr val="E6EDF3"/>
                </a:solidFill>
                <a:latin typeface="IBM Plex Mono" pitchFamily="49" charset="0"/>
                <a:ea typeface="IBM Plex Mono" pitchFamily="49" charset="-122"/>
                <a:cs typeface="IBM Plex Mono" pitchFamily="49" charset="-120"/>
              </a:rPr>
              <a:t>[Quote from a judge]</a:t>
            </a:r>
            <a:r>
              <a:rPr lang="en-US" sz="1200" dirty="0">
                <a:solidFill>
                  <a:srgbClr val="FF9E64"/>
                </a:solidFill>
                <a:latin typeface="IBM Plex Mono" pitchFamily="49" charset="0"/>
                <a:ea typeface="IBM Plex Mono" pitchFamily="49" charset="-122"/>
                <a:cs typeface="IBM Plex Mono" pitchFamily="49" charset="-120"/>
              </a:rPr>
              <a:t>&lt;/p&gt;&lt;/blockquote&gt;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&lt;h2&gt;</a:t>
            </a:r>
            <a:r>
              <a:rPr lang="en-US" sz="1200" dirty="0">
                <a:solidFill>
                  <a:srgbClr val="E6EDF3"/>
                </a:solidFill>
                <a:latin typeface="IBM Plex Mono" pitchFamily="49" charset="0"/>
                <a:ea typeface="IBM Plex Mono" pitchFamily="49" charset="-122"/>
                <a:cs typeface="IBM Plex Mono" pitchFamily="49" charset="-120"/>
              </a:rPr>
              <a:t>Try it yourself</a:t>
            </a:r>
            <a:r>
              <a:rPr lang="en-US" sz="1200" dirty="0">
                <a:solidFill>
                  <a:srgbClr val="FF9E64"/>
                </a:solidFill>
                <a:latin typeface="IBM Plex Mono" pitchFamily="49" charset="0"/>
                <a:ea typeface="IBM Plex Mono" pitchFamily="49" charset="-122"/>
                <a:cs typeface="IBM Plex Mono" pitchFamily="49" charset="-120"/>
              </a:rPr>
              <a:t>&lt;/h2&gt;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&lt;p&gt;</a:t>
            </a:r>
            <a:r>
              <a:rPr lang="en-US" sz="1200" dirty="0">
                <a:solidFill>
                  <a:srgbClr val="E6EDF3"/>
                </a:solidFill>
                <a:latin typeface="IBM Plex Mono" pitchFamily="49" charset="0"/>
                <a:ea typeface="IBM Plex Mono" pitchFamily="49" charset="-122"/>
                <a:cs typeface="IBM Plex Mono" pitchFamily="49" charset="-120"/>
              </a:rPr>
              <a:t>Press </a:t>
            </a:r>
            <a:r>
              <a:rPr lang="en-US" sz="1200" dirty="0">
                <a:solidFill>
                  <a:srgbClr val="FF9E64"/>
                </a:solidFill>
                <a:latin typeface="IBM Plex Mono" pitchFamily="49" charset="0"/>
                <a:ea typeface="IBM Plex Mono" pitchFamily="49" charset="-122"/>
                <a:cs typeface="IBM Plex Mono" pitchFamily="49" charset="-120"/>
              </a:rPr>
              <a:t>&lt;kbd&gt;</a:t>
            </a:r>
            <a:r>
              <a:rPr lang="en-US" sz="1200" dirty="0">
                <a:solidFill>
                  <a:srgbClr val="E6EDF3"/>
                </a:solidFill>
                <a:latin typeface="IBM Plex Mono" pitchFamily="49" charset="0"/>
                <a:ea typeface="IBM Plex Mono" pitchFamily="49" charset="-122"/>
                <a:cs typeface="IBM Plex Mono" pitchFamily="49" charset="-120"/>
              </a:rPr>
              <a:t>Ctrl</a:t>
            </a:r>
            <a:r>
              <a:rPr lang="en-US" sz="1200" dirty="0">
                <a:solidFill>
                  <a:srgbClr val="FF9E64"/>
                </a:solidFill>
                <a:latin typeface="IBM Plex Mono" pitchFamily="49" charset="0"/>
                <a:ea typeface="IBM Plex Mono" pitchFamily="49" charset="-122"/>
                <a:cs typeface="IBM Plex Mono" pitchFamily="49" charset="-120"/>
              </a:rPr>
              <a:t>&lt;/kbd&gt;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FF9E64"/>
                </a:solidFill>
                <a:latin typeface="IBM Plex Mono" pitchFamily="49" charset="0"/>
                <a:ea typeface="IBM Plex Mono" pitchFamily="49" charset="-122"/>
                <a:cs typeface="IBM Plex Mono" pitchFamily="49" charset="-120"/>
              </a:rPr>
              <a:t>&lt;kbd&gt;</a:t>
            </a:r>
            <a:r>
              <a:rPr lang="en-US" sz="1200" dirty="0">
                <a:solidFill>
                  <a:srgbClr val="E6EDF3"/>
                </a:solidFill>
                <a:latin typeface="IBM Plex Mono" pitchFamily="49" charset="0"/>
                <a:ea typeface="IBM Plex Mono" pitchFamily="49" charset="-122"/>
                <a:cs typeface="IBM Plex Mono" pitchFamily="49" charset="-120"/>
              </a:rPr>
              <a:t>U</a:t>
            </a:r>
            <a:r>
              <a:rPr lang="en-US" sz="1200" dirty="0">
                <a:solidFill>
                  <a:srgbClr val="FF9E64"/>
                </a:solidFill>
                <a:latin typeface="IBM Plex Mono" pitchFamily="49" charset="0"/>
                <a:ea typeface="IBM Plex Mono" pitchFamily="49" charset="-122"/>
                <a:cs typeface="IBM Plex Mono" pitchFamily="49" charset="-120"/>
              </a:rPr>
              <a:t>&lt;/kbd&gt;</a:t>
            </a:r>
            <a:r>
              <a:rPr lang="en-US" sz="1200" dirty="0">
                <a:solidFill>
                  <a:srgbClr val="E6EDF3"/>
                </a:solidFill>
                <a:latin typeface="IBM Plex Mono" pitchFamily="49" charset="0"/>
                <a:ea typeface="IBM Plex Mono" pitchFamily="49" charset="-122"/>
                <a:cs typeface="IBM Plex Mono" pitchFamily="49" charset="-120"/>
              </a:rPr>
              <a:t> to view any page’s source.</a:t>
            </a:r>
            <a:r>
              <a:rPr lang="en-US" sz="1200" dirty="0">
                <a:solidFill>
                  <a:srgbClr val="FF9E64"/>
                </a:solidFill>
                <a:latin typeface="IBM Plex Mono" pitchFamily="49" charset="0"/>
                <a:ea typeface="IBM Plex Mono" pitchFamily="49" charset="-122"/>
                <a:cs typeface="IBM Plex Mono" pitchFamily="49" charset="-120"/>
              </a:rPr>
              <a:t>&lt;/p&gt;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&lt;hr&gt;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&lt;address&gt;</a:t>
            </a:r>
            <a:r>
              <a:rPr lang="en-US" sz="1200" dirty="0">
                <a:solidFill>
                  <a:srgbClr val="E6EDF3"/>
                </a:solidFill>
                <a:latin typeface="IBM Plex Mono" pitchFamily="49" charset="0"/>
                <a:ea typeface="IBM Plex Mono" pitchFamily="49" charset="-122"/>
                <a:cs typeface="IBM Plex Mono" pitchFamily="49" charset="-120"/>
              </a:rPr>
              <a:t>Contact: webweek@iqraisb.edu.pk</a:t>
            </a:r>
            <a:r>
              <a:rPr lang="en-US" sz="1200" dirty="0">
                <a:solidFill>
                  <a:srgbClr val="FF9E64"/>
                </a:solidFill>
                <a:latin typeface="IBM Plex Mono" pitchFamily="49" charset="0"/>
                <a:ea typeface="IBM Plex Mono" pitchFamily="49" charset="-122"/>
                <a:cs typeface="IBM Plex Mono" pitchFamily="49" charset="-120"/>
              </a:rPr>
              <a:t>&lt;/address&gt;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&lt;p&gt;&lt;small&gt;</a:t>
            </a:r>
            <a:r>
              <a:rPr lang="en-US" sz="1200" dirty="0">
                <a:solidFill>
                  <a:srgbClr val="E6EDF3"/>
                </a:solidFill>
                <a:latin typeface="IBM Plex Mono" pitchFamily="49" charset="0"/>
                <a:ea typeface="IBM Plex Mono" pitchFamily="49" charset="-122"/>
                <a:cs typeface="IBM Plex Mono" pitchFamily="49" charset="-120"/>
              </a:rPr>
              <a:t>&amp;copy; 2026 Iqra University</a:t>
            </a:r>
            <a:r>
              <a:rPr lang="en-US" sz="1200" dirty="0">
                <a:solidFill>
                  <a:srgbClr val="FF9E64"/>
                </a:solidFill>
                <a:latin typeface="IBM Plex Mono" pitchFamily="49" charset="0"/>
                <a:ea typeface="IBM Plex Mono" pitchFamily="49" charset="-122"/>
                <a:cs typeface="IBM Plex Mono" pitchFamily="49" charset="-120"/>
              </a:rPr>
              <a:t>&lt;/small&gt;&lt;/p&gt;</a:t>
            </a:r>
            <a:endParaRPr lang="en-US" sz="12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CE8D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LAB 2 · 20 MIN · INDIVIDUAL</a:t>
            </a:r>
            <a:endParaRPr lang="en-US" sz="1200" dirty="0"/>
          </a:p>
        </p:txBody>
      </p:sp>
      <p:sp>
        <p:nvSpPr>
          <p:cNvPr id="3" name="Text 1"/>
          <p:cNvSpPr/>
          <p:nvPr>
            <p:ph type="title"/>
          </p:nvPr>
        </p:nvSpPr>
        <p:spPr>
          <a:xfrm>
            <a:off x="812800" y="1254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Mark up a recipe page: recipe.html</a:t>
            </a:r>
            <a:endParaRPr lang="en-US" sz="3200" dirty="0"/>
          </a:p>
        </p:txBody>
      </p:sp>
      <p:sp>
        <p:nvSpPr>
          <p:cNvPr id="4" name="Text 2"/>
          <p:cNvSpPr/>
          <p:nvPr/>
        </p:nvSpPr>
        <p:spPr>
          <a:xfrm>
            <a:off x="812800" y="1930301"/>
            <a:ext cx="6003925"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1.</a:t>
            </a:r>
            <a:r>
              <a:rPr lang="en-US" sz="1350" dirty="0">
                <a:solidFill>
                  <a:srgbClr val="1F2A37"/>
                </a:solidFill>
                <a:latin typeface="IBM Plex Sans" pitchFamily="34" charset="0"/>
                <a:ea typeface="IBM Plex Sans" pitchFamily="34" charset="-122"/>
                <a:cs typeface="IBM Plex Sans" pitchFamily="34" charset="-120"/>
              </a:rPr>
              <a:t> h1 with the dish name (e.g. Chicken Biryani); a published date with time.</a:t>
            </a:r>
            <a:endParaRPr lang="en-US" sz="1350" dirty="0"/>
          </a:p>
        </p:txBody>
      </p:sp>
      <p:sp>
        <p:nvSpPr>
          <p:cNvPr id="5" name="Text 3"/>
          <p:cNvSpPr/>
          <p:nvPr/>
        </p:nvSpPr>
        <p:spPr>
          <a:xfrm>
            <a:off x="812800" y="2259211"/>
            <a:ext cx="5974747"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2.</a:t>
            </a:r>
            <a:r>
              <a:rPr lang="en-US" sz="1350" dirty="0">
                <a:solidFill>
                  <a:srgbClr val="1F2A37"/>
                </a:solidFill>
                <a:latin typeface="IBM Plex Sans" pitchFamily="34" charset="0"/>
                <a:ea typeface="IBM Plex Sans" pitchFamily="34" charset="-122"/>
                <a:cs typeface="IBM Plex Sans" pitchFamily="34" charset="-120"/>
              </a:rPr>
              <a:t> Intro paragraph using em once and strong once — correctly.</a:t>
            </a:r>
            <a:endParaRPr lang="en-US" sz="1350" dirty="0"/>
          </a:p>
        </p:txBody>
      </p:sp>
      <p:sp>
        <p:nvSpPr>
          <p:cNvPr id="6" name="Text 4"/>
          <p:cNvSpPr/>
          <p:nvPr/>
        </p:nvSpPr>
        <p:spPr>
          <a:xfrm>
            <a:off x="812800" y="2588121"/>
            <a:ext cx="5974747" cy="50542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3.</a:t>
            </a:r>
            <a:r>
              <a:rPr lang="en-US" sz="1350" dirty="0">
                <a:solidFill>
                  <a:srgbClr val="1F2A37"/>
                </a:solidFill>
                <a:latin typeface="IBM Plex Sans" pitchFamily="34" charset="0"/>
                <a:ea typeface="IBM Plex Sans" pitchFamily="34" charset="-122"/>
                <a:cs typeface="IBM Plex Sans" pitchFamily="34" charset="-120"/>
              </a:rPr>
              <a:t> h2 sections: Ingredients, Method, Tips. Use br inside Ingredients for now.</a:t>
            </a:r>
            <a:endParaRPr lang="en-US" sz="1350" dirty="0"/>
          </a:p>
        </p:txBody>
      </p:sp>
      <p:sp>
        <p:nvSpPr>
          <p:cNvPr id="7" name="Text 5"/>
          <p:cNvSpPr/>
          <p:nvPr/>
        </p:nvSpPr>
        <p:spPr>
          <a:xfrm>
            <a:off x="812800" y="3157041"/>
            <a:ext cx="5974747"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4.</a:t>
            </a:r>
            <a:r>
              <a:rPr lang="en-US" sz="1350" dirty="0">
                <a:solidFill>
                  <a:srgbClr val="1F2A37"/>
                </a:solidFill>
                <a:latin typeface="IBM Plex Sans" pitchFamily="34" charset="0"/>
                <a:ea typeface="IBM Plex Sans" pitchFamily="34" charset="-122"/>
                <a:cs typeface="IBM Plex Sans" pitchFamily="34" charset="-120"/>
              </a:rPr>
              <a:t> A blockquote from the cook; a cite for the cookbook title.</a:t>
            </a:r>
            <a:endParaRPr lang="en-US" sz="1350" dirty="0"/>
          </a:p>
        </p:txBody>
      </p:sp>
      <p:sp>
        <p:nvSpPr>
          <p:cNvPr id="8" name="Text 6"/>
          <p:cNvSpPr/>
          <p:nvPr/>
        </p:nvSpPr>
        <p:spPr>
          <a:xfrm>
            <a:off x="812800" y="3485952"/>
            <a:ext cx="5974747" cy="50542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5.</a:t>
            </a:r>
            <a:r>
              <a:rPr lang="en-US" sz="1350" dirty="0">
                <a:solidFill>
                  <a:srgbClr val="1F2A37"/>
                </a:solidFill>
                <a:latin typeface="IBM Plex Sans" pitchFamily="34" charset="0"/>
                <a:ea typeface="IBM Plex Sans" pitchFamily="34" charset="-122"/>
                <a:cs typeface="IBM Plex Sans" pitchFamily="34" charset="-120"/>
              </a:rPr>
              <a:t> An abbr (tsp, tbsp), a sup (1st, written 1&lt;sup&gt;st&lt;/sup&gt;) and an hr before the footer.</a:t>
            </a:r>
            <a:endParaRPr lang="en-US" sz="1350" dirty="0"/>
          </a:p>
        </p:txBody>
      </p:sp>
      <p:sp>
        <p:nvSpPr>
          <p:cNvPr id="9" name="Text 7"/>
          <p:cNvSpPr/>
          <p:nvPr/>
        </p:nvSpPr>
        <p:spPr>
          <a:xfrm>
            <a:off x="812800" y="4054872"/>
            <a:ext cx="5974747"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6.</a:t>
            </a:r>
            <a:r>
              <a:rPr lang="en-US" sz="1350" dirty="0">
                <a:solidFill>
                  <a:srgbClr val="1F2A37"/>
                </a:solidFill>
                <a:latin typeface="IBM Plex Sans" pitchFamily="34" charset="0"/>
                <a:ea typeface="IBM Plex Sans" pitchFamily="34" charset="-122"/>
                <a:cs typeface="IBM Plex Sans" pitchFamily="34" charset="-120"/>
              </a:rPr>
              <a:t> Footer: address with your email, small with &amp;copy;. Validate: 0 errors.</a:t>
            </a:r>
            <a:endParaRPr lang="en-US" sz="1350" dirty="0"/>
          </a:p>
        </p:txBody>
      </p:sp>
      <p:sp>
        <p:nvSpPr>
          <p:cNvPr id="10" name="Shape 8"/>
          <p:cNvSpPr/>
          <p:nvPr/>
        </p:nvSpPr>
        <p:spPr>
          <a:xfrm>
            <a:off x="6819900" y="1933476"/>
            <a:ext cx="4556125" cy="2129433"/>
          </a:xfrm>
          <a:prstGeom prst="roundRect">
            <a:avLst>
              <a:gd name="adj" fmla="val 4622"/>
            </a:avLst>
          </a:prstGeom>
          <a:solidFill>
            <a:srgbClr val="FFFDF9"/>
          </a:solidFill>
          <a:ln w="6350">
            <a:solidFill>
              <a:srgbClr val="D9D3C7"/>
            </a:solidFill>
            <a:prstDash val="solid"/>
          </a:ln>
        </p:spPr>
      </p:sp>
      <p:sp>
        <p:nvSpPr>
          <p:cNvPr id="11" name="Text 9"/>
          <p:cNvSpPr/>
          <p:nvPr/>
        </p:nvSpPr>
        <p:spPr>
          <a:xfrm>
            <a:off x="7026275" y="2139851"/>
            <a:ext cx="426767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Checklist</a:t>
            </a:r>
            <a:endParaRPr lang="en-US" sz="1600" dirty="0"/>
          </a:p>
        </p:txBody>
      </p:sp>
      <p:sp>
        <p:nvSpPr>
          <p:cNvPr id="12" name="Text 10"/>
          <p:cNvSpPr/>
          <p:nvPr/>
        </p:nvSpPr>
        <p:spPr>
          <a:xfrm>
            <a:off x="7026275" y="2485231"/>
            <a:ext cx="426767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One h1, no skipped levels · no font, center or b-for-headings · every tag closed · title set</a:t>
            </a:r>
            <a:endParaRPr lang="en-US" sz="1300" dirty="0"/>
          </a:p>
        </p:txBody>
      </p:sp>
      <p:sp>
        <p:nvSpPr>
          <p:cNvPr id="13" name="Text 11"/>
          <p:cNvSpPr/>
          <p:nvPr/>
        </p:nvSpPr>
        <p:spPr>
          <a:xfrm>
            <a:off x="7026275" y="3048992"/>
            <a:ext cx="426767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2410C"/>
                </a:solidFill>
                <a:latin typeface="IBM Plex Sans" pitchFamily="34" charset="0"/>
                <a:ea typeface="IBM Plex Sans" pitchFamily="34" charset="-122"/>
                <a:cs typeface="IBM Plex Sans" pitchFamily="34" charset="-120"/>
              </a:rPr>
              <a:t>Link it</a:t>
            </a:r>
            <a:endParaRPr lang="en-US" sz="1600" dirty="0"/>
          </a:p>
        </p:txBody>
      </p:sp>
      <p:sp>
        <p:nvSpPr>
          <p:cNvPr id="14" name="Text 12"/>
          <p:cNvSpPr/>
          <p:nvPr/>
        </p:nvSpPr>
        <p:spPr>
          <a:xfrm>
            <a:off x="7026275" y="3394373"/>
            <a:ext cx="426767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Save recipe.html in web-lab1 next to index.html — we link the pages in Lecture 3.</a:t>
            </a:r>
            <a:endParaRPr lang="en-US" sz="13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CE8D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LAB 2 · PART 2 · 10 MIN · PAIRS</a:t>
            </a:r>
            <a:endParaRPr lang="en-US" sz="1200" dirty="0"/>
          </a:p>
        </p:txBody>
      </p:sp>
      <p:sp>
        <p:nvSpPr>
          <p:cNvPr id="3" name="Text 1"/>
          <p:cNvSpPr/>
          <p:nvPr>
            <p:ph type="title"/>
          </p:nvPr>
        </p:nvSpPr>
        <p:spPr>
          <a:xfrm>
            <a:off x="812800" y="1280120"/>
            <a:ext cx="1137920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Entities challenge: make the browser show exactly this</a:t>
            </a:r>
            <a:endParaRPr lang="en-US" sz="3200" dirty="0"/>
          </a:p>
        </p:txBody>
      </p:sp>
      <p:sp>
        <p:nvSpPr>
          <p:cNvPr id="4" name="Shape 2"/>
          <p:cNvSpPr/>
          <p:nvPr/>
        </p:nvSpPr>
        <p:spPr>
          <a:xfrm>
            <a:off x="815975" y="1984276"/>
            <a:ext cx="10560050" cy="1982391"/>
          </a:xfrm>
          <a:prstGeom prst="roundRect">
            <a:avLst>
              <a:gd name="adj" fmla="val 4965"/>
            </a:avLst>
          </a:prstGeom>
          <a:solidFill>
            <a:srgbClr val="FFFDF9"/>
          </a:solidFill>
          <a:ln w="6350">
            <a:solidFill>
              <a:srgbClr val="D9D3C7"/>
            </a:solidFill>
            <a:prstDash val="solid"/>
          </a:ln>
        </p:spPr>
      </p:sp>
      <p:sp>
        <p:nvSpPr>
          <p:cNvPr id="5" name="Text 3"/>
          <p:cNvSpPr/>
          <p:nvPr/>
        </p:nvSpPr>
        <p:spPr>
          <a:xfrm>
            <a:off x="1073150" y="2216051"/>
            <a:ext cx="1034707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2410C"/>
                </a:solidFill>
                <a:latin typeface="IBM Plex Sans" pitchFamily="34" charset="0"/>
                <a:ea typeface="IBM Plex Sans" pitchFamily="34" charset="-122"/>
                <a:cs typeface="IBM Plex Sans" pitchFamily="34" charset="-120"/>
              </a:rPr>
              <a:t>A.</a:t>
            </a:r>
            <a:r>
              <a:rPr lang="en-US" sz="1600" dirty="0">
                <a:solidFill>
                  <a:srgbClr val="1F2A37"/>
                </a:solidFill>
                <a:latin typeface="IBM Plex Sans" pitchFamily="34" charset="0"/>
                <a:ea typeface="IBM Plex Sans" pitchFamily="34" charset="-122"/>
                <a:cs typeface="IBM Plex Sans" pitchFamily="34" charset="-120"/>
              </a:rPr>
              <a:t> Use &lt;p&gt; for paragraphs &amp; &lt;br&gt; for line breaks.</a:t>
            </a:r>
            <a:endParaRPr lang="en-US" sz="1600" dirty="0"/>
          </a:p>
        </p:txBody>
      </p:sp>
      <p:sp>
        <p:nvSpPr>
          <p:cNvPr id="6" name="Text 4"/>
          <p:cNvSpPr/>
          <p:nvPr/>
        </p:nvSpPr>
        <p:spPr>
          <a:xfrm>
            <a:off x="1073150" y="2627511"/>
            <a:ext cx="1034707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2410C"/>
                </a:solidFill>
                <a:latin typeface="IBM Plex Sans" pitchFamily="34" charset="0"/>
                <a:ea typeface="IBM Plex Sans" pitchFamily="34" charset="-122"/>
                <a:cs typeface="IBM Plex Sans" pitchFamily="34" charset="-120"/>
              </a:rPr>
              <a:t>B.</a:t>
            </a:r>
            <a:r>
              <a:rPr lang="en-US" sz="1600" dirty="0">
                <a:solidFill>
                  <a:srgbClr val="1F2A37"/>
                </a:solidFill>
                <a:latin typeface="IBM Plex Sans" pitchFamily="34" charset="0"/>
                <a:ea typeface="IBM Plex Sans" pitchFamily="34" charset="-122"/>
                <a:cs typeface="IBM Plex Sans" pitchFamily="34" charset="-120"/>
              </a:rPr>
              <a:t> 5 &lt; 10 and 10 &gt; 5</a:t>
            </a:r>
            <a:endParaRPr lang="en-US" sz="1600" dirty="0"/>
          </a:p>
        </p:txBody>
      </p:sp>
      <p:sp>
        <p:nvSpPr>
          <p:cNvPr id="7" name="Text 5"/>
          <p:cNvSpPr/>
          <p:nvPr/>
        </p:nvSpPr>
        <p:spPr>
          <a:xfrm>
            <a:off x="1073150" y="3038971"/>
            <a:ext cx="1034707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2410C"/>
                </a:solidFill>
                <a:latin typeface="IBM Plex Sans" pitchFamily="34" charset="0"/>
                <a:ea typeface="IBM Plex Sans" pitchFamily="34" charset="-122"/>
                <a:cs typeface="IBM Plex Sans" pitchFamily="34" charset="-120"/>
              </a:rPr>
              <a:t>C.</a:t>
            </a:r>
            <a:r>
              <a:rPr lang="en-US" sz="1600" dirty="0">
                <a:solidFill>
                  <a:srgbClr val="1F2A37"/>
                </a:solidFill>
                <a:latin typeface="IBM Plex Sans" pitchFamily="34" charset="0"/>
                <a:ea typeface="IBM Plex Sans" pitchFamily="34" charset="-122"/>
                <a:cs typeface="IBM Plex Sans" pitchFamily="34" charset="-120"/>
              </a:rPr>
              <a:t> The sign said “Tom &amp; Jerry’s Café” © 2026</a:t>
            </a:r>
            <a:endParaRPr lang="en-US" sz="1600" dirty="0"/>
          </a:p>
        </p:txBody>
      </p:sp>
      <p:sp>
        <p:nvSpPr>
          <p:cNvPr id="8" name="Text 6"/>
          <p:cNvSpPr/>
          <p:nvPr/>
        </p:nvSpPr>
        <p:spPr>
          <a:xfrm>
            <a:off x="1073150" y="3450431"/>
            <a:ext cx="1034707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2410C"/>
                </a:solidFill>
                <a:latin typeface="IBM Plex Sans" pitchFamily="34" charset="0"/>
                <a:ea typeface="IBM Plex Sans" pitchFamily="34" charset="-122"/>
                <a:cs typeface="IBM Plex Sans" pitchFamily="34" charset="-120"/>
              </a:rPr>
              <a:t>D.</a:t>
            </a:r>
            <a:r>
              <a:rPr lang="en-US" sz="1600" dirty="0">
                <a:solidFill>
                  <a:srgbClr val="1F2A37"/>
                </a:solidFill>
                <a:latin typeface="IBM Plex Sans" pitchFamily="34" charset="0"/>
                <a:ea typeface="IBM Plex Sans" pitchFamily="34" charset="-122"/>
                <a:cs typeface="IBM Plex Sans" pitchFamily="34" charset="-120"/>
              </a:rPr>
              <a:t> The campus is 12 km away (keep “12 km” on one line)</a:t>
            </a:r>
            <a:endParaRPr lang="en-US" sz="1600" dirty="0"/>
          </a:p>
        </p:txBody>
      </p:sp>
      <p:sp>
        <p:nvSpPr>
          <p:cNvPr id="9" name="Text 7"/>
          <p:cNvSpPr/>
          <p:nvPr/>
        </p:nvSpPr>
        <p:spPr>
          <a:xfrm>
            <a:off x="812800" y="422384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467"/>
                </a:solidFill>
                <a:latin typeface="IBM Plex Sans" pitchFamily="34" charset="0"/>
                <a:ea typeface="IBM Plex Sans" pitchFamily="34" charset="-122"/>
                <a:cs typeface="IBM Plex Sans" pitchFamily="34" charset="-120"/>
              </a:rPr>
              <a:t>Write each as a paragraph in entities.html, open it in the browser, then check your code with the validator.</a:t>
            </a:r>
            <a:endParaRPr lang="en-US" sz="14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WRAP-UP</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Six mistakes that cost marks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2701727"/>
        </p:xfrm>
        <a:graphic>
          <a:graphicData uri="http://schemas.openxmlformats.org/drawingml/2006/table">
            <a:tbl>
              <a:tblPr/>
              <a:tblGrid>
                <a:gridCol w="4854702"/>
                <a:gridCol w="5698998"/>
              </a:tblGrid>
              <a:tr h="385961">
                <a:tc>
                  <a:txBody>
                    <a:bodyPr/>
                    <a:lstStyle/>
                    <a:p>
                      <a:pPr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Instead of…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Write…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&lt;h3&gt; because h2 looked “too big”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The correct level, then resize with CSS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&lt;br&gt;&lt;br&gt;&lt;br&gt; for spacing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Separate paragraphs; spacing in CSS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&lt;p&gt;&lt;b&gt;Section title&lt;/b&gt;&lt;/p&gt;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&lt;h2&gt;Section title&lt;/h2&gt;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&lt;b&gt; for a warning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&lt;strong&gt; for real importance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5 &lt; 10 typed directly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5 &amp;lt; 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&lt;font&gt;, &lt;center&gt;, bgcolor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Clean HTML plus a stylesheet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9E64"/>
                </a:solidFill>
                <a:latin typeface="IBM Plex Sans" pitchFamily="34" charset="0"/>
                <a:ea typeface="IBM Plex Sans" pitchFamily="34" charset="-122"/>
                <a:cs typeface="IBM Plex Sans" pitchFamily="34" charset="-120"/>
              </a:rPr>
              <a:t>QUICK CHECK · 5 MIN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F0"/>
                </a:solidFill>
                <a:latin typeface="IBM Plex Sans" pitchFamily="34" charset="0"/>
                <a:ea typeface="IBM Plex Sans" pitchFamily="34" charset="-122"/>
                <a:cs typeface="IBM Plex Sans" pitchFamily="34" charset="-120"/>
              </a:rPr>
              <a:t>Five questions — answer on paper</a:t>
            </a:r>
            <a:endParaRPr lang="en-US" sz="3200" dirty="0"/>
          </a:p>
        </p:txBody>
      </p:sp>
      <p:sp>
        <p:nvSpPr>
          <p:cNvPr id="4" name="Text 2"/>
          <p:cNvSpPr/>
          <p:nvPr/>
        </p:nvSpPr>
        <p:spPr>
          <a:xfrm>
            <a:off x="812800" y="19811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1.</a:t>
            </a:r>
            <a:r>
              <a:rPr lang="en-US" sz="1500" dirty="0">
                <a:solidFill>
                  <a:srgbClr val="F7F5F0"/>
                </a:solidFill>
                <a:latin typeface="IBM Plex Sans" pitchFamily="34" charset="0"/>
                <a:ea typeface="IBM Plex Sans" pitchFamily="34" charset="-122"/>
                <a:cs typeface="IBM Plex Sans" pitchFamily="34" charset="-120"/>
              </a:rPr>
              <a:t> strong or b: “</a:t>
            </a:r>
            <a:r>
              <a:rPr lang="en-US" sz="1500" i="1" dirty="0">
                <a:solidFill>
                  <a:srgbClr val="F7F5F0"/>
                </a:solidFill>
                <a:latin typeface="IBM Plex Sans" pitchFamily="34" charset="0"/>
                <a:ea typeface="IBM Plex Sans" pitchFamily="34" charset="-122"/>
                <a:cs typeface="IBM Plex Sans" pitchFamily="34" charset="-120"/>
              </a:rPr>
              <a:t>Warning:</a:t>
            </a:r>
            <a:r>
              <a:rPr lang="en-US" sz="1500" dirty="0">
                <a:solidFill>
                  <a:srgbClr val="F7F5F0"/>
                </a:solidFill>
                <a:latin typeface="IBM Plex Sans" pitchFamily="34" charset="0"/>
                <a:ea typeface="IBM Plex Sans" pitchFamily="34" charset="-122"/>
                <a:cs typeface="IBM Plex Sans" pitchFamily="34" charset="-120"/>
              </a:rPr>
              <a:t> exam starts at 9:00 sharp.”</a:t>
            </a:r>
            <a:endParaRPr lang="en-US" sz="1500" dirty="0"/>
          </a:p>
        </p:txBody>
      </p:sp>
      <p:sp>
        <p:nvSpPr>
          <p:cNvPr id="5" name="Text 3"/>
          <p:cNvSpPr/>
          <p:nvPr/>
        </p:nvSpPr>
        <p:spPr>
          <a:xfrm>
            <a:off x="812800" y="23748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2.</a:t>
            </a:r>
            <a:r>
              <a:rPr lang="en-US" sz="1500" dirty="0">
                <a:solidFill>
                  <a:srgbClr val="F7F5F0"/>
                </a:solidFill>
                <a:latin typeface="IBM Plex Sans" pitchFamily="34" charset="0"/>
                <a:ea typeface="IBM Plex Sans" pitchFamily="34" charset="-122"/>
                <a:cs typeface="IBM Plex Sans" pitchFamily="34" charset="-120"/>
              </a:rPr>
              <a:t> A page has h1, then h3, then h2. What is wrong?</a:t>
            </a:r>
            <a:endParaRPr lang="en-US" sz="1500" dirty="0"/>
          </a:p>
        </p:txBody>
      </p:sp>
      <p:sp>
        <p:nvSpPr>
          <p:cNvPr id="6" name="Text 4"/>
          <p:cNvSpPr/>
          <p:nvPr/>
        </p:nvSpPr>
        <p:spPr>
          <a:xfrm>
            <a:off x="812800" y="27685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3.</a:t>
            </a:r>
            <a:r>
              <a:rPr lang="en-US" sz="1500" dirty="0">
                <a:solidFill>
                  <a:srgbClr val="F7F5F0"/>
                </a:solidFill>
                <a:latin typeface="IBM Plex Sans" pitchFamily="34" charset="0"/>
                <a:ea typeface="IBM Plex Sans" pitchFamily="34" charset="-122"/>
                <a:cs typeface="IBM Plex Sans" pitchFamily="34" charset="-120"/>
              </a:rPr>
              <a:t> Which element preserves spaces and line breaks exactly?</a:t>
            </a:r>
            <a:endParaRPr lang="en-US" sz="1500" dirty="0"/>
          </a:p>
        </p:txBody>
      </p:sp>
      <p:sp>
        <p:nvSpPr>
          <p:cNvPr id="7" name="Text 5"/>
          <p:cNvSpPr/>
          <p:nvPr/>
        </p:nvSpPr>
        <p:spPr>
          <a:xfrm>
            <a:off x="812800" y="31622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4.</a:t>
            </a:r>
            <a:r>
              <a:rPr lang="en-US" sz="1500" dirty="0">
                <a:solidFill>
                  <a:srgbClr val="F7F5F0"/>
                </a:solidFill>
                <a:latin typeface="IBM Plex Sans" pitchFamily="34" charset="0"/>
                <a:ea typeface="IBM Plex Sans" pitchFamily="34" charset="-122"/>
                <a:cs typeface="IBM Plex Sans" pitchFamily="34" charset="-120"/>
              </a:rPr>
              <a:t> Write the markup for CO₂ and for “HTTP” with its full form as a tooltip.</a:t>
            </a:r>
            <a:endParaRPr lang="en-US" sz="1500" dirty="0"/>
          </a:p>
        </p:txBody>
      </p:sp>
      <p:sp>
        <p:nvSpPr>
          <p:cNvPr id="8" name="Text 6"/>
          <p:cNvSpPr/>
          <p:nvPr/>
        </p:nvSpPr>
        <p:spPr>
          <a:xfrm>
            <a:off x="812800" y="35559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5.</a:t>
            </a:r>
            <a:r>
              <a:rPr lang="en-US" sz="1500" dirty="0">
                <a:solidFill>
                  <a:srgbClr val="F7F5F0"/>
                </a:solidFill>
                <a:latin typeface="IBM Plex Sans" pitchFamily="34" charset="0"/>
                <a:ea typeface="IBM Plex Sans" pitchFamily="34" charset="-122"/>
                <a:cs typeface="IBM Plex Sans" pitchFamily="34" charset="-120"/>
              </a:rPr>
              <a:t> Why is &lt;font color="red"&gt; considered obsolete?</a:t>
            </a:r>
            <a:endParaRPr lang="en-US" sz="15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3"/>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WRAP-UP</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Key takeaways</a:t>
            </a:r>
            <a:endParaRPr lang="en-US" sz="3200" dirty="0"/>
          </a:p>
        </p:txBody>
      </p:sp>
      <p:sp>
        <p:nvSpPr>
          <p:cNvPr id="4" name="Shape 2"/>
          <p:cNvSpPr/>
          <p:nvPr/>
        </p:nvSpPr>
        <p:spPr>
          <a:xfrm>
            <a:off x="831850" y="1981101"/>
            <a:ext cx="0" cy="317500"/>
          </a:xfrm>
          <a:prstGeom prst="line">
            <a:avLst/>
          </a:prstGeom>
          <a:noFill/>
          <a:ln w="38100">
            <a:solidFill>
              <a:srgbClr val="C2410C"/>
            </a:solidFill>
            <a:prstDash val="solid"/>
          </a:ln>
        </p:spPr>
      </p:sp>
      <p:sp>
        <p:nvSpPr>
          <p:cNvPr id="5" name="Text 3"/>
          <p:cNvSpPr/>
          <p:nvPr/>
        </p:nvSpPr>
        <p:spPr>
          <a:xfrm>
            <a:off x="1003300" y="2006501"/>
            <a:ext cx="508850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Choose elements for </a:t>
            </a:r>
            <a:r>
              <a:rPr lang="en-US" sz="1500" b="1" dirty="0">
                <a:solidFill>
                  <a:srgbClr val="1F2A37"/>
                </a:solidFill>
                <a:latin typeface="IBM Plex Sans" pitchFamily="34" charset="0"/>
                <a:ea typeface="IBM Plex Sans" pitchFamily="34" charset="-122"/>
                <a:cs typeface="IBM Plex Sans" pitchFamily="34" charset="-120"/>
              </a:rPr>
              <a:t>meaning</a:t>
            </a:r>
            <a:r>
              <a:rPr lang="en-US" sz="1500" dirty="0">
                <a:solidFill>
                  <a:srgbClr val="1F2A37"/>
                </a:solidFill>
                <a:latin typeface="IBM Plex Sans" pitchFamily="34" charset="0"/>
                <a:ea typeface="IBM Plex Sans" pitchFamily="34" charset="-122"/>
                <a:cs typeface="IBM Plex Sans" pitchFamily="34" charset="-120"/>
              </a:rPr>
              <a:t>; CSS handles looks.</a:t>
            </a:r>
            <a:endParaRPr lang="en-US" sz="1500" dirty="0"/>
          </a:p>
        </p:txBody>
      </p:sp>
      <p:sp>
        <p:nvSpPr>
          <p:cNvPr id="6" name="Shape 4"/>
          <p:cNvSpPr/>
          <p:nvPr/>
        </p:nvSpPr>
        <p:spPr>
          <a:xfrm>
            <a:off x="6267450" y="1981101"/>
            <a:ext cx="0" cy="317500"/>
          </a:xfrm>
          <a:prstGeom prst="line">
            <a:avLst/>
          </a:prstGeom>
          <a:noFill/>
          <a:ln w="38100">
            <a:solidFill>
              <a:srgbClr val="C2410C"/>
            </a:solidFill>
            <a:prstDash val="solid"/>
          </a:ln>
        </p:spPr>
      </p:sp>
      <p:sp>
        <p:nvSpPr>
          <p:cNvPr id="7" name="Text 5"/>
          <p:cNvSpPr/>
          <p:nvPr/>
        </p:nvSpPr>
        <p:spPr>
          <a:xfrm>
            <a:off x="6438900" y="2006501"/>
            <a:ext cx="508850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Headings build an </a:t>
            </a:r>
            <a:r>
              <a:rPr lang="en-US" sz="1500" b="1" dirty="0">
                <a:solidFill>
                  <a:srgbClr val="1F2A37"/>
                </a:solidFill>
                <a:latin typeface="IBM Plex Sans" pitchFamily="34" charset="0"/>
                <a:ea typeface="IBM Plex Sans" pitchFamily="34" charset="-122"/>
                <a:cs typeface="IBM Plex Sans" pitchFamily="34" charset="-120"/>
              </a:rPr>
              <a:t>outline</a:t>
            </a:r>
            <a:r>
              <a:rPr lang="en-US" sz="1500" dirty="0">
                <a:solidFill>
                  <a:srgbClr val="1F2A37"/>
                </a:solidFill>
                <a:latin typeface="IBM Plex Sans" pitchFamily="34" charset="0"/>
                <a:ea typeface="IBM Plex Sans" pitchFamily="34" charset="-122"/>
                <a:cs typeface="IBM Plex Sans" pitchFamily="34" charset="-120"/>
              </a:rPr>
              <a:t>: one h1, no skipped levels.</a:t>
            </a:r>
            <a:endParaRPr lang="en-US" sz="1500" dirty="0"/>
          </a:p>
        </p:txBody>
      </p:sp>
      <p:sp>
        <p:nvSpPr>
          <p:cNvPr id="8" name="Shape 6"/>
          <p:cNvSpPr/>
          <p:nvPr/>
        </p:nvSpPr>
        <p:spPr>
          <a:xfrm>
            <a:off x="831850" y="2425601"/>
            <a:ext cx="0" cy="584200"/>
          </a:xfrm>
          <a:prstGeom prst="line">
            <a:avLst/>
          </a:prstGeom>
          <a:noFill/>
          <a:ln w="38100">
            <a:solidFill>
              <a:srgbClr val="C2410C"/>
            </a:solidFill>
            <a:prstDash val="solid"/>
          </a:ln>
        </p:spPr>
      </p:sp>
      <p:sp>
        <p:nvSpPr>
          <p:cNvPr id="9" name="Text 7"/>
          <p:cNvSpPr/>
          <p:nvPr/>
        </p:nvSpPr>
        <p:spPr>
          <a:xfrm>
            <a:off x="1003300" y="24510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p for paragraphs, br only where lines matter, hr for topic changes.</a:t>
            </a:r>
            <a:endParaRPr lang="en-US" sz="1500" dirty="0"/>
          </a:p>
        </p:txBody>
      </p:sp>
      <p:sp>
        <p:nvSpPr>
          <p:cNvPr id="10" name="Shape 8"/>
          <p:cNvSpPr/>
          <p:nvPr/>
        </p:nvSpPr>
        <p:spPr>
          <a:xfrm>
            <a:off x="6267450" y="2425601"/>
            <a:ext cx="0" cy="584200"/>
          </a:xfrm>
          <a:prstGeom prst="line">
            <a:avLst/>
          </a:prstGeom>
          <a:noFill/>
          <a:ln w="38100">
            <a:solidFill>
              <a:srgbClr val="C2410C"/>
            </a:solidFill>
            <a:prstDash val="solid"/>
          </a:ln>
        </p:spPr>
      </p:sp>
      <p:sp>
        <p:nvSpPr>
          <p:cNvPr id="11" name="Text 9"/>
          <p:cNvSpPr/>
          <p:nvPr/>
        </p:nvSpPr>
        <p:spPr>
          <a:xfrm>
            <a:off x="6438900" y="24510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strong/em carry importance and stress; b/i only set text apart.</a:t>
            </a:r>
            <a:endParaRPr lang="en-US" sz="1500" dirty="0"/>
          </a:p>
        </p:txBody>
      </p:sp>
      <p:sp>
        <p:nvSpPr>
          <p:cNvPr id="12" name="Shape 10"/>
          <p:cNvSpPr/>
          <p:nvPr/>
        </p:nvSpPr>
        <p:spPr>
          <a:xfrm>
            <a:off x="831850" y="3136801"/>
            <a:ext cx="0" cy="584200"/>
          </a:xfrm>
          <a:prstGeom prst="line">
            <a:avLst/>
          </a:prstGeom>
          <a:noFill/>
          <a:ln w="38100">
            <a:solidFill>
              <a:srgbClr val="C2410C"/>
            </a:solidFill>
            <a:prstDash val="solid"/>
          </a:ln>
        </p:spPr>
      </p:sp>
      <p:sp>
        <p:nvSpPr>
          <p:cNvPr id="13" name="Text 11"/>
          <p:cNvSpPr/>
          <p:nvPr/>
        </p:nvSpPr>
        <p:spPr>
          <a:xfrm>
            <a:off x="1003300" y="31622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abbr, time, sub, sup, code, kbd and blockquote add precise meaning.</a:t>
            </a:r>
            <a:endParaRPr lang="en-US" sz="1500" dirty="0"/>
          </a:p>
        </p:txBody>
      </p:sp>
      <p:sp>
        <p:nvSpPr>
          <p:cNvPr id="14" name="Shape 12"/>
          <p:cNvSpPr/>
          <p:nvPr/>
        </p:nvSpPr>
        <p:spPr>
          <a:xfrm>
            <a:off x="6267450" y="3136801"/>
            <a:ext cx="0" cy="584200"/>
          </a:xfrm>
          <a:prstGeom prst="line">
            <a:avLst/>
          </a:prstGeom>
          <a:noFill/>
          <a:ln w="38100">
            <a:solidFill>
              <a:srgbClr val="C2410C"/>
            </a:solidFill>
            <a:prstDash val="solid"/>
          </a:ln>
        </p:spPr>
      </p:sp>
      <p:sp>
        <p:nvSpPr>
          <p:cNvPr id="15" name="Text 13"/>
          <p:cNvSpPr/>
          <p:nvPr/>
        </p:nvSpPr>
        <p:spPr>
          <a:xfrm>
            <a:off x="6438900" y="31622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Escape </a:t>
            </a:r>
            <a:r>
              <a:rPr lang="en-US" sz="1500" b="1" dirty="0">
                <a:solidFill>
                  <a:srgbClr val="1F2A37"/>
                </a:solidFill>
                <a:latin typeface="IBM Plex Sans" pitchFamily="34" charset="0"/>
                <a:ea typeface="IBM Plex Sans" pitchFamily="34" charset="-122"/>
                <a:cs typeface="IBM Plex Sans" pitchFamily="34" charset="-120"/>
              </a:rPr>
              <a:t>&lt;</a:t>
            </a:r>
            <a:r>
              <a:rPr lang="en-US" sz="1500" dirty="0">
                <a:solidFill>
                  <a:srgbClr val="1F2A37"/>
                </a:solidFill>
                <a:latin typeface="IBM Plex Sans" pitchFamily="34" charset="0"/>
                <a:ea typeface="IBM Plex Sans" pitchFamily="34" charset="-122"/>
                <a:cs typeface="IBM Plex Sans" pitchFamily="34" charset="-120"/>
              </a:rPr>
              <a:t> and </a:t>
            </a:r>
            <a:r>
              <a:rPr lang="en-US" sz="1500" b="1" dirty="0">
                <a:solidFill>
                  <a:srgbClr val="1F2A37"/>
                </a:solidFill>
                <a:latin typeface="IBM Plex Sans" pitchFamily="34" charset="0"/>
                <a:ea typeface="IBM Plex Sans" pitchFamily="34" charset="-122"/>
                <a:cs typeface="IBM Plex Sans" pitchFamily="34" charset="-120"/>
              </a:rPr>
              <a:t>&amp;</a:t>
            </a:r>
            <a:r>
              <a:rPr lang="en-US" sz="1500" dirty="0">
                <a:solidFill>
                  <a:srgbClr val="1F2A37"/>
                </a:solidFill>
                <a:latin typeface="IBM Plex Sans" pitchFamily="34" charset="0"/>
                <a:ea typeface="IBM Plex Sans" pitchFamily="34" charset="-122"/>
                <a:cs typeface="IBM Plex Sans" pitchFamily="34" charset="-120"/>
              </a:rPr>
              <a:t> with entities; avoid obsolete tags.</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BEFORE NEXT LECTURE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Homework &amp; preparation</a:t>
            </a:r>
            <a:endParaRPr lang="en-US" sz="3200" dirty="0"/>
          </a:p>
        </p:txBody>
      </p:sp>
      <p:sp>
        <p:nvSpPr>
          <p:cNvPr id="4" name="Shape 2"/>
          <p:cNvSpPr/>
          <p:nvPr/>
        </p:nvSpPr>
        <p:spPr>
          <a:xfrm>
            <a:off x="815975" y="1984276"/>
            <a:ext cx="3418384" cy="1857772"/>
          </a:xfrm>
          <a:prstGeom prst="roundRect">
            <a:avLst>
              <a:gd name="adj" fmla="val 5298"/>
            </a:avLst>
          </a:prstGeom>
          <a:solidFill>
            <a:srgbClr val="FFFDF9"/>
          </a:solidFill>
          <a:ln w="6350">
            <a:solidFill>
              <a:srgbClr val="E4E0D8"/>
            </a:solidFill>
            <a:prstDash val="solid"/>
          </a:ln>
        </p:spPr>
      </p:sp>
      <p:pic>
        <p:nvPicPr>
          <p:cNvPr id="5" name="Image 0" descr="Book">    </p:cNvPr>
          <p:cNvPicPr>
            <a:picLocks noChangeAspect="1"/>
          </p:cNvPicPr>
          <p:nvPr/>
        </p:nvPicPr>
        <p:blipFill>
          <a:blip r:embed="rId1"/>
          <a:srcRect l="0" r="0" t="0" b="0"/>
          <a:stretch/>
        </p:blipFill>
        <p:spPr>
          <a:xfrm>
            <a:off x="1022350" y="2190651"/>
            <a:ext cx="304800" cy="304800"/>
          </a:xfrm>
          <a:prstGeom prst="rect">
            <a:avLst/>
          </a:prstGeom>
        </p:spPr>
      </p:pic>
      <p:sp>
        <p:nvSpPr>
          <p:cNvPr id="6" name="Text 3"/>
          <p:cNvSpPr/>
          <p:nvPr/>
        </p:nvSpPr>
        <p:spPr>
          <a:xfrm>
            <a:off x="1022350" y="2597051"/>
            <a:ext cx="30958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Read</a:t>
            </a:r>
            <a:endParaRPr lang="en-US" sz="1600" dirty="0"/>
          </a:p>
        </p:txBody>
      </p:sp>
      <p:sp>
        <p:nvSpPr>
          <p:cNvPr id="7" name="Text 4"/>
          <p:cNvSpPr/>
          <p:nvPr/>
        </p:nvSpPr>
        <p:spPr>
          <a:xfrm>
            <a:off x="1022350" y="2942431"/>
            <a:ext cx="3095803" cy="718641"/>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1F2A37"/>
                </a:solidFill>
                <a:latin typeface="IBM Plex Sans" pitchFamily="34" charset="0"/>
                <a:ea typeface="IBM Plex Sans" pitchFamily="34" charset="-122"/>
                <a:cs typeface="IBM Plex Sans" pitchFamily="34" charset="-120"/>
              </a:rPr>
              <a:t>Learning Web Design</a:t>
            </a:r>
            <a:r>
              <a:rPr lang="en-US" sz="1300" dirty="0">
                <a:solidFill>
                  <a:srgbClr val="1F2A37"/>
                </a:solidFill>
                <a:latin typeface="IBM Plex Sans" pitchFamily="34" charset="0"/>
                <a:ea typeface="IBM Plex Sans" pitchFamily="34" charset="-122"/>
                <a:cs typeface="IBM Plex Sans" pitchFamily="34" charset="-120"/>
              </a:rPr>
              <a:t>, Ch. 5 Marking Up Text: Paragraphs, Headings, Inline Element Roundup, Character Escapes</a:t>
            </a:r>
            <a:endParaRPr lang="en-US" sz="1300" dirty="0"/>
          </a:p>
        </p:txBody>
      </p:sp>
      <p:sp>
        <p:nvSpPr>
          <p:cNvPr id="8" name="Shape 5"/>
          <p:cNvSpPr/>
          <p:nvPr/>
        </p:nvSpPr>
        <p:spPr>
          <a:xfrm>
            <a:off x="4393109" y="1984276"/>
            <a:ext cx="3418483" cy="1857772"/>
          </a:xfrm>
          <a:prstGeom prst="roundRect">
            <a:avLst>
              <a:gd name="adj" fmla="val 5298"/>
            </a:avLst>
          </a:prstGeom>
          <a:solidFill>
            <a:srgbClr val="FFFDF9"/>
          </a:solidFill>
          <a:ln w="6350">
            <a:solidFill>
              <a:srgbClr val="E4E0D8"/>
            </a:solidFill>
            <a:prstDash val="solid"/>
          </a:ln>
        </p:spPr>
      </p:sp>
      <p:pic>
        <p:nvPicPr>
          <p:cNvPr id="9" name="Image 1" descr="Wrench">    </p:cNvPr>
          <p:cNvPicPr>
            <a:picLocks noChangeAspect="1"/>
          </p:cNvPicPr>
          <p:nvPr/>
        </p:nvPicPr>
        <p:blipFill>
          <a:blip r:embed="rId2"/>
          <a:srcRect l="0" r="0" t="0" b="0"/>
          <a:stretch/>
        </p:blipFill>
        <p:spPr>
          <a:xfrm>
            <a:off x="4599484" y="2190651"/>
            <a:ext cx="304800" cy="304800"/>
          </a:xfrm>
          <a:prstGeom prst="rect">
            <a:avLst/>
          </a:prstGeom>
        </p:spPr>
      </p:pic>
      <p:sp>
        <p:nvSpPr>
          <p:cNvPr id="10" name="Text 6"/>
          <p:cNvSpPr/>
          <p:nvPr/>
        </p:nvSpPr>
        <p:spPr>
          <a:xfrm>
            <a:off x="4599484" y="2597051"/>
            <a:ext cx="309590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Practise</a:t>
            </a:r>
            <a:endParaRPr lang="en-US" sz="1600" dirty="0"/>
          </a:p>
        </p:txBody>
      </p:sp>
      <p:sp>
        <p:nvSpPr>
          <p:cNvPr id="11" name="Text 7"/>
          <p:cNvSpPr/>
          <p:nvPr/>
        </p:nvSpPr>
        <p:spPr>
          <a:xfrm>
            <a:off x="4599484" y="2942431"/>
            <a:ext cx="3095905"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Finish recipe.html and entities.html. Open a news site, press Ctrl+U and list ten elements you recognise.</a:t>
            </a:r>
            <a:endParaRPr lang="en-US" sz="1300" dirty="0"/>
          </a:p>
        </p:txBody>
      </p:sp>
      <p:sp>
        <p:nvSpPr>
          <p:cNvPr id="12" name="Shape 8"/>
          <p:cNvSpPr/>
          <p:nvPr/>
        </p:nvSpPr>
        <p:spPr>
          <a:xfrm>
            <a:off x="7967166" y="1981101"/>
            <a:ext cx="3412034" cy="1864122"/>
          </a:xfrm>
          <a:prstGeom prst="roundRect">
            <a:avLst>
              <a:gd name="adj" fmla="val 5450"/>
            </a:avLst>
          </a:prstGeom>
          <a:solidFill>
            <a:srgbClr val="16202E"/>
          </a:solidFill>
          <a:ln/>
        </p:spPr>
      </p:sp>
      <p:pic>
        <p:nvPicPr>
          <p:cNvPr id="13" name="Image 2" descr="Lightbulb">    </p:cNvPr>
          <p:cNvPicPr>
            <a:picLocks noChangeAspect="1"/>
          </p:cNvPicPr>
          <p:nvPr/>
        </p:nvPicPr>
        <p:blipFill>
          <a:blip r:embed="rId3"/>
          <a:srcRect l="0" r="0" t="0" b="0"/>
          <a:stretch/>
        </p:blipFill>
        <p:spPr>
          <a:xfrm>
            <a:off x="8170366" y="2184301"/>
            <a:ext cx="304800" cy="304800"/>
          </a:xfrm>
          <a:prstGeom prst="rect">
            <a:avLst/>
          </a:prstGeom>
        </p:spPr>
      </p:pic>
      <p:sp>
        <p:nvSpPr>
          <p:cNvPr id="14" name="Text 9"/>
          <p:cNvSpPr/>
          <p:nvPr/>
        </p:nvSpPr>
        <p:spPr>
          <a:xfrm>
            <a:off x="8170366" y="2590701"/>
            <a:ext cx="30958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5F0"/>
                </a:solidFill>
                <a:latin typeface="IBM Plex Sans" pitchFamily="34" charset="0"/>
                <a:ea typeface="IBM Plex Sans" pitchFamily="34" charset="-122"/>
                <a:cs typeface="IBM Plex Sans" pitchFamily="34" charset="-120"/>
              </a:rPr>
              <a:t>Next: Lecture 3</a:t>
            </a:r>
            <a:endParaRPr lang="en-US" sz="1600" dirty="0"/>
          </a:p>
        </p:txBody>
      </p:sp>
      <p:sp>
        <p:nvSpPr>
          <p:cNvPr id="15" name="Text 10"/>
          <p:cNvSpPr/>
          <p:nvPr/>
        </p:nvSpPr>
        <p:spPr>
          <a:xfrm>
            <a:off x="8170366" y="2936081"/>
            <a:ext cx="309580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E0"/>
                </a:solidFill>
                <a:latin typeface="IBM Plex Sans" pitchFamily="34" charset="0"/>
                <a:ea typeface="IBM Plex Sans" pitchFamily="34" charset="-122"/>
                <a:cs typeface="IBM Plex Sans" pitchFamily="34" charset="-120"/>
              </a:rPr>
              <a:t>Lists, Links &amp; File Paths — we turn your pages into a connected mini-site</a:t>
            </a:r>
            <a:endParaRPr lang="en-US" sz="13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2 — Marking Up Text</a:t>
            </a:r>
            <a:endParaRPr lang="en-US" sz="1200" dirty="0"/>
          </a:p>
        </p:txBody>
      </p:sp>
    </p:spTree>
  </p:cSld>
  <p:clrMapOvr>
    <a:masterClrMapping/>
  </p:clrMapOvr>
</p:sld>
</file>

<file path=ppt/theme/theme1.xml><?xml version="1.0" encoding="utf-8"?>
<a:theme xmlns:a="http://schemas.openxmlformats.org/drawingml/2006/main" name="HTML W1·L2 – Marking Up Text">
  <a:themeElements>
    <a:clrScheme name="HTML W1·L2 – Marking Up Text">
      <a:dk1>
        <a:srgbClr val="16202E"/>
      </a:dk1>
      <a:lt1>
        <a:srgbClr val="F7F5F0"/>
      </a:lt1>
      <a:dk2>
        <a:srgbClr val="4E555F"/>
      </a:dk2>
      <a:lt2>
        <a:srgbClr val="E1E0DD"/>
      </a:lt2>
      <a:accent1>
        <a:srgbClr val="C2410C"/>
      </a:accent1>
      <a:accent2>
        <a:srgbClr val="FF9E64"/>
      </a:accent2>
      <a:accent3>
        <a:srgbClr val="1D4ED8"/>
      </a:accent3>
      <a:accent4>
        <a:srgbClr val="B42318"/>
      </a:accent4>
      <a:accent5>
        <a:srgbClr val="3F7A1E"/>
      </a:accent5>
      <a:accent6>
        <a:srgbClr val="667085"/>
      </a:accent6>
      <a:hlink>
        <a:srgbClr val="0563C1"/>
      </a:hlink>
      <a:folHlink>
        <a:srgbClr val="954F72"/>
      </a:folHlink>
    </a:clrScheme>
    <a:fontScheme name="HTML W1·L2 – Marking Up Tex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W1·L2 – Marking Up Text</dc:title>
  <dc:subject/>
  <dc:creator/>
  <cp:lastModifiedBy/>
  <cp:revision>1</cp:revision>
  <dcterms:created xsi:type="dcterms:W3CDTF">2026-10-24T07:33:49Z</dcterms:created>
  <dcterms:modified xsi:type="dcterms:W3CDTF">2026-10-24T07:33:49Z</dcterms:modified>
</cp:coreProperties>
</file>