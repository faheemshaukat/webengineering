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AD55-DAB1-42D6-97B7-01A363E7D52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F1405-5CAC-4071-AAD0-6FBE255D1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8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AD55-DAB1-42D6-97B7-01A363E7D52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F1405-5CAC-4071-AAD0-6FBE255D1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417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AD55-DAB1-42D6-97B7-01A363E7D52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F1405-5CAC-4071-AAD0-6FBE255D1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4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AD55-DAB1-42D6-97B7-01A363E7D52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F1405-5CAC-4071-AAD0-6FBE255D1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77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AD55-DAB1-42D6-97B7-01A363E7D52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F1405-5CAC-4071-AAD0-6FBE255D1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1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AD55-DAB1-42D6-97B7-01A363E7D52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F1405-5CAC-4071-AAD0-6FBE255D1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03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AD55-DAB1-42D6-97B7-01A363E7D52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F1405-5CAC-4071-AAD0-6FBE255D1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85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AD55-DAB1-42D6-97B7-01A363E7D52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F1405-5CAC-4071-AAD0-6FBE255D1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398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AD55-DAB1-42D6-97B7-01A363E7D52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F1405-5CAC-4071-AAD0-6FBE255D1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471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AD55-DAB1-42D6-97B7-01A363E7D52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F1405-5CAC-4071-AAD0-6FBE255D1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64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AD55-DAB1-42D6-97B7-01A363E7D52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F1405-5CAC-4071-AAD0-6FBE255D1B1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4967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AD55-DAB1-42D6-97B7-01A363E7D52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F1405-5CAC-4071-AAD0-6FBE255D1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968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AD55-DAB1-42D6-97B7-01A363E7D52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F1405-5CAC-4071-AAD0-6FBE255D1B1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2429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AD55-DAB1-42D6-97B7-01A363E7D52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F1405-5CAC-4071-AAD0-6FBE255D1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211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AD55-DAB1-42D6-97B7-01A363E7D52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F1405-5CAC-4071-AAD0-6FBE255D1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63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AD55-DAB1-42D6-97B7-01A363E7D52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F1405-5CAC-4071-AAD0-6FBE255D1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973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63FB-C5AF-400E-8472-2949D8303CD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750A-1C7A-4B4C-93BC-CA489D8CC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65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DAD55-DAB1-42D6-97B7-01A363E7D526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8FF1405-5CAC-4071-AAD0-6FBE255D1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8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6608" y="1664898"/>
            <a:ext cx="8012502" cy="3726612"/>
          </a:xfrm>
        </p:spPr>
        <p:txBody>
          <a:bodyPr>
            <a:noAutofit/>
          </a:bodyPr>
          <a:lstStyle/>
          <a:p>
            <a:pPr algn="ctr"/>
            <a:r>
              <a:rPr lang="en-US" sz="5400" dirty="0" smtClean="0"/>
              <a:t>Web Development </a:t>
            </a:r>
            <a:br>
              <a:rPr lang="en-US" sz="5400" dirty="0" smtClean="0"/>
            </a:br>
            <a:r>
              <a:rPr lang="en-US" sz="5400" dirty="0" smtClean="0"/>
              <a:t>From </a:t>
            </a:r>
            <a:r>
              <a:rPr lang="en-US" sz="5400" dirty="0"/>
              <a:t>Fundamentals to Modern Practices</a:t>
            </a:r>
          </a:p>
        </p:txBody>
      </p:sp>
    </p:spTree>
    <p:extLst>
      <p:ext uri="{BB962C8B-B14F-4D97-AF65-F5344CB8AC3E}">
        <p14:creationId xmlns:p14="http://schemas.microsoft.com/office/powerpoint/2010/main" val="3557249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Lecture Agenda &amp;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Part 1: Core Web Foundations (Architecture, HTML, CSS)</a:t>
            </a:r>
          </a:p>
          <a:p>
            <a:pPr lvl="0"/>
            <a:r>
              <a:rPr lang="en-US"/>
              <a:t>Part 2: Interactivity &amp; Logic (JavaScript &amp; Frontend Frameworks)</a:t>
            </a:r>
          </a:p>
          <a:p>
            <a:pPr lvl="0"/>
            <a:r>
              <a:rPr lang="en-US"/>
              <a:t>Part 3: The Server-Side (Backend, Databases, APIs)</a:t>
            </a:r>
          </a:p>
          <a:p>
            <a:pPr lvl="0"/>
            <a:r>
              <a:rPr lang="en-US"/>
              <a:t>Part 4: Production &amp; Best Practices (Security, Performance, Deployment)</a:t>
            </a:r>
          </a:p>
        </p:txBody>
      </p:sp>
    </p:spTree>
    <p:extLst>
      <p:ext uri="{BB962C8B-B14F-4D97-AF65-F5344CB8AC3E}">
        <p14:creationId xmlns:p14="http://schemas.microsoft.com/office/powerpoint/2010/main" val="1001026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Introduction to Web Development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Defining the Full-Stack Ecosystem:</a:t>
            </a:r>
          </a:p>
          <a:p>
            <a:pPr lvl="1"/>
            <a:r>
              <a:rPr lang="en-US"/>
              <a:t>Frontend (Client-Side): The interface executed within the user's browser, focusing on UI/UX and accessibility.</a:t>
            </a:r>
          </a:p>
          <a:p>
            <a:pPr lvl="1"/>
            <a:r>
              <a:rPr lang="en-US"/>
              <a:t>Backend (Server-Side): The remote environment handling business logic, authentication, and request routing.</a:t>
            </a:r>
          </a:p>
          <a:p>
            <a:pPr lvl="1"/>
            <a:r>
              <a:rPr lang="en-US"/>
              <a:t>Database Tier: The persistent storage mechanism for application data and user records.</a:t>
            </a:r>
          </a:p>
        </p:txBody>
      </p:sp>
    </p:spTree>
    <p:extLst>
      <p:ext uri="{BB962C8B-B14F-4D97-AF65-F5344CB8AC3E}">
        <p14:creationId xmlns:p14="http://schemas.microsoft.com/office/powerpoint/2010/main" val="1519800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Developer Ecosystem &amp; Roles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Frontend Engineer: Focuses on browser rendering, DOM manipulation, responsive design, and state management.</a:t>
            </a:r>
          </a:p>
          <a:p>
            <a:pPr lvl="0"/>
            <a:r>
              <a:rPr lang="en-US"/>
              <a:t>Backend Engineer: Focuses on API design, server architecture, data modeling, and system security.</a:t>
            </a:r>
          </a:p>
          <a:p>
            <a:pPr lvl="0"/>
            <a:r>
              <a:rPr lang="en-US"/>
              <a:t>Full-Stack Engineer: Understands the complete request lifecycle, bridging the gap between database schema and user interface.</a:t>
            </a:r>
          </a:p>
        </p:txBody>
      </p:sp>
    </p:spTree>
    <p:extLst>
      <p:ext uri="{BB962C8B-B14F-4D97-AF65-F5344CB8AC3E}">
        <p14:creationId xmlns:p14="http://schemas.microsoft.com/office/powerpoint/2010/main" val="317554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Web Architecture &amp; Protocols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The Client-Server Model:</a:t>
            </a:r>
          </a:p>
          <a:p>
            <a:pPr lvl="1"/>
            <a:r>
              <a:rPr lang="en-US"/>
              <a:t>Clients (Browsers/Mobile Apps) initiate communication by sending HTTP requests.</a:t>
            </a:r>
          </a:p>
          <a:p>
            <a:pPr lvl="1"/>
            <a:r>
              <a:rPr lang="en-US"/>
              <a:t>Servers (Remote Computers) listen on specific ports, process requests, and return HTTP responses.</a:t>
            </a:r>
          </a:p>
          <a:p>
            <a:pPr lvl="0"/>
            <a:r>
              <a:rPr lang="en-US"/>
              <a:t>Statelessness: By default, the server does not remember previous requests; each transaction is independent.</a:t>
            </a:r>
          </a:p>
        </p:txBody>
      </p:sp>
    </p:spTree>
    <p:extLst>
      <p:ext uri="{BB962C8B-B14F-4D97-AF65-F5344CB8AC3E}">
        <p14:creationId xmlns:p14="http://schemas.microsoft.com/office/powerpoint/2010/main" val="616768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 Networking Protocols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HTTP/HTTPS (HyperText Transfer Protocol Secure): The application-layer protocol dictating how web data is formatted and transmitted.</a:t>
            </a:r>
          </a:p>
          <a:p>
            <a:pPr lvl="0"/>
            <a:r>
              <a:rPr lang="en-US"/>
              <a:t>TCP/IP (Transmission Control Protocol/Internet Protocol): The foundational transport and routing rules that guarantee packet delivery across the internet.</a:t>
            </a:r>
          </a:p>
          <a:p>
            <a:pPr lvl="0"/>
            <a:r>
              <a:rPr lang="en-US"/>
              <a:t>DNS (Domain Name System): The hierarchical, decentralized naming system that translates human-readable domain names into IP addresses.</a:t>
            </a:r>
          </a:p>
        </p:txBody>
      </p:sp>
    </p:spTree>
    <p:extLst>
      <p:ext uri="{BB962C8B-B14F-4D97-AF65-F5344CB8AC3E}">
        <p14:creationId xmlns:p14="http://schemas.microsoft.com/office/powerpoint/2010/main" val="1653471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HTML Fundamentals (HyperText Markup Language)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The Structure of the Web: HTML is a markup language, not a programming language; it defines the semantic structure of a document.</a:t>
            </a:r>
          </a:p>
          <a:p>
            <a:pPr lvl="0"/>
            <a:r>
              <a:rPr lang="en-US"/>
              <a:t>The DOM Tree: Browsers parse HTML to create the Document Object Model, a hierarchical tree of nodes representing the page.</a:t>
            </a:r>
          </a:p>
          <a:p>
            <a:pPr lvl="0"/>
            <a:r>
              <a:rPr lang="en-US"/>
              <a:t>Syntax Components: Composed of Elements, Opening/Closing Tags, and Attributes (e.g., class, id, src, href).</a:t>
            </a:r>
          </a:p>
        </p:txBody>
      </p:sp>
    </p:spTree>
    <p:extLst>
      <p:ext uri="{BB962C8B-B14F-4D97-AF65-F5344CB8AC3E}">
        <p14:creationId xmlns:p14="http://schemas.microsoft.com/office/powerpoint/2010/main" val="3104745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Semantic HTML &amp; Accessibility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Semantic Tags: Using elements like &lt;header&gt;, &lt;nav&gt;, &lt;main&gt;, &lt;article&gt;, and &lt;footer&gt; instead of generic &lt;div&gt; tags.</a:t>
            </a:r>
          </a:p>
          <a:p>
            <a:pPr lvl="0"/>
            <a:r>
              <a:rPr lang="en-US"/>
              <a:t>Accessibility (a11y): Semantic HTML is critical for screen readers, allowing visually impaired users to navigate the structure.</a:t>
            </a:r>
          </a:p>
          <a:p>
            <a:pPr lvl="0"/>
            <a:r>
              <a:rPr lang="en-US"/>
              <a:t>SEO Benefits: Search engine crawlers prioritize semantic tags to understand the context and hierarchy of page content.</a:t>
            </a:r>
          </a:p>
        </p:txBody>
      </p:sp>
    </p:spTree>
    <p:extLst>
      <p:ext uri="{BB962C8B-B14F-4D97-AF65-F5344CB8AC3E}">
        <p14:creationId xmlns:p14="http://schemas.microsoft.com/office/powerpoint/2010/main" val="3204554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CSS Fundamentals (Cascading Style Sheets)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Separation of Concerns: CSS decouples the visual presentation (colors, layouts, typography) from the document structure (HTML).</a:t>
            </a:r>
          </a:p>
          <a:p>
            <a:pPr lvl="0"/>
            <a:r>
              <a:rPr lang="en-US"/>
              <a:t>The Cascade &amp; Specificity: Browsers apply styles based on source order and selector specificity (Inline &gt; IDs &gt; Classes &gt; Elements).</a:t>
            </a:r>
          </a:p>
          <a:p>
            <a:pPr lvl="0"/>
            <a:r>
              <a:rPr lang="en-US"/>
              <a:t>Selectors: Targeting DOM nodes using Element selectors, Class selectors (.), ID selectors (#), and Pseudo-classes (:hover).</a:t>
            </a:r>
          </a:p>
        </p:txBody>
      </p:sp>
    </p:spTree>
    <p:extLst>
      <p:ext uri="{BB962C8B-B14F-4D97-AF65-F5344CB8AC3E}">
        <p14:creationId xmlns:p14="http://schemas.microsoft.com/office/powerpoint/2010/main" val="3856624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CSS Box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The Foundation of Layout: Every HTML element is rendered as a rectangular box by the browser engine.</a:t>
            </a:r>
          </a:p>
          <a:p>
            <a:pPr lvl="0"/>
            <a:r>
              <a:rPr lang="en-US"/>
              <a:t>Box Components (Inside to Outside):</a:t>
            </a:r>
          </a:p>
          <a:p>
            <a:pPr lvl="1"/>
            <a:r>
              <a:rPr lang="en-US"/>
              <a:t>Content Box: The actual text, image, or child elements.</a:t>
            </a:r>
          </a:p>
          <a:p>
            <a:pPr lvl="1"/>
            <a:r>
              <a:rPr lang="en-US"/>
              <a:t>Padding: Transparent space between the content and the border.</a:t>
            </a:r>
          </a:p>
          <a:p>
            <a:pPr lvl="1"/>
            <a:r>
              <a:rPr lang="en-US"/>
              <a:t>Border: The line surrounding the padding.</a:t>
            </a:r>
          </a:p>
          <a:p>
            <a:pPr lvl="1"/>
            <a:r>
              <a:rPr lang="en-US"/>
              <a:t>Margin: Transparent space outside the border, pushing other elements away.</a:t>
            </a:r>
          </a:p>
        </p:txBody>
      </p:sp>
    </p:spTree>
    <p:extLst>
      <p:ext uri="{BB962C8B-B14F-4D97-AF65-F5344CB8AC3E}">
        <p14:creationId xmlns:p14="http://schemas.microsoft.com/office/powerpoint/2010/main" val="3494644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Advanced CSS &amp; Responsive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Responsive Web Design (RWD): Ensuring layouts adapt dynamically to varying viewport sizes (desktop, tablet, mobile).</a:t>
            </a:r>
          </a:p>
          <a:p>
            <a:pPr lvl="0"/>
            <a:r>
              <a:rPr lang="en-US"/>
              <a:t>Mobile-First Approach: Designing baseline styles for small screens first, then progressively enhancing for larger screens.</a:t>
            </a:r>
          </a:p>
          <a:p>
            <a:pPr lvl="0"/>
            <a:r>
              <a:rPr lang="en-US"/>
              <a:t>Media Queries: Conditional CSS rules applied only when specific viewport conditions are met (e.g., @media (min-width: 768px)).</a:t>
            </a:r>
          </a:p>
        </p:txBody>
      </p:sp>
    </p:spTree>
    <p:extLst>
      <p:ext uri="{BB962C8B-B14F-4D97-AF65-F5344CB8AC3E}">
        <p14:creationId xmlns:p14="http://schemas.microsoft.com/office/powerpoint/2010/main" val="2798413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Modern CSS Layout Systems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Flexbox (Flexible Box Layout): </a:t>
            </a:r>
          </a:p>
          <a:p>
            <a:pPr lvl="1"/>
            <a:r>
              <a:rPr lang="en-US"/>
              <a:t>A one-dimensional layout model.</a:t>
            </a:r>
          </a:p>
          <a:p>
            <a:pPr lvl="1"/>
            <a:r>
              <a:rPr lang="en-US"/>
              <a:t>Optimized for distributing space and aligning items within a single row or a single column.</a:t>
            </a:r>
          </a:p>
          <a:p>
            <a:pPr lvl="0"/>
            <a:r>
              <a:rPr lang="en-US"/>
              <a:t>CSS Grid Layout: </a:t>
            </a:r>
          </a:p>
          <a:p>
            <a:pPr lvl="1"/>
            <a:r>
              <a:rPr lang="en-US"/>
              <a:t>A two-dimensional layout model.</a:t>
            </a:r>
          </a:p>
          <a:p>
            <a:pPr lvl="1"/>
            <a:r>
              <a:rPr lang="en-US"/>
              <a:t>Allows developers to define complex grid structures with precise control over both rows and columns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640631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JavaScript Fundamentals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The Engine of the Web: JavaScript is a high-level, dynamically typed scripting language that executes in the browser.</a:t>
            </a:r>
          </a:p>
          <a:p>
            <a:pPr lvl="0"/>
            <a:r>
              <a:rPr lang="en-US"/>
              <a:t>Core Language Features:</a:t>
            </a:r>
          </a:p>
          <a:p>
            <a:pPr lvl="1"/>
            <a:r>
              <a:rPr lang="en-US"/>
              <a:t>Variables &amp; Scope (let, const, var).</a:t>
            </a:r>
          </a:p>
          <a:p>
            <a:pPr lvl="1"/>
            <a:r>
              <a:rPr lang="en-US"/>
              <a:t>Primitive Data Types (String, Number, Boolean, Null, Undefined) vs. Reference Types (Objects, Arrays).</a:t>
            </a:r>
          </a:p>
          <a:p>
            <a:pPr lvl="1"/>
            <a:r>
              <a:rPr lang="en-US"/>
              <a:t>Control Flow (if/else, switch, for/while loops).</a:t>
            </a:r>
          </a:p>
        </p:txBody>
      </p:sp>
    </p:spTree>
    <p:extLst>
      <p:ext uri="{BB962C8B-B14F-4D97-AF65-F5344CB8AC3E}">
        <p14:creationId xmlns:p14="http://schemas.microsoft.com/office/powerpoint/2010/main" val="3170477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 &amp; DOM Manipulation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Functions as First-Class Citizens: Functions can be assigned to variables, passed as arguments, and returned from other functions.</a:t>
            </a:r>
          </a:p>
          <a:p>
            <a:pPr lvl="0"/>
            <a:r>
              <a:rPr lang="en-US"/>
              <a:t>DOM API: JavaScript's interface for interacting with HTML.</a:t>
            </a:r>
          </a:p>
          <a:p>
            <a:pPr lvl="1"/>
            <a:r>
              <a:rPr lang="en-US"/>
              <a:t>Selecting nodes: document.getElementById(), document.querySelector().</a:t>
            </a:r>
          </a:p>
          <a:p>
            <a:pPr lvl="1"/>
            <a:r>
              <a:rPr lang="en-US"/>
              <a:t>Event Listeners: Executing code in response to user actions (clicks, keypresses, scrolls).</a:t>
            </a:r>
          </a:p>
        </p:txBody>
      </p:sp>
    </p:spTree>
    <p:extLst>
      <p:ext uri="{BB962C8B-B14F-4D97-AF65-F5344CB8AC3E}">
        <p14:creationId xmlns:p14="http://schemas.microsoft.com/office/powerpoint/2010/main" val="1487577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Advanced JavaScript Concepts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Modern ES6+ Syntax:</a:t>
            </a:r>
          </a:p>
          <a:p>
            <a:pPr lvl="1"/>
            <a:r>
              <a:rPr lang="en-US"/>
              <a:t>Arrow Functions: Concise syntax and lexical 'this' binding.</a:t>
            </a:r>
          </a:p>
          <a:p>
            <a:pPr lvl="1"/>
            <a:r>
              <a:rPr lang="en-US"/>
              <a:t>Destructuring: Unpacking values from arrays or properties from objects into distinct variables.</a:t>
            </a:r>
          </a:p>
          <a:p>
            <a:pPr lvl="1"/>
            <a:r>
              <a:rPr lang="en-US"/>
              <a:t>Template Literals: String interpolation using backticks.</a:t>
            </a:r>
          </a:p>
          <a:p>
            <a:pPr lvl="0"/>
            <a:r>
              <a:rPr lang="en-US"/>
              <a:t>Closures: A function's ability to remember and access its lexical scope even when executing outside that scope.</a:t>
            </a:r>
          </a:p>
        </p:txBody>
      </p:sp>
    </p:spTree>
    <p:extLst>
      <p:ext uri="{BB962C8B-B14F-4D97-AF65-F5344CB8AC3E}">
        <p14:creationId xmlns:p14="http://schemas.microsoft.com/office/powerpoint/2010/main" val="4190063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Asynchronous JavaScript &amp; The Event Loop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The Single-Threaded Nature of JS: JavaScript can only execute one command at a time on the main thread.</a:t>
            </a:r>
          </a:p>
          <a:p>
            <a:pPr lvl="0"/>
            <a:r>
              <a:rPr lang="en-US"/>
              <a:t>Handling Blocking Operations: Network requests or timers must not freeze the UI.</a:t>
            </a:r>
          </a:p>
          <a:p>
            <a:pPr lvl="0"/>
            <a:r>
              <a:rPr lang="en-US"/>
              <a:t>Asynchronous Patterns:</a:t>
            </a:r>
          </a:p>
          <a:p>
            <a:pPr lvl="1"/>
            <a:r>
              <a:rPr lang="en-US"/>
              <a:t>Callbacks: Passing functions to execute upon completion (prone to "Callback Hell").</a:t>
            </a:r>
          </a:p>
          <a:p>
            <a:pPr lvl="1"/>
            <a:r>
              <a:rPr lang="en-US"/>
              <a:t>Promises: Objects representing the eventual completion or failure of an async operation.</a:t>
            </a:r>
          </a:p>
          <a:p>
            <a:pPr lvl="1"/>
            <a:r>
              <a:rPr lang="en-US"/>
              <a:t>Async/Await: Syntactic sugar for writing asynchronous code that reads like synchronous code.</a:t>
            </a:r>
          </a:p>
        </p:txBody>
      </p:sp>
    </p:spTree>
    <p:extLst>
      <p:ext uri="{BB962C8B-B14F-4D97-AF65-F5344CB8AC3E}">
        <p14:creationId xmlns:p14="http://schemas.microsoft.com/office/powerpoint/2010/main" val="497720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8. Frontend Frameworks &amp; Libraries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The Limits of Vanilla JS: As applications scale, manually updating the DOM and managing state becomes inefficient and bug-prone.</a:t>
            </a:r>
          </a:p>
          <a:p>
            <a:pPr lvl="0"/>
            <a:r>
              <a:rPr lang="en-US"/>
              <a:t>Component-Based Architecture: Encapsulating HTML, CSS, and JS into reusable, independent UI building blocks.</a:t>
            </a:r>
          </a:p>
          <a:p>
            <a:pPr lvl="0"/>
            <a:r>
              <a:rPr lang="en-US"/>
              <a:t>The Virtual DOM: An in-memory representation of the real DOM. Frameworks diff the Virtual DOM against updates to minimize expensive real DOM repaints.</a:t>
            </a:r>
          </a:p>
        </p:txBody>
      </p:sp>
    </p:spTree>
    <p:extLst>
      <p:ext uri="{BB962C8B-B14F-4D97-AF65-F5344CB8AC3E}">
        <p14:creationId xmlns:p14="http://schemas.microsoft.com/office/powerpoint/2010/main" val="1481740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Modern Frontend Ecosystem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React (Meta): A declarative, component-based library utilizing JSX (JavaScript XML) and a unidirectional data flow.</a:t>
            </a:r>
          </a:p>
          <a:p>
            <a:pPr lvl="0"/>
            <a:r>
              <a:rPr lang="en-US"/>
              <a:t>Angular (Google): A comprehensive, opinionated framework utilizing TypeScript, dependency injection, and two-way data binding.</a:t>
            </a:r>
          </a:p>
          <a:p>
            <a:pPr lvl="0"/>
            <a:r>
              <a:rPr lang="en-US"/>
              <a:t>Vue.js: A progressive framework designed to be incrementally adoptable, balancing Angular's structure with React's flexibility.</a:t>
            </a:r>
          </a:p>
        </p:txBody>
      </p:sp>
    </p:spTree>
    <p:extLst>
      <p:ext uri="{BB962C8B-B14F-4D97-AF65-F5344CB8AC3E}">
        <p14:creationId xmlns:p14="http://schemas.microsoft.com/office/powerpoint/2010/main" val="45615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9. Backend Development Fundamentals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The Server Environment: The secure infrastructure where application logic, data processing, and integrations reside.</a:t>
            </a:r>
          </a:p>
          <a:p>
            <a:pPr lvl="0"/>
            <a:r>
              <a:rPr lang="en-US"/>
              <a:t>Core Backend Responsibilities:</a:t>
            </a:r>
          </a:p>
          <a:p>
            <a:pPr lvl="1"/>
            <a:r>
              <a:rPr lang="en-US"/>
              <a:t>Listening for incoming HTTP requests.</a:t>
            </a:r>
          </a:p>
          <a:p>
            <a:pPr lvl="1"/>
            <a:r>
              <a:rPr lang="en-US"/>
              <a:t>Validating and sanitizing client data.</a:t>
            </a:r>
          </a:p>
          <a:p>
            <a:pPr lvl="1"/>
            <a:r>
              <a:rPr lang="en-US"/>
              <a:t>Interacting with the database layer.</a:t>
            </a:r>
          </a:p>
          <a:p>
            <a:pPr lvl="1"/>
            <a:r>
              <a:rPr lang="en-US"/>
              <a:t>Constructing and returning the appropriate HTTP response (JSON, XML, or HTML).</a:t>
            </a:r>
          </a:p>
        </p:txBody>
      </p:sp>
    </p:spTree>
    <p:extLst>
      <p:ext uri="{BB962C8B-B14F-4D97-AF65-F5344CB8AC3E}">
        <p14:creationId xmlns:p14="http://schemas.microsoft.com/office/powerpoint/2010/main" val="3122680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Backend Architecture Patterns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Monolithic Architecture: The entire application (UI, business logic, data access) is unified and deployed as a single codebase.</a:t>
            </a:r>
          </a:p>
          <a:p>
            <a:pPr lvl="0"/>
            <a:r>
              <a:rPr lang="en-US"/>
              <a:t>Microservices Architecture: The application is decoupled into small, independent services communicating over APIs, allowing independent scaling.</a:t>
            </a:r>
          </a:p>
          <a:p>
            <a:pPr lvl="0"/>
            <a:r>
              <a:rPr lang="en-US"/>
              <a:t>Model-View-Controller (MVC): A design pattern separating internal data representations (Model) from presentation (View) and routing logic (Controller).</a:t>
            </a:r>
          </a:p>
        </p:txBody>
      </p:sp>
    </p:spTree>
    <p:extLst>
      <p:ext uri="{BB962C8B-B14F-4D97-AF65-F5344CB8AC3E}">
        <p14:creationId xmlns:p14="http://schemas.microsoft.com/office/powerpoint/2010/main" val="2208393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10. Server-Side Programming Languages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Enterprise &amp; Object-Oriented Standards:</a:t>
            </a:r>
          </a:p>
          <a:p>
            <a:pPr lvl="1"/>
            <a:r>
              <a:rPr lang="en-US"/>
              <a:t>Java (Spring Boot): Highly concurrent, strictly typed, and robust. A standard for large-scale enterprise systems.</a:t>
            </a:r>
          </a:p>
          <a:p>
            <a:pPr lvl="1"/>
            <a:r>
              <a:rPr lang="en-US"/>
              <a:t>C# (ASP.NET): Microsoft's powerful framework, offering deep integration, high performance, and strong type safety.</a:t>
            </a:r>
          </a:p>
          <a:p>
            <a:pPr lvl="0"/>
            <a:r>
              <a:rPr lang="en-US"/>
              <a:t>Scripting &amp; Event-Driven Environments:</a:t>
            </a:r>
          </a:p>
          <a:p>
            <a:pPr lvl="1"/>
            <a:r>
              <a:rPr lang="en-US"/>
              <a:t>Node.js: Built on Chrome's V8 engine, enabling non-blocking, event-driven JavaScript execution on the server.</a:t>
            </a:r>
          </a:p>
          <a:p>
            <a:pPr lvl="1"/>
            <a:r>
              <a:rPr lang="en-US"/>
              <a:t>Python (Django/Flask): Highly readable syntax, preferred for data-science integrations and rapid prototyping.</a:t>
            </a:r>
          </a:p>
        </p:txBody>
      </p:sp>
    </p:spTree>
    <p:extLst>
      <p:ext uri="{BB962C8B-B14F-4D97-AF65-F5344CB8AC3E}">
        <p14:creationId xmlns:p14="http://schemas.microsoft.com/office/powerpoint/2010/main" val="3286466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11. Databases for Web Applications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The Persistence Layer: Servers are stateless; databases are required to permanently store application states and user data.</a:t>
            </a:r>
          </a:p>
          <a:p>
            <a:pPr lvl="0"/>
            <a:r>
              <a:rPr lang="en-US"/>
              <a:t>Relational Databases (SQL):</a:t>
            </a:r>
          </a:p>
          <a:p>
            <a:pPr lvl="1"/>
            <a:r>
              <a:rPr lang="en-US"/>
              <a:t>Data is highly structured into predefined tables with strict schemas.</a:t>
            </a:r>
          </a:p>
          <a:p>
            <a:pPr lvl="1"/>
            <a:r>
              <a:rPr lang="en-US"/>
              <a:t>Enforces ACID properties (Atomicity, Consistency, Isolation, Durability).</a:t>
            </a:r>
          </a:p>
          <a:p>
            <a:pPr lvl="1"/>
            <a:r>
              <a:rPr lang="en-US"/>
              <a:t>Examples: PostgreSQL, MySQL, Microsoft SQL Server.</a:t>
            </a:r>
          </a:p>
        </p:txBody>
      </p:sp>
    </p:spTree>
    <p:extLst>
      <p:ext uri="{BB962C8B-B14F-4D97-AF65-F5344CB8AC3E}">
        <p14:creationId xmlns:p14="http://schemas.microsoft.com/office/powerpoint/2010/main" val="2040142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Non-Relational Databases (NoSQL)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The Document Model: Data is stored in flexible, JSON-like documents without rigid table schemas.</a:t>
            </a:r>
          </a:p>
          <a:p>
            <a:pPr lvl="0"/>
            <a:r>
              <a:rPr lang="en-US"/>
              <a:t>Key Advantages: Excellent for unstructured data, rapid iterative development, and horizontal scaling.</a:t>
            </a:r>
          </a:p>
          <a:p>
            <a:pPr lvl="0"/>
            <a:r>
              <a:rPr lang="en-US"/>
              <a:t>Examples: MongoDB (Document store), Redis (In-memory Key-Value store), Firebase (Real-time sync).</a:t>
            </a:r>
          </a:p>
          <a:p>
            <a:pPr lvl="0"/>
            <a:r>
              <a:rPr lang="en-US"/>
              <a:t>Core Operations (CRUD): Create, Read, Update, Delete.</a:t>
            </a:r>
          </a:p>
        </p:txBody>
      </p:sp>
    </p:spTree>
    <p:extLst>
      <p:ext uri="{BB962C8B-B14F-4D97-AF65-F5344CB8AC3E}">
        <p14:creationId xmlns:p14="http://schemas.microsoft.com/office/powerpoint/2010/main" val="2955522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12. Web Security Fundamentals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The Threat Landscape: Web applications are constant targets; security must be integrated at the architectural level.</a:t>
            </a:r>
          </a:p>
          <a:p>
            <a:pPr lvl="0"/>
            <a:r>
              <a:rPr lang="en-US"/>
              <a:t>OWASP Top 10 Vulnerabilities:</a:t>
            </a:r>
          </a:p>
          <a:p>
            <a:pPr lvl="1"/>
            <a:r>
              <a:rPr lang="en-US"/>
              <a:t>SQL Injection: Maliciously crafted inputs executed as database commands.</a:t>
            </a:r>
          </a:p>
          <a:p>
            <a:pPr lvl="1"/>
            <a:r>
              <a:rPr lang="en-US"/>
              <a:t>Cross-Site Scripting (XSS): Injecting malicious client-side scripts into web pages viewed by others.</a:t>
            </a:r>
          </a:p>
          <a:p>
            <a:pPr lvl="1"/>
            <a:r>
              <a:rPr lang="en-US"/>
              <a:t>Cross-Site Request Forgery (CSRF): Forcing an authenticated user to execute unwanted actions.</a:t>
            </a:r>
          </a:p>
        </p:txBody>
      </p:sp>
    </p:spTree>
    <p:extLst>
      <p:ext uri="{BB962C8B-B14F-4D97-AF65-F5344CB8AC3E}">
        <p14:creationId xmlns:p14="http://schemas.microsoft.com/office/powerpoint/2010/main" val="740364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Implementing Security Best Practices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Input Sanitization: Never trust client data. Validate and sanitize all inputs on the backend before processing.</a:t>
            </a:r>
          </a:p>
          <a:p>
            <a:pPr lvl="0"/>
            <a:r>
              <a:rPr lang="en-US"/>
              <a:t>Authentication vs. Authorization: Verifying identity (AuthN) vs. verifying access rights (AuthZ).</a:t>
            </a:r>
          </a:p>
          <a:p>
            <a:pPr lvl="0"/>
            <a:r>
              <a:rPr lang="en-US"/>
              <a:t>Stateless Authentication: Using JSON Web Tokens (JWT) for secure, scalable session management.</a:t>
            </a:r>
          </a:p>
          <a:p>
            <a:pPr lvl="0"/>
            <a:r>
              <a:rPr lang="en-US"/>
              <a:t>Data Protection: Enforcing HTTPS (TLS/SSL) for data in transit and hashing passwords (e.g., Bcrypt) for data at rest.</a:t>
            </a:r>
          </a:p>
        </p:txBody>
      </p:sp>
    </p:spTree>
    <p:extLst>
      <p:ext uri="{BB962C8B-B14F-4D97-AF65-F5344CB8AC3E}">
        <p14:creationId xmlns:p14="http://schemas.microsoft.com/office/powerpoint/2010/main" val="28555126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13. Web Performance &amp; Optimization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The Business Impact of Performance: Latency directly correlates with user abandonment and lower search engine rankings.</a:t>
            </a:r>
          </a:p>
          <a:p>
            <a:pPr lvl="0"/>
            <a:r>
              <a:rPr lang="en-US"/>
              <a:t>Core Web Vitals:</a:t>
            </a:r>
          </a:p>
          <a:p>
            <a:pPr lvl="1"/>
            <a:r>
              <a:rPr lang="en-US"/>
              <a:t>Largest Contentful Paint (LCP): Measures loading performance.</a:t>
            </a:r>
          </a:p>
          <a:p>
            <a:pPr lvl="1"/>
            <a:r>
              <a:rPr lang="en-US"/>
              <a:t>First Input Delay (FID): Measures interactivity and main-thread blocking.</a:t>
            </a:r>
          </a:p>
          <a:p>
            <a:pPr lvl="1"/>
            <a:r>
              <a:rPr lang="en-US"/>
              <a:t>Cumulative Layout Shift (CLS): Measures visual stability to prevent unexpected UI shifts.</a:t>
            </a:r>
          </a:p>
        </p:txBody>
      </p:sp>
    </p:spTree>
    <p:extLst>
      <p:ext uri="{BB962C8B-B14F-4D97-AF65-F5344CB8AC3E}">
        <p14:creationId xmlns:p14="http://schemas.microsoft.com/office/powerpoint/2010/main" val="3907675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Advanced Optimization Techniques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Asset Delivery: Minifying HTML/CSS/JS, utilizing tree-shaking to remove dead code, and serving modern image formats (WebP).</a:t>
            </a:r>
          </a:p>
          <a:p>
            <a:pPr lvl="0"/>
            <a:r>
              <a:rPr lang="en-US"/>
              <a:t>Caching Strategies: Implementing browser caching headers and server-side caching (Redis) to avoid redundant database queries.</a:t>
            </a:r>
          </a:p>
          <a:p>
            <a:pPr lvl="0"/>
            <a:r>
              <a:rPr lang="en-US"/>
              <a:t>Content Delivery Networks (CDNs): Distributing static assets across a global network of edge servers to reduce geographic latency.</a:t>
            </a:r>
          </a:p>
          <a:p>
            <a:pPr lvl="0"/>
            <a:r>
              <a:rPr lang="en-US"/>
              <a:t>Lazy Loading: Deferring the initialization of non-critical resources until they enter the browser's viewport.</a:t>
            </a:r>
          </a:p>
        </p:txBody>
      </p:sp>
    </p:spTree>
    <p:extLst>
      <p:ext uri="{BB962C8B-B14F-4D97-AF65-F5344CB8AC3E}">
        <p14:creationId xmlns:p14="http://schemas.microsoft.com/office/powerpoint/2010/main" val="64412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14. Web Testing &amp; Quality Assurance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The Cost of Bugs: Identifying defects early in the development lifecycle is exponentially cheaper than fixing them in production.</a:t>
            </a:r>
          </a:p>
          <a:p>
            <a:pPr lvl="0"/>
            <a:r>
              <a:rPr lang="en-US"/>
              <a:t>Testing Methodologies:</a:t>
            </a:r>
          </a:p>
          <a:p>
            <a:pPr lvl="1"/>
            <a:r>
              <a:rPr lang="en-US"/>
              <a:t>Unit Testing: Isolating and testing individual functions, methods, or components for expected outputs (e.g., using Jest or JUnit).</a:t>
            </a:r>
          </a:p>
          <a:p>
            <a:pPr lvl="1"/>
            <a:r>
              <a:rPr lang="en-US"/>
              <a:t>Integration Testing: Verifying that multiple disparate units (e.g., a controller and a database module) function correctly when combined.</a:t>
            </a:r>
          </a:p>
        </p:txBody>
      </p:sp>
    </p:spTree>
    <p:extLst>
      <p:ext uri="{BB962C8B-B14F-4D97-AF65-F5344CB8AC3E}">
        <p14:creationId xmlns:p14="http://schemas.microsoft.com/office/powerpoint/2010/main" val="2091525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End-to-End (E2E) and Automated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End-to-End Testing: Simulating real user scenarios across the entire software stack using browser automation tools (e.g., Cypress, Selenium).</a:t>
            </a:r>
          </a:p>
          <a:p>
            <a:pPr lvl="0"/>
            <a:r>
              <a:rPr lang="en-US"/>
              <a:t>Test-Driven Development (TDD): A software engineering practice where tests are written before the functional code.</a:t>
            </a:r>
          </a:p>
          <a:p>
            <a:pPr lvl="0"/>
            <a:r>
              <a:rPr lang="en-US"/>
              <a:t>Debugging: Utilizing browser DevTools for client-side issues and structured logging for server-side anomalies.</a:t>
            </a:r>
          </a:p>
        </p:txBody>
      </p:sp>
    </p:spTree>
    <p:extLst>
      <p:ext uri="{BB962C8B-B14F-4D97-AF65-F5344CB8AC3E}">
        <p14:creationId xmlns:p14="http://schemas.microsoft.com/office/powerpoint/2010/main" val="78411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15. Deployment &amp; Hosting Infrastructure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Provisioning Environments: Moving code from a local development machine to a publicly accessible production server.</a:t>
            </a:r>
          </a:p>
          <a:p>
            <a:pPr lvl="0"/>
            <a:r>
              <a:rPr lang="en-US"/>
              <a:t>Infrastructure Paradigms:</a:t>
            </a:r>
          </a:p>
          <a:p>
            <a:pPr lvl="1"/>
            <a:r>
              <a:rPr lang="en-US"/>
              <a:t>Infrastructure as a Service (IaaS): Raw computing power (AWS EC2, Google Compute Engine) requiring manual configuration.</a:t>
            </a:r>
          </a:p>
          <a:p>
            <a:pPr lvl="1"/>
            <a:r>
              <a:rPr lang="en-US"/>
              <a:t>Platform as a Service (PaaS): Managed environments (Heroku, Vercel) that abstract server configuration, focusing strictly on code deployment.</a:t>
            </a:r>
          </a:p>
        </p:txBody>
      </p:sp>
    </p:spTree>
    <p:extLst>
      <p:ext uri="{BB962C8B-B14F-4D97-AF65-F5344CB8AC3E}">
        <p14:creationId xmlns:p14="http://schemas.microsoft.com/office/powerpoint/2010/main" val="36063666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Continuous Integration &amp; Continuous Deployment (CI/CD)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Continuous Integration: Automatically merging code changes into a central repository, followed by automated builds and test runs.</a:t>
            </a:r>
          </a:p>
          <a:p>
            <a:pPr lvl="0"/>
            <a:r>
              <a:rPr lang="en-US"/>
              <a:t>Continuous Deployment: Automatically releasing verified, integrated code directly to the production environment.</a:t>
            </a:r>
          </a:p>
          <a:p>
            <a:pPr lvl="0"/>
            <a:r>
              <a:rPr lang="en-US"/>
              <a:t>Benefits: Reduces manual release errors, accelerates delivery speed, and ensures the main branch is always in a deployable state.</a:t>
            </a:r>
          </a:p>
        </p:txBody>
      </p:sp>
    </p:spTree>
    <p:extLst>
      <p:ext uri="{BB962C8B-B14F-4D97-AF65-F5344CB8AC3E}">
        <p14:creationId xmlns:p14="http://schemas.microsoft.com/office/powerpoint/2010/main" val="1644570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16. Web APIs &amp; System 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Application Programming Interfaces: Defined protocols allowing disparate software applications to communicate and share data.</a:t>
            </a:r>
          </a:p>
          <a:p>
            <a:pPr lvl="0"/>
            <a:r>
              <a:rPr lang="en-US"/>
              <a:t>REST (Representational State Transfer): </a:t>
            </a:r>
          </a:p>
          <a:p>
            <a:pPr lvl="1"/>
            <a:r>
              <a:rPr lang="en-US"/>
              <a:t>An architectural style using standard HTTP methods (GET, POST, PUT, DELETE).</a:t>
            </a:r>
          </a:p>
          <a:p>
            <a:pPr lvl="1"/>
            <a:r>
              <a:rPr lang="en-US"/>
              <a:t>Relies on stateless communication and resource-based URIs.</a:t>
            </a:r>
          </a:p>
          <a:p>
            <a:pPr lvl="0"/>
            <a:r>
              <a:rPr lang="en-US"/>
              <a:t>GraphQL: A modern query language allowing clients to request exactly the specific data structures they need, solving over-fetching issues.</a:t>
            </a:r>
          </a:p>
        </p:txBody>
      </p:sp>
    </p:spTree>
    <p:extLst>
      <p:ext uri="{BB962C8B-B14F-4D97-AF65-F5344CB8AC3E}">
        <p14:creationId xmlns:p14="http://schemas.microsoft.com/office/powerpoint/2010/main" val="8966359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Third-Party Integrations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Extending Functionality: Leveraging external APIs rather than building complex systems from scratch.</a:t>
            </a:r>
          </a:p>
          <a:p>
            <a:pPr lvl="0"/>
            <a:r>
              <a:rPr lang="en-US"/>
              <a:t>Common Integrations:</a:t>
            </a:r>
          </a:p>
          <a:p>
            <a:pPr lvl="1"/>
            <a:r>
              <a:rPr lang="en-US"/>
              <a:t>Payment Gateways (Stripe, PayPal).</a:t>
            </a:r>
          </a:p>
          <a:p>
            <a:pPr lvl="1"/>
            <a:r>
              <a:rPr lang="en-US"/>
              <a:t>Authentication Providers (OAuth 2.0 via Google, GitHub).</a:t>
            </a:r>
          </a:p>
          <a:p>
            <a:pPr lvl="1"/>
            <a:r>
              <a:rPr lang="en-US"/>
              <a:t>Communication Services (Twilio for SMS, SendGrid for Email).</a:t>
            </a:r>
          </a:p>
          <a:p>
            <a:pPr lvl="1"/>
            <a:r>
              <a:rPr lang="en-US"/>
              <a:t>Mapping Services (Google Maps API).</a:t>
            </a:r>
          </a:p>
        </p:txBody>
      </p:sp>
    </p:spTree>
    <p:extLst>
      <p:ext uri="{BB962C8B-B14F-4D97-AF65-F5344CB8AC3E}">
        <p14:creationId xmlns:p14="http://schemas.microsoft.com/office/powerpoint/2010/main" val="6147159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17. Modern Web Development Practices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Version Control Systems (VCS): </a:t>
            </a:r>
          </a:p>
          <a:p>
            <a:pPr lvl="1"/>
            <a:r>
              <a:rPr lang="en-US"/>
              <a:t>Git is the industry standard for tracking source code history.</a:t>
            </a:r>
          </a:p>
          <a:p>
            <a:pPr lvl="1"/>
            <a:r>
              <a:rPr lang="en-US"/>
              <a:t>Enables branching strategies, peer code reviews (Pull Requests), and safe collaboration via platforms like GitHub or GitLab.</a:t>
            </a:r>
          </a:p>
          <a:p>
            <a:pPr lvl="0"/>
            <a:r>
              <a:rPr lang="en-US"/>
              <a:t>Agile &amp; Scrum Methodologies: Iterative software development utilizing short sprints, daily stand-ups, and continuous stakeholder feedback.</a:t>
            </a:r>
          </a:p>
        </p:txBody>
      </p:sp>
    </p:spTree>
    <p:extLst>
      <p:ext uri="{BB962C8B-B14F-4D97-AF65-F5344CB8AC3E}">
        <p14:creationId xmlns:p14="http://schemas.microsoft.com/office/powerpoint/2010/main" val="18778600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Emerging Horizons in Web Technology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Serverless Architecture: Executing code in ephemeral, cloud-managed containers (e.g., AWS Lambda) that scale automatically per request.</a:t>
            </a:r>
          </a:p>
          <a:p>
            <a:pPr lvl="0"/>
            <a:r>
              <a:rPr lang="en-US"/>
              <a:t>WebAssembly (Wasm): A binary instruction format allowing code written in C++, Rust, or Go to run at near-native speed in the browser.</a:t>
            </a:r>
          </a:p>
          <a:p>
            <a:pPr lvl="0"/>
            <a:r>
              <a:rPr lang="en-US"/>
              <a:t>AI-Augmented Development: The integration of Large Language Models (LLMs) via APIs to create intelligent, agentic web applications.</a:t>
            </a:r>
          </a:p>
        </p:txBody>
      </p:sp>
    </p:spTree>
    <p:extLst>
      <p:ext uri="{BB962C8B-B14F-4D97-AF65-F5344CB8AC3E}">
        <p14:creationId xmlns:p14="http://schemas.microsoft.com/office/powerpoint/2010/main" val="6635639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2351</Words>
  <Application>Microsoft Office PowerPoint</Application>
  <PresentationFormat>Widescreen</PresentationFormat>
  <Paragraphs>177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Trebuchet MS</vt:lpstr>
      <vt:lpstr>Wingdings 3</vt:lpstr>
      <vt:lpstr>Facet</vt:lpstr>
      <vt:lpstr>Web Development  From Fundamentals to Modern Practices</vt:lpstr>
      <vt:lpstr>Lecture Agenda &amp; Roadmap</vt:lpstr>
      <vt:lpstr>1. Introduction to Web Development</vt:lpstr>
      <vt:lpstr>The Developer Ecosystem &amp; Roles</vt:lpstr>
      <vt:lpstr>2. Web Architecture &amp; Protocols</vt:lpstr>
      <vt:lpstr>Core Networking Protocols</vt:lpstr>
      <vt:lpstr>3. HTML Fundamentals (HyperText Markup Language)</vt:lpstr>
      <vt:lpstr>Semantic HTML &amp; Accessibility</vt:lpstr>
      <vt:lpstr>4. CSS Fundamentals (Cascading Style Sheets)</vt:lpstr>
      <vt:lpstr>The CSS Box Model</vt:lpstr>
      <vt:lpstr>5. Advanced CSS &amp; Responsive Design</vt:lpstr>
      <vt:lpstr>Modern CSS Layout Systems</vt:lpstr>
      <vt:lpstr>6. JavaScript Fundamentals</vt:lpstr>
      <vt:lpstr>Functions &amp; DOM Manipulation</vt:lpstr>
      <vt:lpstr>7. Advanced JavaScript Concepts</vt:lpstr>
      <vt:lpstr>Asynchronous JavaScript &amp; The Event Loop</vt:lpstr>
      <vt:lpstr>8. Frontend Frameworks &amp; Libraries</vt:lpstr>
      <vt:lpstr>The Modern Frontend Ecosystem</vt:lpstr>
      <vt:lpstr>9. Backend Development Fundamentals</vt:lpstr>
      <vt:lpstr>Backend Architecture Patterns</vt:lpstr>
      <vt:lpstr>10. Server-Side Programming Languages</vt:lpstr>
      <vt:lpstr>11. Databases for Web Applications</vt:lpstr>
      <vt:lpstr>Non-Relational Databases (NoSQL)</vt:lpstr>
      <vt:lpstr>12. Web Security Fundamentals</vt:lpstr>
      <vt:lpstr>Implementing Security Best Practices</vt:lpstr>
      <vt:lpstr>13. Web Performance &amp; Optimization</vt:lpstr>
      <vt:lpstr>Advanced Optimization Techniques</vt:lpstr>
      <vt:lpstr>14. Web Testing &amp; Quality Assurance</vt:lpstr>
      <vt:lpstr>End-to-End (E2E) and Automated Testing</vt:lpstr>
      <vt:lpstr>15. Deployment &amp; Hosting Infrastructure</vt:lpstr>
      <vt:lpstr>Continuous Integration &amp; Continuous Deployment (CI/CD)</vt:lpstr>
      <vt:lpstr>16. Web APIs &amp; System Integration</vt:lpstr>
      <vt:lpstr>Third-Party Integrations</vt:lpstr>
      <vt:lpstr>17. Modern Web Development Practices</vt:lpstr>
      <vt:lpstr>Emerging Horizons in Web Technology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  From Fundamentals to Modern Practices</dc:title>
  <dc:creator>Asif Shahmiri</dc:creator>
  <cp:lastModifiedBy>Asif Shahmiri</cp:lastModifiedBy>
  <cp:revision>1</cp:revision>
  <dcterms:created xsi:type="dcterms:W3CDTF">2026-03-19T10:52:33Z</dcterms:created>
  <dcterms:modified xsi:type="dcterms:W3CDTF">2026-03-19T10:53:40Z</dcterms:modified>
</cp:coreProperties>
</file>