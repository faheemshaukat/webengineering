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outline does not list images or media explicitly, but no real web application works without them, and image optimisation returns in Week 12 (performance optimisation). This lecture also completes the head element started in Lecture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folder of sample images, one short MP4 and one MP3 ready on the lab share for students who did not bring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02 links to performance (Week 12) and responsive design (Week 6); outcome 04 links to CLO 3 because findability and sharing previews are part of user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caption, thead, tbody, tfoot. 2 One cell in the same column from each of the next two rows. 3 One visible main. 4 aside. 5 When no semantic element fits and you only need a container for styling or scripting.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for students: photo means JPEG or WebP; logo or icon means SVG, or PNG if SVG is unavailable; screenshot with text means PNG. Also teach resizing before upload: a 4000-pixel phone photo displayed at 800 pixels wastes bandwidth. Image sizes are a major part of page weight, which links forward to Week 12 performance optimisation. Learning Web Design Chapter 23 covers formats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img is a void, inline element. Width and height should be the image’s real pixel dimensions; CSS can then scale it responsively while the browser keeps the aspect ratio and avoids layout shift (a Core Web Vitals metric called CLS). Do not use width and height to shrink a huge file; resize the file itself. Do not lazy-load the first big image at the top of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example is illustrative; tell students the alt for a real chart should state its actual message, and complex charts also need the data in text or a table. Test: if you read the page aloud with the alt text in place of the image, does it still make sense? alt="" and a missing alt are very different: empty alt means decorative, missing alt is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figure could be moved to an appendix or sidebar without breaking the main text, like figures in a textbook. A figure can also hold several images (a gallery) with one caption, a pre/code block, or a blockquote with its source in figcaption. Image credits belong in the caption, which is an honest-attribution habit worth building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maps are still valid HTML and appear in exam questions, but coordinates are fixed pixels, so they break when images scale on phones. Each area needs its own alt. A clickable logo to the home page is a universal convention; users expect it top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 stays as the fallback for very old browsers. The browser, not the developer, makes the final choice, and it may also consider network speed. Demo with DevTools device emulation: switch the device pixel ratio and watch the Network tab request a different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 calculation aloud: a phone 400 CSS pixels wide with a pixel ratio of 2 and sizes 100vw needs about 800 device pixels, so the browser picks hall-800.jpg. vw means percentage of viewport width and returns in Week 6 responsive design. This is the single biggest image-performance win on mobile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direction means showing a differently cropped image, not just a smaller one: a wide group photo becomes unreadable on a phone, so serve a tighter square crop. Decision guide for students: same image, different sizes, use srcset and sizes; different formats or crops, use picture. Learning Web Design Chapter 7, Responsive Image Markup, has worked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circle on the right is drawn by exactly this SVG code, a nice live proof. SVG is XML, so it is case-sensitive (viewBox, not viewbox) and self-closing tags need the slash. Inline SVG can be styled with CSS (fill) and animated. Icon libraries such as those used with Bootstrap later deliver icons as SVG. Learning Web Design Chapter 25 goes much deeper for interested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HTML5, audio and video needed plugins like Flash, which is now dead; native media elements are a key HTML5 achievement. The browser plays the first source it supports, which is why we list several formats; MP3 is supported almost everywhere today. Always include controls; without them the user cannot stop the sound. Autoplaying sound is a well-known accessibility and UX failure, and browsers block it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minimal WebVTT file for the lab: first line WEBVTT, a blank line, then a cue such as 00:00:00.000 --&gt; 00:00:04.000 followed by the caption text on the next line, then a blank line before the next cue. Note: the track file must be served from a web server (Live Server works); double-clicking the HTML file blocks it. Captions help deaf users, people in noisy places, and non-native speakers. Self-hosting large videos is expensive; most sites embed from YouTube or Vimeo,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VIDEO_ID with a real ID during the demo. Try framing a bank or Google’s home page and show the refusal; this is clickjacking protection via the X-Frame-Options or Content-Security-Policy frame-ancestors headers, which links back to the Week 2 HTTP lecture. The frameborder attribute seen in old embed codes is obsolete; CSS handles borders. Each iframe loads a whole page, so lazy loading matters for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these elements are less common today. Mobile browsers often do not display embedded PDFs, which is why the fallback link matters. Canvas is a pixel surface like a raster image, while SVG is a set of vector objects; that comparison is a good exam question. Learning Web Design Chapter 10 covers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timer. Remind students to use lowercase file names without spaces when copying media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line by line. A good title is unique per page, with the specific page first and the site name second, and stays roughly under 60 characters so search results don’t cut it off. The description is not a ranking factor but drives clicks. og:image must be an absolute URL. The meta keywords tag is ignored by major search engines, so we don’t teach it. Show a link preview in WhatsApp to make Open Graph tangible. The person and site names here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the marking rubric for media in Assignment 1. Free-licence sources students can use include Unsplash, Pexels and Wikimedia Commons, each with its own licence terms to check. Never hotlink, meaning loading an image directly from someone else’s server; it uses their bandwidth and can disappear. Run Lighthouse in Chrome DevTools on the finished page to see image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page with Live Server so the caption track loads. In the Network tab filter by Img and show the transferred size column; then add a huge unresized image and show the difference. Lighthouse runs from the DevTools Lighthouse tab; show one accessibility warning by removing an alt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300 KB limit is a classroom rule of thumb to force resizing, not a standard. Free tools for converting to WebP and resizing include Squoosh in the browser. Marking guide: figures and alt 3, responsive images 2, video with captions 2, audio and iframe 1, head metadata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in images cannot be translated, searched, resized or read by screen readers, and looks blurry on high-density screens. The copyright row ties to the plagiarism policy on the course card: media must be original or properly cited, just like written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SVG, (b) JPEG or WebP, (c) PNG. 2 alt="" (empty, but present). 3 picture with a media source (art direction). 4 track with kind="captions", WebVTT (.vtt). 5 Open Graph tags: og:title, og:description, og:image.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Self-rating against the outcomes. Only one HTML lecture remains: forms, which connect the front end to the server and set up PHP in Week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review the Week 2 HTTP slides on request methods before Lecture 6; GET and POST are the heart of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3 · Lecture 5 of 6</a:t>
            </a:r>
            <a:endParaRPr lang="en-US" sz="1600" dirty="0"/>
          </a:p>
        </p:txBody>
      </p:sp>
      <p:sp>
        <p:nvSpPr>
          <p:cNvPr id="4" name="Text 2"/>
          <p:cNvSpPr/>
          <p:nvPr>
            <p:ph type="title"/>
          </p:nvPr>
        </p:nvSpPr>
        <p:spPr>
          <a:xfrm>
            <a:off x="812800" y="25857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Images, Media,</a:t>
            </a:r>
            <a:endParaRPr lang="en-US" sz="6000" dirty="0"/>
          </a:p>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Embeds &amp; the Head</a:t>
            </a:r>
            <a:endParaRPr lang="en-US" sz="6000" dirty="0"/>
          </a:p>
        </p:txBody>
      </p:sp>
      <p:sp>
        <p:nvSpPr>
          <p:cNvPr id="5" name="Text 3"/>
          <p:cNvSpPr/>
          <p:nvPr/>
        </p:nvSpPr>
        <p:spPr>
          <a:xfrm>
            <a:off x="812800" y="4389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Pictures, sound, video and the metadata that makes pages findable</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7666712" y="5796359"/>
            <a:ext cx="3712488"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&lt;img&gt; &lt;video&gt; &lt;iframe&gt; &lt;meta&gt;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7432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Recap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Tables and semantic regions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6794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Formats, img, alt, figure, responsive images, SVG, audio, video, iframe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Head metadata, accessibility, media gallery lab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Mistakes, quick check, homework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1, CLO 2, CLO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Pick the right image format and write accessible img and figure markup</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Serve responsive images with srcset, sizes and picture</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Embed audio, video with captions, maps and YouTube safely</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Write head metadata for search engines, favicons and social sharing</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RECAP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Tables and page regions in five questions</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1.</a:t>
            </a:r>
            <a:r>
              <a:rPr lang="en-US" sz="1500" dirty="0">
                <a:solidFill>
                  <a:srgbClr val="1F2A37"/>
                </a:solidFill>
                <a:latin typeface="IBM Plex Sans" pitchFamily="34" charset="0"/>
                <a:ea typeface="IBM Plex Sans" pitchFamily="34" charset="-122"/>
                <a:cs typeface="IBM Plex Sans" pitchFamily="34" charset="-120"/>
              </a:rPr>
              <a:t> Write the four row-group and title elements of a table in order.</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2.</a:t>
            </a:r>
            <a:r>
              <a:rPr lang="en-US" sz="1500" dirty="0">
                <a:solidFill>
                  <a:srgbClr val="1F2A37"/>
                </a:solidFill>
                <a:latin typeface="IBM Plex Sans" pitchFamily="34" charset="0"/>
                <a:ea typeface="IBM Plex Sans" pitchFamily="34" charset="-122"/>
                <a:cs typeface="IBM Plex Sans" pitchFamily="34" charset="-120"/>
              </a:rPr>
              <a:t> A cell has rowspan="3". What must you remove from the next two rows?</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3.</a:t>
            </a:r>
            <a:r>
              <a:rPr lang="en-US" sz="1500" dirty="0">
                <a:solidFill>
                  <a:srgbClr val="1F2A37"/>
                </a:solidFill>
                <a:latin typeface="IBM Plex Sans" pitchFamily="34" charset="0"/>
                <a:ea typeface="IBM Plex Sans" pitchFamily="34" charset="-122"/>
                <a:cs typeface="IBM Plex Sans" pitchFamily="34" charset="-120"/>
              </a:rPr>
              <a:t> How many main elements may a page have?</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4.</a:t>
            </a:r>
            <a:r>
              <a:rPr lang="en-US" sz="1500" dirty="0">
                <a:solidFill>
                  <a:srgbClr val="1F2A37"/>
                </a:solidFill>
                <a:latin typeface="IBM Plex Sans" pitchFamily="34" charset="0"/>
                <a:ea typeface="IBM Plex Sans" pitchFamily="34" charset="-122"/>
                <a:cs typeface="IBM Plex Sans" pitchFamily="34" charset="-120"/>
              </a:rPr>
              <a:t> Sidebar of “related posts”: which element?</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2410C"/>
                </a:solidFill>
                <a:latin typeface="IBM Plex Sans" pitchFamily="34" charset="0"/>
                <a:ea typeface="IBM Plex Sans" pitchFamily="34" charset="-122"/>
                <a:cs typeface="IBM Plex Sans" pitchFamily="34" charset="-120"/>
              </a:rPr>
              <a:t>5.</a:t>
            </a:r>
            <a:r>
              <a:rPr lang="en-US" sz="1500" dirty="0">
                <a:solidFill>
                  <a:srgbClr val="1F2A37"/>
                </a:solidFill>
                <a:latin typeface="IBM Plex Sans" pitchFamily="34" charset="0"/>
                <a:ea typeface="IBM Plex Sans" pitchFamily="34" charset="-122"/>
                <a:cs typeface="IBM Plex Sans" pitchFamily="34" charset="-120"/>
              </a:rPr>
              <a:t> When is a div the right choice?</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IMAGES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Choosing an image format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607965"/>
        </p:xfrm>
        <a:graphic>
          <a:graphicData uri="http://schemas.openxmlformats.org/drawingml/2006/table">
            <a:tbl>
              <a:tblPr/>
              <a:tblGrid>
                <a:gridCol w="1266444"/>
                <a:gridCol w="2955036"/>
                <a:gridCol w="1688592"/>
                <a:gridCol w="1477518"/>
                <a:gridCol w="316611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Format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Best for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Transparency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Animation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Notes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JPEG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Photographs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Lossy; small files; no sharp text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Logos, screenshots, text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Lossless; larger for photos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GIF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Tiny simple animations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On/off only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256 colours; legacy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WebP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Photos and graphics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Usually smaller than JPEG/PNG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AVIF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Photos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Smaller still; newer support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SVG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Icons, logos, diagrams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Vector: sharp at any size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85576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Raster</a:t>
            </a:r>
            <a:r>
              <a:rPr lang="en-US" sz="1400" dirty="0">
                <a:solidFill>
                  <a:srgbClr val="1F2A37"/>
                </a:solidFill>
                <a:latin typeface="IBM Plex Sans" pitchFamily="34" charset="0"/>
                <a:ea typeface="IBM Plex Sans" pitchFamily="34" charset="-122"/>
                <a:cs typeface="IBM Plex Sans" pitchFamily="34" charset="-120"/>
              </a:rPr>
              <a:t> (JPEG, PNG, GIF, WebP, AVIF) = a grid of pixels. </a:t>
            </a:r>
            <a:r>
              <a:rPr lang="en-US" sz="1400" b="1" dirty="0">
                <a:solidFill>
                  <a:srgbClr val="1F2A37"/>
                </a:solidFill>
                <a:latin typeface="IBM Plex Sans" pitchFamily="34" charset="0"/>
                <a:ea typeface="IBM Plex Sans" pitchFamily="34" charset="-122"/>
                <a:cs typeface="IBM Plex Sans" pitchFamily="34" charset="-120"/>
              </a:rPr>
              <a:t>Vector</a:t>
            </a:r>
            <a:r>
              <a:rPr lang="en-US" sz="1400" dirty="0">
                <a:solidFill>
                  <a:srgbClr val="1F2A37"/>
                </a:solidFill>
                <a:latin typeface="IBM Plex Sans" pitchFamily="34" charset="0"/>
                <a:ea typeface="IBM Plex Sans" pitchFamily="34" charset="-122"/>
                <a:cs typeface="IBM Plex Sans" pitchFamily="34" charset="-120"/>
              </a:rPr>
              <a:t> (SVG) = shapes described in code.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IMAGES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img element</a:t>
            </a:r>
            <a:endParaRPr lang="en-US" sz="3200" dirty="0"/>
          </a:p>
        </p:txBody>
      </p:sp>
      <p:sp>
        <p:nvSpPr>
          <p:cNvPr id="4" name="Text 2"/>
          <p:cNvSpPr/>
          <p:nvPr/>
        </p:nvSpPr>
        <p:spPr>
          <a:xfrm>
            <a:off x="812800" y="1981101"/>
            <a:ext cx="10566400" cy="1232991"/>
          </a:xfrm>
          <a:prstGeom prst="roundRect">
            <a:avLst>
              <a:gd name="adj" fmla="val 8240"/>
            </a:avLst>
          </a:prstGeom>
          <a:solidFill>
            <a:srgbClr val="1B2430"/>
          </a:solidFill>
          <a:ln/>
        </p:spPr>
        <p:txBody>
          <a:bodyPr wrap="square" lIns="224242" tIns="173442" rIns="0" bIns="148042" rtlCol="0" anchor="t">
            <a:normAutofit/>
          </a:bodyPr>
          <a:lstStyle/>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&lt;img</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src</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"images/campus.jpg"</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alt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"Students outside the main campus building"</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width</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"1200"</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height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"800"</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loading</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"lazy"</a:t>
            </a:r>
            <a:r>
              <a:rPr lang="en-US" sz="1400" dirty="0">
                <a:solidFill>
                  <a:srgbClr val="FF9E64"/>
                </a:solidFill>
                <a:latin typeface="IBM Plex Mono" pitchFamily="49" charset="0"/>
                <a:ea typeface="IBM Plex Mono" pitchFamily="49" charset="-122"/>
                <a:cs typeface="IBM Plex Mono" pitchFamily="49" charset="-120"/>
              </a:rPr>
              <a:t>&gt;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480792"/>
          <a:ext cx="10553700" cy="1862832"/>
        </p:xfrm>
        <a:graphic>
          <a:graphicData uri="http://schemas.openxmlformats.org/drawingml/2006/table">
            <a:tbl>
              <a:tblPr/>
              <a:tblGrid>
                <a:gridCol w="2110740"/>
                <a:gridCol w="844296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Attribute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src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Path to the file — required (relative paths from Lecture 3)</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Text alternative — required; read aloud, shown if the image fails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width, height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Intrinsic size in pixels, no units; reserves space so the page doesn’t jump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loading="lazy"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Defers off-screen images until the user scrolls near them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ACCESSIBILITY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Writing good alt text</a:t>
            </a:r>
            <a:endParaRPr lang="en-US" sz="3200" dirty="0"/>
          </a:p>
        </p:txBody>
      </p:sp>
      <p:sp>
        <p:nvSpPr>
          <p:cNvPr id="4" name="Shape 2"/>
          <p:cNvSpPr/>
          <p:nvPr/>
        </p:nvSpPr>
        <p:spPr>
          <a:xfrm>
            <a:off x="815975" y="1984276"/>
            <a:ext cx="3414117" cy="1728291"/>
          </a:xfrm>
          <a:prstGeom prst="roundRect">
            <a:avLst>
              <a:gd name="adj" fmla="val 5695"/>
            </a:avLst>
          </a:prstGeom>
          <a:solidFill>
            <a:srgbClr val="FFFDF9"/>
          </a:solidFill>
          <a:ln w="6350">
            <a:solidFill>
              <a:srgbClr val="E4E0D8"/>
            </a:solidFill>
            <a:prstDash val="solid"/>
          </a:ln>
        </p:spPr>
      </p:sp>
      <p:sp>
        <p:nvSpPr>
          <p:cNvPr id="5" name="Text 3"/>
          <p:cNvSpPr/>
          <p:nvPr/>
        </p:nvSpPr>
        <p:spPr>
          <a:xfrm>
            <a:off x="1022350" y="219065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Informative</a:t>
            </a:r>
            <a:endParaRPr lang="en-US" sz="1600" dirty="0"/>
          </a:p>
        </p:txBody>
      </p:sp>
      <p:sp>
        <p:nvSpPr>
          <p:cNvPr id="6" name="Text 4"/>
          <p:cNvSpPr/>
          <p:nvPr/>
        </p:nvSpPr>
        <p:spPr>
          <a:xfrm>
            <a:off x="1022350" y="2510631"/>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Describe what matters in context.</a:t>
            </a:r>
            <a:endParaRPr lang="en-US" sz="1300" dirty="0"/>
          </a:p>
        </p:txBody>
      </p:sp>
      <p:sp>
        <p:nvSpPr>
          <p:cNvPr id="7" name="Text 5"/>
          <p:cNvSpPr/>
          <p:nvPr/>
        </p:nvSpPr>
        <p:spPr>
          <a:xfrm>
            <a:off x="1022350" y="2817912"/>
            <a:ext cx="309140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alt="Bar chart: enrolment rose each year from 2022 to 2026"</a:t>
            </a:r>
            <a:endParaRPr lang="en-US" sz="1200" dirty="0"/>
          </a:p>
        </p:txBody>
      </p:sp>
      <p:sp>
        <p:nvSpPr>
          <p:cNvPr id="8" name="Shape 6"/>
          <p:cNvSpPr/>
          <p:nvPr/>
        </p:nvSpPr>
        <p:spPr>
          <a:xfrm>
            <a:off x="4388842" y="1984276"/>
            <a:ext cx="3414216" cy="1728291"/>
          </a:xfrm>
          <a:prstGeom prst="roundRect">
            <a:avLst>
              <a:gd name="adj" fmla="val 5695"/>
            </a:avLst>
          </a:prstGeom>
          <a:solidFill>
            <a:srgbClr val="FFFDF9"/>
          </a:solidFill>
          <a:ln w="6350">
            <a:solidFill>
              <a:srgbClr val="E4E0D8"/>
            </a:solidFill>
            <a:prstDash val="solid"/>
          </a:ln>
        </p:spPr>
      </p:sp>
      <p:sp>
        <p:nvSpPr>
          <p:cNvPr id="9" name="Text 7"/>
          <p:cNvSpPr/>
          <p:nvPr/>
        </p:nvSpPr>
        <p:spPr>
          <a:xfrm>
            <a:off x="4595217" y="219065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Functional</a:t>
            </a:r>
            <a:endParaRPr lang="en-US" sz="1600" dirty="0"/>
          </a:p>
        </p:txBody>
      </p:sp>
      <p:sp>
        <p:nvSpPr>
          <p:cNvPr id="10" name="Text 8"/>
          <p:cNvSpPr/>
          <p:nvPr/>
        </p:nvSpPr>
        <p:spPr>
          <a:xfrm>
            <a:off x="4595217" y="2510631"/>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Inside a link or button: describe the action.</a:t>
            </a:r>
            <a:endParaRPr lang="en-US" sz="1300" dirty="0"/>
          </a:p>
        </p:txBody>
      </p:sp>
      <p:sp>
        <p:nvSpPr>
          <p:cNvPr id="11" name="Text 9"/>
          <p:cNvSpPr/>
          <p:nvPr/>
        </p:nvSpPr>
        <p:spPr>
          <a:xfrm>
            <a:off x="4595217" y="3048992"/>
            <a:ext cx="309151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alt="Search"</a:t>
            </a:r>
            <a:endParaRPr lang="en-US" sz="1200" dirty="0"/>
          </a:p>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alt="Iqra University home"</a:t>
            </a:r>
            <a:endParaRPr lang="en-US" sz="1200" dirty="0"/>
          </a:p>
        </p:txBody>
      </p:sp>
      <p:sp>
        <p:nvSpPr>
          <p:cNvPr id="12" name="Shape 10"/>
          <p:cNvSpPr/>
          <p:nvPr/>
        </p:nvSpPr>
        <p:spPr>
          <a:xfrm>
            <a:off x="7961809" y="1984276"/>
            <a:ext cx="3414216" cy="1728291"/>
          </a:xfrm>
          <a:prstGeom prst="roundRect">
            <a:avLst>
              <a:gd name="adj" fmla="val 5695"/>
            </a:avLst>
          </a:prstGeom>
          <a:solidFill>
            <a:srgbClr val="FFFDF9"/>
          </a:solidFill>
          <a:ln w="6350">
            <a:solidFill>
              <a:srgbClr val="E4E0D8"/>
            </a:solidFill>
            <a:prstDash val="solid"/>
          </a:ln>
        </p:spPr>
      </p:sp>
      <p:sp>
        <p:nvSpPr>
          <p:cNvPr id="13" name="Text 11"/>
          <p:cNvSpPr/>
          <p:nvPr/>
        </p:nvSpPr>
        <p:spPr>
          <a:xfrm>
            <a:off x="8168184" y="219065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4ED8"/>
                </a:solidFill>
                <a:latin typeface="IBM Plex Sans" pitchFamily="34" charset="0"/>
                <a:ea typeface="IBM Plex Sans" pitchFamily="34" charset="-122"/>
                <a:cs typeface="IBM Plex Sans" pitchFamily="34" charset="-120"/>
              </a:rPr>
              <a:t>Decorative</a:t>
            </a:r>
            <a:endParaRPr lang="en-US" sz="1600" dirty="0"/>
          </a:p>
        </p:txBody>
      </p:sp>
      <p:sp>
        <p:nvSpPr>
          <p:cNvPr id="14" name="Text 12"/>
          <p:cNvSpPr/>
          <p:nvPr/>
        </p:nvSpPr>
        <p:spPr>
          <a:xfrm>
            <a:off x="8168184" y="2510631"/>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Pure decoration: empty alt so it’s skipped.</a:t>
            </a:r>
            <a:endParaRPr lang="en-US" sz="1300" dirty="0"/>
          </a:p>
        </p:txBody>
      </p:sp>
      <p:sp>
        <p:nvSpPr>
          <p:cNvPr id="15" name="Text 13"/>
          <p:cNvSpPr/>
          <p:nvPr/>
        </p:nvSpPr>
        <p:spPr>
          <a:xfrm>
            <a:off x="8168184" y="3048992"/>
            <a:ext cx="309151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75467"/>
                </a:solidFill>
                <a:latin typeface="IBM Plex Mono" pitchFamily="49" charset="0"/>
                <a:ea typeface="IBM Plex Mono" pitchFamily="49" charset="-122"/>
                <a:cs typeface="IBM Plex Mono" pitchFamily="49" charset="-120"/>
              </a:rPr>
              <a:t>alt=""</a:t>
            </a:r>
            <a:endParaRPr lang="en-US" sz="1200" dirty="0"/>
          </a:p>
        </p:txBody>
      </p:sp>
      <p:sp>
        <p:nvSpPr>
          <p:cNvPr id="16" name="Text 14"/>
          <p:cNvSpPr/>
          <p:nvPr/>
        </p:nvSpPr>
        <p:spPr>
          <a:xfrm>
            <a:off x="812800" y="3969742"/>
            <a:ext cx="10566400" cy="889000"/>
          </a:xfrm>
          <a:prstGeom prst="roundRect">
            <a:avLst>
              <a:gd name="adj" fmla="val 11429"/>
            </a:avLst>
          </a:prstGeom>
          <a:solidFill>
            <a:srgbClr val="16202E"/>
          </a:solidFill>
          <a:ln/>
        </p:spPr>
        <p:txBody>
          <a:bodyPr wrap="square" lIns="198842" tIns="148042" rIns="0" bIns="122642" rtlCol="0" anchor="t">
            <a:normAutofit/>
          </a:bodyPr>
          <a:lstStyle/>
          <a:p>
            <a:pPr algn="l" indent="0" marL="0">
              <a:lnSpc>
                <a:spcPts val="2100"/>
              </a:lnSpc>
              <a:buNone/>
            </a:pPr>
            <a:r>
              <a:rPr lang="en-US" sz="1400" b="1" dirty="0">
                <a:solidFill>
                  <a:srgbClr val="FF9E64"/>
                </a:solidFill>
                <a:latin typeface="IBM Plex Sans" pitchFamily="34" charset="0"/>
                <a:ea typeface="IBM Plex Sans" pitchFamily="34" charset="-122"/>
                <a:cs typeface="IBM Plex Sans" pitchFamily="34" charset="-120"/>
              </a:rPr>
              <a:t>Avoid:</a:t>
            </a:r>
            <a:r>
              <a:rPr lang="en-US" sz="1400" dirty="0">
                <a:solidFill>
                  <a:srgbClr val="F7F5F0"/>
                </a:solidFill>
                <a:latin typeface="IBM Plex Sans" pitchFamily="34" charset="0"/>
                <a:ea typeface="IBM Plex Sans" pitchFamily="34" charset="-122"/>
                <a:cs typeface="IBM Plex Sans" pitchFamily="34" charset="-120"/>
              </a:rPr>
              <a:t> “image of…”, file names (“IMG_2041.jpg”), keyword stuffing, and leaving alt out entirely — a screen reader then reads the file name.</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IMAGES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figure and figcaption</a:t>
            </a:r>
            <a:endParaRPr lang="en-US" sz="3200" dirty="0"/>
          </a:p>
        </p:txBody>
      </p:sp>
      <p:sp>
        <p:nvSpPr>
          <p:cNvPr id="4" name="Text 2"/>
          <p:cNvSpPr/>
          <p:nvPr/>
        </p:nvSpPr>
        <p:spPr>
          <a:xfrm>
            <a:off x="812800" y="1981101"/>
            <a:ext cx="6223000" cy="2709366"/>
          </a:xfrm>
          <a:prstGeom prst="roundRect">
            <a:avLst>
              <a:gd name="adj" fmla="val 3750"/>
            </a:avLst>
          </a:prstGeom>
          <a:solidFill>
            <a:srgbClr val="1B2430"/>
          </a:solidFill>
          <a:ln/>
        </p:spPr>
        <p:txBody>
          <a:bodyPr wrap="square" lIns="224242" tIns="173442" rIns="5279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&lt;figure&gt;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&lt;img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src</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"images/lab.jpg"</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alt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"Students coding in the computer lab"</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width</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"800"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height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"533"</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&lt;figcaption&gt;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Fig. 1 — Lab session, Week 3.</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Photo: CS Department.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&lt;/figcaption&gt;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&lt;/figure&gt;</a:t>
            </a:r>
            <a:endParaRPr lang="en-US" sz="1300" dirty="0"/>
          </a:p>
        </p:txBody>
      </p:sp>
      <p:sp>
        <p:nvSpPr>
          <p:cNvPr id="5" name="Text 3"/>
          <p:cNvSpPr/>
          <p:nvPr/>
        </p:nvSpPr>
        <p:spPr>
          <a:xfrm>
            <a:off x="7289800" y="1981101"/>
            <a:ext cx="4212082"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figure</a:t>
            </a:r>
            <a:r>
              <a:rPr lang="en-US" sz="1400" dirty="0">
                <a:solidFill>
                  <a:srgbClr val="1F2A37"/>
                </a:solidFill>
                <a:latin typeface="IBM Plex Sans" pitchFamily="34" charset="0"/>
                <a:ea typeface="IBM Plex Sans" pitchFamily="34" charset="-122"/>
                <a:cs typeface="IBM Plex Sans" pitchFamily="34" charset="-120"/>
              </a:rPr>
              <a:t> — self-contained content referred to from the text: a photo, chart, diagram, code listing or quote.</a:t>
            </a:r>
            <a:endParaRPr lang="en-US" sz="1400" dirty="0"/>
          </a:p>
        </p:txBody>
      </p:sp>
      <p:sp>
        <p:nvSpPr>
          <p:cNvPr id="6" name="Text 4"/>
          <p:cNvSpPr/>
          <p:nvPr/>
        </p:nvSpPr>
        <p:spPr>
          <a:xfrm>
            <a:off x="7289800" y="2854623"/>
            <a:ext cx="42120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figcaption</a:t>
            </a:r>
            <a:r>
              <a:rPr lang="en-US" sz="1400" dirty="0">
                <a:solidFill>
                  <a:srgbClr val="1F2A37"/>
                </a:solidFill>
                <a:latin typeface="IBM Plex Sans" pitchFamily="34" charset="0"/>
                <a:ea typeface="IBM Plex Sans" pitchFamily="34" charset="-122"/>
                <a:cs typeface="IBM Plex Sans" pitchFamily="34" charset="-120"/>
              </a:rPr>
              <a:t> — its visible caption; first or last child.</a:t>
            </a:r>
            <a:endParaRPr lang="en-US" sz="1400" dirty="0"/>
          </a:p>
        </p:txBody>
      </p:sp>
      <p:sp>
        <p:nvSpPr>
          <p:cNvPr id="7" name="Text 5"/>
          <p:cNvSpPr/>
          <p:nvPr/>
        </p:nvSpPr>
        <p:spPr>
          <a:xfrm>
            <a:off x="7289800" y="3230463"/>
            <a:ext cx="421208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alt describes the image; the caption adds context. Don’t repeat one in the other.</a:t>
            </a:r>
            <a:endParaRPr lang="en-US" sz="13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IMAGES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Images as links, and image maps</a:t>
            </a:r>
            <a:endParaRPr lang="en-US" sz="3200" dirty="0"/>
          </a:p>
        </p:txBody>
      </p:sp>
      <p:sp>
        <p:nvSpPr>
          <p:cNvPr id="4" name="Text 2"/>
          <p:cNvSpPr/>
          <p:nvPr/>
        </p:nvSpPr>
        <p:spPr>
          <a:xfrm>
            <a:off x="812800" y="1981101"/>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Clickable logo</a:t>
            </a:r>
            <a:endParaRPr lang="en-US" sz="1600" dirty="0"/>
          </a:p>
        </p:txBody>
      </p:sp>
      <p:sp>
        <p:nvSpPr>
          <p:cNvPr id="5" name="Text 3"/>
          <p:cNvSpPr/>
          <p:nvPr/>
        </p:nvSpPr>
        <p:spPr>
          <a:xfrm>
            <a:off x="812800" y="2326481"/>
            <a:ext cx="5181600" cy="1536303"/>
          </a:xfrm>
          <a:prstGeom prst="roundRect">
            <a:avLst>
              <a:gd name="adj" fmla="val 6613"/>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"index.html"</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&lt;img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"images/logo.svg"</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"CS Department — Home"</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"160"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"48"</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&lt;/a&gt;</a:t>
            </a:r>
            <a:endParaRPr lang="en-US" sz="1200" dirty="0"/>
          </a:p>
        </p:txBody>
      </p:sp>
      <p:sp>
        <p:nvSpPr>
          <p:cNvPr id="6" name="Text 4"/>
          <p:cNvSpPr/>
          <p:nvPr/>
        </p:nvSpPr>
        <p:spPr>
          <a:xfrm>
            <a:off x="812800" y="3964384"/>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The alt becomes the link’s name.</a:t>
            </a:r>
            <a:endParaRPr lang="en-US" sz="1300" dirty="0"/>
          </a:p>
        </p:txBody>
      </p:sp>
      <p:sp>
        <p:nvSpPr>
          <p:cNvPr id="7" name="Text 5"/>
          <p:cNvSpPr/>
          <p:nvPr/>
        </p:nvSpPr>
        <p:spPr>
          <a:xfrm>
            <a:off x="6197600" y="1981101"/>
            <a:ext cx="53370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Image map (legacy)</a:t>
            </a:r>
            <a:endParaRPr lang="en-US" sz="1600" dirty="0"/>
          </a:p>
        </p:txBody>
      </p:sp>
      <p:sp>
        <p:nvSpPr>
          <p:cNvPr id="8" name="Text 6"/>
          <p:cNvSpPr/>
          <p:nvPr/>
        </p:nvSpPr>
        <p:spPr>
          <a:xfrm>
            <a:off x="6197600" y="2326481"/>
            <a:ext cx="5181600" cy="2008584"/>
          </a:xfrm>
          <a:prstGeom prst="roundRect">
            <a:avLst>
              <a:gd name="adj" fmla="val 5058"/>
            </a:avLst>
          </a:prstGeom>
          <a:solidFill>
            <a:srgbClr val="1B2430"/>
          </a:solidFill>
          <a:ln/>
        </p:spPr>
        <p:txBody>
          <a:bodyPr wrap="square" lIns="198842" tIns="148042" rIns="57110"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&lt;img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"campus-map.png"</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"Campus map"</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usemap</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"#campus"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&lt;map</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"campus"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&lt;area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shape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"rect"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coords</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"10,10,120,80"</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"library.html"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"Library"</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&lt;/map&gt;</a:t>
            </a:r>
            <a:endParaRPr lang="en-US" sz="1200" dirty="0"/>
          </a:p>
        </p:txBody>
      </p:sp>
      <p:sp>
        <p:nvSpPr>
          <p:cNvPr id="9" name="Text 7"/>
          <p:cNvSpPr/>
          <p:nvPr/>
        </p:nvSpPr>
        <p:spPr>
          <a:xfrm>
            <a:off x="6197600" y="4436666"/>
            <a:ext cx="533704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Clickable regions; shapes rect, circle, poly. Not responsive — today SVG links are preferred.</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RESPONSIVE IMAGES (1 OF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srcset with x: sharp on high-density screens</a:t>
            </a:r>
            <a:endParaRPr lang="en-US" sz="3200" dirty="0"/>
          </a:p>
        </p:txBody>
      </p:sp>
      <p:sp>
        <p:nvSpPr>
          <p:cNvPr id="4" name="Text 2"/>
          <p:cNvSpPr/>
          <p:nvPr/>
        </p:nvSpPr>
        <p:spPr>
          <a:xfrm>
            <a:off x="812800" y="1981101"/>
            <a:ext cx="10566400" cy="1232991"/>
          </a:xfrm>
          <a:prstGeom prst="roundRect">
            <a:avLst>
              <a:gd name="adj" fmla="val 8240"/>
            </a:avLst>
          </a:prstGeom>
          <a:solidFill>
            <a:srgbClr val="1B2430"/>
          </a:solidFill>
          <a:ln/>
        </p:spPr>
        <p:txBody>
          <a:bodyPr wrap="square" lIns="224242" tIns="173442" rIns="0" bIns="148042" rtlCol="0" anchor="t">
            <a:normAutofit/>
          </a:bodyPr>
          <a:lstStyle/>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&lt;img</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src</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"logo-200.png"</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srcset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"logo-200.png 1x, logo-400.png 2x, logo-600.png 3x"</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alt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"CS Department"</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width</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"200"</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height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"60"</a:t>
            </a:r>
            <a:r>
              <a:rPr lang="en-US" sz="1400" dirty="0">
                <a:solidFill>
                  <a:srgbClr val="FF9E64"/>
                </a:solidFill>
                <a:latin typeface="IBM Plex Mono" pitchFamily="49" charset="0"/>
                <a:ea typeface="IBM Plex Mono" pitchFamily="49" charset="-122"/>
                <a:cs typeface="IBM Plex Mono" pitchFamily="49" charset="-120"/>
              </a:rPr>
              <a:t>&gt;</a:t>
            </a:r>
            <a:endParaRPr lang="en-US" sz="1400" dirty="0"/>
          </a:p>
        </p:txBody>
      </p:sp>
      <p:sp>
        <p:nvSpPr>
          <p:cNvPr id="5" name="Shape 3"/>
          <p:cNvSpPr/>
          <p:nvPr/>
        </p:nvSpPr>
        <p:spPr>
          <a:xfrm>
            <a:off x="815975" y="3471267"/>
            <a:ext cx="3414117" cy="1334591"/>
          </a:xfrm>
          <a:prstGeom prst="roundRect">
            <a:avLst>
              <a:gd name="adj" fmla="val 7375"/>
            </a:avLst>
          </a:prstGeom>
          <a:solidFill>
            <a:srgbClr val="FFFDF9"/>
          </a:solidFill>
          <a:ln w="6350">
            <a:solidFill>
              <a:srgbClr val="E4E0D8"/>
            </a:solidFill>
            <a:prstDash val="solid"/>
          </a:ln>
        </p:spPr>
      </p:sp>
      <p:sp>
        <p:nvSpPr>
          <p:cNvPr id="6" name="Text 4"/>
          <p:cNvSpPr/>
          <p:nvPr/>
        </p:nvSpPr>
        <p:spPr>
          <a:xfrm>
            <a:off x="996950" y="365224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The problem</a:t>
            </a:r>
            <a:endParaRPr lang="en-US" sz="1500" dirty="0"/>
          </a:p>
        </p:txBody>
      </p:sp>
      <p:sp>
        <p:nvSpPr>
          <p:cNvPr id="7" name="Text 5"/>
          <p:cNvSpPr/>
          <p:nvPr/>
        </p:nvSpPr>
        <p:spPr>
          <a:xfrm>
            <a:off x="996950" y="3931642"/>
            <a:ext cx="314373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Phones and laptops pack 2–3 device pixels into each CSS pixel; a 200 px image looks blurry.</a:t>
            </a:r>
            <a:endParaRPr lang="en-US" sz="1300" dirty="0"/>
          </a:p>
        </p:txBody>
      </p:sp>
      <p:sp>
        <p:nvSpPr>
          <p:cNvPr id="8" name="Shape 6"/>
          <p:cNvSpPr/>
          <p:nvPr/>
        </p:nvSpPr>
        <p:spPr>
          <a:xfrm>
            <a:off x="4388842" y="3471267"/>
            <a:ext cx="3414216" cy="1334591"/>
          </a:xfrm>
          <a:prstGeom prst="roundRect">
            <a:avLst>
              <a:gd name="adj" fmla="val 7375"/>
            </a:avLst>
          </a:prstGeom>
          <a:solidFill>
            <a:srgbClr val="FFFDF9"/>
          </a:solidFill>
          <a:ln w="6350">
            <a:solidFill>
              <a:srgbClr val="E4E0D8"/>
            </a:solidFill>
            <a:prstDash val="solid"/>
          </a:ln>
        </p:spPr>
      </p:sp>
      <p:sp>
        <p:nvSpPr>
          <p:cNvPr id="9" name="Text 7"/>
          <p:cNvSpPr/>
          <p:nvPr/>
        </p:nvSpPr>
        <p:spPr>
          <a:xfrm>
            <a:off x="4569817" y="365224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The fix</a:t>
            </a:r>
            <a:endParaRPr lang="en-US" sz="1500" dirty="0"/>
          </a:p>
        </p:txBody>
      </p:sp>
      <p:sp>
        <p:nvSpPr>
          <p:cNvPr id="10" name="Text 8"/>
          <p:cNvSpPr/>
          <p:nvPr/>
        </p:nvSpPr>
        <p:spPr>
          <a:xfrm>
            <a:off x="4569817" y="3931642"/>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List candidates with a density: the browser downloads only the one that suits the screen.</a:t>
            </a:r>
            <a:endParaRPr lang="en-US" sz="1300" dirty="0"/>
          </a:p>
        </p:txBody>
      </p:sp>
      <p:sp>
        <p:nvSpPr>
          <p:cNvPr id="11" name="Shape 9"/>
          <p:cNvSpPr/>
          <p:nvPr/>
        </p:nvSpPr>
        <p:spPr>
          <a:xfrm>
            <a:off x="7961809" y="3471267"/>
            <a:ext cx="3414216" cy="1334591"/>
          </a:xfrm>
          <a:prstGeom prst="roundRect">
            <a:avLst>
              <a:gd name="adj" fmla="val 7375"/>
            </a:avLst>
          </a:prstGeom>
          <a:solidFill>
            <a:srgbClr val="FFFDF9"/>
          </a:solidFill>
          <a:ln w="6350">
            <a:solidFill>
              <a:srgbClr val="E4E0D8"/>
            </a:solidFill>
            <a:prstDash val="solid"/>
          </a:ln>
        </p:spPr>
      </p:sp>
      <p:sp>
        <p:nvSpPr>
          <p:cNvPr id="12" name="Text 10"/>
          <p:cNvSpPr/>
          <p:nvPr/>
        </p:nvSpPr>
        <p:spPr>
          <a:xfrm>
            <a:off x="8142784" y="365224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Use it for</a:t>
            </a:r>
            <a:endParaRPr lang="en-US" sz="1500" dirty="0"/>
          </a:p>
        </p:txBody>
      </p:sp>
      <p:sp>
        <p:nvSpPr>
          <p:cNvPr id="13" name="Text 11"/>
          <p:cNvSpPr/>
          <p:nvPr/>
        </p:nvSpPr>
        <p:spPr>
          <a:xfrm>
            <a:off x="8142784" y="3931642"/>
            <a:ext cx="314383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Fixed-size images: logos, avatars, icons.</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RESPONSIVE IMAGES (2 OF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srcset with w + sizes: right file for the layout</a:t>
            </a:r>
            <a:endParaRPr lang="en-US" sz="3200" dirty="0"/>
          </a:p>
        </p:txBody>
      </p:sp>
      <p:sp>
        <p:nvSpPr>
          <p:cNvPr id="4" name="Text 2"/>
          <p:cNvSpPr/>
          <p:nvPr/>
        </p:nvSpPr>
        <p:spPr>
          <a:xfrm>
            <a:off x="812800" y="1981101"/>
            <a:ext cx="10566400" cy="1508522"/>
          </a:xfrm>
          <a:prstGeom prst="roundRect">
            <a:avLst>
              <a:gd name="adj" fmla="val 6735"/>
            </a:avLst>
          </a:prstGeom>
          <a:solidFill>
            <a:srgbClr val="1B2430"/>
          </a:solidFill>
          <a:ln/>
        </p:spPr>
        <p:txBody>
          <a:bodyPr wrap="square" lIns="224242" tIns="173442" rIns="0" bIns="148042" rtlCol="0" anchor="t">
            <a:normAutofit/>
          </a:bodyPr>
          <a:lstStyle/>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&lt;img</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src</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"hall-800.jpg"</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srcset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"hall-400.jpg 400w, hall-800.jpg 800w, hall-1600.jpg 1600w"</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sizes</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"(max-width: 600px) 100vw, 50vw"</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alt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"Main auditorium during convocation"</a:t>
            </a:r>
            <a:r>
              <a:rPr lang="en-US" sz="1400" dirty="0">
                <a:solidFill>
                  <a:srgbClr val="FF9E64"/>
                </a:solidFill>
                <a:latin typeface="IBM Plex Mono" pitchFamily="49" charset="0"/>
                <a:ea typeface="IBM Plex Mono" pitchFamily="49" charset="-122"/>
                <a:cs typeface="IBM Plex Mono" pitchFamily="49" charset="-120"/>
              </a:rPr>
              <a:t>&gt;</a:t>
            </a:r>
            <a:endParaRPr lang="en-US" sz="1400" dirty="0"/>
          </a:p>
        </p:txBody>
      </p:sp>
      <p:sp>
        <p:nvSpPr>
          <p:cNvPr id="5" name="Shape 3"/>
          <p:cNvSpPr/>
          <p:nvPr/>
        </p:nvSpPr>
        <p:spPr>
          <a:xfrm>
            <a:off x="815975" y="3746798"/>
            <a:ext cx="3414117" cy="1103511"/>
          </a:xfrm>
          <a:prstGeom prst="roundRect">
            <a:avLst>
              <a:gd name="adj" fmla="val 8919"/>
            </a:avLst>
          </a:prstGeom>
          <a:solidFill>
            <a:srgbClr val="FFFDF9"/>
          </a:solidFill>
          <a:ln w="6350">
            <a:solidFill>
              <a:srgbClr val="E4E0D8"/>
            </a:solidFill>
            <a:prstDash val="solid"/>
          </a:ln>
        </p:spPr>
      </p:sp>
      <p:sp>
        <p:nvSpPr>
          <p:cNvPr id="6" name="Text 4"/>
          <p:cNvSpPr/>
          <p:nvPr/>
        </p:nvSpPr>
        <p:spPr>
          <a:xfrm>
            <a:off x="996950" y="3927773"/>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400w, 800w…</a:t>
            </a:r>
            <a:endParaRPr lang="en-US" sz="1500" dirty="0"/>
          </a:p>
        </p:txBody>
      </p:sp>
      <p:sp>
        <p:nvSpPr>
          <p:cNvPr id="7" name="Text 5"/>
          <p:cNvSpPr/>
          <p:nvPr/>
        </p:nvSpPr>
        <p:spPr>
          <a:xfrm>
            <a:off x="996950" y="4207173"/>
            <a:ext cx="31437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The real pixel width of each file.</a:t>
            </a:r>
            <a:endParaRPr lang="en-US" sz="1300" dirty="0"/>
          </a:p>
        </p:txBody>
      </p:sp>
      <p:sp>
        <p:nvSpPr>
          <p:cNvPr id="8" name="Shape 6"/>
          <p:cNvSpPr/>
          <p:nvPr/>
        </p:nvSpPr>
        <p:spPr>
          <a:xfrm>
            <a:off x="4388842" y="3746798"/>
            <a:ext cx="3414216" cy="1103511"/>
          </a:xfrm>
          <a:prstGeom prst="roundRect">
            <a:avLst>
              <a:gd name="adj" fmla="val 8919"/>
            </a:avLst>
          </a:prstGeom>
          <a:solidFill>
            <a:srgbClr val="FFFDF9"/>
          </a:solidFill>
          <a:ln w="6350">
            <a:solidFill>
              <a:srgbClr val="E4E0D8"/>
            </a:solidFill>
            <a:prstDash val="solid"/>
          </a:ln>
        </p:spPr>
      </p:sp>
      <p:sp>
        <p:nvSpPr>
          <p:cNvPr id="9" name="Text 7"/>
          <p:cNvSpPr/>
          <p:nvPr/>
        </p:nvSpPr>
        <p:spPr>
          <a:xfrm>
            <a:off x="4569817" y="3927773"/>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sizes</a:t>
            </a:r>
            <a:endParaRPr lang="en-US" sz="1500" dirty="0"/>
          </a:p>
        </p:txBody>
      </p:sp>
      <p:sp>
        <p:nvSpPr>
          <p:cNvPr id="10" name="Text 8"/>
          <p:cNvSpPr/>
          <p:nvPr/>
        </p:nvSpPr>
        <p:spPr>
          <a:xfrm>
            <a:off x="4569817" y="4207173"/>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How wide the image will display: full width on phones, half width otherwise.</a:t>
            </a:r>
            <a:endParaRPr lang="en-US" sz="1300" dirty="0"/>
          </a:p>
        </p:txBody>
      </p:sp>
      <p:sp>
        <p:nvSpPr>
          <p:cNvPr id="11" name="Shape 9"/>
          <p:cNvSpPr/>
          <p:nvPr/>
        </p:nvSpPr>
        <p:spPr>
          <a:xfrm>
            <a:off x="7961809" y="3746798"/>
            <a:ext cx="3414216" cy="1103511"/>
          </a:xfrm>
          <a:prstGeom prst="roundRect">
            <a:avLst>
              <a:gd name="adj" fmla="val 8919"/>
            </a:avLst>
          </a:prstGeom>
          <a:solidFill>
            <a:srgbClr val="FFFDF9"/>
          </a:solidFill>
          <a:ln w="6350">
            <a:solidFill>
              <a:srgbClr val="E4E0D8"/>
            </a:solidFill>
            <a:prstDash val="solid"/>
          </a:ln>
        </p:spPr>
      </p:sp>
      <p:sp>
        <p:nvSpPr>
          <p:cNvPr id="12" name="Text 10"/>
          <p:cNvSpPr/>
          <p:nvPr/>
        </p:nvSpPr>
        <p:spPr>
          <a:xfrm>
            <a:off x="8142784" y="3927773"/>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Result</a:t>
            </a:r>
            <a:endParaRPr lang="en-US" sz="1500" dirty="0"/>
          </a:p>
        </p:txBody>
      </p:sp>
      <p:sp>
        <p:nvSpPr>
          <p:cNvPr id="13" name="Text 11"/>
          <p:cNvSpPr/>
          <p:nvPr/>
        </p:nvSpPr>
        <p:spPr>
          <a:xfrm>
            <a:off x="8142784" y="4207173"/>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phone may fetch the 400 px file; a large monitor, the 1600 px one.</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RESPONSIVE IMAGES (3 OF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picture: new formats and art direction</a:t>
            </a:r>
            <a:endParaRPr lang="en-US" sz="3200" dirty="0"/>
          </a:p>
        </p:txBody>
      </p:sp>
      <p:sp>
        <p:nvSpPr>
          <p:cNvPr id="4" name="Text 2"/>
          <p:cNvSpPr/>
          <p:nvPr/>
        </p:nvSpPr>
        <p:spPr>
          <a:xfrm>
            <a:off x="8128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Format fallback</a:t>
            </a:r>
            <a:endParaRPr lang="en-US" sz="1500" dirty="0"/>
          </a:p>
        </p:txBody>
      </p:sp>
      <p:sp>
        <p:nvSpPr>
          <p:cNvPr id="5" name="Text 3"/>
          <p:cNvSpPr/>
          <p:nvPr/>
        </p:nvSpPr>
        <p:spPr>
          <a:xfrm>
            <a:off x="812800" y="2311301"/>
            <a:ext cx="5181600" cy="2008584"/>
          </a:xfrm>
          <a:prstGeom prst="roundRect">
            <a:avLst>
              <a:gd name="adj" fmla="val 5058"/>
            </a:avLst>
          </a:prstGeom>
          <a:solidFill>
            <a:srgbClr val="1B2430"/>
          </a:solidFill>
          <a:ln/>
        </p:spPr>
        <p:txBody>
          <a:bodyPr wrap="square" lIns="173442" tIns="148042" rIns="30186"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&lt;picture&gt;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&lt;source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"image/avif"</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srcset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"hero.avif"</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&lt;source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"image/webp"</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srcset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"hero.webp"</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&lt;img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"hero.jpg"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&lt;/picture&gt;</a:t>
            </a:r>
            <a:endParaRPr lang="en-US" sz="1200" dirty="0"/>
          </a:p>
        </p:txBody>
      </p:sp>
      <p:sp>
        <p:nvSpPr>
          <p:cNvPr id="6" name="Text 4"/>
          <p:cNvSpPr/>
          <p:nvPr/>
        </p:nvSpPr>
        <p:spPr>
          <a:xfrm>
            <a:off x="6197600" y="198110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Art direction</a:t>
            </a:r>
            <a:endParaRPr lang="en-US" sz="1500" dirty="0"/>
          </a:p>
        </p:txBody>
      </p:sp>
      <p:sp>
        <p:nvSpPr>
          <p:cNvPr id="7" name="Text 5"/>
          <p:cNvSpPr/>
          <p:nvPr/>
        </p:nvSpPr>
        <p:spPr>
          <a:xfrm>
            <a:off x="6197600" y="2311301"/>
            <a:ext cx="5181600" cy="2008584"/>
          </a:xfrm>
          <a:prstGeom prst="roundRect">
            <a:avLst>
              <a:gd name="adj" fmla="val 5058"/>
            </a:avLst>
          </a:prstGeom>
          <a:solidFill>
            <a:srgbClr val="1B2430"/>
          </a:solidFill>
          <a:ln/>
        </p:spPr>
        <p:txBody>
          <a:bodyPr wrap="square" lIns="173442" tIns="148042" rIns="30186"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&lt;picture&gt;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&lt;source</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media</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"(max-width: 600px)"</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srcset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"team-square.jpg"</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&lt;img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"team-wide.jpg"</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"The CS faculty team"</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&lt;/picture&gt;</a:t>
            </a:r>
            <a:endParaRPr lang="en-US" sz="1200" dirty="0"/>
          </a:p>
        </p:txBody>
      </p:sp>
      <p:sp>
        <p:nvSpPr>
          <p:cNvPr id="8" name="Text 6"/>
          <p:cNvSpPr/>
          <p:nvPr/>
        </p:nvSpPr>
        <p:spPr>
          <a:xfrm>
            <a:off x="812800" y="457388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browser uses the </a:t>
            </a:r>
            <a:r>
              <a:rPr lang="en-US" sz="1400" b="1" dirty="0">
                <a:solidFill>
                  <a:srgbClr val="1F2A37"/>
                </a:solidFill>
                <a:latin typeface="IBM Plex Sans" pitchFamily="34" charset="0"/>
                <a:ea typeface="IBM Plex Sans" pitchFamily="34" charset="-122"/>
                <a:cs typeface="IBM Plex Sans" pitchFamily="34" charset="-120"/>
              </a:rPr>
              <a:t>first matching source</a:t>
            </a:r>
            <a:r>
              <a:rPr lang="en-US" sz="1400" dirty="0">
                <a:solidFill>
                  <a:srgbClr val="1F2A37"/>
                </a:solidFill>
                <a:latin typeface="IBM Plex Sans" pitchFamily="34" charset="0"/>
                <a:ea typeface="IBM Plex Sans" pitchFamily="34" charset="-122"/>
                <a:cs typeface="IBM Plex Sans" pitchFamily="34" charset="-120"/>
              </a:rPr>
              <a:t>. The img inside is required: it holds alt and is the final fallback.</a:t>
            </a:r>
            <a:endParaRPr lang="en-US" sz="14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VECTOR GRAPHICS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SVG: images written in markup</a:t>
            </a:r>
            <a:endParaRPr lang="en-US" sz="3200" dirty="0"/>
          </a:p>
        </p:txBody>
      </p:sp>
      <p:sp>
        <p:nvSpPr>
          <p:cNvPr id="4" name="Text 2"/>
          <p:cNvSpPr/>
          <p:nvPr/>
        </p:nvSpPr>
        <p:spPr>
          <a:xfrm>
            <a:off x="812800" y="1981101"/>
            <a:ext cx="6096000" cy="2453481"/>
          </a:xfrm>
          <a:prstGeom prst="roundRect">
            <a:avLst>
              <a:gd name="adj" fmla="val 4141"/>
            </a:avLst>
          </a:prstGeom>
          <a:solidFill>
            <a:srgbClr val="1B2430"/>
          </a:solidFill>
          <a:ln/>
        </p:spPr>
        <p:txBody>
          <a:bodyPr wrap="square" lIns="224242" tIns="173442" rIns="56602" bIns="148042" rtlCol="0" anchor="t">
            <a:normAutofit/>
          </a:bodyPr>
          <a:lstStyle/>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&lt;!-- 1. As an image file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&lt;img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src</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"icons/check.svg"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alt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"Done"</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&lt;!-- 2. Inline in the HTML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&lt;svg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width</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"100"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height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"100"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viewBox</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"0 0 100 100"</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role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"img"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aria-label</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"Orange circle"</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&lt;circle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cx</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"50"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cy</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"50"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r</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"40"</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fill</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"#C2410C"</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&lt;/svg&gt;</a:t>
            </a:r>
            <a:endParaRPr lang="en-US" sz="1300" dirty="0"/>
          </a:p>
        </p:txBody>
      </p:sp>
      <p:pic>
        <p:nvPicPr>
          <p:cNvPr id="5" name="Image 0" descr="An orange circle rendered from the SVG code">    </p:cNvPr>
          <p:cNvPicPr>
            <a:picLocks noChangeAspect="1"/>
          </p:cNvPicPr>
          <p:nvPr/>
        </p:nvPicPr>
        <p:blipFill>
          <a:blip r:embed="rId1"/>
          <a:srcRect l="0" r="0" t="0" b="0"/>
          <a:stretch/>
        </p:blipFill>
        <p:spPr>
          <a:xfrm>
            <a:off x="7162800" y="1981101"/>
            <a:ext cx="1016000" cy="1016000"/>
          </a:xfrm>
          <a:prstGeom prst="rect">
            <a:avLst/>
          </a:prstGeom>
        </p:spPr>
      </p:pic>
      <p:sp>
        <p:nvSpPr>
          <p:cNvPr id="6" name="Text 3"/>
          <p:cNvSpPr/>
          <p:nvPr/>
        </p:nvSpPr>
        <p:spPr>
          <a:xfrm>
            <a:off x="7162800" y="3124101"/>
            <a:ext cx="43428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Scales to any size without blur; tiny file; styleable with CSS; scriptable with JS.</a:t>
            </a:r>
            <a:endParaRPr lang="en-US" sz="1400" dirty="0"/>
          </a:p>
        </p:txBody>
      </p:sp>
      <p:sp>
        <p:nvSpPr>
          <p:cNvPr id="7" name="Text 4"/>
          <p:cNvSpPr/>
          <p:nvPr/>
        </p:nvSpPr>
        <p:spPr>
          <a:xfrm>
            <a:off x="7162800" y="3748782"/>
            <a:ext cx="44618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Best for icons, logos, charts, maps. Not for photos.</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MULTIMEDIA</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audio element</a:t>
            </a:r>
            <a:endParaRPr lang="en-US" sz="3200" dirty="0"/>
          </a:p>
        </p:txBody>
      </p:sp>
      <p:sp>
        <p:nvSpPr>
          <p:cNvPr id="4" name="Text 2"/>
          <p:cNvSpPr/>
          <p:nvPr/>
        </p:nvSpPr>
        <p:spPr>
          <a:xfrm>
            <a:off x="812800" y="1981101"/>
            <a:ext cx="6096000" cy="1941711"/>
          </a:xfrm>
          <a:prstGeom prst="roundRect">
            <a:avLst>
              <a:gd name="adj" fmla="val 5232"/>
            </a:avLst>
          </a:prstGeom>
          <a:solidFill>
            <a:srgbClr val="1B2430"/>
          </a:solidFill>
          <a:ln/>
        </p:spPr>
        <p:txBody>
          <a:bodyPr wrap="square" lIns="224242" tIns="173442" rIns="5660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&lt;audio</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controls</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preload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"metadata"</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&lt;source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src</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"media/podcast.mp3"</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"audio/mpeg"</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&lt;source</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src</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"media/podcast.ogg"</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"audio/ogg"</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8B98A9"/>
                </a:solidFill>
                <a:latin typeface="IBM Plex Mono" pitchFamily="49" charset="0"/>
                <a:ea typeface="IBM Plex Mono" pitchFamily="49" charset="-122"/>
                <a:cs typeface="IBM Plex Mono" pitchFamily="49" charset="-120"/>
              </a:rPr>
              <a:t>&lt;!-- fallback for very old browsers --&gt;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"media/podcast.mp3"</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Download the episode</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&lt;/audio&gt;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175500" y="1993801"/>
          <a:ext cx="4203700" cy="2155627"/>
        </p:xfrm>
        <a:graphic>
          <a:graphicData uri="http://schemas.openxmlformats.org/drawingml/2006/table">
            <a:tbl>
              <a:tblPr/>
              <a:tblGrid>
                <a:gridCol w="1597406"/>
                <a:gridCol w="2606294"/>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Attribute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Effect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controls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Show play, volume, seek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autoplay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Usually blocked unless muted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muted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Start silent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loop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Repeat forever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preload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none · metadata · auto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MULTIMEDIA</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video element, with captions</a:t>
            </a:r>
            <a:endParaRPr lang="en-US" sz="3200" dirty="0"/>
          </a:p>
        </p:txBody>
      </p:sp>
      <p:sp>
        <p:nvSpPr>
          <p:cNvPr id="4" name="Text 2"/>
          <p:cNvSpPr/>
          <p:nvPr/>
        </p:nvSpPr>
        <p:spPr>
          <a:xfrm>
            <a:off x="812800" y="1981101"/>
            <a:ext cx="6731000" cy="2295525"/>
          </a:xfrm>
          <a:prstGeom prst="roundRect">
            <a:avLst>
              <a:gd name="adj" fmla="val 4426"/>
            </a:avLst>
          </a:prstGeom>
          <a:solidFill>
            <a:srgbClr val="1B2430"/>
          </a:solidFill>
          <a:ln/>
        </p:spPr>
        <p:txBody>
          <a:bodyPr wrap="square" lIns="224242" tIns="173442" rIns="37552" bIns="1480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&lt;video</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controls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"640"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"360"</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poster</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"media/intro-poster.jpg"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preload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"metadata"</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&lt;source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"media/intro.webm"</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"video/webm"</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&lt;source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"media/intro.mp4"</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"video/mp4"</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&lt;track</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kind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"captions"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"media/intro-en.vtt"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srclang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label</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"English"</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default</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"media/intro.mp4"</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Download the video</a:t>
            </a:r>
            <a:r>
              <a:rPr lang="en-US" sz="1200" dirty="0">
                <a:solidFill>
                  <a:srgbClr val="FF9E64"/>
                </a:solidFill>
                <a:latin typeface="IBM Plex Mono" pitchFamily="49" charset="0"/>
                <a:ea typeface="IBM Plex Mono" pitchFamily="49" charset="-122"/>
                <a:cs typeface="IBM Plex Mono" pitchFamily="49" charset="-120"/>
              </a:rPr>
              <a:t>&lt;/a&gt;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&lt;/video&gt;</a:t>
            </a:r>
            <a:endParaRPr lang="en-US" sz="1200" dirty="0"/>
          </a:p>
        </p:txBody>
      </p:sp>
      <p:sp>
        <p:nvSpPr>
          <p:cNvPr id="5" name="Text 3"/>
          <p:cNvSpPr/>
          <p:nvPr/>
        </p:nvSpPr>
        <p:spPr>
          <a:xfrm>
            <a:off x="7797800" y="1981101"/>
            <a:ext cx="3688842"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poster</a:t>
            </a:r>
            <a:r>
              <a:rPr lang="en-US" sz="1350" dirty="0">
                <a:solidFill>
                  <a:srgbClr val="1F2A37"/>
                </a:solidFill>
                <a:latin typeface="IBM Plex Sans" pitchFamily="34" charset="0"/>
                <a:ea typeface="IBM Plex Sans" pitchFamily="34" charset="-122"/>
                <a:cs typeface="IBM Plex Sans" pitchFamily="34" charset="-120"/>
              </a:rPr>
              <a:t> — image shown before play</a:t>
            </a:r>
            <a:endParaRPr lang="en-US" sz="1350" dirty="0"/>
          </a:p>
        </p:txBody>
      </p:sp>
      <p:sp>
        <p:nvSpPr>
          <p:cNvPr id="6" name="Text 4"/>
          <p:cNvSpPr/>
          <p:nvPr/>
        </p:nvSpPr>
        <p:spPr>
          <a:xfrm>
            <a:off x="7797800" y="2335411"/>
            <a:ext cx="3688842"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track</a:t>
            </a:r>
            <a:r>
              <a:rPr lang="en-US" sz="1350" dirty="0">
                <a:solidFill>
                  <a:srgbClr val="1F2A37"/>
                </a:solidFill>
                <a:latin typeface="IBM Plex Sans" pitchFamily="34" charset="0"/>
                <a:ea typeface="IBM Plex Sans" pitchFamily="34" charset="-122"/>
                <a:cs typeface="IBM Plex Sans" pitchFamily="34" charset="-120"/>
              </a:rPr>
              <a:t> — captions or subtitles in WebVTT (.vtt) format</a:t>
            </a:r>
            <a:endParaRPr lang="en-US" sz="1350" dirty="0"/>
          </a:p>
        </p:txBody>
      </p:sp>
      <p:sp>
        <p:nvSpPr>
          <p:cNvPr id="7" name="Text 5"/>
          <p:cNvSpPr/>
          <p:nvPr/>
        </p:nvSpPr>
        <p:spPr>
          <a:xfrm>
            <a:off x="7797800" y="2929731"/>
            <a:ext cx="4297680"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playsinline</a:t>
            </a:r>
            <a:r>
              <a:rPr lang="en-US" sz="1350" dirty="0">
                <a:solidFill>
                  <a:srgbClr val="1F2A37"/>
                </a:solidFill>
                <a:latin typeface="IBM Plex Sans" pitchFamily="34" charset="0"/>
                <a:ea typeface="IBM Plex Sans" pitchFamily="34" charset="-122"/>
                <a:cs typeface="IBM Plex Sans" pitchFamily="34" charset="-120"/>
              </a:rPr>
              <a:t> — play inside the page on iPhones</a:t>
            </a:r>
            <a:endParaRPr lang="en-US" sz="1350" dirty="0"/>
          </a:p>
        </p:txBody>
      </p:sp>
      <p:sp>
        <p:nvSpPr>
          <p:cNvPr id="8" name="Text 6"/>
          <p:cNvSpPr/>
          <p:nvPr/>
        </p:nvSpPr>
        <p:spPr>
          <a:xfrm>
            <a:off x="7797800" y="3284041"/>
            <a:ext cx="368884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MP4 (H.264) plays almost everywhere; WebM is a smaller open alternative.</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EMBEDDED CONTENT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iframe: a page inside your page</a:t>
            </a:r>
            <a:endParaRPr lang="en-US" sz="3200" dirty="0"/>
          </a:p>
        </p:txBody>
      </p:sp>
      <p:sp>
        <p:nvSpPr>
          <p:cNvPr id="4" name="Text 2"/>
          <p:cNvSpPr/>
          <p:nvPr/>
        </p:nvSpPr>
        <p:spPr>
          <a:xfrm>
            <a:off x="812800" y="1981101"/>
            <a:ext cx="10566400" cy="2531666"/>
          </a:xfrm>
          <a:prstGeom prst="roundRect">
            <a:avLst>
              <a:gd name="adj" fmla="val 4013"/>
            </a:avLst>
          </a:prstGeom>
          <a:solidFill>
            <a:srgbClr val="1B2430"/>
          </a:solidFill>
          <a:ln/>
        </p:spPr>
        <p:txBody>
          <a:bodyPr wrap="square" lIns="224242" tIns="173442" rIns="0" bIns="148042" rtlCol="0" anchor="t">
            <a:normAutofit/>
          </a:bodyPr>
          <a:lstStyle/>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&lt;!-- YouTube: copy from Share › Embed, then add title and loading --&gt;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&lt;iframe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"560"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"315"</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"https://www.youtube.com/embed/VIDEO_ID"</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title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"Introduction to HTML (video)"</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loading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"lazy"</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allowfullscreen</a:t>
            </a:r>
            <a:r>
              <a:rPr lang="en-US" sz="1200" dirty="0">
                <a:solidFill>
                  <a:srgbClr val="FF9E64"/>
                </a:solidFill>
                <a:latin typeface="IBM Plex Mono" pitchFamily="49" charset="0"/>
                <a:ea typeface="IBM Plex Mono" pitchFamily="49" charset="-122"/>
                <a:cs typeface="IBM Plex Mono" pitchFamily="49" charset="-120"/>
              </a:rPr>
              <a:t>&gt;&lt;/iframe&gt;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&lt;!-- Google Maps: Share › Embed a map --&gt;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&lt;iframe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"https://www.google.com/maps/embed?pb=…"</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title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"Map to the campus"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"600"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"450"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loading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"lazy"</a:t>
            </a:r>
            <a:r>
              <a:rPr lang="en-US" sz="1200" dirty="0">
                <a:solidFill>
                  <a:srgbClr val="FF9E64"/>
                </a:solidFill>
                <a:latin typeface="IBM Plex Mono" pitchFamily="49" charset="0"/>
                <a:ea typeface="IBM Plex Mono" pitchFamily="49" charset="-122"/>
                <a:cs typeface="IBM Plex Mono" pitchFamily="49" charset="-120"/>
              </a:rPr>
              <a:t>&gt;&lt;/iframe&gt;</a:t>
            </a:r>
            <a:endParaRPr lang="en-US" sz="1200" dirty="0"/>
          </a:p>
        </p:txBody>
      </p:sp>
      <p:sp>
        <p:nvSpPr>
          <p:cNvPr id="5" name="Text 3"/>
          <p:cNvSpPr/>
          <p:nvPr/>
        </p:nvSpPr>
        <p:spPr>
          <a:xfrm>
            <a:off x="815975" y="4769941"/>
            <a:ext cx="3414117" cy="773311"/>
          </a:xfrm>
          <a:prstGeom prst="roundRect">
            <a:avLst>
              <a:gd name="adj" fmla="val 12728"/>
            </a:avLst>
          </a:prstGeom>
          <a:solidFill>
            <a:srgbClr val="FFFDF9"/>
          </a:solidFill>
          <a:ln w="6350">
            <a:solidFill>
              <a:srgbClr val="E4E0D8"/>
            </a:solidFill>
            <a:prstDash val="solid"/>
          </a:ln>
        </p:spPr>
        <p:txBody>
          <a:bodyPr wrap="square" lIns="126747" tIns="126747" rIns="33658"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title</a:t>
            </a:r>
            <a:r>
              <a:rPr lang="en-US" sz="1300" dirty="0">
                <a:solidFill>
                  <a:srgbClr val="1F2A37"/>
                </a:solidFill>
                <a:latin typeface="IBM Plex Sans" pitchFamily="34" charset="0"/>
                <a:ea typeface="IBM Plex Sans" pitchFamily="34" charset="-122"/>
                <a:cs typeface="IBM Plex Sans" pitchFamily="34" charset="-120"/>
              </a:rPr>
              <a:t> is required for accessibility: it names the frame.</a:t>
            </a:r>
            <a:endParaRPr lang="en-US" sz="1300" dirty="0"/>
          </a:p>
        </p:txBody>
      </p:sp>
      <p:sp>
        <p:nvSpPr>
          <p:cNvPr id="6" name="Text 4"/>
          <p:cNvSpPr/>
          <p:nvPr/>
        </p:nvSpPr>
        <p:spPr>
          <a:xfrm>
            <a:off x="4388842" y="4769941"/>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sandbox</a:t>
            </a:r>
            <a:r>
              <a:rPr lang="en-US" sz="1300" dirty="0">
                <a:solidFill>
                  <a:srgbClr val="1F2A37"/>
                </a:solidFill>
                <a:latin typeface="IBM Plex Sans" pitchFamily="34" charset="0"/>
                <a:ea typeface="IBM Plex Sans" pitchFamily="34" charset="-122"/>
                <a:cs typeface="IBM Plex Sans" pitchFamily="34" charset="-120"/>
              </a:rPr>
              <a:t> limits what an untrusted frame can do (scripts, forms, pop-ups).</a:t>
            </a:r>
            <a:endParaRPr lang="en-US" sz="1300" dirty="0"/>
          </a:p>
        </p:txBody>
      </p:sp>
      <p:sp>
        <p:nvSpPr>
          <p:cNvPr id="7" name="Text 5"/>
          <p:cNvSpPr/>
          <p:nvPr/>
        </p:nvSpPr>
        <p:spPr>
          <a:xfrm>
            <a:off x="7961809" y="4769941"/>
            <a:ext cx="3414216" cy="773311"/>
          </a:xfrm>
          <a:prstGeom prst="roundRect">
            <a:avLst>
              <a:gd name="adj" fmla="val 12728"/>
            </a:avLst>
          </a:prstGeom>
          <a:solidFill>
            <a:srgbClr val="FFFDF9"/>
          </a:solidFill>
          <a:ln w="6350">
            <a:solidFill>
              <a:srgbClr val="E4E0D8"/>
            </a:solidFill>
            <a:prstDash val="solid"/>
          </a:ln>
        </p:spPr>
        <p:txBody>
          <a:bodyPr wrap="square" lIns="126747" tIns="126747" rIns="33655" bIns="101347"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Many sites </a:t>
            </a:r>
            <a:r>
              <a:rPr lang="en-US" sz="1300" b="1" dirty="0">
                <a:solidFill>
                  <a:srgbClr val="1F2A37"/>
                </a:solidFill>
                <a:latin typeface="IBM Plex Sans" pitchFamily="34" charset="0"/>
                <a:ea typeface="IBM Plex Sans" pitchFamily="34" charset="-122"/>
                <a:cs typeface="IBM Plex Sans" pitchFamily="34" charset="-120"/>
              </a:rPr>
              <a:t>refuse to be framed</a:t>
            </a:r>
            <a:r>
              <a:rPr lang="en-US" sz="1300" dirty="0">
                <a:solidFill>
                  <a:srgbClr val="1F2A37"/>
                </a:solidFill>
                <a:latin typeface="IBM Plex Sans" pitchFamily="34" charset="0"/>
                <a:ea typeface="IBM Plex Sans" pitchFamily="34" charset="-122"/>
                <a:cs typeface="IBM Plex Sans" pitchFamily="34" charset="-120"/>
              </a:rPr>
              <a:t> (X-Frame-Options header).</a:t>
            </a:r>
            <a:endParaRPr lang="en-US" sz="13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EMBEDDED CONTENT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object, embed and canvas</a:t>
            </a:r>
            <a:endParaRPr lang="en-US" sz="3200" dirty="0"/>
          </a:p>
        </p:txBody>
      </p:sp>
      <p:sp>
        <p:nvSpPr>
          <p:cNvPr id="4" name="Text 2"/>
          <p:cNvSpPr/>
          <p:nvPr/>
        </p:nvSpPr>
        <p:spPr>
          <a:xfrm>
            <a:off x="812800" y="1981101"/>
            <a:ext cx="5969000" cy="3476228"/>
          </a:xfrm>
          <a:prstGeom prst="roundRect">
            <a:avLst>
              <a:gd name="adj" fmla="val 2923"/>
            </a:avLst>
          </a:prstGeom>
          <a:solidFill>
            <a:srgbClr val="1B2430"/>
          </a:solidFill>
          <a:ln/>
        </p:spPr>
        <p:txBody>
          <a:bodyPr wrap="square" lIns="224242" tIns="173442" rIns="60412" bIns="148042" rtlCol="0" anchor="t">
            <a:normAutofit/>
          </a:bodyPr>
          <a:lstStyle/>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&lt;!-- Show a PDF with a fallback link --&gt;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&lt;object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data</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"files/outline.pdf"</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"application/pdf"</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"800"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"600"</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"files/outline.pdf"</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Download the outline</a:t>
            </a:r>
            <a:r>
              <a:rPr lang="en-US" sz="1200" dirty="0">
                <a:solidFill>
                  <a:srgbClr val="FF9E64"/>
                </a:solidFill>
                <a:latin typeface="IBM Plex Mono" pitchFamily="49" charset="0"/>
                <a:ea typeface="IBM Plex Mono" pitchFamily="49" charset="-122"/>
                <a:cs typeface="IBM Plex Mono" pitchFamily="49" charset="-120"/>
              </a:rPr>
              <a:t>&lt;/a&gt;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&lt;/object&gt;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&lt;!-- Void element, no fallback --&gt;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&lt;embed</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src</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"files/outline.pdf"</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"application/pdf"</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endParaRPr lang="en-US" sz="1200" dirty="0"/>
          </a:p>
          <a:p>
            <a:pPr algn="l" indent="0" marL="0">
              <a:lnSpc>
                <a:spcPts val="1860"/>
              </a:lnSpc>
              <a:buNone/>
            </a:pPr>
            <a:r>
              <a:rPr lang="en-US" sz="1200" dirty="0">
                <a:solidFill>
                  <a:srgbClr val="8B98A9"/>
                </a:solidFill>
                <a:latin typeface="IBM Plex Mono" pitchFamily="49" charset="0"/>
                <a:ea typeface="IBM Plex Mono" pitchFamily="49" charset="-122"/>
                <a:cs typeface="IBM Plex Mono" pitchFamily="49" charset="-120"/>
              </a:rPr>
              <a:t>&lt;!-- A drawing surface for JavaScript --&gt;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&lt;canvas</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id</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"chart"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width</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"400"</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height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"300"</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Chart of quiz scores</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&lt;/canvas&gt;</a:t>
            </a:r>
            <a:endParaRPr lang="en-US" sz="1200" dirty="0"/>
          </a:p>
        </p:txBody>
      </p:sp>
      <p:sp>
        <p:nvSpPr>
          <p:cNvPr id="5" name="Text 3"/>
          <p:cNvSpPr/>
          <p:nvPr/>
        </p:nvSpPr>
        <p:spPr>
          <a:xfrm>
            <a:off x="7035800" y="1981101"/>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object</a:t>
            </a:r>
            <a:r>
              <a:rPr lang="en-US" sz="1400" dirty="0">
                <a:solidFill>
                  <a:srgbClr val="1F2A37"/>
                </a:solidFill>
                <a:latin typeface="IBM Plex Sans" pitchFamily="34" charset="0"/>
                <a:ea typeface="IBM Plex Sans" pitchFamily="34" charset="-122"/>
                <a:cs typeface="IBM Plex Sans" pitchFamily="34" charset="-120"/>
              </a:rPr>
              <a:t> — generic embed with fallback content inside.</a:t>
            </a:r>
            <a:endParaRPr lang="en-US" sz="1400" dirty="0"/>
          </a:p>
        </p:txBody>
      </p:sp>
      <p:sp>
        <p:nvSpPr>
          <p:cNvPr id="6" name="Text 4"/>
          <p:cNvSpPr/>
          <p:nvPr/>
        </p:nvSpPr>
        <p:spPr>
          <a:xfrm>
            <a:off x="7035800" y="2356941"/>
            <a:ext cx="44737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embed</a:t>
            </a:r>
            <a:r>
              <a:rPr lang="en-US" sz="1400" dirty="0">
                <a:solidFill>
                  <a:srgbClr val="1F2A37"/>
                </a:solidFill>
                <a:latin typeface="IBM Plex Sans" pitchFamily="34" charset="0"/>
                <a:ea typeface="IBM Plex Sans" pitchFamily="34" charset="-122"/>
                <a:cs typeface="IBM Plex Sans" pitchFamily="34" charset="-120"/>
              </a:rPr>
              <a:t> — simpler, void, no fallback.</a:t>
            </a:r>
            <a:endParaRPr lang="en-US" sz="1400" dirty="0"/>
          </a:p>
        </p:txBody>
      </p:sp>
      <p:sp>
        <p:nvSpPr>
          <p:cNvPr id="7" name="Text 5"/>
          <p:cNvSpPr/>
          <p:nvPr/>
        </p:nvSpPr>
        <p:spPr>
          <a:xfrm>
            <a:off x="7035800" y="2732782"/>
            <a:ext cx="447370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canvas</a:t>
            </a:r>
            <a:r>
              <a:rPr lang="en-US" sz="1400" dirty="0">
                <a:solidFill>
                  <a:srgbClr val="1F2A37"/>
                </a:solidFill>
                <a:latin typeface="IBM Plex Sans" pitchFamily="34" charset="0"/>
                <a:ea typeface="IBM Plex Sans" pitchFamily="34" charset="-122"/>
                <a:cs typeface="IBM Plex Sans" pitchFamily="34" charset="-120"/>
              </a:rPr>
              <a:t> — empty until JavaScript draws on it (Week 9). Text inside is the fallback.</a:t>
            </a:r>
            <a:endParaRPr lang="en-US" sz="1400" dirty="0"/>
          </a:p>
        </p:txBody>
      </p:sp>
      <p:sp>
        <p:nvSpPr>
          <p:cNvPr id="8" name="Text 6"/>
          <p:cNvSpPr/>
          <p:nvPr/>
        </p:nvSpPr>
        <p:spPr>
          <a:xfrm>
            <a:off x="7035800" y="3357463"/>
            <a:ext cx="447370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Plugins like Flash and Java applets are gone; never rely on them.</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copy your photos and media into</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web-lab1/images and web-lab1/media.</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THE HEAD, COMPLETED</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Metadata for search, browsers and sharing</a:t>
            </a:r>
            <a:endParaRPr lang="en-US" sz="3200" dirty="0"/>
          </a:p>
        </p:txBody>
      </p:sp>
      <p:sp>
        <p:nvSpPr>
          <p:cNvPr id="4" name="Text 2"/>
          <p:cNvSpPr/>
          <p:nvPr/>
        </p:nvSpPr>
        <p:spPr>
          <a:xfrm>
            <a:off x="812800" y="1981101"/>
            <a:ext cx="10566400" cy="3327400"/>
          </a:xfrm>
          <a:prstGeom prst="roundRect">
            <a:avLst>
              <a:gd name="adj" fmla="val 3053"/>
            </a:avLst>
          </a:prstGeom>
          <a:solidFill>
            <a:srgbClr val="1B2430"/>
          </a:solidFill>
          <a:ln/>
        </p:spPr>
        <p:txBody>
          <a:bodyPr wrap="square" lIns="224242" tIns="148042" rIns="0" bIns="1226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&lt;head&gt;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charset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"UTF-8"</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"viewport"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"width=device-width, initial-scale=1"</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&lt;title&gt;</a:t>
            </a:r>
            <a:r>
              <a:rPr lang="en-US" sz="1200" dirty="0">
                <a:solidFill>
                  <a:srgbClr val="E6EDF3"/>
                </a:solidFill>
                <a:latin typeface="IBM Plex Mono" pitchFamily="49" charset="0"/>
                <a:ea typeface="IBM Plex Mono" pitchFamily="49" charset="-122"/>
                <a:cs typeface="IBM Plex Mono" pitchFamily="49" charset="-120"/>
              </a:rPr>
              <a:t>Biryani Recipe | Ali’s Kitchen</a:t>
            </a:r>
            <a:r>
              <a:rPr lang="en-US" sz="1200" dirty="0">
                <a:solidFill>
                  <a:srgbClr val="FF9E64"/>
                </a:solidFill>
                <a:latin typeface="IBM Plex Mono" pitchFamily="49" charset="0"/>
                <a:ea typeface="IBM Plex Mono" pitchFamily="49" charset="-122"/>
                <a:cs typeface="IBM Plex Mono" pitchFamily="49" charset="-120"/>
              </a:rPr>
              <a:t>&lt;/title&gt;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"description"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"Step-by-step chicken biryani for four people."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"author"</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"Ali Khan"</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&lt;link</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rel</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"icon"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"images/favicon.png"</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type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"image/png"</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8B98A9"/>
                </a:solidFill>
                <a:latin typeface="IBM Plex Mono" pitchFamily="49" charset="0"/>
                <a:ea typeface="IBM Plex Mono" pitchFamily="49" charset="-122"/>
                <a:cs typeface="IBM Plex Mono" pitchFamily="49" charset="-120"/>
              </a:rPr>
              <a:t>&lt;!-- Open Graph: the preview card on WhatsApp, Facebook, LinkedIn --&gt;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property</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"og:title"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"Chicken Biryani Recipe"</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property</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"og:description"</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"Ready in 90 minutes."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property</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"og:image"</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"https://example.com/images/biryani.jpg"</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&lt;link</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rel</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"stylesheet"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"css/style.css"</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&lt;/head&gt;</a:t>
            </a:r>
            <a:endParaRPr lang="en-US" sz="1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QUALITY CHECKLIST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Media that everyone can use — and that loads fast</a:t>
            </a:r>
            <a:endParaRPr lang="en-US" sz="3200" dirty="0"/>
          </a:p>
        </p:txBody>
      </p:sp>
      <p:sp>
        <p:nvSpPr>
          <p:cNvPr id="4" name="Shape 2"/>
          <p:cNvSpPr/>
          <p:nvPr/>
        </p:nvSpPr>
        <p:spPr>
          <a:xfrm>
            <a:off x="815975" y="1984276"/>
            <a:ext cx="3414117" cy="1484511"/>
          </a:xfrm>
          <a:prstGeom prst="roundRect">
            <a:avLst>
              <a:gd name="adj" fmla="val 6630"/>
            </a:avLst>
          </a:prstGeom>
          <a:solidFill>
            <a:srgbClr val="FFFDF9"/>
          </a:solidFill>
          <a:ln w="6350">
            <a:solidFill>
              <a:srgbClr val="E4E0D8"/>
            </a:solidFill>
            <a:prstDash val="solid"/>
          </a:ln>
        </p:spPr>
      </p:sp>
      <p:pic>
        <p:nvPicPr>
          <p:cNvPr id="5" name="Image 0" descr="Users">    </p:cNvPr>
          <p:cNvPicPr>
            <a:picLocks noChangeAspect="1"/>
          </p:cNvPicPr>
          <p:nvPr/>
        </p:nvPicPr>
        <p:blipFill>
          <a:blip r:embed="rId1"/>
          <a:srcRect l="0" r="0" t="0" b="0"/>
          <a:stretch/>
        </p:blipFill>
        <p:spPr>
          <a:xfrm>
            <a:off x="996950" y="2165251"/>
            <a:ext cx="304800" cy="304800"/>
          </a:xfrm>
          <a:prstGeom prst="rect">
            <a:avLst/>
          </a:prstGeom>
        </p:spPr>
      </p:pic>
      <p:sp>
        <p:nvSpPr>
          <p:cNvPr id="6" name="Text 3"/>
          <p:cNvSpPr/>
          <p:nvPr/>
        </p:nvSpPr>
        <p:spPr>
          <a:xfrm>
            <a:off x="996950" y="2533551"/>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Alt on every img</a:t>
            </a:r>
            <a:endParaRPr lang="en-US" sz="1500" dirty="0"/>
          </a:p>
        </p:txBody>
      </p:sp>
      <p:sp>
        <p:nvSpPr>
          <p:cNvPr id="7" name="Text 4"/>
          <p:cNvSpPr/>
          <p:nvPr/>
        </p:nvSpPr>
        <p:spPr>
          <a:xfrm>
            <a:off x="996950" y="2825651"/>
            <a:ext cx="31437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Meaningful, or alt="" for decoration.</a:t>
            </a:r>
            <a:endParaRPr lang="en-US" sz="1300" dirty="0"/>
          </a:p>
        </p:txBody>
      </p:sp>
      <p:sp>
        <p:nvSpPr>
          <p:cNvPr id="8" name="Shape 5"/>
          <p:cNvSpPr/>
          <p:nvPr/>
        </p:nvSpPr>
        <p:spPr>
          <a:xfrm>
            <a:off x="4388842" y="1984276"/>
            <a:ext cx="3414216" cy="1484511"/>
          </a:xfrm>
          <a:prstGeom prst="roundRect">
            <a:avLst>
              <a:gd name="adj" fmla="val 6630"/>
            </a:avLst>
          </a:prstGeom>
          <a:solidFill>
            <a:srgbClr val="FFFDF9"/>
          </a:solidFill>
          <a:ln w="6350">
            <a:solidFill>
              <a:srgbClr val="E4E0D8"/>
            </a:solidFill>
            <a:prstDash val="solid"/>
          </a:ln>
        </p:spPr>
      </p:sp>
      <p:pic>
        <p:nvPicPr>
          <p:cNvPr id="9" name="Image 1" descr="Chat">    </p:cNvPr>
          <p:cNvPicPr>
            <a:picLocks noChangeAspect="1"/>
          </p:cNvPicPr>
          <p:nvPr/>
        </p:nvPicPr>
        <p:blipFill>
          <a:blip r:embed="rId2"/>
          <a:srcRect l="0" r="0" t="0" b="0"/>
          <a:stretch/>
        </p:blipFill>
        <p:spPr>
          <a:xfrm>
            <a:off x="4569817" y="2165251"/>
            <a:ext cx="304800" cy="304800"/>
          </a:xfrm>
          <a:prstGeom prst="rect">
            <a:avLst/>
          </a:prstGeom>
        </p:spPr>
      </p:pic>
      <p:sp>
        <p:nvSpPr>
          <p:cNvPr id="10" name="Text 6"/>
          <p:cNvSpPr/>
          <p:nvPr/>
        </p:nvSpPr>
        <p:spPr>
          <a:xfrm>
            <a:off x="4569817" y="25335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Captions &amp; transcripts</a:t>
            </a:r>
            <a:endParaRPr lang="en-US" sz="1500" dirty="0"/>
          </a:p>
        </p:txBody>
      </p:sp>
      <p:sp>
        <p:nvSpPr>
          <p:cNvPr id="11" name="Text 7"/>
          <p:cNvSpPr/>
          <p:nvPr/>
        </p:nvSpPr>
        <p:spPr>
          <a:xfrm>
            <a:off x="4569817" y="282565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track for video; a text transcript for audio.</a:t>
            </a:r>
            <a:endParaRPr lang="en-US" sz="1300" dirty="0"/>
          </a:p>
        </p:txBody>
      </p:sp>
      <p:sp>
        <p:nvSpPr>
          <p:cNvPr id="12" name="Shape 8"/>
          <p:cNvSpPr/>
          <p:nvPr/>
        </p:nvSpPr>
        <p:spPr>
          <a:xfrm>
            <a:off x="7961809" y="1984276"/>
            <a:ext cx="3414216" cy="1484511"/>
          </a:xfrm>
          <a:prstGeom prst="roundRect">
            <a:avLst>
              <a:gd name="adj" fmla="val 6630"/>
            </a:avLst>
          </a:prstGeom>
          <a:solidFill>
            <a:srgbClr val="FFFDF9"/>
          </a:solidFill>
          <a:ln w="6350">
            <a:solidFill>
              <a:srgbClr val="E4E0D8"/>
            </a:solidFill>
            <a:prstDash val="solid"/>
          </a:ln>
        </p:spPr>
      </p:sp>
      <p:pic>
        <p:nvPicPr>
          <p:cNvPr id="13" name="Image 2" descr="Play">    </p:cNvPr>
          <p:cNvPicPr>
            <a:picLocks noChangeAspect="1"/>
          </p:cNvPicPr>
          <p:nvPr/>
        </p:nvPicPr>
        <p:blipFill>
          <a:blip r:embed="rId3"/>
          <a:srcRect l="0" r="0" t="0" b="0"/>
          <a:stretch/>
        </p:blipFill>
        <p:spPr>
          <a:xfrm>
            <a:off x="8142784" y="2165251"/>
            <a:ext cx="304800" cy="304800"/>
          </a:xfrm>
          <a:prstGeom prst="rect">
            <a:avLst/>
          </a:prstGeom>
        </p:spPr>
      </p:pic>
      <p:sp>
        <p:nvSpPr>
          <p:cNvPr id="14" name="Text 9"/>
          <p:cNvSpPr/>
          <p:nvPr/>
        </p:nvSpPr>
        <p:spPr>
          <a:xfrm>
            <a:off x="8142784" y="25335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User in control</a:t>
            </a:r>
            <a:endParaRPr lang="en-US" sz="1500" dirty="0"/>
          </a:p>
        </p:txBody>
      </p:sp>
      <p:sp>
        <p:nvSpPr>
          <p:cNvPr id="15" name="Text 10"/>
          <p:cNvSpPr/>
          <p:nvPr/>
        </p:nvSpPr>
        <p:spPr>
          <a:xfrm>
            <a:off x="8142784" y="2825651"/>
            <a:ext cx="314383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controls on; no autoplay with sound.</a:t>
            </a:r>
            <a:endParaRPr lang="en-US" sz="1300" dirty="0"/>
          </a:p>
        </p:txBody>
      </p:sp>
      <p:sp>
        <p:nvSpPr>
          <p:cNvPr id="16" name="Shape 11"/>
          <p:cNvSpPr/>
          <p:nvPr/>
        </p:nvSpPr>
        <p:spPr>
          <a:xfrm>
            <a:off x="815975" y="3627537"/>
            <a:ext cx="3414117" cy="1484511"/>
          </a:xfrm>
          <a:prstGeom prst="roundRect">
            <a:avLst>
              <a:gd name="adj" fmla="val 6630"/>
            </a:avLst>
          </a:prstGeom>
          <a:solidFill>
            <a:srgbClr val="FFFDF9"/>
          </a:solidFill>
          <a:ln w="6350">
            <a:solidFill>
              <a:srgbClr val="E4E0D8"/>
            </a:solidFill>
            <a:prstDash val="solid"/>
          </a:ln>
        </p:spPr>
      </p:sp>
      <p:pic>
        <p:nvPicPr>
          <p:cNvPr id="17" name="Image 3" descr="Search">    </p:cNvPr>
          <p:cNvPicPr>
            <a:picLocks noChangeAspect="1"/>
          </p:cNvPicPr>
          <p:nvPr/>
        </p:nvPicPr>
        <p:blipFill>
          <a:blip r:embed="rId4"/>
          <a:srcRect l="0" r="0" t="0" b="0"/>
          <a:stretch/>
        </p:blipFill>
        <p:spPr>
          <a:xfrm>
            <a:off x="996950" y="3808512"/>
            <a:ext cx="304800" cy="304800"/>
          </a:xfrm>
          <a:prstGeom prst="rect">
            <a:avLst/>
          </a:prstGeom>
        </p:spPr>
      </p:pic>
      <p:sp>
        <p:nvSpPr>
          <p:cNvPr id="18" name="Text 12"/>
          <p:cNvSpPr/>
          <p:nvPr/>
        </p:nvSpPr>
        <p:spPr>
          <a:xfrm>
            <a:off x="996950" y="417681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Name every frame</a:t>
            </a:r>
            <a:endParaRPr lang="en-US" sz="1500" dirty="0"/>
          </a:p>
        </p:txBody>
      </p:sp>
      <p:sp>
        <p:nvSpPr>
          <p:cNvPr id="19" name="Text 13"/>
          <p:cNvSpPr/>
          <p:nvPr/>
        </p:nvSpPr>
        <p:spPr>
          <a:xfrm>
            <a:off x="996950" y="4468912"/>
            <a:ext cx="314373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title on every iframe.</a:t>
            </a:r>
            <a:endParaRPr lang="en-US" sz="1300" dirty="0"/>
          </a:p>
        </p:txBody>
      </p:sp>
      <p:sp>
        <p:nvSpPr>
          <p:cNvPr id="20" name="Shape 14"/>
          <p:cNvSpPr/>
          <p:nvPr/>
        </p:nvSpPr>
        <p:spPr>
          <a:xfrm>
            <a:off x="4388842" y="3627537"/>
            <a:ext cx="3414216" cy="1484511"/>
          </a:xfrm>
          <a:prstGeom prst="roundRect">
            <a:avLst>
              <a:gd name="adj" fmla="val 6630"/>
            </a:avLst>
          </a:prstGeom>
          <a:solidFill>
            <a:srgbClr val="FFFDF9"/>
          </a:solidFill>
          <a:ln w="6350">
            <a:solidFill>
              <a:srgbClr val="E4E0D8"/>
            </a:solidFill>
            <a:prstDash val="solid"/>
          </a:ln>
        </p:spPr>
      </p:sp>
      <p:pic>
        <p:nvPicPr>
          <p:cNvPr id="21" name="Image 4" descr="Lightning">    </p:cNvPr>
          <p:cNvPicPr>
            <a:picLocks noChangeAspect="1"/>
          </p:cNvPicPr>
          <p:nvPr/>
        </p:nvPicPr>
        <p:blipFill>
          <a:blip r:embed="rId5"/>
          <a:srcRect l="0" r="0" t="0" b="0"/>
          <a:stretch/>
        </p:blipFill>
        <p:spPr>
          <a:xfrm>
            <a:off x="4569817" y="3808512"/>
            <a:ext cx="304800" cy="304800"/>
          </a:xfrm>
          <a:prstGeom prst="rect">
            <a:avLst/>
          </a:prstGeom>
        </p:spPr>
      </p:pic>
      <p:sp>
        <p:nvSpPr>
          <p:cNvPr id="22" name="Text 15"/>
          <p:cNvSpPr/>
          <p:nvPr/>
        </p:nvSpPr>
        <p:spPr>
          <a:xfrm>
            <a:off x="4569817" y="417681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Right-size files</a:t>
            </a:r>
            <a:endParaRPr lang="en-US" sz="1500" dirty="0"/>
          </a:p>
        </p:txBody>
      </p:sp>
      <p:sp>
        <p:nvSpPr>
          <p:cNvPr id="23" name="Text 16"/>
          <p:cNvSpPr/>
          <p:nvPr/>
        </p:nvSpPr>
        <p:spPr>
          <a:xfrm>
            <a:off x="4569817" y="446891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Resize and compress; srcset; lazy-load below the fold.</a:t>
            </a:r>
            <a:endParaRPr lang="en-US" sz="1300" dirty="0"/>
          </a:p>
        </p:txBody>
      </p:sp>
      <p:sp>
        <p:nvSpPr>
          <p:cNvPr id="24" name="Shape 17"/>
          <p:cNvSpPr/>
          <p:nvPr/>
        </p:nvSpPr>
        <p:spPr>
          <a:xfrm>
            <a:off x="7961809" y="3627537"/>
            <a:ext cx="3414216" cy="1484511"/>
          </a:xfrm>
          <a:prstGeom prst="roundRect">
            <a:avLst>
              <a:gd name="adj" fmla="val 6630"/>
            </a:avLst>
          </a:prstGeom>
          <a:solidFill>
            <a:srgbClr val="FFFDF9"/>
          </a:solidFill>
          <a:ln w="6350">
            <a:solidFill>
              <a:srgbClr val="E4E0D8"/>
            </a:solidFill>
            <a:prstDash val="solid"/>
          </a:ln>
        </p:spPr>
      </p:sp>
      <p:pic>
        <p:nvPicPr>
          <p:cNvPr id="25" name="Image 5" descr="Trust">    </p:cNvPr>
          <p:cNvPicPr>
            <a:picLocks noChangeAspect="1"/>
          </p:cNvPicPr>
          <p:nvPr/>
        </p:nvPicPr>
        <p:blipFill>
          <a:blip r:embed="rId6"/>
          <a:srcRect l="0" r="0" t="0" b="0"/>
          <a:stretch/>
        </p:blipFill>
        <p:spPr>
          <a:xfrm>
            <a:off x="8142784" y="3808512"/>
            <a:ext cx="304800" cy="304800"/>
          </a:xfrm>
          <a:prstGeom prst="rect">
            <a:avLst/>
          </a:prstGeom>
        </p:spPr>
      </p:pic>
      <p:sp>
        <p:nvSpPr>
          <p:cNvPr id="26" name="Text 18"/>
          <p:cNvSpPr/>
          <p:nvPr/>
        </p:nvSpPr>
        <p:spPr>
          <a:xfrm>
            <a:off x="8142784" y="417681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Respect copyright</a:t>
            </a:r>
            <a:endParaRPr lang="en-US" sz="1500" dirty="0"/>
          </a:p>
        </p:txBody>
      </p:sp>
      <p:sp>
        <p:nvSpPr>
          <p:cNvPr id="27" name="Text 19"/>
          <p:cNvSpPr/>
          <p:nvPr/>
        </p:nvSpPr>
        <p:spPr>
          <a:xfrm>
            <a:off x="8142784" y="446891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Own or licensed media; credit in figcaption.</a:t>
            </a:r>
            <a:endParaRPr lang="en-US" sz="13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Building a media page, then inspecting it</a:t>
            </a:r>
            <a:endParaRPr lang="en-US" sz="3200" dirty="0"/>
          </a:p>
        </p:txBody>
      </p:sp>
      <p:sp>
        <p:nvSpPr>
          <p:cNvPr id="4" name="Shape 2"/>
          <p:cNvSpPr/>
          <p:nvPr/>
        </p:nvSpPr>
        <p:spPr>
          <a:xfrm>
            <a:off x="815975" y="1984276"/>
            <a:ext cx="2543175" cy="1921272"/>
          </a:xfrm>
          <a:prstGeom prst="roundRect">
            <a:avLst>
              <a:gd name="adj" fmla="val 5123"/>
            </a:avLst>
          </a:prstGeom>
          <a:solidFill>
            <a:srgbClr val="FFFDF9"/>
          </a:solidFill>
          <a:ln w="6350">
            <a:solidFill>
              <a:srgbClr val="E4E0D8"/>
            </a:solidFill>
            <a:prstDash val="solid"/>
          </a:ln>
        </p:spPr>
      </p:sp>
      <p:sp>
        <p:nvSpPr>
          <p:cNvPr id="5" name="Text 3"/>
          <p:cNvSpPr/>
          <p:nvPr/>
        </p:nvSpPr>
        <p:spPr>
          <a:xfrm>
            <a:off x="996950"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996950"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Gallery</a:t>
            </a:r>
            <a:endParaRPr lang="en-US" sz="1500" dirty="0"/>
          </a:p>
        </p:txBody>
      </p:sp>
      <p:sp>
        <p:nvSpPr>
          <p:cNvPr id="7" name="Text 5"/>
          <p:cNvSpPr/>
          <p:nvPr/>
        </p:nvSpPr>
        <p:spPr>
          <a:xfrm>
            <a:off x="996950" y="3044031"/>
            <a:ext cx="22466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section of three figures with alt, size and caption.</a:t>
            </a:r>
            <a:endParaRPr lang="en-US" sz="1300" dirty="0"/>
          </a:p>
        </p:txBody>
      </p:sp>
      <p:sp>
        <p:nvSpPr>
          <p:cNvPr id="8" name="Shape 6"/>
          <p:cNvSpPr/>
          <p:nvPr/>
        </p:nvSpPr>
        <p:spPr>
          <a:xfrm>
            <a:off x="3492500" y="1984276"/>
            <a:ext cx="2543175" cy="1921272"/>
          </a:xfrm>
          <a:prstGeom prst="roundRect">
            <a:avLst>
              <a:gd name="adj" fmla="val 5123"/>
            </a:avLst>
          </a:prstGeom>
          <a:solidFill>
            <a:srgbClr val="FFFDF9"/>
          </a:solidFill>
          <a:ln w="6350">
            <a:solidFill>
              <a:srgbClr val="E4E0D8"/>
            </a:solidFill>
            <a:prstDash val="solid"/>
          </a:ln>
        </p:spPr>
      </p:sp>
      <p:sp>
        <p:nvSpPr>
          <p:cNvPr id="9" name="Text 7"/>
          <p:cNvSpPr/>
          <p:nvPr/>
        </p:nvSpPr>
        <p:spPr>
          <a:xfrm>
            <a:off x="3673475"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2</a:t>
            </a:r>
            <a:endParaRPr lang="en-US" sz="2800" dirty="0"/>
          </a:p>
        </p:txBody>
      </p:sp>
      <p:sp>
        <p:nvSpPr>
          <p:cNvPr id="10" name="Text 8"/>
          <p:cNvSpPr/>
          <p:nvPr/>
        </p:nvSpPr>
        <p:spPr>
          <a:xfrm>
            <a:off x="3673475"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Video</a:t>
            </a:r>
            <a:endParaRPr lang="en-US" sz="1500" dirty="0"/>
          </a:p>
        </p:txBody>
      </p:sp>
      <p:sp>
        <p:nvSpPr>
          <p:cNvPr id="11" name="Text 9"/>
          <p:cNvSpPr/>
          <p:nvPr/>
        </p:nvSpPr>
        <p:spPr>
          <a:xfrm>
            <a:off x="3673475" y="3044031"/>
            <a:ext cx="22466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video with poster and a .vtt caption track.</a:t>
            </a:r>
            <a:endParaRPr lang="en-US" sz="1300" dirty="0"/>
          </a:p>
        </p:txBody>
      </p:sp>
      <p:sp>
        <p:nvSpPr>
          <p:cNvPr id="12" name="Shape 10"/>
          <p:cNvSpPr/>
          <p:nvPr/>
        </p:nvSpPr>
        <p:spPr>
          <a:xfrm>
            <a:off x="6169025" y="1984276"/>
            <a:ext cx="2543175" cy="1921272"/>
          </a:xfrm>
          <a:prstGeom prst="roundRect">
            <a:avLst>
              <a:gd name="adj" fmla="val 5123"/>
            </a:avLst>
          </a:prstGeom>
          <a:solidFill>
            <a:srgbClr val="FFFDF9"/>
          </a:solidFill>
          <a:ln w="6350">
            <a:solidFill>
              <a:srgbClr val="E4E0D8"/>
            </a:solidFill>
            <a:prstDash val="solid"/>
          </a:ln>
        </p:spPr>
      </p:sp>
      <p:sp>
        <p:nvSpPr>
          <p:cNvPr id="13" name="Text 11"/>
          <p:cNvSpPr/>
          <p:nvPr/>
        </p:nvSpPr>
        <p:spPr>
          <a:xfrm>
            <a:off x="6350000" y="216525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3</a:t>
            </a:r>
            <a:endParaRPr lang="en-US" sz="2800" dirty="0"/>
          </a:p>
        </p:txBody>
      </p:sp>
      <p:sp>
        <p:nvSpPr>
          <p:cNvPr id="14" name="Text 12"/>
          <p:cNvSpPr/>
          <p:nvPr/>
        </p:nvSpPr>
        <p:spPr>
          <a:xfrm>
            <a:off x="6350000" y="273923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Map</a:t>
            </a:r>
            <a:endParaRPr lang="en-US" sz="1500" dirty="0"/>
          </a:p>
        </p:txBody>
      </p:sp>
      <p:sp>
        <p:nvSpPr>
          <p:cNvPr id="15" name="Text 13"/>
          <p:cNvSpPr/>
          <p:nvPr/>
        </p:nvSpPr>
        <p:spPr>
          <a:xfrm>
            <a:off x="6350000" y="3044031"/>
            <a:ext cx="22466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Google Maps embed with a title and lazy loading.</a:t>
            </a:r>
            <a:endParaRPr lang="en-US" sz="1300" dirty="0"/>
          </a:p>
        </p:txBody>
      </p:sp>
      <p:sp>
        <p:nvSpPr>
          <p:cNvPr id="16" name="Shape 14"/>
          <p:cNvSpPr/>
          <p:nvPr/>
        </p:nvSpPr>
        <p:spPr>
          <a:xfrm>
            <a:off x="8842375" y="1981101"/>
            <a:ext cx="2536825" cy="1927622"/>
          </a:xfrm>
          <a:prstGeom prst="roundRect">
            <a:avLst>
              <a:gd name="adj" fmla="val 5271"/>
            </a:avLst>
          </a:prstGeom>
          <a:solidFill>
            <a:srgbClr val="16202E"/>
          </a:solidFill>
          <a:ln/>
        </p:spPr>
      </p:sp>
      <p:sp>
        <p:nvSpPr>
          <p:cNvPr id="17" name="Text 15"/>
          <p:cNvSpPr/>
          <p:nvPr/>
        </p:nvSpPr>
        <p:spPr>
          <a:xfrm>
            <a:off x="9020175" y="2158901"/>
            <a:ext cx="2246662"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9E64"/>
                </a:solidFill>
                <a:latin typeface="IBM Plex Sans" pitchFamily="34" charset="0"/>
                <a:ea typeface="IBM Plex Sans" pitchFamily="34" charset="-122"/>
                <a:cs typeface="IBM Plex Sans" pitchFamily="34" charset="-120"/>
              </a:rPr>
              <a:t>4</a:t>
            </a:r>
            <a:endParaRPr lang="en-US" sz="2800" dirty="0"/>
          </a:p>
        </p:txBody>
      </p:sp>
      <p:sp>
        <p:nvSpPr>
          <p:cNvPr id="18" name="Text 16"/>
          <p:cNvSpPr/>
          <p:nvPr/>
        </p:nvSpPr>
        <p:spPr>
          <a:xfrm>
            <a:off x="9020175" y="2732881"/>
            <a:ext cx="224666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Inspect</a:t>
            </a:r>
            <a:endParaRPr lang="en-US" sz="1500" dirty="0"/>
          </a:p>
        </p:txBody>
      </p:sp>
      <p:sp>
        <p:nvSpPr>
          <p:cNvPr id="19" name="Text 17"/>
          <p:cNvSpPr/>
          <p:nvPr/>
        </p:nvSpPr>
        <p:spPr>
          <a:xfrm>
            <a:off x="9020175" y="3037681"/>
            <a:ext cx="224666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DevTools Network: file sizes; Lighthouse: accessibility and performance.</a:t>
            </a:r>
            <a:endParaRPr lang="en-US" sz="1300" dirty="0"/>
          </a:p>
        </p:txBody>
      </p:sp>
      <p:sp>
        <p:nvSpPr>
          <p:cNvPr id="20" name="Text 18"/>
          <p:cNvSpPr/>
          <p:nvPr/>
        </p:nvSpPr>
        <p:spPr>
          <a:xfrm>
            <a:off x="812800" y="41627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Watch for: which files the browser actually downloads, and what Lighthouse flags.</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5 · 25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Add a media gallery to your site: gallery.html</a:t>
            </a:r>
            <a:endParaRPr lang="en-US" sz="3200" dirty="0"/>
          </a:p>
        </p:txBody>
      </p:sp>
      <p:sp>
        <p:nvSpPr>
          <p:cNvPr id="4" name="Text 2"/>
          <p:cNvSpPr/>
          <p:nvPr/>
        </p:nvSpPr>
        <p:spPr>
          <a:xfrm>
            <a:off x="812800" y="1930301"/>
            <a:ext cx="5974747"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1.</a:t>
            </a:r>
            <a:r>
              <a:rPr lang="en-US" sz="1350" dirty="0">
                <a:solidFill>
                  <a:srgbClr val="1F2A37"/>
                </a:solidFill>
                <a:latin typeface="IBM Plex Sans" pitchFamily="34" charset="0"/>
                <a:ea typeface="IBM Plex Sans" pitchFamily="34" charset="-122"/>
                <a:cs typeface="IBM Plex Sans" pitchFamily="34" charset="-120"/>
              </a:rPr>
              <a:t> Four figures with meaningful alt, width, height and a figcaption with credit.</a:t>
            </a:r>
            <a:endParaRPr lang="en-US" sz="1350" dirty="0"/>
          </a:p>
        </p:txBody>
      </p:sp>
      <p:sp>
        <p:nvSpPr>
          <p:cNvPr id="5" name="Text 3"/>
          <p:cNvSpPr/>
          <p:nvPr/>
        </p:nvSpPr>
        <p:spPr>
          <a:xfrm>
            <a:off x="812800" y="249922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2.</a:t>
            </a:r>
            <a:r>
              <a:rPr lang="en-US" sz="1350" dirty="0">
                <a:solidFill>
                  <a:srgbClr val="1F2A37"/>
                </a:solidFill>
                <a:latin typeface="IBM Plex Sans" pitchFamily="34" charset="0"/>
                <a:ea typeface="IBM Plex Sans" pitchFamily="34" charset="-122"/>
                <a:cs typeface="IBM Plex Sans" pitchFamily="34" charset="-120"/>
              </a:rPr>
              <a:t> One image with srcset (two sizes) and one picture with a WebP source.</a:t>
            </a:r>
            <a:endParaRPr lang="en-US" sz="1350" dirty="0"/>
          </a:p>
        </p:txBody>
      </p:sp>
      <p:sp>
        <p:nvSpPr>
          <p:cNvPr id="6" name="Text 4"/>
          <p:cNvSpPr/>
          <p:nvPr/>
        </p:nvSpPr>
        <p:spPr>
          <a:xfrm>
            <a:off x="812800" y="282813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3.</a:t>
            </a:r>
            <a:r>
              <a:rPr lang="en-US" sz="1350" dirty="0">
                <a:solidFill>
                  <a:srgbClr val="1F2A37"/>
                </a:solidFill>
                <a:latin typeface="IBM Plex Sans" pitchFamily="34" charset="0"/>
                <a:ea typeface="IBM Plex Sans" pitchFamily="34" charset="-122"/>
                <a:cs typeface="IBM Plex Sans" pitchFamily="34" charset="-120"/>
              </a:rPr>
              <a:t> A video with controls, poster and a caption track (write a 2-cue .vtt).</a:t>
            </a:r>
            <a:endParaRPr lang="en-US" sz="1350" dirty="0"/>
          </a:p>
        </p:txBody>
      </p:sp>
      <p:sp>
        <p:nvSpPr>
          <p:cNvPr id="7" name="Text 5"/>
          <p:cNvSpPr/>
          <p:nvPr/>
        </p:nvSpPr>
        <p:spPr>
          <a:xfrm>
            <a:off x="812800" y="315704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4.</a:t>
            </a:r>
            <a:r>
              <a:rPr lang="en-US" sz="1350" dirty="0">
                <a:solidFill>
                  <a:srgbClr val="1F2A37"/>
                </a:solidFill>
                <a:latin typeface="IBM Plex Sans" pitchFamily="34" charset="0"/>
                <a:ea typeface="IBM Plex Sans" pitchFamily="34" charset="-122"/>
                <a:cs typeface="IBM Plex Sans" pitchFamily="34" charset="-120"/>
              </a:rPr>
              <a:t> An audio clip with a download fallback link.</a:t>
            </a:r>
            <a:endParaRPr lang="en-US" sz="1350" dirty="0"/>
          </a:p>
        </p:txBody>
      </p:sp>
      <p:sp>
        <p:nvSpPr>
          <p:cNvPr id="8" name="Text 6"/>
          <p:cNvSpPr/>
          <p:nvPr/>
        </p:nvSpPr>
        <p:spPr>
          <a:xfrm>
            <a:off x="812800" y="3485952"/>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5.</a:t>
            </a:r>
            <a:r>
              <a:rPr lang="en-US" sz="1350" dirty="0">
                <a:solidFill>
                  <a:srgbClr val="1F2A37"/>
                </a:solidFill>
                <a:latin typeface="IBM Plex Sans" pitchFamily="34" charset="0"/>
                <a:ea typeface="IBM Plex Sans" pitchFamily="34" charset="-122"/>
                <a:cs typeface="IBM Plex Sans" pitchFamily="34" charset="-120"/>
              </a:rPr>
              <a:t> A YouTube or Maps iframe with a title.</a:t>
            </a:r>
            <a:endParaRPr lang="en-US" sz="1350" dirty="0"/>
          </a:p>
        </p:txBody>
      </p:sp>
      <p:sp>
        <p:nvSpPr>
          <p:cNvPr id="9" name="Text 7"/>
          <p:cNvSpPr/>
          <p:nvPr/>
        </p:nvSpPr>
        <p:spPr>
          <a:xfrm>
            <a:off x="812800" y="3814862"/>
            <a:ext cx="5974747"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6.</a:t>
            </a:r>
            <a:r>
              <a:rPr lang="en-US" sz="1350" dirty="0">
                <a:solidFill>
                  <a:srgbClr val="1F2A37"/>
                </a:solidFill>
                <a:latin typeface="IBM Plex Sans" pitchFamily="34" charset="0"/>
                <a:ea typeface="IBM Plex Sans" pitchFamily="34" charset="-122"/>
                <a:cs typeface="IBM Plex Sans" pitchFamily="34" charset="-120"/>
              </a:rPr>
              <a:t> Every page: unique title, description, favicon, og:title. Clickable logo to home.</a:t>
            </a:r>
            <a:endParaRPr lang="en-US" sz="1350" dirty="0"/>
          </a:p>
        </p:txBody>
      </p:sp>
      <p:sp>
        <p:nvSpPr>
          <p:cNvPr id="10" name="Shape 8"/>
          <p:cNvSpPr/>
          <p:nvPr/>
        </p:nvSpPr>
        <p:spPr>
          <a:xfrm>
            <a:off x="6819900" y="1933476"/>
            <a:ext cx="4556125" cy="2129433"/>
          </a:xfrm>
          <a:prstGeom prst="roundRect">
            <a:avLst>
              <a:gd name="adj" fmla="val 4622"/>
            </a:avLst>
          </a:prstGeom>
          <a:solidFill>
            <a:srgbClr val="FFFDF9"/>
          </a:solidFill>
          <a:ln w="6350">
            <a:solidFill>
              <a:srgbClr val="D9D3C7"/>
            </a:solidFill>
            <a:prstDash val="solid"/>
          </a:ln>
        </p:spPr>
      </p:sp>
      <p:sp>
        <p:nvSpPr>
          <p:cNvPr id="11" name="Text 9"/>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Self-check</a:t>
            </a:r>
            <a:endParaRPr lang="en-US" sz="1600" dirty="0"/>
          </a:p>
        </p:txBody>
      </p:sp>
      <p:sp>
        <p:nvSpPr>
          <p:cNvPr id="12" name="Text 10"/>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Validator: 0 errors · Lighthouse accessibility score noted · no image over 300 KB</a:t>
            </a:r>
            <a:endParaRPr lang="en-US" sz="1300" dirty="0"/>
          </a:p>
        </p:txBody>
      </p:sp>
      <p:sp>
        <p:nvSpPr>
          <p:cNvPr id="13" name="Text 11"/>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Stretch goal</a:t>
            </a:r>
            <a:endParaRPr lang="en-US" sz="1600" dirty="0"/>
          </a:p>
        </p:txBody>
      </p:sp>
      <p:sp>
        <p:nvSpPr>
          <p:cNvPr id="14" name="Text 12"/>
          <p:cNvSpPr/>
          <p:nvPr/>
        </p:nvSpPr>
        <p:spPr>
          <a:xfrm>
            <a:off x="7026275" y="3394373"/>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Draw your own SVG logo inline (circle + rect + text) and use it in the header.</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Media mistakes to avoid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80531"/>
        </p:xfrm>
        <a:graphic>
          <a:graphicData uri="http://schemas.openxmlformats.org/drawingml/2006/table">
            <a:tbl>
              <a:tblPr/>
              <a:tblGrid>
                <a:gridCol w="4643628"/>
                <a:gridCol w="5910072"/>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Mistake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Better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 alt, or alt="image"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Describe the purpose; alt="" only for decoration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5 MB photo shrunk with width="300"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Resize the file; offer sizes with srcset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Photo.JPG linked as photo.jpg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Match case exactly; use lowercase names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Text baked into an image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Real HTML text, styled with CSS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Autoplaying video with sound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controls, no autoplay (or muted)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iframe without a title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title="Map to the campus"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Images copied from Google Images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Your own or properly licensed, credited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Which format for: (a) a logo (b) a holiday photo (c) a screenshot of code?</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What should alt be for a purely decorative divider image?</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srcset + sizes or picture: serving a cropped portrait version on phones?</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Which element adds captions to a video, and in what file format?</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Which meta tags control the preview card when a link is shared on WhatsApp?</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Key takeaways</a:t>
            </a:r>
            <a:endParaRPr lang="en-US" sz="3200" dirty="0"/>
          </a:p>
        </p:txBody>
      </p:sp>
      <p:sp>
        <p:nvSpPr>
          <p:cNvPr id="4" name="Shape 2"/>
          <p:cNvSpPr/>
          <p:nvPr/>
        </p:nvSpPr>
        <p:spPr>
          <a:xfrm>
            <a:off x="831850" y="1981101"/>
            <a:ext cx="0" cy="584200"/>
          </a:xfrm>
          <a:prstGeom prst="line">
            <a:avLst/>
          </a:prstGeom>
          <a:noFill/>
          <a:ln w="38100">
            <a:solidFill>
              <a:srgbClr val="C2410C"/>
            </a:solidFill>
            <a:prstDash val="solid"/>
          </a:ln>
        </p:spPr>
      </p:sp>
      <p:sp>
        <p:nvSpPr>
          <p:cNvPr id="5" name="Text 3"/>
          <p:cNvSpPr/>
          <p:nvPr/>
        </p:nvSpPr>
        <p:spPr>
          <a:xfrm>
            <a:off x="10033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JPEG/WebP for photos, PNG for crisp graphics, </a:t>
            </a:r>
            <a:r>
              <a:rPr lang="en-US" sz="1500" b="1" dirty="0">
                <a:solidFill>
                  <a:srgbClr val="1F2A37"/>
                </a:solidFill>
                <a:latin typeface="IBM Plex Sans" pitchFamily="34" charset="0"/>
                <a:ea typeface="IBM Plex Sans" pitchFamily="34" charset="-122"/>
                <a:cs typeface="IBM Plex Sans" pitchFamily="34" charset="-120"/>
              </a:rPr>
              <a:t>SVG</a:t>
            </a:r>
            <a:r>
              <a:rPr lang="en-US" sz="1500" dirty="0">
                <a:solidFill>
                  <a:srgbClr val="1F2A37"/>
                </a:solidFill>
                <a:latin typeface="IBM Plex Sans" pitchFamily="34" charset="0"/>
                <a:ea typeface="IBM Plex Sans" pitchFamily="34" charset="-122"/>
                <a:cs typeface="IBM Plex Sans" pitchFamily="34" charset="-120"/>
              </a:rPr>
              <a:t> for icons and logos.</a:t>
            </a:r>
            <a:endParaRPr lang="en-US" sz="1500" dirty="0"/>
          </a:p>
        </p:txBody>
      </p:sp>
      <p:sp>
        <p:nvSpPr>
          <p:cNvPr id="6" name="Shape 4"/>
          <p:cNvSpPr/>
          <p:nvPr/>
        </p:nvSpPr>
        <p:spPr>
          <a:xfrm>
            <a:off x="6267450" y="1981101"/>
            <a:ext cx="0" cy="584200"/>
          </a:xfrm>
          <a:prstGeom prst="line">
            <a:avLst/>
          </a:prstGeom>
          <a:noFill/>
          <a:ln w="38100">
            <a:solidFill>
              <a:srgbClr val="C2410C"/>
            </a:solidFill>
            <a:prstDash val="solid"/>
          </a:ln>
        </p:spPr>
      </p:sp>
      <p:sp>
        <p:nvSpPr>
          <p:cNvPr id="7" name="Text 5"/>
          <p:cNvSpPr/>
          <p:nvPr/>
        </p:nvSpPr>
        <p:spPr>
          <a:xfrm>
            <a:off x="64389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Every img needs </a:t>
            </a:r>
            <a:r>
              <a:rPr lang="en-US" sz="1500" b="1" dirty="0">
                <a:solidFill>
                  <a:srgbClr val="1F2A37"/>
                </a:solidFill>
                <a:latin typeface="IBM Plex Sans" pitchFamily="34" charset="0"/>
                <a:ea typeface="IBM Plex Sans" pitchFamily="34" charset="-122"/>
                <a:cs typeface="IBM Plex Sans" pitchFamily="34" charset="-120"/>
              </a:rPr>
              <a:t>src, alt, width, height</a:t>
            </a:r>
            <a:r>
              <a:rPr lang="en-US" sz="1500" dirty="0">
                <a:solidFill>
                  <a:srgbClr val="1F2A37"/>
                </a:solidFill>
                <a:latin typeface="IBM Plex Sans" pitchFamily="34" charset="0"/>
                <a:ea typeface="IBM Plex Sans" pitchFamily="34" charset="-122"/>
                <a:cs typeface="IBM Plex Sans" pitchFamily="34" charset="-120"/>
              </a:rPr>
              <a:t>; figure + figcaption for captions.</a:t>
            </a:r>
            <a:endParaRPr lang="en-US" sz="1500" dirty="0"/>
          </a:p>
        </p:txBody>
      </p:sp>
      <p:sp>
        <p:nvSpPr>
          <p:cNvPr id="8" name="Shape 6"/>
          <p:cNvSpPr/>
          <p:nvPr/>
        </p:nvSpPr>
        <p:spPr>
          <a:xfrm>
            <a:off x="831850" y="2692301"/>
            <a:ext cx="0" cy="584200"/>
          </a:xfrm>
          <a:prstGeom prst="line">
            <a:avLst/>
          </a:prstGeom>
          <a:noFill/>
          <a:ln w="38100">
            <a:solidFill>
              <a:srgbClr val="C2410C"/>
            </a:solidFill>
            <a:prstDash val="solid"/>
          </a:ln>
        </p:spPr>
      </p:sp>
      <p:sp>
        <p:nvSpPr>
          <p:cNvPr id="9" name="Text 7"/>
          <p:cNvSpPr/>
          <p:nvPr/>
        </p:nvSpPr>
        <p:spPr>
          <a:xfrm>
            <a:off x="1003300" y="27177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srcset/sizes</a:t>
            </a:r>
            <a:r>
              <a:rPr lang="en-US" sz="1500" dirty="0">
                <a:solidFill>
                  <a:srgbClr val="1F2A37"/>
                </a:solidFill>
                <a:latin typeface="IBM Plex Sans" pitchFamily="34" charset="0"/>
                <a:ea typeface="IBM Plex Sans" pitchFamily="34" charset="-122"/>
                <a:cs typeface="IBM Plex Sans" pitchFamily="34" charset="-120"/>
              </a:rPr>
              <a:t> for sizes, </a:t>
            </a:r>
            <a:r>
              <a:rPr lang="en-US" sz="1500" b="1" dirty="0">
                <a:solidFill>
                  <a:srgbClr val="1F2A37"/>
                </a:solidFill>
                <a:latin typeface="IBM Plex Sans" pitchFamily="34" charset="0"/>
                <a:ea typeface="IBM Plex Sans" pitchFamily="34" charset="-122"/>
                <a:cs typeface="IBM Plex Sans" pitchFamily="34" charset="-120"/>
              </a:rPr>
              <a:t>picture</a:t>
            </a:r>
            <a:r>
              <a:rPr lang="en-US" sz="1500" dirty="0">
                <a:solidFill>
                  <a:srgbClr val="1F2A37"/>
                </a:solidFill>
                <a:latin typeface="IBM Plex Sans" pitchFamily="34" charset="0"/>
                <a:ea typeface="IBM Plex Sans" pitchFamily="34" charset="-122"/>
                <a:cs typeface="IBM Plex Sans" pitchFamily="34" charset="-120"/>
              </a:rPr>
              <a:t> for formats and crops.</a:t>
            </a:r>
            <a:endParaRPr lang="en-US" sz="1500" dirty="0"/>
          </a:p>
        </p:txBody>
      </p:sp>
      <p:sp>
        <p:nvSpPr>
          <p:cNvPr id="10" name="Shape 8"/>
          <p:cNvSpPr/>
          <p:nvPr/>
        </p:nvSpPr>
        <p:spPr>
          <a:xfrm>
            <a:off x="6267450" y="2692301"/>
            <a:ext cx="0" cy="584200"/>
          </a:xfrm>
          <a:prstGeom prst="line">
            <a:avLst/>
          </a:prstGeom>
          <a:noFill/>
          <a:ln w="38100">
            <a:solidFill>
              <a:srgbClr val="C2410C"/>
            </a:solidFill>
            <a:prstDash val="solid"/>
          </a:ln>
        </p:spPr>
      </p:sp>
      <p:sp>
        <p:nvSpPr>
          <p:cNvPr id="11" name="Text 9"/>
          <p:cNvSpPr/>
          <p:nvPr/>
        </p:nvSpPr>
        <p:spPr>
          <a:xfrm>
            <a:off x="6438900" y="27177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audio and video with controls, multiple sources and </a:t>
            </a:r>
            <a:r>
              <a:rPr lang="en-US" sz="1500" b="1" dirty="0">
                <a:solidFill>
                  <a:srgbClr val="1F2A37"/>
                </a:solidFill>
                <a:latin typeface="IBM Plex Sans" pitchFamily="34" charset="0"/>
                <a:ea typeface="IBM Plex Sans" pitchFamily="34" charset="-122"/>
                <a:cs typeface="IBM Plex Sans" pitchFamily="34" charset="-120"/>
              </a:rPr>
              <a:t>captions</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12" name="Shape 10"/>
          <p:cNvSpPr/>
          <p:nvPr/>
        </p:nvSpPr>
        <p:spPr>
          <a:xfrm>
            <a:off x="831850" y="3403501"/>
            <a:ext cx="0" cy="317500"/>
          </a:xfrm>
          <a:prstGeom prst="line">
            <a:avLst/>
          </a:prstGeom>
          <a:noFill/>
          <a:ln w="38100">
            <a:solidFill>
              <a:srgbClr val="C2410C"/>
            </a:solidFill>
            <a:prstDash val="solid"/>
          </a:ln>
        </p:spPr>
      </p:sp>
      <p:sp>
        <p:nvSpPr>
          <p:cNvPr id="13" name="Text 11"/>
          <p:cNvSpPr/>
          <p:nvPr/>
        </p:nvSpPr>
        <p:spPr>
          <a:xfrm>
            <a:off x="1003300" y="34289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iframe for YouTube and maps — always with a </a:t>
            </a:r>
            <a:r>
              <a:rPr lang="en-US" sz="1500" b="1" dirty="0">
                <a:solidFill>
                  <a:srgbClr val="1F2A37"/>
                </a:solidFill>
                <a:latin typeface="IBM Plex Sans" pitchFamily="34" charset="0"/>
                <a:ea typeface="IBM Plex Sans" pitchFamily="34" charset="-122"/>
                <a:cs typeface="IBM Plex Sans" pitchFamily="34" charset="-120"/>
              </a:rPr>
              <a:t>title</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14" name="Shape 12"/>
          <p:cNvSpPr/>
          <p:nvPr/>
        </p:nvSpPr>
        <p:spPr>
          <a:xfrm>
            <a:off x="6267450" y="3403501"/>
            <a:ext cx="0" cy="317500"/>
          </a:xfrm>
          <a:prstGeom prst="line">
            <a:avLst/>
          </a:prstGeom>
          <a:noFill/>
          <a:ln w="38100">
            <a:solidFill>
              <a:srgbClr val="C2410C"/>
            </a:solidFill>
            <a:prstDash val="solid"/>
          </a:ln>
        </p:spPr>
      </p:sp>
      <p:sp>
        <p:nvSpPr>
          <p:cNvPr id="15" name="Text 13"/>
          <p:cNvSpPr/>
          <p:nvPr/>
        </p:nvSpPr>
        <p:spPr>
          <a:xfrm>
            <a:off x="6438900" y="34289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head: title, description, favicon, </a:t>
            </a:r>
            <a:r>
              <a:rPr lang="en-US" sz="1500" b="1" dirty="0">
                <a:solidFill>
                  <a:srgbClr val="1F2A37"/>
                </a:solidFill>
                <a:latin typeface="IBM Plex Sans" pitchFamily="34" charset="0"/>
                <a:ea typeface="IBM Plex Sans" pitchFamily="34" charset="-122"/>
                <a:cs typeface="IBM Plex Sans" pitchFamily="34" charset="-120"/>
              </a:rPr>
              <a:t>Open Graph</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1857772"/>
          </a:xfrm>
          <a:prstGeom prst="roundRect">
            <a:avLst>
              <a:gd name="adj" fmla="val 5298"/>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718641"/>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Ch. 7 Adding Images and Ch. 10 Embedded Media. Optional: Ch. 23 Web Image Basics.</a:t>
            </a:r>
            <a:endParaRPr lang="en-US" sz="1300" dirty="0"/>
          </a:p>
        </p:txBody>
      </p:sp>
      <p:sp>
        <p:nvSpPr>
          <p:cNvPr id="8" name="Shape 5"/>
          <p:cNvSpPr/>
          <p:nvPr/>
        </p:nvSpPr>
        <p:spPr>
          <a:xfrm>
            <a:off x="4393109" y="1984276"/>
            <a:ext cx="3418483" cy="1857772"/>
          </a:xfrm>
          <a:prstGeom prst="roundRect">
            <a:avLst>
              <a:gd name="adj" fmla="val 5298"/>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Lab 5. Run Lighthouse on every page and fix two issues it reports.</a:t>
            </a:r>
            <a:endParaRPr lang="en-US" sz="1300" dirty="0"/>
          </a:p>
        </p:txBody>
      </p:sp>
      <p:sp>
        <p:nvSpPr>
          <p:cNvPr id="12" name="Shape 8"/>
          <p:cNvSpPr/>
          <p:nvPr/>
        </p:nvSpPr>
        <p:spPr>
          <a:xfrm>
            <a:off x="7967166" y="1981101"/>
            <a:ext cx="3412034" cy="1864122"/>
          </a:xfrm>
          <a:prstGeom prst="roundRect">
            <a:avLst>
              <a:gd name="adj" fmla="val 5450"/>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Lecture 6</a:t>
            </a:r>
            <a:endParaRPr lang="en-US" sz="1600" dirty="0"/>
          </a:p>
        </p:txBody>
      </p:sp>
      <p:sp>
        <p:nvSpPr>
          <p:cNvPr id="15" name="Text 10"/>
          <p:cNvSpPr/>
          <p:nvPr/>
        </p:nvSpPr>
        <p:spPr>
          <a:xfrm>
            <a:off x="8170366" y="2936081"/>
            <a:ext cx="30958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HTML5 Forms and sending data with GET and POST</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3 · Lecture 5 — Images, Media &amp; the Head</a:t>
            </a:r>
            <a:endParaRPr lang="en-US" sz="1200" dirty="0"/>
          </a:p>
        </p:txBody>
      </p:sp>
    </p:spTree>
  </p:cSld>
  <p:clrMapOvr>
    <a:masterClrMapping/>
  </p:clrMapOvr>
</p:sld>
</file>

<file path=ppt/theme/theme1.xml><?xml version="1.0" encoding="utf-8"?>
<a:theme xmlns:a="http://schemas.openxmlformats.org/drawingml/2006/main" name="HTML W3·L5 – Images, Media, Embeds &amp; the Head">
  <a:themeElements>
    <a:clrScheme name="HTML W3·L5 – Images, Media, Embeds &amp; the Head">
      <a:dk1>
        <a:srgbClr val="16202E"/>
      </a:dk1>
      <a:lt1>
        <a:srgbClr val="F7F5F0"/>
      </a:lt1>
      <a:dk2>
        <a:srgbClr val="4E555F"/>
      </a:dk2>
      <a:lt2>
        <a:srgbClr val="E1E0DD"/>
      </a:lt2>
      <a:accent1>
        <a:srgbClr val="C2410C"/>
      </a:accent1>
      <a:accent2>
        <a:srgbClr val="1D4ED8"/>
      </a:accent2>
      <a:accent3>
        <a:srgbClr val="FF9E64"/>
      </a:accent3>
      <a:accent4>
        <a:srgbClr val="667085"/>
      </a:accent4>
      <a:accent5>
        <a:srgbClr val="475467"/>
      </a:accent5>
      <a:accent6>
        <a:srgbClr val="C9D4E0"/>
      </a:accent6>
      <a:hlink>
        <a:srgbClr val="0563C1"/>
      </a:hlink>
      <a:folHlink>
        <a:srgbClr val="954F72"/>
      </a:folHlink>
    </a:clrScheme>
    <a:fontScheme name="HTML W3·L5 – Images, Media, Embeds &amp; the Hea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W3·L5 – Images, Media, Embeds &amp; the Head</dc:title>
  <dc:subject/>
  <dc:creator/>
  <cp:lastModifiedBy/>
  <cp:revision>1</cp:revision>
  <dcterms:created xsi:type="dcterms:W3CDTF">2026-10-24T07:34:55Z</dcterms:created>
  <dcterms:modified xsi:type="dcterms:W3CDTF">2026-10-24T07:34:55Z</dcterms:modified>
</cp:coreProperties>
</file>