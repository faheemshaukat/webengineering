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4 completes the course card’s Lecture 6 (tables, listings, div, span) and adds HTML5 semantic layout elements, which the outline does not name but which every modern page and every Bootstrap template relies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were asked to bring their class timetable; it is the raw material for Lab 4A.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01 and 02 cover tables; 03 and 04 cover page structure. Together they finish the structural vocabulary students need before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ul. 2 Inside an li, before that li closes. 3 ../index.html. 4 It is treated as a relative path, so the browser looks for a file named www.youtube.com in the current folder. 5 id. Cold-call a few students and ask them to justify their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CSS layout matured, whole websites were built inside tables with invisible borders. Screen readers then announced every page as a data table with dozens of cells. Some HTML email templates still use layout tables for old email clients, but that is a special case. Mention the university’s student portal mark sheet as a perfect real example of tabular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row-first mental model: HTML tables are written row by row, left to right, like reading a book. The browser counts cells in each row to work out the columns. By default the table has no borders, which surprises students; we add a little CSS in the lab. A cell may contain other elements such as links, images or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 is not just bold text; it is semantic, like headings. Never use td with bold for headers. scope also accepts colgroup and rowgroup when a header spans a group. The empty top-left td is a common pattern for two-way tables. Ask students: in a mark sheet, which cells are headers? The student names (row headers) and the assessment names (column headers).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groups add meaning and give CSS and JavaScript hooks (e.g. sort only tbody rows). In HTML5 tfoot may come before or after tbody in the source, but placing it after tbody is now standard. Browsers insert a tbody automatically if you omit it; you will see this in the DevTools Elements panel even though your source has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 grid on the board and shade the merged cells. The classic error is forgetting to remove the covered cells, which pushes extra cells out to the right and makes a ragged table. Count check: each row’s cells plus any spans arriving from above must equal the column count. In the rowspan example the second row has only one cell because Monday already occupies its first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combines everything: caption, row groups, row and column headers, a rowspan and a colspan. Times and rooms are taken from the course card; Course A and Course B are placeholders for whatever runs in LR 27. Type it live, render it, then add a tiny style block (table, th, td with border 1px solid and border-collapse collapse) so the structure is visible. Ask: why does the 13:45 row have only two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headers and id technique is described in the Table Accessibility section of Learning Web Design, Chapter 8. Most tables only need captions and scope. A useful test: cover the header row with a sheet of paper and ask whether a single cell still makes sense; if not, headers must be machine-readable.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find border="1" in almost every old tutorial. The validator flags most of these attributes as obsolete. HTML5 still permits border="1" or border="" as a hint for a table used for data, but CSS is the correct place for appearance. border-collapse merges double borders into single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 stands for division, span for a span of text. They are purely hooks for CSS and JavaScript, almost always with a class or id. Show the div and span demo from your existing Lecture 3 slides: two divs stack, a span flows inline, a span inside a div stays inline. Bootstrap, covered in Week 6, is built almost entirely on divs with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an id is like a student’s registration number, unique in the university; a class is like a section name, shared by many students. Naming by purpose matters because the design will change: a red-text class that later becomes orange is confusing. This slide prepares directly for CSS selectors in Week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HTML5 was designed, researchers looked at the most common id and class names on millions of pages (header, nav, footer, content, sidebar, post) and turned them into elements. That story makes the new elements feel natural rather than arbitrary. The two versions can look identical with CSS; only the second carries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up a news site such as Dawn or BBC, open DevTools and find these regions. This diagram is a meaning map, not a visual layout; the aside could sit below main on a phone and still be an aside. Point out that header and footer can also appear inside an article for its own byline and 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readers let users jump straight between landmarks, for example skip to main. That is why main should appear once and should not be inside header, nav, aside or footer. The landmark roles are implied automatically; you do not need to add role attributes when you use these elements. figure is covered in detail in Lecture 5 with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skeleton students should use for every page in Assignment 1. The code continues from the left panel to the right panel. The email address is illustrative. Ask: where would you put a search box? Usually in header; and a form for newsletter sign-up? Likely aside or footer.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 questions in order; the first yes wins. Test with examples: a weather widget on a news site (aside), a single comment (article), the About Us part of a home page (section), a wrapper used only to centre content (div). The section versus article distinction is subtle; tell students that reasonable people disagree on edge cases, and the key is a defensible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Ten-minute timer. Students who sketch the grid during the break, marking merged cells, finish Lab 4A much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with the timetable from the code slide. Deliberately forget to delete a covered cell and show the ragged result, then fix it. Use DevTools to hover cells and show the spanning boxes. Keep the demo to ten minutes so students have thirty minutes for both lab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timetable is ideal because almost every student’s real schedule has two-hour blocks (rowspan) and common breaks (colspan). The validator reports a table column or row count problem if spans are wrong, which gives students instant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header containing h1 Tech Blog and nav with ul of three li a links; main containing article with h2 Why HTML5?, p with time datetime 2026-11-03, and p Semantic tags help; aside with h2 Popular posts and a list; footer with p small copyright. Pairs compare answers with another pair before you show the model. Applying the skeleton to their own index.html means their mini-site is now semantic.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caption, as the first child of table. 2 One more cell (3 + 1 = 4). 3 That the header labels the cells across its row. 4 span, because it is inline. 5 article, because a single review is self-contained and would make sense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is complete. Students now know all the structural elements; Week 3 adds media and forms, the last two pieces before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collect three to five photos (their own or freely licensed) and one short video or audio clip for Lecture 5’s media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9E64"/>
                </a:solidFill>
                <a:latin typeface="IBM Plex Sans" pitchFamily="34" charset="0"/>
                <a:ea typeface="IBM Plex Sans" pitchFamily="34" charset="-122"/>
                <a:cs typeface="IBM Plex Sans" pitchFamily="34" charset="-120"/>
              </a:rPr>
              <a:t>CSC-312 WEB ENGINEERING · HTML MODULE</a:t>
            </a:r>
            <a:endParaRPr lang="en-US" sz="1400" dirty="0"/>
          </a:p>
        </p:txBody>
      </p:sp>
      <p:sp>
        <p:nvSpPr>
          <p:cNvPr id="3" name="Text 1"/>
          <p:cNvSpPr/>
          <p:nvPr/>
        </p:nvSpPr>
        <p:spPr>
          <a:xfrm>
            <a:off x="812800" y="12140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C3"/>
                </a:solidFill>
                <a:latin typeface="IBM Plex Mono" pitchFamily="49" charset="0"/>
                <a:ea typeface="IBM Plex Mono" pitchFamily="49" charset="-122"/>
                <a:cs typeface="IBM Plex Mono" pitchFamily="49" charset="-120"/>
              </a:rPr>
              <a:t>Week 2 · Lecture 4 of 6</a:t>
            </a:r>
            <a:endParaRPr lang="en-US" sz="1600" dirty="0"/>
          </a:p>
        </p:txBody>
      </p:sp>
      <p:sp>
        <p:nvSpPr>
          <p:cNvPr id="4" name="Text 2"/>
          <p:cNvSpPr/>
          <p:nvPr>
            <p:ph type="title"/>
          </p:nvPr>
        </p:nvSpPr>
        <p:spPr>
          <a:xfrm>
            <a:off x="812800" y="258574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F0"/>
                </a:solidFill>
                <a:latin typeface="IBM Plex Sans" pitchFamily="34" charset="0"/>
                <a:ea typeface="IBM Plex Sans" pitchFamily="34" charset="-122"/>
                <a:cs typeface="IBM Plex Sans" pitchFamily="34" charset="-120"/>
              </a:rPr>
              <a:t>Tables, div &amp; span,</a:t>
            </a:r>
            <a:endParaRPr lang="en-US" sz="6000" dirty="0"/>
          </a:p>
          <a:p>
            <a:pPr algn="l" indent="0" marL="0">
              <a:lnSpc>
                <a:spcPts val="6300"/>
              </a:lnSpc>
              <a:buNone/>
            </a:pPr>
            <a:r>
              <a:rPr lang="en-US" sz="6000" b="1" i="0" dirty="0">
                <a:solidFill>
                  <a:srgbClr val="F7F5F0"/>
                </a:solidFill>
                <a:latin typeface="IBM Plex Sans" pitchFamily="34" charset="0"/>
                <a:ea typeface="IBM Plex Sans" pitchFamily="34" charset="-122"/>
                <a:cs typeface="IBM Plex Sans" pitchFamily="34" charset="-120"/>
              </a:rPr>
              <a:t>Semantic Layout</a:t>
            </a:r>
            <a:endParaRPr lang="en-US" sz="6000" dirty="0"/>
          </a:p>
        </p:txBody>
      </p:sp>
      <p:sp>
        <p:nvSpPr>
          <p:cNvPr id="5" name="Text 3"/>
          <p:cNvSpPr/>
          <p:nvPr/>
        </p:nvSpPr>
        <p:spPr>
          <a:xfrm>
            <a:off x="812800" y="438914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0"/>
                </a:solidFill>
                <a:latin typeface="IBM Plex Sans" pitchFamily="34" charset="0"/>
                <a:ea typeface="IBM Plex Sans" pitchFamily="34" charset="-122"/>
                <a:cs typeface="IBM Plex Sans" pitchFamily="34" charset="-120"/>
              </a:rPr>
              <a:t>Presenting data in grids and giving every page a meaningful structure</a:t>
            </a:r>
            <a:endParaRPr lang="en-US" sz="1800" dirty="0"/>
          </a:p>
        </p:txBody>
      </p:sp>
      <p:sp>
        <p:nvSpPr>
          <p:cNvPr id="6" name="Text 4"/>
          <p:cNvSpPr/>
          <p:nvPr/>
        </p:nvSpPr>
        <p:spPr>
          <a:xfrm>
            <a:off x="812800" y="5796359"/>
            <a:ext cx="501360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E0"/>
                </a:solidFill>
                <a:latin typeface="IBM Plex Sans" pitchFamily="34" charset="0"/>
                <a:ea typeface="IBM Plex Sans" pitchFamily="34" charset="-122"/>
                <a:cs typeface="IBM Plex Sans" pitchFamily="34" charset="-120"/>
              </a:rPr>
              <a:t>Dr. Faheem Shaukat · BSCS 6th Semester · Fall 2026</a:t>
            </a:r>
            <a:endParaRPr lang="en-US" sz="1400" dirty="0"/>
          </a:p>
        </p:txBody>
      </p:sp>
      <p:sp>
        <p:nvSpPr>
          <p:cNvPr id="7" name="Text 5"/>
          <p:cNvSpPr/>
          <p:nvPr/>
        </p:nvSpPr>
        <p:spPr>
          <a:xfrm>
            <a:off x="8818880" y="5796359"/>
            <a:ext cx="256032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FF9E64"/>
                </a:solidFill>
                <a:latin typeface="IBM Plex Mono" pitchFamily="49" charset="0"/>
                <a:ea typeface="IBM Plex Mono" pitchFamily="49" charset="-122"/>
                <a:cs typeface="IBM Plex Mono" pitchFamily="49" charset="-120"/>
              </a:rPr>
              <a:t>&lt;table&gt; &lt;div&gt; &lt;main&gt;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TODAY’S 2-HOUR PLAN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Agenda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476500"/>
        </p:xfrm>
        <a:graphic>
          <a:graphicData uri="http://schemas.openxmlformats.org/drawingml/2006/table">
            <a:tbl>
              <a:tblPr/>
              <a:tblGrid>
                <a:gridCol w="1899666"/>
                <a:gridCol w="3166110"/>
                <a:gridCol w="5487924"/>
              </a:tblGrid>
              <a:tr h="412750">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Time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Segment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What we do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0:00 – 0:10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Recap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Lists and paths in five questions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0:10 – 0:55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Part A · Theory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Tables, spanning, accessibility; div, span; semantic layout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0:55 – 1:05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Break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9B9AE"/>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10 minutes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9B9AE"/>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1:05 – 1:45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Part B · Hands-on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Timetable table; refactor a div-soup page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1:45 – 2:00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Wrap-up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Quick check, summary, homework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LEARNING OUTCOMES · CLO 1, CLO 2</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By the end of today you can…</a:t>
            </a:r>
            <a:endParaRPr lang="en-US" sz="3200" dirty="0"/>
          </a:p>
        </p:txBody>
      </p:sp>
      <p:sp>
        <p:nvSpPr>
          <p:cNvPr id="4" name="Shape 2"/>
          <p:cNvSpPr/>
          <p:nvPr/>
        </p:nvSpPr>
        <p:spPr>
          <a:xfrm>
            <a:off x="815975" y="1984276"/>
            <a:ext cx="5200650" cy="1333500"/>
          </a:xfrm>
          <a:prstGeom prst="roundRect">
            <a:avLst>
              <a:gd name="adj" fmla="val 7381"/>
            </a:avLst>
          </a:prstGeom>
          <a:solidFill>
            <a:srgbClr val="FFFDF9"/>
          </a:solidFill>
          <a:ln w="6350">
            <a:solidFill>
              <a:srgbClr val="E4E0D8"/>
            </a:solidFill>
            <a:prstDash val="solid"/>
          </a:ln>
        </p:spPr>
      </p:sp>
      <p:sp>
        <p:nvSpPr>
          <p:cNvPr id="5" name="Text 3"/>
          <p:cNvSpPr/>
          <p:nvPr/>
        </p:nvSpPr>
        <p:spPr>
          <a:xfrm>
            <a:off x="1022350" y="219065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01</a:t>
            </a:r>
            <a:endParaRPr lang="en-US" sz="2000" dirty="0"/>
          </a:p>
        </p:txBody>
      </p:sp>
      <p:sp>
        <p:nvSpPr>
          <p:cNvPr id="6" name="Text 4"/>
          <p:cNvSpPr/>
          <p:nvPr/>
        </p:nvSpPr>
        <p:spPr>
          <a:xfrm>
            <a:off x="1022350" y="259705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Build accessible data tables with caption, header cells, row groups and scope</a:t>
            </a:r>
            <a:endParaRPr lang="en-US" sz="1500" dirty="0"/>
          </a:p>
        </p:txBody>
      </p:sp>
      <p:sp>
        <p:nvSpPr>
          <p:cNvPr id="7" name="Shape 5"/>
          <p:cNvSpPr/>
          <p:nvPr/>
        </p:nvSpPr>
        <p:spPr>
          <a:xfrm>
            <a:off x="6175375" y="1984276"/>
            <a:ext cx="5200650" cy="1333500"/>
          </a:xfrm>
          <a:prstGeom prst="roundRect">
            <a:avLst>
              <a:gd name="adj" fmla="val 7381"/>
            </a:avLst>
          </a:prstGeom>
          <a:solidFill>
            <a:srgbClr val="FFFDF9"/>
          </a:solidFill>
          <a:ln w="6350">
            <a:solidFill>
              <a:srgbClr val="E4E0D8"/>
            </a:solidFill>
            <a:prstDash val="solid"/>
          </a:ln>
        </p:spPr>
      </p:sp>
      <p:sp>
        <p:nvSpPr>
          <p:cNvPr id="8" name="Text 6"/>
          <p:cNvSpPr/>
          <p:nvPr/>
        </p:nvSpPr>
        <p:spPr>
          <a:xfrm>
            <a:off x="6381750" y="219065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02</a:t>
            </a:r>
            <a:endParaRPr lang="en-US" sz="2000" dirty="0"/>
          </a:p>
        </p:txBody>
      </p:sp>
      <p:sp>
        <p:nvSpPr>
          <p:cNvPr id="9" name="Text 7"/>
          <p:cNvSpPr/>
          <p:nvPr/>
        </p:nvSpPr>
        <p:spPr>
          <a:xfrm>
            <a:off x="6381750" y="259705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Merge cells with colspan and rowspan without breaking the grid</a:t>
            </a:r>
            <a:endParaRPr lang="en-US" sz="1500" dirty="0"/>
          </a:p>
        </p:txBody>
      </p:sp>
      <p:sp>
        <p:nvSpPr>
          <p:cNvPr id="10" name="Shape 8"/>
          <p:cNvSpPr/>
          <p:nvPr/>
        </p:nvSpPr>
        <p:spPr>
          <a:xfrm>
            <a:off x="815975" y="3476526"/>
            <a:ext cx="5200650" cy="1333500"/>
          </a:xfrm>
          <a:prstGeom prst="roundRect">
            <a:avLst>
              <a:gd name="adj" fmla="val 7381"/>
            </a:avLst>
          </a:prstGeom>
          <a:solidFill>
            <a:srgbClr val="FFFDF9"/>
          </a:solidFill>
          <a:ln w="6350">
            <a:solidFill>
              <a:srgbClr val="E4E0D8"/>
            </a:solidFill>
            <a:prstDash val="solid"/>
          </a:ln>
        </p:spPr>
      </p:sp>
      <p:sp>
        <p:nvSpPr>
          <p:cNvPr id="11" name="Text 9"/>
          <p:cNvSpPr/>
          <p:nvPr/>
        </p:nvSpPr>
        <p:spPr>
          <a:xfrm>
            <a:off x="1022350" y="368290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03</a:t>
            </a:r>
            <a:endParaRPr lang="en-US" sz="2000" dirty="0"/>
          </a:p>
        </p:txBody>
      </p:sp>
      <p:sp>
        <p:nvSpPr>
          <p:cNvPr id="12" name="Text 10"/>
          <p:cNvSpPr/>
          <p:nvPr/>
        </p:nvSpPr>
        <p:spPr>
          <a:xfrm>
            <a:off x="1022350" y="408930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Use div and span correctly, and choose between id and class</a:t>
            </a:r>
            <a:endParaRPr lang="en-US" sz="1500" dirty="0"/>
          </a:p>
        </p:txBody>
      </p:sp>
      <p:sp>
        <p:nvSpPr>
          <p:cNvPr id="13" name="Shape 11"/>
          <p:cNvSpPr/>
          <p:nvPr/>
        </p:nvSpPr>
        <p:spPr>
          <a:xfrm>
            <a:off x="6175375" y="3476526"/>
            <a:ext cx="5200650" cy="1333500"/>
          </a:xfrm>
          <a:prstGeom prst="roundRect">
            <a:avLst>
              <a:gd name="adj" fmla="val 7381"/>
            </a:avLst>
          </a:prstGeom>
          <a:solidFill>
            <a:srgbClr val="FFFDF9"/>
          </a:solidFill>
          <a:ln w="6350">
            <a:solidFill>
              <a:srgbClr val="E4E0D8"/>
            </a:solidFill>
            <a:prstDash val="solid"/>
          </a:ln>
        </p:spPr>
      </p:sp>
      <p:sp>
        <p:nvSpPr>
          <p:cNvPr id="14" name="Text 12"/>
          <p:cNvSpPr/>
          <p:nvPr/>
        </p:nvSpPr>
        <p:spPr>
          <a:xfrm>
            <a:off x="6381750" y="368290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04</a:t>
            </a:r>
            <a:endParaRPr lang="en-US" sz="2000" dirty="0"/>
          </a:p>
        </p:txBody>
      </p:sp>
      <p:sp>
        <p:nvSpPr>
          <p:cNvPr id="15" name="Text 13"/>
          <p:cNvSpPr/>
          <p:nvPr/>
        </p:nvSpPr>
        <p:spPr>
          <a:xfrm>
            <a:off x="6381750" y="408930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Lay out a page with header, nav, main, section, article, aside and footer</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RECAP · 10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Lists and paths in five questions</a:t>
            </a:r>
            <a:endParaRPr lang="en-US" sz="3200" dirty="0"/>
          </a:p>
        </p:txBody>
      </p:sp>
      <p:sp>
        <p:nvSpPr>
          <p:cNvPr id="4" name="Text 2"/>
          <p:cNvSpPr/>
          <p:nvPr/>
        </p:nvSpPr>
        <p:spPr>
          <a:xfrm>
            <a:off x="812800" y="19811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1.</a:t>
            </a:r>
            <a:r>
              <a:rPr lang="en-US" sz="1500" dirty="0">
                <a:solidFill>
                  <a:srgbClr val="1F2A37"/>
                </a:solidFill>
                <a:latin typeface="IBM Plex Sans" pitchFamily="34" charset="0"/>
                <a:ea typeface="IBM Plex Sans" pitchFamily="34" charset="-122"/>
                <a:cs typeface="IBM Plex Sans" pitchFamily="34" charset="-120"/>
              </a:rPr>
              <a:t> A list of exam rules where the order doesn’t matter: ul, ol or dl?</a:t>
            </a:r>
            <a:endParaRPr lang="en-US" sz="1500" dirty="0"/>
          </a:p>
        </p:txBody>
      </p:sp>
      <p:sp>
        <p:nvSpPr>
          <p:cNvPr id="5" name="Text 3"/>
          <p:cNvSpPr/>
          <p:nvPr/>
        </p:nvSpPr>
        <p:spPr>
          <a:xfrm>
            <a:off x="812800" y="23748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2.</a:t>
            </a:r>
            <a:r>
              <a:rPr lang="en-US" sz="1500" dirty="0">
                <a:solidFill>
                  <a:srgbClr val="1F2A37"/>
                </a:solidFill>
                <a:latin typeface="IBM Plex Sans" pitchFamily="34" charset="0"/>
                <a:ea typeface="IBM Plex Sans" pitchFamily="34" charset="-122"/>
                <a:cs typeface="IBM Plex Sans" pitchFamily="34" charset="-120"/>
              </a:rPr>
              <a:t> Where exactly does a nested ul go?</a:t>
            </a:r>
            <a:endParaRPr lang="en-US" sz="1500" dirty="0"/>
          </a:p>
        </p:txBody>
      </p:sp>
      <p:sp>
        <p:nvSpPr>
          <p:cNvPr id="6" name="Text 4"/>
          <p:cNvSpPr/>
          <p:nvPr/>
        </p:nvSpPr>
        <p:spPr>
          <a:xfrm>
            <a:off x="812800" y="27685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3.</a:t>
            </a:r>
            <a:r>
              <a:rPr lang="en-US" sz="1500" dirty="0">
                <a:solidFill>
                  <a:srgbClr val="1F2A37"/>
                </a:solidFill>
                <a:latin typeface="IBM Plex Sans" pitchFamily="34" charset="0"/>
                <a:ea typeface="IBM Plex Sans" pitchFamily="34" charset="-122"/>
                <a:cs typeface="IBM Plex Sans" pitchFamily="34" charset="-120"/>
              </a:rPr>
              <a:t> From pages/contact.html, link to index.html in the site root.</a:t>
            </a:r>
            <a:endParaRPr lang="en-US" sz="1500" dirty="0"/>
          </a:p>
        </p:txBody>
      </p:sp>
      <p:sp>
        <p:nvSpPr>
          <p:cNvPr id="7" name="Text 5"/>
          <p:cNvSpPr/>
          <p:nvPr/>
        </p:nvSpPr>
        <p:spPr>
          <a:xfrm>
            <a:off x="812800" y="31622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4.</a:t>
            </a:r>
            <a:r>
              <a:rPr lang="en-US" sz="1500" dirty="0">
                <a:solidFill>
                  <a:srgbClr val="1F2A37"/>
                </a:solidFill>
                <a:latin typeface="IBM Plex Sans" pitchFamily="34" charset="0"/>
                <a:ea typeface="IBM Plex Sans" pitchFamily="34" charset="-122"/>
                <a:cs typeface="IBM Plex Sans" pitchFamily="34" charset="-120"/>
              </a:rPr>
              <a:t> What does href="www.youtube.com" actually do?</a:t>
            </a:r>
            <a:endParaRPr lang="en-US" sz="1500" dirty="0"/>
          </a:p>
        </p:txBody>
      </p:sp>
      <p:sp>
        <p:nvSpPr>
          <p:cNvPr id="8" name="Text 6"/>
          <p:cNvSpPr/>
          <p:nvPr/>
        </p:nvSpPr>
        <p:spPr>
          <a:xfrm>
            <a:off x="812800" y="35559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5.</a:t>
            </a:r>
            <a:r>
              <a:rPr lang="en-US" sz="1500" dirty="0">
                <a:solidFill>
                  <a:srgbClr val="1F2A37"/>
                </a:solidFill>
                <a:latin typeface="IBM Plex Sans" pitchFamily="34" charset="0"/>
                <a:ea typeface="IBM Plex Sans" pitchFamily="34" charset="-122"/>
                <a:cs typeface="IBM Plex Sans" pitchFamily="34" charset="-120"/>
              </a:rPr>
              <a:t> Which attribute makes the target of a #fragment link?</a:t>
            </a:r>
            <a:endParaRPr lang="en-US" sz="15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TABLES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Tables are for data, not for layout</a:t>
            </a:r>
            <a:endParaRPr lang="en-US" sz="3200" dirty="0"/>
          </a:p>
        </p:txBody>
      </p:sp>
      <p:sp>
        <p:nvSpPr>
          <p:cNvPr id="4" name="Shape 2"/>
          <p:cNvSpPr/>
          <p:nvPr/>
        </p:nvSpPr>
        <p:spPr>
          <a:xfrm>
            <a:off x="815975" y="1984276"/>
            <a:ext cx="5175250" cy="1972171"/>
          </a:xfrm>
          <a:prstGeom prst="roundRect">
            <a:avLst>
              <a:gd name="adj" fmla="val 4991"/>
            </a:avLst>
          </a:prstGeom>
          <a:solidFill>
            <a:srgbClr val="FFFDF9"/>
          </a:solidFill>
          <a:ln w="6350">
            <a:solidFill>
              <a:srgbClr val="E4E0D8"/>
            </a:solidFill>
            <a:prstDash val="solid"/>
          </a:ln>
        </p:spPr>
      </p:sp>
      <p:sp>
        <p:nvSpPr>
          <p:cNvPr id="5" name="Text 3"/>
          <p:cNvSpPr/>
          <p:nvPr/>
        </p:nvSpPr>
        <p:spPr>
          <a:xfrm>
            <a:off x="1047750" y="2216051"/>
            <a:ext cx="485305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F7A1E"/>
                </a:solidFill>
                <a:latin typeface="IBM Plex Sans" pitchFamily="34" charset="0"/>
                <a:ea typeface="IBM Plex Sans" pitchFamily="34" charset="-122"/>
                <a:cs typeface="IBM Plex Sans" pitchFamily="34" charset="-120"/>
              </a:rPr>
              <a:t>Use a table for…</a:t>
            </a:r>
            <a:endParaRPr lang="en-US" sz="1800" dirty="0"/>
          </a:p>
        </p:txBody>
      </p:sp>
      <p:sp>
        <p:nvSpPr>
          <p:cNvPr id="6" name="Text 4"/>
          <p:cNvSpPr/>
          <p:nvPr/>
        </p:nvSpPr>
        <p:spPr>
          <a:xfrm>
            <a:off x="1047750" y="2591891"/>
            <a:ext cx="4853051"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F2A37"/>
                </a:solidFill>
                <a:latin typeface="IBM Plex Sans" pitchFamily="34" charset="0"/>
                <a:ea typeface="IBM Plex Sans" pitchFamily="34" charset="-122"/>
                <a:cs typeface="IBM Plex Sans" pitchFamily="34" charset="-120"/>
              </a:rPr>
              <a:t>Information with rows </a:t>
            </a:r>
            <a:r>
              <a:rPr lang="en-US" sz="1400" b="1" dirty="0">
                <a:solidFill>
                  <a:srgbClr val="1F2A37"/>
                </a:solidFill>
                <a:latin typeface="IBM Plex Sans" pitchFamily="34" charset="0"/>
                <a:ea typeface="IBM Plex Sans" pitchFamily="34" charset="-122"/>
                <a:cs typeface="IBM Plex Sans" pitchFamily="34" charset="-120"/>
              </a:rPr>
              <a:t>and</a:t>
            </a:r>
            <a:r>
              <a:rPr lang="en-US" sz="1400" dirty="0">
                <a:solidFill>
                  <a:srgbClr val="1F2A37"/>
                </a:solidFill>
                <a:latin typeface="IBM Plex Sans" pitchFamily="34" charset="0"/>
                <a:ea typeface="IBM Plex Sans" pitchFamily="34" charset="-122"/>
                <a:cs typeface="IBM Plex Sans" pitchFamily="34" charset="-120"/>
              </a:rPr>
              <a:t> columns that relate to each other: timetables, mark sheets, price lists, sports standings, comparison charts.</a:t>
            </a:r>
            <a:endParaRPr lang="en-US" sz="1400" dirty="0"/>
          </a:p>
        </p:txBody>
      </p:sp>
      <p:sp>
        <p:nvSpPr>
          <p:cNvPr id="7" name="Text 5"/>
          <p:cNvSpPr/>
          <p:nvPr/>
        </p:nvSpPr>
        <p:spPr>
          <a:xfrm>
            <a:off x="1047750" y="3493591"/>
            <a:ext cx="48530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Test: would it make sense in a spreadsheet?</a:t>
            </a:r>
            <a:endParaRPr lang="en-US" sz="1300" dirty="0"/>
          </a:p>
        </p:txBody>
      </p:sp>
      <p:sp>
        <p:nvSpPr>
          <p:cNvPr id="8" name="Shape 6"/>
          <p:cNvSpPr/>
          <p:nvPr/>
        </p:nvSpPr>
        <p:spPr>
          <a:xfrm>
            <a:off x="6200775" y="1984276"/>
            <a:ext cx="5175250" cy="1972171"/>
          </a:xfrm>
          <a:prstGeom prst="roundRect">
            <a:avLst>
              <a:gd name="adj" fmla="val 4991"/>
            </a:avLst>
          </a:prstGeom>
          <a:solidFill>
            <a:srgbClr val="FFFDF9"/>
          </a:solidFill>
          <a:ln w="6350">
            <a:solidFill>
              <a:srgbClr val="E4E0D8"/>
            </a:solidFill>
            <a:prstDash val="solid"/>
          </a:ln>
        </p:spPr>
      </p:sp>
      <p:sp>
        <p:nvSpPr>
          <p:cNvPr id="9" name="Text 7"/>
          <p:cNvSpPr/>
          <p:nvPr/>
        </p:nvSpPr>
        <p:spPr>
          <a:xfrm>
            <a:off x="6432550" y="2216051"/>
            <a:ext cx="485305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42318"/>
                </a:solidFill>
                <a:latin typeface="IBM Plex Sans" pitchFamily="34" charset="0"/>
                <a:ea typeface="IBM Plex Sans" pitchFamily="34" charset="-122"/>
                <a:cs typeface="IBM Plex Sans" pitchFamily="34" charset="-120"/>
              </a:rPr>
              <a:t>Don’t use a table for…</a:t>
            </a:r>
            <a:endParaRPr lang="en-US" sz="1800" dirty="0"/>
          </a:p>
        </p:txBody>
      </p:sp>
      <p:sp>
        <p:nvSpPr>
          <p:cNvPr id="10" name="Text 8"/>
          <p:cNvSpPr/>
          <p:nvPr/>
        </p:nvSpPr>
        <p:spPr>
          <a:xfrm>
            <a:off x="6432550" y="2591891"/>
            <a:ext cx="4853051"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F2A37"/>
                </a:solidFill>
                <a:latin typeface="IBM Plex Sans" pitchFamily="34" charset="0"/>
                <a:ea typeface="IBM Plex Sans" pitchFamily="34" charset="-122"/>
                <a:cs typeface="IBM Plex Sans" pitchFamily="34" charset="-120"/>
              </a:rPr>
              <a:t>Positioning a page: sidebars, columns, headers. That 1990s technique is inaccessible, rigid on phones and hard to maintain.</a:t>
            </a:r>
            <a:endParaRPr lang="en-US" sz="1400" dirty="0"/>
          </a:p>
        </p:txBody>
      </p:sp>
      <p:sp>
        <p:nvSpPr>
          <p:cNvPr id="11" name="Text 9"/>
          <p:cNvSpPr/>
          <p:nvPr/>
        </p:nvSpPr>
        <p:spPr>
          <a:xfrm>
            <a:off x="6432550" y="3493591"/>
            <a:ext cx="48530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Page layout belongs to CSS: Flexbox, Grid, Bootstrap.</a:t>
            </a:r>
            <a:endParaRPr lang="en-US" sz="13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TABLES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Minimal table: built row by row</a:t>
            </a:r>
            <a:endParaRPr lang="en-US" sz="3200" dirty="0"/>
          </a:p>
        </p:txBody>
      </p:sp>
      <p:sp>
        <p:nvSpPr>
          <p:cNvPr id="4" name="Text 2"/>
          <p:cNvSpPr/>
          <p:nvPr/>
        </p:nvSpPr>
        <p:spPr>
          <a:xfrm>
            <a:off x="812800" y="1981101"/>
            <a:ext cx="5461000" cy="2965252"/>
          </a:xfrm>
          <a:prstGeom prst="roundRect">
            <a:avLst>
              <a:gd name="adj" fmla="val 3426"/>
            </a:avLst>
          </a:prstGeom>
          <a:solidFill>
            <a:srgbClr val="1B2430"/>
          </a:solidFill>
          <a:ln/>
        </p:spPr>
        <p:txBody>
          <a:bodyPr wrap="square" lIns="224242" tIns="173442" rIns="75652"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&lt;table&gt;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&lt;tr&gt;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&lt;th&gt;</a:t>
            </a:r>
            <a:r>
              <a:rPr lang="en-US" sz="1300" dirty="0">
                <a:solidFill>
                  <a:srgbClr val="E6EDF3"/>
                </a:solidFill>
                <a:latin typeface="IBM Plex Mono" pitchFamily="49" charset="0"/>
                <a:ea typeface="IBM Plex Mono" pitchFamily="49" charset="-122"/>
                <a:cs typeface="IBM Plex Mono" pitchFamily="49" charset="-120"/>
              </a:rPr>
              <a:t>Name</a:t>
            </a:r>
            <a:r>
              <a:rPr lang="en-US" sz="1300" dirty="0">
                <a:solidFill>
                  <a:srgbClr val="FF9E64"/>
                </a:solidFill>
                <a:latin typeface="IBM Plex Mono" pitchFamily="49" charset="0"/>
                <a:ea typeface="IBM Plex Mono" pitchFamily="49" charset="-122"/>
                <a:cs typeface="IBM Plex Mono" pitchFamily="49" charset="-120"/>
              </a:rPr>
              <a:t>&lt;/th&gt;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&lt;th&gt;</a:t>
            </a:r>
            <a:r>
              <a:rPr lang="en-US" sz="1300" dirty="0">
                <a:solidFill>
                  <a:srgbClr val="E6EDF3"/>
                </a:solidFill>
                <a:latin typeface="IBM Plex Mono" pitchFamily="49" charset="0"/>
                <a:ea typeface="IBM Plex Mono" pitchFamily="49" charset="-122"/>
                <a:cs typeface="IBM Plex Mono" pitchFamily="49" charset="-120"/>
              </a:rPr>
              <a:t>Quiz 1</a:t>
            </a:r>
            <a:r>
              <a:rPr lang="en-US" sz="1300" dirty="0">
                <a:solidFill>
                  <a:srgbClr val="FF9E64"/>
                </a:solidFill>
                <a:latin typeface="IBM Plex Mono" pitchFamily="49" charset="0"/>
                <a:ea typeface="IBM Plex Mono" pitchFamily="49" charset="-122"/>
                <a:cs typeface="IBM Plex Mono" pitchFamily="49" charset="-120"/>
              </a:rPr>
              <a:t>&lt;/th&gt;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&lt;/tr&gt;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&lt;tr&gt;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&lt;td&gt;</a:t>
            </a:r>
            <a:r>
              <a:rPr lang="en-US" sz="1300" dirty="0">
                <a:solidFill>
                  <a:srgbClr val="E6EDF3"/>
                </a:solidFill>
                <a:latin typeface="IBM Plex Mono" pitchFamily="49" charset="0"/>
                <a:ea typeface="IBM Plex Mono" pitchFamily="49" charset="-122"/>
                <a:cs typeface="IBM Plex Mono" pitchFamily="49" charset="-120"/>
              </a:rPr>
              <a:t>Ayesha</a:t>
            </a:r>
            <a:r>
              <a:rPr lang="en-US" sz="1300" dirty="0">
                <a:solidFill>
                  <a:srgbClr val="FF9E64"/>
                </a:solidFill>
                <a:latin typeface="IBM Plex Mono" pitchFamily="49" charset="0"/>
                <a:ea typeface="IBM Plex Mono" pitchFamily="49" charset="-122"/>
                <a:cs typeface="IBM Plex Mono" pitchFamily="49" charset="-120"/>
              </a:rPr>
              <a:t>&lt;/td&gt;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&lt;td&gt;</a:t>
            </a:r>
            <a:r>
              <a:rPr lang="en-US" sz="1300" dirty="0">
                <a:solidFill>
                  <a:srgbClr val="E6EDF3"/>
                </a:solidFill>
                <a:latin typeface="IBM Plex Mono" pitchFamily="49" charset="0"/>
                <a:ea typeface="IBM Plex Mono" pitchFamily="49" charset="-122"/>
                <a:cs typeface="IBM Plex Mono" pitchFamily="49" charset="-120"/>
              </a:rPr>
              <a:t>9</a:t>
            </a:r>
            <a:r>
              <a:rPr lang="en-US" sz="1300" dirty="0">
                <a:solidFill>
                  <a:srgbClr val="FF9E64"/>
                </a:solidFill>
                <a:latin typeface="IBM Plex Mono" pitchFamily="49" charset="0"/>
                <a:ea typeface="IBM Plex Mono" pitchFamily="49" charset="-122"/>
                <a:cs typeface="IBM Plex Mono" pitchFamily="49" charset="-120"/>
              </a:rPr>
              <a:t>&lt;/td&gt;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&lt;/tr&gt;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&lt;/table&gt;</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40500" y="1993801"/>
          <a:ext cx="4838700" cy="1929805"/>
        </p:xfrm>
        <a:graphic>
          <a:graphicData uri="http://schemas.openxmlformats.org/drawingml/2006/table">
            <a:tbl>
              <a:tblPr/>
              <a:tblGrid>
                <a:gridCol w="1161288"/>
                <a:gridCol w="3677412"/>
              </a:tblGrid>
              <a:tr h="385961">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Tag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Meaning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The whole table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Table row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Header cell (bold, centred)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Data cell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6" name="Text 3"/>
          <p:cNvSpPr/>
          <p:nvPr/>
        </p:nvSpPr>
        <p:spPr>
          <a:xfrm>
            <a:off x="6527800" y="4050605"/>
            <a:ext cx="499694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There is </a:t>
            </a:r>
            <a:r>
              <a:rPr lang="en-US" sz="1400" b="1" dirty="0">
                <a:solidFill>
                  <a:srgbClr val="1F2A37"/>
                </a:solidFill>
                <a:latin typeface="IBM Plex Sans" pitchFamily="34" charset="0"/>
                <a:ea typeface="IBM Plex Sans" pitchFamily="34" charset="-122"/>
                <a:cs typeface="IBM Plex Sans" pitchFamily="34" charset="-120"/>
              </a:rPr>
              <a:t>no column element</a:t>
            </a:r>
            <a:r>
              <a:rPr lang="en-US" sz="1400" dirty="0">
                <a:solidFill>
                  <a:srgbClr val="1F2A37"/>
                </a:solidFill>
                <a:latin typeface="IBM Plex Sans" pitchFamily="34" charset="0"/>
                <a:ea typeface="IBM Plex Sans" pitchFamily="34" charset="-122"/>
                <a:cs typeface="IBM Plex Sans" pitchFamily="34" charset="-120"/>
              </a:rPr>
              <a:t> for content: columns appear from the cells in each row.</a:t>
            </a:r>
            <a:endParaRPr lang="en-US" sz="1400" dirty="0"/>
          </a:p>
        </p:txBody>
      </p:sp>
      <p:sp>
        <p:nvSpPr>
          <p:cNvPr id="7" name="Text 4"/>
          <p:cNvSpPr/>
          <p:nvPr/>
        </p:nvSpPr>
        <p:spPr>
          <a:xfrm>
            <a:off x="6527800" y="4675287"/>
            <a:ext cx="499694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Every row should have the same number of cells.</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TABLES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Header cells for rows and columns: scope</a:t>
            </a:r>
            <a:endParaRPr lang="en-US" sz="3200" dirty="0"/>
          </a:p>
        </p:txBody>
      </p:sp>
      <p:sp>
        <p:nvSpPr>
          <p:cNvPr id="4" name="Text 2"/>
          <p:cNvSpPr/>
          <p:nvPr/>
        </p:nvSpPr>
        <p:spPr>
          <a:xfrm>
            <a:off x="812800" y="1981101"/>
            <a:ext cx="6350000" cy="2965252"/>
          </a:xfrm>
          <a:prstGeom prst="roundRect">
            <a:avLst>
              <a:gd name="adj" fmla="val 3426"/>
            </a:avLst>
          </a:prstGeom>
          <a:solidFill>
            <a:srgbClr val="1B2430"/>
          </a:solidFill>
          <a:ln/>
        </p:spPr>
        <p:txBody>
          <a:bodyPr wrap="square" lIns="224242" tIns="173442" rIns="48982"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&lt;tr&gt;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&lt;td&gt;&lt;/td&gt;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&lt;th</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scope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"col"</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Monday</a:t>
            </a:r>
            <a:r>
              <a:rPr lang="en-US" sz="1300" dirty="0">
                <a:solidFill>
                  <a:srgbClr val="FF9E64"/>
                </a:solidFill>
                <a:latin typeface="IBM Plex Mono" pitchFamily="49" charset="0"/>
                <a:ea typeface="IBM Plex Mono" pitchFamily="49" charset="-122"/>
                <a:cs typeface="IBM Plex Mono" pitchFamily="49" charset="-120"/>
              </a:rPr>
              <a:t>&lt;/th&gt;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&lt;th</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scope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"col"</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Tuesday</a:t>
            </a:r>
            <a:r>
              <a:rPr lang="en-US" sz="1300" dirty="0">
                <a:solidFill>
                  <a:srgbClr val="FF9E64"/>
                </a:solidFill>
                <a:latin typeface="IBM Plex Mono" pitchFamily="49" charset="0"/>
                <a:ea typeface="IBM Plex Mono" pitchFamily="49" charset="-122"/>
                <a:cs typeface="IBM Plex Mono" pitchFamily="49" charset="-120"/>
              </a:rPr>
              <a:t>&lt;/th&gt;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&lt;/tr&gt;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&lt;tr&gt;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&lt;th</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scope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"row"</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Morning</a:t>
            </a:r>
            <a:r>
              <a:rPr lang="en-US" sz="1300" dirty="0">
                <a:solidFill>
                  <a:srgbClr val="FF9E64"/>
                </a:solidFill>
                <a:latin typeface="IBM Plex Mono" pitchFamily="49" charset="0"/>
                <a:ea typeface="IBM Plex Mono" pitchFamily="49" charset="-122"/>
                <a:cs typeface="IBM Plex Mono" pitchFamily="49" charset="-120"/>
              </a:rPr>
              <a:t>&lt;/th&gt;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&lt;td&gt;</a:t>
            </a:r>
            <a:r>
              <a:rPr lang="en-US" sz="1300" dirty="0">
                <a:solidFill>
                  <a:srgbClr val="E6EDF3"/>
                </a:solidFill>
                <a:latin typeface="IBM Plex Mono" pitchFamily="49" charset="0"/>
                <a:ea typeface="IBM Plex Mono" pitchFamily="49" charset="-122"/>
                <a:cs typeface="IBM Plex Mono" pitchFamily="49" charset="-120"/>
              </a:rPr>
              <a:t>Web Engineering</a:t>
            </a:r>
            <a:r>
              <a:rPr lang="en-US" sz="1300" dirty="0">
                <a:solidFill>
                  <a:srgbClr val="FF9E64"/>
                </a:solidFill>
                <a:latin typeface="IBM Plex Mono" pitchFamily="49" charset="0"/>
                <a:ea typeface="IBM Plex Mono" pitchFamily="49" charset="-122"/>
                <a:cs typeface="IBM Plex Mono" pitchFamily="49" charset="-120"/>
              </a:rPr>
              <a:t>&lt;/td&gt;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&lt;td&gt;</a:t>
            </a:r>
            <a:r>
              <a:rPr lang="en-US" sz="1300" dirty="0">
                <a:solidFill>
                  <a:srgbClr val="E6EDF3"/>
                </a:solidFill>
                <a:latin typeface="IBM Plex Mono" pitchFamily="49" charset="0"/>
                <a:ea typeface="IBM Plex Mono" pitchFamily="49" charset="-122"/>
                <a:cs typeface="IBM Plex Mono" pitchFamily="49" charset="-120"/>
              </a:rPr>
              <a:t>Consultation</a:t>
            </a:r>
            <a:r>
              <a:rPr lang="en-US" sz="1300" dirty="0">
                <a:solidFill>
                  <a:srgbClr val="FF9E64"/>
                </a:solidFill>
                <a:latin typeface="IBM Plex Mono" pitchFamily="49" charset="0"/>
                <a:ea typeface="IBM Plex Mono" pitchFamily="49" charset="-122"/>
                <a:cs typeface="IBM Plex Mono" pitchFamily="49" charset="-120"/>
              </a:rPr>
              <a:t>&lt;/td&gt;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&lt;/tr&gt;</a:t>
            </a:r>
            <a:endParaRPr lang="en-US" sz="1300" dirty="0"/>
          </a:p>
        </p:txBody>
      </p:sp>
      <p:sp>
        <p:nvSpPr>
          <p:cNvPr id="5" name="Text 3"/>
          <p:cNvSpPr/>
          <p:nvPr/>
        </p:nvSpPr>
        <p:spPr>
          <a:xfrm>
            <a:off x="7416800" y="1981101"/>
            <a:ext cx="408127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scope="col"</a:t>
            </a:r>
            <a:r>
              <a:rPr lang="en-US" sz="1400" dirty="0">
                <a:solidFill>
                  <a:srgbClr val="1F2A37"/>
                </a:solidFill>
                <a:latin typeface="IBM Plex Sans" pitchFamily="34" charset="0"/>
                <a:ea typeface="IBM Plex Sans" pitchFamily="34" charset="-122"/>
                <a:cs typeface="IBM Plex Sans" pitchFamily="34" charset="-120"/>
              </a:rPr>
              <a:t> — this header labels the cells </a:t>
            </a:r>
            <a:r>
              <a:rPr lang="en-US" sz="1400" i="1" dirty="0">
                <a:solidFill>
                  <a:srgbClr val="1F2A37"/>
                </a:solidFill>
                <a:latin typeface="IBM Plex Sans" pitchFamily="34" charset="0"/>
                <a:ea typeface="IBM Plex Sans" pitchFamily="34" charset="-122"/>
                <a:cs typeface="IBM Plex Sans" pitchFamily="34" charset="-120"/>
              </a:rPr>
              <a:t>below</a:t>
            </a:r>
            <a:r>
              <a:rPr lang="en-US" sz="1400" dirty="0">
                <a:solidFill>
                  <a:srgbClr val="1F2A37"/>
                </a:solidFill>
                <a:latin typeface="IBM Plex Sans" pitchFamily="34" charset="0"/>
                <a:ea typeface="IBM Plex Sans" pitchFamily="34" charset="-122"/>
                <a:cs typeface="IBM Plex Sans" pitchFamily="34" charset="-120"/>
              </a:rPr>
              <a:t> it.</a:t>
            </a:r>
            <a:endParaRPr lang="en-US" sz="1400" dirty="0"/>
          </a:p>
        </p:txBody>
      </p:sp>
      <p:sp>
        <p:nvSpPr>
          <p:cNvPr id="6" name="Text 4"/>
          <p:cNvSpPr/>
          <p:nvPr/>
        </p:nvSpPr>
        <p:spPr>
          <a:xfrm>
            <a:off x="7416800" y="2605782"/>
            <a:ext cx="408127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scope="row"</a:t>
            </a:r>
            <a:r>
              <a:rPr lang="en-US" sz="1400" dirty="0">
                <a:solidFill>
                  <a:srgbClr val="1F2A37"/>
                </a:solidFill>
                <a:latin typeface="IBM Plex Sans" pitchFamily="34" charset="0"/>
                <a:ea typeface="IBM Plex Sans" pitchFamily="34" charset="-122"/>
                <a:cs typeface="IBM Plex Sans" pitchFamily="34" charset="-120"/>
              </a:rPr>
              <a:t> — this header labels the cells to its </a:t>
            </a:r>
            <a:r>
              <a:rPr lang="en-US" sz="1400" i="1" dirty="0">
                <a:solidFill>
                  <a:srgbClr val="1F2A37"/>
                </a:solidFill>
                <a:latin typeface="IBM Plex Sans" pitchFamily="34" charset="0"/>
                <a:ea typeface="IBM Plex Sans" pitchFamily="34" charset="-122"/>
                <a:cs typeface="IBM Plex Sans" pitchFamily="34" charset="-120"/>
              </a:rPr>
              <a:t>right</a:t>
            </a:r>
            <a:r>
              <a:rPr lang="en-US" sz="1400" dirty="0">
                <a:solidFill>
                  <a:srgbClr val="1F2A37"/>
                </a:solidFill>
                <a:latin typeface="IBM Plex Sans" pitchFamily="34" charset="0"/>
                <a:ea typeface="IBM Plex Sans" pitchFamily="34" charset="-122"/>
                <a:cs typeface="IBM Plex Sans" pitchFamily="34" charset="-120"/>
              </a:rPr>
              <a:t>.</a:t>
            </a:r>
            <a:endParaRPr lang="en-US" sz="1400" dirty="0"/>
          </a:p>
        </p:txBody>
      </p:sp>
      <p:sp>
        <p:nvSpPr>
          <p:cNvPr id="7" name="Text 5"/>
          <p:cNvSpPr/>
          <p:nvPr/>
        </p:nvSpPr>
        <p:spPr>
          <a:xfrm>
            <a:off x="7416800" y="3230463"/>
            <a:ext cx="408127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A screen reader then says “Tuesday, Morning: Consultation” instead of just “Consultation”.</a:t>
            </a:r>
            <a:endParaRPr lang="en-US" sz="14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TABLES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caption, thead, tbody and tfoot</a:t>
            </a:r>
            <a:endParaRPr lang="en-US" sz="3200" dirty="0"/>
          </a:p>
        </p:txBody>
      </p:sp>
      <p:sp>
        <p:nvSpPr>
          <p:cNvPr id="4" name="Text 2"/>
          <p:cNvSpPr/>
          <p:nvPr/>
        </p:nvSpPr>
        <p:spPr>
          <a:xfrm>
            <a:off x="812800" y="1981101"/>
            <a:ext cx="6985000" cy="3327400"/>
          </a:xfrm>
          <a:prstGeom prst="roundRect">
            <a:avLst>
              <a:gd name="adj" fmla="val 3053"/>
            </a:avLst>
          </a:prstGeom>
          <a:solidFill>
            <a:srgbClr val="1B2430"/>
          </a:solidFill>
          <a:ln/>
        </p:spPr>
        <p:txBody>
          <a:bodyPr wrap="square" lIns="224242" tIns="148042" rIns="29932" bIns="122642" rtlCol="0" anchor="t">
            <a:normAutofit/>
          </a:bodyPr>
          <a:lstStyle/>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&lt;table&gt;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&lt;caption&gt;</a:t>
            </a:r>
            <a:r>
              <a:rPr lang="en-US" sz="1200" dirty="0">
                <a:solidFill>
                  <a:srgbClr val="E6EDF3"/>
                </a:solidFill>
                <a:latin typeface="IBM Plex Mono" pitchFamily="49" charset="0"/>
                <a:ea typeface="IBM Plex Mono" pitchFamily="49" charset="-122"/>
                <a:cs typeface="IBM Plex Mono" pitchFamily="49" charset="-120"/>
              </a:rPr>
              <a:t>Quiz results, Section A</a:t>
            </a:r>
            <a:r>
              <a:rPr lang="en-US" sz="1200" dirty="0">
                <a:solidFill>
                  <a:srgbClr val="FF9E64"/>
                </a:solidFill>
                <a:latin typeface="IBM Plex Mono" pitchFamily="49" charset="0"/>
                <a:ea typeface="IBM Plex Mono" pitchFamily="49" charset="-122"/>
                <a:cs typeface="IBM Plex Mono" pitchFamily="49" charset="-120"/>
              </a:rPr>
              <a:t>&lt;/caption&gt;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&lt;thead&gt;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&lt;tr&gt;&lt;th</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scope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"col"</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Student</a:t>
            </a:r>
            <a:r>
              <a:rPr lang="en-US" sz="1200" dirty="0">
                <a:solidFill>
                  <a:srgbClr val="FF9E64"/>
                </a:solidFill>
                <a:latin typeface="IBM Plex Mono" pitchFamily="49" charset="0"/>
                <a:ea typeface="IBM Plex Mono" pitchFamily="49" charset="-122"/>
                <a:cs typeface="IBM Plex Mono" pitchFamily="49" charset="-120"/>
              </a:rPr>
              <a:t>&lt;/th&gt;&lt;th</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scope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"col"</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Marks</a:t>
            </a:r>
            <a:r>
              <a:rPr lang="en-US" sz="1200" dirty="0">
                <a:solidFill>
                  <a:srgbClr val="FF9E64"/>
                </a:solidFill>
                <a:latin typeface="IBM Plex Mono" pitchFamily="49" charset="0"/>
                <a:ea typeface="IBM Plex Mono" pitchFamily="49" charset="-122"/>
                <a:cs typeface="IBM Plex Mono" pitchFamily="49" charset="-120"/>
              </a:rPr>
              <a:t>&lt;/th&gt;&lt;/tr&gt;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&lt;/thead&gt;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&lt;tbody&gt;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&lt;tr&gt;&lt;td&gt;</a:t>
            </a:r>
            <a:r>
              <a:rPr lang="en-US" sz="1200" dirty="0">
                <a:solidFill>
                  <a:srgbClr val="E6EDF3"/>
                </a:solidFill>
                <a:latin typeface="IBM Plex Mono" pitchFamily="49" charset="0"/>
                <a:ea typeface="IBM Plex Mono" pitchFamily="49" charset="-122"/>
                <a:cs typeface="IBM Plex Mono" pitchFamily="49" charset="-120"/>
              </a:rPr>
              <a:t>Ayesha</a:t>
            </a:r>
            <a:r>
              <a:rPr lang="en-US" sz="1200" dirty="0">
                <a:solidFill>
                  <a:srgbClr val="FF9E64"/>
                </a:solidFill>
                <a:latin typeface="IBM Plex Mono" pitchFamily="49" charset="0"/>
                <a:ea typeface="IBM Plex Mono" pitchFamily="49" charset="-122"/>
                <a:cs typeface="IBM Plex Mono" pitchFamily="49" charset="-120"/>
              </a:rPr>
              <a:t>&lt;/td&gt;&lt;td&gt;</a:t>
            </a:r>
            <a:r>
              <a:rPr lang="en-US" sz="1200" dirty="0">
                <a:solidFill>
                  <a:srgbClr val="E6EDF3"/>
                </a:solidFill>
                <a:latin typeface="IBM Plex Mono" pitchFamily="49" charset="0"/>
                <a:ea typeface="IBM Plex Mono" pitchFamily="49" charset="-122"/>
                <a:cs typeface="IBM Plex Mono" pitchFamily="49" charset="-120"/>
              </a:rPr>
              <a:t>9</a:t>
            </a:r>
            <a:r>
              <a:rPr lang="en-US" sz="1200" dirty="0">
                <a:solidFill>
                  <a:srgbClr val="FF9E64"/>
                </a:solidFill>
                <a:latin typeface="IBM Plex Mono" pitchFamily="49" charset="0"/>
                <a:ea typeface="IBM Plex Mono" pitchFamily="49" charset="-122"/>
                <a:cs typeface="IBM Plex Mono" pitchFamily="49" charset="-120"/>
              </a:rPr>
              <a:t>&lt;/td&gt;&lt;/tr&gt;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&lt;tr&gt;&lt;td&gt;</a:t>
            </a:r>
            <a:r>
              <a:rPr lang="en-US" sz="1200" dirty="0">
                <a:solidFill>
                  <a:srgbClr val="E6EDF3"/>
                </a:solidFill>
                <a:latin typeface="IBM Plex Mono" pitchFamily="49" charset="0"/>
                <a:ea typeface="IBM Plex Mono" pitchFamily="49" charset="-122"/>
                <a:cs typeface="IBM Plex Mono" pitchFamily="49" charset="-120"/>
              </a:rPr>
              <a:t>Bilal</a:t>
            </a:r>
            <a:r>
              <a:rPr lang="en-US" sz="1200" dirty="0">
                <a:solidFill>
                  <a:srgbClr val="FF9E64"/>
                </a:solidFill>
                <a:latin typeface="IBM Plex Mono" pitchFamily="49" charset="0"/>
                <a:ea typeface="IBM Plex Mono" pitchFamily="49" charset="-122"/>
                <a:cs typeface="IBM Plex Mono" pitchFamily="49" charset="-120"/>
              </a:rPr>
              <a:t>&lt;/td&gt;&lt;td&gt;</a:t>
            </a:r>
            <a:r>
              <a:rPr lang="en-US" sz="1200" dirty="0">
                <a:solidFill>
                  <a:srgbClr val="E6EDF3"/>
                </a:solidFill>
                <a:latin typeface="IBM Plex Mono" pitchFamily="49" charset="0"/>
                <a:ea typeface="IBM Plex Mono" pitchFamily="49" charset="-122"/>
                <a:cs typeface="IBM Plex Mono" pitchFamily="49" charset="-120"/>
              </a:rPr>
              <a:t>7</a:t>
            </a:r>
            <a:r>
              <a:rPr lang="en-US" sz="1200" dirty="0">
                <a:solidFill>
                  <a:srgbClr val="FF9E64"/>
                </a:solidFill>
                <a:latin typeface="IBM Plex Mono" pitchFamily="49" charset="0"/>
                <a:ea typeface="IBM Plex Mono" pitchFamily="49" charset="-122"/>
                <a:cs typeface="IBM Plex Mono" pitchFamily="49" charset="-120"/>
              </a:rPr>
              <a:t>&lt;/td&gt;&lt;/tr&gt;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&lt;/tbody&gt;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&lt;tfoot&gt;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&lt;tr&gt;&lt;th</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scope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"row"</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Average</a:t>
            </a:r>
            <a:r>
              <a:rPr lang="en-US" sz="1200" dirty="0">
                <a:solidFill>
                  <a:srgbClr val="FF9E64"/>
                </a:solidFill>
                <a:latin typeface="IBM Plex Mono" pitchFamily="49" charset="0"/>
                <a:ea typeface="IBM Plex Mono" pitchFamily="49" charset="-122"/>
                <a:cs typeface="IBM Plex Mono" pitchFamily="49" charset="-120"/>
              </a:rPr>
              <a:t>&lt;/th&gt;&lt;td&gt;</a:t>
            </a:r>
            <a:r>
              <a:rPr lang="en-US" sz="1200" dirty="0">
                <a:solidFill>
                  <a:srgbClr val="E6EDF3"/>
                </a:solidFill>
                <a:latin typeface="IBM Plex Mono" pitchFamily="49" charset="0"/>
                <a:ea typeface="IBM Plex Mono" pitchFamily="49" charset="-122"/>
                <a:cs typeface="IBM Plex Mono" pitchFamily="49" charset="-120"/>
              </a:rPr>
              <a:t>8</a:t>
            </a:r>
            <a:r>
              <a:rPr lang="en-US" sz="1200" dirty="0">
                <a:solidFill>
                  <a:srgbClr val="FF9E64"/>
                </a:solidFill>
                <a:latin typeface="IBM Plex Mono" pitchFamily="49" charset="0"/>
                <a:ea typeface="IBM Plex Mono" pitchFamily="49" charset="-122"/>
                <a:cs typeface="IBM Plex Mono" pitchFamily="49" charset="-120"/>
              </a:rPr>
              <a:t>&lt;/td&gt;&lt;/tr&gt;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&lt;/tfoot&gt;</a:t>
            </a:r>
            <a:endParaRPr lang="en-US" sz="1200" dirty="0"/>
          </a:p>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&lt;/table&gt;</a:t>
            </a:r>
            <a:endParaRPr lang="en-US" sz="1200" dirty="0"/>
          </a:p>
        </p:txBody>
      </p:sp>
      <p:sp>
        <p:nvSpPr>
          <p:cNvPr id="5" name="Text 3"/>
          <p:cNvSpPr/>
          <p:nvPr/>
        </p:nvSpPr>
        <p:spPr>
          <a:xfrm>
            <a:off x="8051800" y="1981101"/>
            <a:ext cx="3427222" cy="50542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caption</a:t>
            </a:r>
            <a:r>
              <a:rPr lang="en-US" sz="1350" dirty="0">
                <a:solidFill>
                  <a:srgbClr val="1F2A37"/>
                </a:solidFill>
                <a:latin typeface="IBM Plex Sans" pitchFamily="34" charset="0"/>
                <a:ea typeface="IBM Plex Sans" pitchFamily="34" charset="-122"/>
                <a:cs typeface="IBM Plex Sans" pitchFamily="34" charset="-120"/>
              </a:rPr>
              <a:t> — the table’s title; first child of table</a:t>
            </a:r>
            <a:endParaRPr lang="en-US" sz="1350" dirty="0"/>
          </a:p>
        </p:txBody>
      </p:sp>
      <p:sp>
        <p:nvSpPr>
          <p:cNvPr id="6" name="Text 4"/>
          <p:cNvSpPr/>
          <p:nvPr/>
        </p:nvSpPr>
        <p:spPr>
          <a:xfrm>
            <a:off x="8051800" y="2575421"/>
            <a:ext cx="3427222"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thead</a:t>
            </a:r>
            <a:r>
              <a:rPr lang="en-US" sz="1350" dirty="0">
                <a:solidFill>
                  <a:srgbClr val="1F2A37"/>
                </a:solidFill>
                <a:latin typeface="IBM Plex Sans" pitchFamily="34" charset="0"/>
                <a:ea typeface="IBM Plex Sans" pitchFamily="34" charset="-122"/>
                <a:cs typeface="IBM Plex Sans" pitchFamily="34" charset="-120"/>
              </a:rPr>
              <a:t> — header row(s)</a:t>
            </a:r>
            <a:endParaRPr lang="en-US" sz="1350" dirty="0"/>
          </a:p>
        </p:txBody>
      </p:sp>
      <p:sp>
        <p:nvSpPr>
          <p:cNvPr id="7" name="Text 5"/>
          <p:cNvSpPr/>
          <p:nvPr/>
        </p:nvSpPr>
        <p:spPr>
          <a:xfrm>
            <a:off x="8051800" y="2929731"/>
            <a:ext cx="3427222"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tbody</a:t>
            </a:r>
            <a:r>
              <a:rPr lang="en-US" sz="1350" dirty="0">
                <a:solidFill>
                  <a:srgbClr val="1F2A37"/>
                </a:solidFill>
                <a:latin typeface="IBM Plex Sans" pitchFamily="34" charset="0"/>
                <a:ea typeface="IBM Plex Sans" pitchFamily="34" charset="-122"/>
                <a:cs typeface="IBM Plex Sans" pitchFamily="34" charset="-120"/>
              </a:rPr>
              <a:t> — the data rows (can have several)</a:t>
            </a:r>
            <a:endParaRPr lang="en-US" sz="1350" dirty="0"/>
          </a:p>
        </p:txBody>
      </p:sp>
      <p:sp>
        <p:nvSpPr>
          <p:cNvPr id="8" name="Text 6"/>
          <p:cNvSpPr/>
          <p:nvPr/>
        </p:nvSpPr>
        <p:spPr>
          <a:xfrm>
            <a:off x="8051800" y="3284041"/>
            <a:ext cx="3427222"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tfoot</a:t>
            </a:r>
            <a:r>
              <a:rPr lang="en-US" sz="1350" dirty="0">
                <a:solidFill>
                  <a:srgbClr val="1F2A37"/>
                </a:solidFill>
                <a:latin typeface="IBM Plex Sans" pitchFamily="34" charset="0"/>
                <a:ea typeface="IBM Plex Sans" pitchFamily="34" charset="-122"/>
                <a:cs typeface="IBM Plex Sans" pitchFamily="34" charset="-120"/>
              </a:rPr>
              <a:t> — totals or summary rows</a:t>
            </a:r>
            <a:endParaRPr lang="en-US" sz="1350" dirty="0"/>
          </a:p>
        </p:txBody>
      </p:sp>
      <p:sp>
        <p:nvSpPr>
          <p:cNvPr id="9" name="Text 7"/>
          <p:cNvSpPr/>
          <p:nvPr/>
        </p:nvSpPr>
        <p:spPr>
          <a:xfrm>
            <a:off x="8051800" y="3638352"/>
            <a:ext cx="342722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Long tables print with the thead repeated on every page; CSS can scroll tbody alone.</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TABLES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Merging cells: colspan and rowspan</a:t>
            </a:r>
            <a:endParaRPr lang="en-US" sz="3200" dirty="0"/>
          </a:p>
        </p:txBody>
      </p:sp>
      <p:sp>
        <p:nvSpPr>
          <p:cNvPr id="4" name="Text 2"/>
          <p:cNvSpPr/>
          <p:nvPr/>
        </p:nvSpPr>
        <p:spPr>
          <a:xfrm>
            <a:off x="812800" y="1981101"/>
            <a:ext cx="528472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2410C"/>
                </a:solidFill>
                <a:latin typeface="IBM Plex Sans" pitchFamily="34" charset="0"/>
                <a:ea typeface="IBM Plex Sans" pitchFamily="34" charset="-122"/>
                <a:cs typeface="IBM Plex Sans" pitchFamily="34" charset="-120"/>
              </a:rPr>
              <a:t>colspan="2" — across columns</a:t>
            </a:r>
            <a:endParaRPr lang="en-US" sz="1600" dirty="0"/>
          </a:p>
        </p:txBody>
      </p:sp>
      <p:sp>
        <p:nvSpPr>
          <p:cNvPr id="5" name="Text 3"/>
          <p:cNvSpPr/>
          <p:nvPr/>
        </p:nvSpPr>
        <p:spPr>
          <a:xfrm>
            <a:off x="812800" y="2351881"/>
            <a:ext cx="1693267" cy="434280"/>
          </a:xfrm>
          <a:prstGeom prst="rect">
            <a:avLst/>
          </a:prstGeom>
          <a:solidFill>
            <a:srgbClr val="16202E"/>
          </a:solidFill>
          <a:ln/>
        </p:spPr>
        <p:txBody>
          <a:bodyPr wrap="square" lIns="101600" tIns="101600" rIns="50800" bIns="76200" rtlCol="0" anchor="t">
            <a:normAutofit/>
          </a:bodyPr>
          <a:lstStyle/>
          <a:p>
            <a:pPr algn="l" indent="0" marL="0">
              <a:lnSpc>
                <a:spcPts val="1820"/>
              </a:lnSpc>
              <a:buNone/>
            </a:pPr>
            <a:r>
              <a:rPr lang="en-US" sz="1300" b="1" dirty="0">
                <a:solidFill>
                  <a:srgbClr val="F7F5F0"/>
                </a:solidFill>
                <a:latin typeface="IBM Plex Sans" pitchFamily="34" charset="0"/>
                <a:ea typeface="IBM Plex Sans" pitchFamily="34" charset="-122"/>
                <a:cs typeface="IBM Plex Sans" pitchFamily="34" charset="-120"/>
              </a:rPr>
              <a:t>Name</a:t>
            </a:r>
            <a:endParaRPr lang="en-US" sz="1300" dirty="0"/>
          </a:p>
        </p:txBody>
      </p:sp>
      <p:sp>
        <p:nvSpPr>
          <p:cNvPr id="6" name="Text 4"/>
          <p:cNvSpPr/>
          <p:nvPr/>
        </p:nvSpPr>
        <p:spPr>
          <a:xfrm>
            <a:off x="2531467" y="2351881"/>
            <a:ext cx="3412034" cy="434280"/>
          </a:xfrm>
          <a:prstGeom prst="rect">
            <a:avLst/>
          </a:prstGeom>
          <a:solidFill>
            <a:srgbClr val="C2410C"/>
          </a:solidFill>
          <a:ln/>
        </p:spPr>
        <p:txBody>
          <a:bodyPr wrap="square" lIns="53467" tIns="101600" rIns="53467" bIns="76200" rtlCol="0" anchor="t">
            <a:normAutofit/>
          </a:bodyPr>
          <a:lstStyle/>
          <a:p>
            <a:pPr algn="ctr" indent="0" marL="0">
              <a:lnSpc>
                <a:spcPts val="1820"/>
              </a:lnSpc>
              <a:buNone/>
            </a:pPr>
            <a:r>
              <a:rPr lang="en-US" sz="1300" b="1" dirty="0">
                <a:solidFill>
                  <a:srgbClr val="FFF8F1"/>
                </a:solidFill>
                <a:latin typeface="IBM Plex Sans" pitchFamily="34" charset="0"/>
                <a:ea typeface="IBM Plex Sans" pitchFamily="34" charset="-122"/>
                <a:cs typeface="IBM Plex Sans" pitchFamily="34" charset="-120"/>
              </a:rPr>
              <a:t>Contact (colspan="2")</a:t>
            </a:r>
            <a:endParaRPr lang="en-US" sz="1300" dirty="0"/>
          </a:p>
        </p:txBody>
      </p:sp>
      <p:sp>
        <p:nvSpPr>
          <p:cNvPr id="7" name="Text 5"/>
          <p:cNvSpPr/>
          <p:nvPr/>
        </p:nvSpPr>
        <p:spPr>
          <a:xfrm>
            <a:off x="812800" y="2811562"/>
            <a:ext cx="1693267" cy="434280"/>
          </a:xfrm>
          <a:prstGeom prst="rect">
            <a:avLst/>
          </a:prstGeom>
          <a:solidFill>
            <a:srgbClr val="FFFDF9"/>
          </a:solidFill>
          <a:ln/>
        </p:spPr>
        <p:txBody>
          <a:bodyPr wrap="square" lIns="101600" tIns="101600" rIns="50800" bIns="7620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Ali</a:t>
            </a:r>
            <a:endParaRPr lang="en-US" sz="1300" dirty="0"/>
          </a:p>
        </p:txBody>
      </p:sp>
      <p:sp>
        <p:nvSpPr>
          <p:cNvPr id="8" name="Text 6"/>
          <p:cNvSpPr/>
          <p:nvPr/>
        </p:nvSpPr>
        <p:spPr>
          <a:xfrm>
            <a:off x="2531467" y="2811562"/>
            <a:ext cx="1693366" cy="434280"/>
          </a:xfrm>
          <a:prstGeom prst="rect">
            <a:avLst/>
          </a:prstGeom>
          <a:solidFill>
            <a:srgbClr val="FFFDF9"/>
          </a:solidFill>
          <a:ln/>
        </p:spPr>
        <p:txBody>
          <a:bodyPr wrap="square" lIns="101600" tIns="101600" rIns="50800" bIns="7620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Email</a:t>
            </a:r>
            <a:endParaRPr lang="en-US" sz="1300" dirty="0"/>
          </a:p>
        </p:txBody>
      </p:sp>
      <p:sp>
        <p:nvSpPr>
          <p:cNvPr id="9" name="Text 7"/>
          <p:cNvSpPr/>
          <p:nvPr/>
        </p:nvSpPr>
        <p:spPr>
          <a:xfrm>
            <a:off x="4250234" y="2811562"/>
            <a:ext cx="1693267" cy="434280"/>
          </a:xfrm>
          <a:prstGeom prst="rect">
            <a:avLst/>
          </a:prstGeom>
          <a:solidFill>
            <a:srgbClr val="FFFDF9"/>
          </a:solidFill>
          <a:ln/>
        </p:spPr>
        <p:txBody>
          <a:bodyPr wrap="square" lIns="101600" tIns="101600" rIns="50800" bIns="7620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Phone</a:t>
            </a:r>
            <a:endParaRPr lang="en-US" sz="1300" dirty="0"/>
          </a:p>
        </p:txBody>
      </p:sp>
      <p:sp>
        <p:nvSpPr>
          <p:cNvPr id="10" name="Text 8"/>
          <p:cNvSpPr/>
          <p:nvPr/>
        </p:nvSpPr>
        <p:spPr>
          <a:xfrm>
            <a:off x="812800" y="3372842"/>
            <a:ext cx="528472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75467"/>
                </a:solidFill>
                <a:latin typeface="IBM Plex Mono" pitchFamily="49" charset="0"/>
                <a:ea typeface="IBM Plex Mono" pitchFamily="49" charset="-122"/>
                <a:cs typeface="IBM Plex Mono" pitchFamily="49" charset="-120"/>
              </a:rPr>
              <a:t>&lt;th colspan="2"&gt;Contact&lt;/th&gt;</a:t>
            </a:r>
            <a:endParaRPr lang="en-US" sz="1200" dirty="0"/>
          </a:p>
        </p:txBody>
      </p:sp>
      <p:sp>
        <p:nvSpPr>
          <p:cNvPr id="11" name="Text 9"/>
          <p:cNvSpPr/>
          <p:nvPr/>
        </p:nvSpPr>
        <p:spPr>
          <a:xfrm>
            <a:off x="6248400" y="1981101"/>
            <a:ext cx="528472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2410C"/>
                </a:solidFill>
                <a:latin typeface="IBM Plex Sans" pitchFamily="34" charset="0"/>
                <a:ea typeface="IBM Plex Sans" pitchFamily="34" charset="-122"/>
                <a:cs typeface="IBM Plex Sans" pitchFamily="34" charset="-120"/>
              </a:rPr>
              <a:t>rowspan="2" — down rows</a:t>
            </a:r>
            <a:endParaRPr lang="en-US" sz="1600" dirty="0"/>
          </a:p>
        </p:txBody>
      </p:sp>
      <p:sp>
        <p:nvSpPr>
          <p:cNvPr id="12" name="Text 10"/>
          <p:cNvSpPr/>
          <p:nvPr/>
        </p:nvSpPr>
        <p:spPr>
          <a:xfrm>
            <a:off x="6248400" y="2351881"/>
            <a:ext cx="2552700" cy="893961"/>
          </a:xfrm>
          <a:prstGeom prst="rect">
            <a:avLst/>
          </a:prstGeom>
          <a:solidFill>
            <a:srgbClr val="C2410C"/>
          </a:solidFill>
          <a:ln/>
        </p:spPr>
        <p:txBody>
          <a:bodyPr wrap="square" lIns="101600" tIns="101600" rIns="31115" bIns="76200" rtlCol="0" anchor="t">
            <a:normAutofit/>
          </a:bodyPr>
          <a:lstStyle/>
          <a:p>
            <a:pPr algn="l" indent="0" marL="0">
              <a:lnSpc>
                <a:spcPts val="1820"/>
              </a:lnSpc>
              <a:buNone/>
            </a:pPr>
            <a:r>
              <a:rPr lang="en-US" sz="1300" b="1" dirty="0">
                <a:solidFill>
                  <a:srgbClr val="FFF8F1"/>
                </a:solidFill>
                <a:latin typeface="IBM Plex Sans" pitchFamily="34" charset="0"/>
                <a:ea typeface="IBM Plex Sans" pitchFamily="34" charset="-122"/>
                <a:cs typeface="IBM Plex Sans" pitchFamily="34" charset="-120"/>
              </a:rPr>
              <a:t>Monday (rowspan="2")</a:t>
            </a:r>
            <a:endParaRPr lang="en-US" sz="1300" dirty="0"/>
          </a:p>
        </p:txBody>
      </p:sp>
      <p:sp>
        <p:nvSpPr>
          <p:cNvPr id="13" name="Text 11"/>
          <p:cNvSpPr/>
          <p:nvPr/>
        </p:nvSpPr>
        <p:spPr>
          <a:xfrm>
            <a:off x="8826500" y="2351881"/>
            <a:ext cx="2552700" cy="434280"/>
          </a:xfrm>
          <a:prstGeom prst="rect">
            <a:avLst/>
          </a:prstGeom>
          <a:solidFill>
            <a:srgbClr val="FFFDF9"/>
          </a:solidFill>
          <a:ln/>
        </p:spPr>
        <p:txBody>
          <a:bodyPr wrap="square" lIns="101600" tIns="101600" rIns="31115" bIns="7620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9:00 Web Eng.</a:t>
            </a:r>
            <a:endParaRPr lang="en-US" sz="1300" dirty="0"/>
          </a:p>
        </p:txBody>
      </p:sp>
      <p:sp>
        <p:nvSpPr>
          <p:cNvPr id="14" name="Text 12"/>
          <p:cNvSpPr/>
          <p:nvPr/>
        </p:nvSpPr>
        <p:spPr>
          <a:xfrm>
            <a:off x="8826500" y="2811562"/>
            <a:ext cx="2552700" cy="434280"/>
          </a:xfrm>
          <a:prstGeom prst="rect">
            <a:avLst/>
          </a:prstGeom>
          <a:solidFill>
            <a:srgbClr val="FFFDF9"/>
          </a:solidFill>
          <a:ln/>
        </p:spPr>
        <p:txBody>
          <a:bodyPr wrap="square" lIns="101600" tIns="101600" rIns="31115" bIns="7620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11:00 AI</a:t>
            </a:r>
            <a:endParaRPr lang="en-US" sz="1300" dirty="0"/>
          </a:p>
        </p:txBody>
      </p:sp>
      <p:sp>
        <p:nvSpPr>
          <p:cNvPr id="15" name="Text 13"/>
          <p:cNvSpPr/>
          <p:nvPr/>
        </p:nvSpPr>
        <p:spPr>
          <a:xfrm>
            <a:off x="6248400" y="3271242"/>
            <a:ext cx="2552700" cy="434280"/>
          </a:xfrm>
          <a:prstGeom prst="rect">
            <a:avLst/>
          </a:prstGeom>
          <a:solidFill>
            <a:srgbClr val="16202E"/>
          </a:solidFill>
          <a:ln/>
        </p:spPr>
        <p:txBody>
          <a:bodyPr wrap="square" lIns="101600" tIns="101600" rIns="31115" bIns="76200" rtlCol="0" anchor="t">
            <a:normAutofit/>
          </a:bodyPr>
          <a:lstStyle/>
          <a:p>
            <a:pPr algn="l" indent="0" marL="0">
              <a:lnSpc>
                <a:spcPts val="1820"/>
              </a:lnSpc>
              <a:buNone/>
            </a:pPr>
            <a:r>
              <a:rPr lang="en-US" sz="1300" b="1" dirty="0">
                <a:solidFill>
                  <a:srgbClr val="F7F5F0"/>
                </a:solidFill>
                <a:latin typeface="IBM Plex Sans" pitchFamily="34" charset="0"/>
                <a:ea typeface="IBM Plex Sans" pitchFamily="34" charset="-122"/>
                <a:cs typeface="IBM Plex Sans" pitchFamily="34" charset="-120"/>
              </a:rPr>
              <a:t>Tuesday</a:t>
            </a:r>
            <a:endParaRPr lang="en-US" sz="1300" dirty="0"/>
          </a:p>
        </p:txBody>
      </p:sp>
      <p:sp>
        <p:nvSpPr>
          <p:cNvPr id="16" name="Text 14"/>
          <p:cNvSpPr/>
          <p:nvPr/>
        </p:nvSpPr>
        <p:spPr>
          <a:xfrm>
            <a:off x="8826500" y="3271242"/>
            <a:ext cx="2552700" cy="434280"/>
          </a:xfrm>
          <a:prstGeom prst="rect">
            <a:avLst/>
          </a:prstGeom>
          <a:solidFill>
            <a:srgbClr val="FFFDF9"/>
          </a:solidFill>
          <a:ln/>
        </p:spPr>
        <p:txBody>
          <a:bodyPr wrap="square" lIns="101600" tIns="101600" rIns="31115" bIns="7620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9:00 OS</a:t>
            </a:r>
            <a:endParaRPr lang="en-US" sz="1300" dirty="0"/>
          </a:p>
        </p:txBody>
      </p:sp>
      <p:sp>
        <p:nvSpPr>
          <p:cNvPr id="17" name="Text 15"/>
          <p:cNvSpPr/>
          <p:nvPr/>
        </p:nvSpPr>
        <p:spPr>
          <a:xfrm>
            <a:off x="6248400" y="3832523"/>
            <a:ext cx="528472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75467"/>
                </a:solidFill>
                <a:latin typeface="IBM Plex Mono" pitchFamily="49" charset="0"/>
                <a:ea typeface="IBM Plex Mono" pitchFamily="49" charset="-122"/>
                <a:cs typeface="IBM Plex Mono" pitchFamily="49" charset="-120"/>
              </a:rPr>
              <a:t>&lt;th rowspan="2"&gt;Monday&lt;/th&gt;</a:t>
            </a:r>
            <a:endParaRPr lang="en-US" sz="1200" dirty="0"/>
          </a:p>
        </p:txBody>
      </p:sp>
      <p:sp>
        <p:nvSpPr>
          <p:cNvPr id="18" name="Text 16"/>
          <p:cNvSpPr/>
          <p:nvPr/>
        </p:nvSpPr>
        <p:spPr>
          <a:xfrm>
            <a:off x="812800" y="4315123"/>
            <a:ext cx="113792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Golden rule:</a:t>
            </a:r>
            <a:r>
              <a:rPr lang="en-US" sz="1400" dirty="0">
                <a:solidFill>
                  <a:srgbClr val="1F2A37"/>
                </a:solidFill>
                <a:latin typeface="IBM Plex Sans" pitchFamily="34" charset="0"/>
                <a:ea typeface="IBM Plex Sans" pitchFamily="34" charset="-122"/>
                <a:cs typeface="IBM Plex Sans" pitchFamily="34" charset="-120"/>
              </a:rPr>
              <a:t> a spanned cell “uses up” space, so </a:t>
            </a:r>
            <a:r>
              <a:rPr lang="en-US" sz="1400" b="1" dirty="0">
                <a:solidFill>
                  <a:srgbClr val="1F2A37"/>
                </a:solidFill>
                <a:latin typeface="IBM Plex Sans" pitchFamily="34" charset="0"/>
                <a:ea typeface="IBM Plex Sans" pitchFamily="34" charset="-122"/>
                <a:cs typeface="IBM Plex Sans" pitchFamily="34" charset="-120"/>
              </a:rPr>
              <a:t>leave out</a:t>
            </a:r>
            <a:r>
              <a:rPr lang="en-US" sz="1400" dirty="0">
                <a:solidFill>
                  <a:srgbClr val="1F2A37"/>
                </a:solidFill>
                <a:latin typeface="IBM Plex Sans" pitchFamily="34" charset="0"/>
                <a:ea typeface="IBM Plex Sans" pitchFamily="34" charset="-122"/>
                <a:cs typeface="IBM Plex Sans" pitchFamily="34" charset="-120"/>
              </a:rPr>
              <a:t> the cells it covers in that row (colspan) or in the rows below (rowspan).</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CODE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A complete timetable with merged cells</a:t>
            </a:r>
            <a:endParaRPr lang="en-US" sz="3200" dirty="0"/>
          </a:p>
        </p:txBody>
      </p:sp>
      <p:sp>
        <p:nvSpPr>
          <p:cNvPr id="4" name="Text 2"/>
          <p:cNvSpPr/>
          <p:nvPr/>
        </p:nvSpPr>
        <p:spPr>
          <a:xfrm>
            <a:off x="812800" y="1981101"/>
            <a:ext cx="10566400" cy="3327400"/>
          </a:xfrm>
          <a:prstGeom prst="roundRect">
            <a:avLst>
              <a:gd name="adj" fmla="val 3053"/>
            </a:avLst>
          </a:prstGeom>
          <a:solidFill>
            <a:srgbClr val="1B2430"/>
          </a:solidFill>
          <a:ln/>
        </p:spPr>
        <p:txBody>
          <a:bodyPr wrap="square" lIns="224242" tIns="148042" rIns="0" bIns="122642" rtlCol="0" anchor="t">
            <a:normAutofit/>
          </a:bodyPr>
          <a:lstStyle/>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&lt;table&gt;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&lt;caption&gt;</a:t>
            </a:r>
            <a:r>
              <a:rPr lang="en-US" sz="1200" dirty="0">
                <a:solidFill>
                  <a:srgbClr val="E6EDF3"/>
                </a:solidFill>
                <a:latin typeface="IBM Plex Mono" pitchFamily="49" charset="0"/>
                <a:ea typeface="IBM Plex Mono" pitchFamily="49" charset="-122"/>
                <a:cs typeface="IBM Plex Mono" pitchFamily="49" charset="-120"/>
              </a:rPr>
              <a:t>BSCS 6th Semester — Monday</a:t>
            </a:r>
            <a:r>
              <a:rPr lang="en-US" sz="1200" dirty="0">
                <a:solidFill>
                  <a:srgbClr val="FF9E64"/>
                </a:solidFill>
                <a:latin typeface="IBM Plex Mono" pitchFamily="49" charset="0"/>
                <a:ea typeface="IBM Plex Mono" pitchFamily="49" charset="-122"/>
                <a:cs typeface="IBM Plex Mono" pitchFamily="49" charset="-120"/>
              </a:rPr>
              <a:t>&lt;/caption&gt;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&lt;thead&gt;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&lt;tr&gt;&lt;th</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scope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"col"</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Time</a:t>
            </a:r>
            <a:r>
              <a:rPr lang="en-US" sz="1200" dirty="0">
                <a:solidFill>
                  <a:srgbClr val="FF9E64"/>
                </a:solidFill>
                <a:latin typeface="IBM Plex Mono" pitchFamily="49" charset="0"/>
                <a:ea typeface="IBM Plex Mono" pitchFamily="49" charset="-122"/>
                <a:cs typeface="IBM Plex Mono" pitchFamily="49" charset="-120"/>
              </a:rPr>
              <a:t>&lt;/th&gt;&lt;th</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scope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"col"</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LR 42</a:t>
            </a:r>
            <a:r>
              <a:rPr lang="en-US" sz="1200" dirty="0">
                <a:solidFill>
                  <a:srgbClr val="FF9E64"/>
                </a:solidFill>
                <a:latin typeface="IBM Plex Mono" pitchFamily="49" charset="0"/>
                <a:ea typeface="IBM Plex Mono" pitchFamily="49" charset="-122"/>
                <a:cs typeface="IBM Plex Mono" pitchFamily="49" charset="-120"/>
              </a:rPr>
              <a:t>&lt;/th&gt;&lt;th</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scope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"col"</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LR 27</a:t>
            </a:r>
            <a:r>
              <a:rPr lang="en-US" sz="1200" dirty="0">
                <a:solidFill>
                  <a:srgbClr val="FF9E64"/>
                </a:solidFill>
                <a:latin typeface="IBM Plex Mono" pitchFamily="49" charset="0"/>
                <a:ea typeface="IBM Plex Mono" pitchFamily="49" charset="-122"/>
                <a:cs typeface="IBM Plex Mono" pitchFamily="49" charset="-120"/>
              </a:rPr>
              <a:t>&lt;/th&gt;&lt;/tr&gt;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&lt;/thead&gt;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&lt;tbody&gt;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&lt;tr&gt;&lt;th</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scope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"row"</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12:41</a:t>
            </a:r>
            <a:r>
              <a:rPr lang="en-US" sz="1200" dirty="0">
                <a:solidFill>
                  <a:srgbClr val="FF9E64"/>
                </a:solidFill>
                <a:latin typeface="IBM Plex Mono" pitchFamily="49" charset="0"/>
                <a:ea typeface="IBM Plex Mono" pitchFamily="49" charset="-122"/>
                <a:cs typeface="IBM Plex Mono" pitchFamily="49" charset="-120"/>
              </a:rPr>
              <a:t>&lt;/th&gt;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&lt;td</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rowspan</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"2"</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Web Engineering</a:t>
            </a:r>
            <a:r>
              <a:rPr lang="en-US" sz="1200" dirty="0">
                <a:solidFill>
                  <a:srgbClr val="FF9E64"/>
                </a:solidFill>
                <a:latin typeface="IBM Plex Mono" pitchFamily="49" charset="0"/>
                <a:ea typeface="IBM Plex Mono" pitchFamily="49" charset="-122"/>
                <a:cs typeface="IBM Plex Mono" pitchFamily="49" charset="-120"/>
              </a:rPr>
              <a:t>&lt;/td&gt;&lt;td&gt;</a:t>
            </a:r>
            <a:r>
              <a:rPr lang="en-US" sz="1200" dirty="0">
                <a:solidFill>
                  <a:srgbClr val="E6EDF3"/>
                </a:solidFill>
                <a:latin typeface="IBM Plex Mono" pitchFamily="49" charset="0"/>
                <a:ea typeface="IBM Plex Mono" pitchFamily="49" charset="-122"/>
                <a:cs typeface="IBM Plex Mono" pitchFamily="49" charset="-120"/>
              </a:rPr>
              <a:t>[Course A]</a:t>
            </a:r>
            <a:r>
              <a:rPr lang="en-US" sz="1200" dirty="0">
                <a:solidFill>
                  <a:srgbClr val="FF9E64"/>
                </a:solidFill>
                <a:latin typeface="IBM Plex Mono" pitchFamily="49" charset="0"/>
                <a:ea typeface="IBM Plex Mono" pitchFamily="49" charset="-122"/>
                <a:cs typeface="IBM Plex Mono" pitchFamily="49" charset="-120"/>
              </a:rPr>
              <a:t>&lt;/td&gt;&lt;/tr&gt;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&lt;tr&gt;&lt;th</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scope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"row"</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13:45</a:t>
            </a:r>
            <a:r>
              <a:rPr lang="en-US" sz="1200" dirty="0">
                <a:solidFill>
                  <a:srgbClr val="FF9E64"/>
                </a:solidFill>
                <a:latin typeface="IBM Plex Mono" pitchFamily="49" charset="0"/>
                <a:ea typeface="IBM Plex Mono" pitchFamily="49" charset="-122"/>
                <a:cs typeface="IBM Plex Mono" pitchFamily="49" charset="-120"/>
              </a:rPr>
              <a:t>&lt;/th&gt;&lt;td&gt;</a:t>
            </a:r>
            <a:r>
              <a:rPr lang="en-US" sz="1200" dirty="0">
                <a:solidFill>
                  <a:srgbClr val="E6EDF3"/>
                </a:solidFill>
                <a:latin typeface="IBM Plex Mono" pitchFamily="49" charset="0"/>
                <a:ea typeface="IBM Plex Mono" pitchFamily="49" charset="-122"/>
                <a:cs typeface="IBM Plex Mono" pitchFamily="49" charset="-120"/>
              </a:rPr>
              <a:t>[Course B]</a:t>
            </a:r>
            <a:r>
              <a:rPr lang="en-US" sz="1200" dirty="0">
                <a:solidFill>
                  <a:srgbClr val="FF9E64"/>
                </a:solidFill>
                <a:latin typeface="IBM Plex Mono" pitchFamily="49" charset="0"/>
                <a:ea typeface="IBM Plex Mono" pitchFamily="49" charset="-122"/>
                <a:cs typeface="IBM Plex Mono" pitchFamily="49" charset="-120"/>
              </a:rPr>
              <a:t>&lt;/td&gt;&lt;/tr&gt;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8B98A9"/>
                </a:solidFill>
                <a:latin typeface="IBM Plex Mono" pitchFamily="49" charset="0"/>
                <a:ea typeface="IBM Plex Mono" pitchFamily="49" charset="-122"/>
                <a:cs typeface="IBM Plex Mono" pitchFamily="49" charset="-120"/>
              </a:rPr>
              <a:t>&lt;!-- only 2 cells --&gt;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&lt;tr&gt;&lt;th</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scope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"row"</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14:45</a:t>
            </a:r>
            <a:r>
              <a:rPr lang="en-US" sz="1200" dirty="0">
                <a:solidFill>
                  <a:srgbClr val="FF9E64"/>
                </a:solidFill>
                <a:latin typeface="IBM Plex Mono" pitchFamily="49" charset="0"/>
                <a:ea typeface="IBM Plex Mono" pitchFamily="49" charset="-122"/>
                <a:cs typeface="IBM Plex Mono" pitchFamily="49" charset="-120"/>
              </a:rPr>
              <a:t>&lt;/th&gt;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&lt;td</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colspan</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"2"</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Prayer &amp;amp; lunch break</a:t>
            </a:r>
            <a:r>
              <a:rPr lang="en-US" sz="1200" dirty="0">
                <a:solidFill>
                  <a:srgbClr val="FF9E64"/>
                </a:solidFill>
                <a:latin typeface="IBM Plex Mono" pitchFamily="49" charset="0"/>
                <a:ea typeface="IBM Plex Mono" pitchFamily="49" charset="-122"/>
                <a:cs typeface="IBM Plex Mono" pitchFamily="49" charset="-120"/>
              </a:rPr>
              <a:t>&lt;/td&gt;&lt;/tr&gt;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&lt;/tbody&gt;</a:t>
            </a:r>
            <a:endParaRPr lang="en-US" sz="1200" dirty="0"/>
          </a:p>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&lt;/table&gt;</a:t>
            </a:r>
            <a:endParaRPr lang="en-US" sz="12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ACCESSIBILITY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Tables a screen reader can explain</a:t>
            </a:r>
            <a:endParaRPr lang="en-US" sz="3200" dirty="0"/>
          </a:p>
        </p:txBody>
      </p:sp>
      <p:sp>
        <p:nvSpPr>
          <p:cNvPr id="4" name="Shape 2"/>
          <p:cNvSpPr/>
          <p:nvPr/>
        </p:nvSpPr>
        <p:spPr>
          <a:xfrm>
            <a:off x="815975" y="1984276"/>
            <a:ext cx="5200650" cy="1182191"/>
          </a:xfrm>
          <a:prstGeom prst="roundRect">
            <a:avLst>
              <a:gd name="adj" fmla="val 8326"/>
            </a:avLst>
          </a:prstGeom>
          <a:solidFill>
            <a:srgbClr val="FFFDF9"/>
          </a:solidFill>
          <a:ln w="6350">
            <a:solidFill>
              <a:srgbClr val="E4E0D8"/>
            </a:solidFill>
            <a:prstDash val="solid"/>
          </a:ln>
        </p:spPr>
      </p:sp>
      <p:sp>
        <p:nvSpPr>
          <p:cNvPr id="5" name="Text 3"/>
          <p:cNvSpPr/>
          <p:nvPr/>
        </p:nvSpPr>
        <p:spPr>
          <a:xfrm>
            <a:off x="1022350" y="2190651"/>
            <a:ext cx="493153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4ED8"/>
                </a:solidFill>
                <a:latin typeface="IBM Plex Sans" pitchFamily="34" charset="0"/>
                <a:ea typeface="IBM Plex Sans" pitchFamily="34" charset="-122"/>
                <a:cs typeface="IBM Plex Sans" pitchFamily="34" charset="-120"/>
              </a:rPr>
              <a:t>1 · Caption it</a:t>
            </a:r>
            <a:endParaRPr lang="en-US" sz="1600" dirty="0"/>
          </a:p>
        </p:txBody>
      </p:sp>
      <p:sp>
        <p:nvSpPr>
          <p:cNvPr id="6" name="Text 4"/>
          <p:cNvSpPr/>
          <p:nvPr/>
        </p:nvSpPr>
        <p:spPr>
          <a:xfrm>
            <a:off x="1022350" y="2497931"/>
            <a:ext cx="493153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The caption is announced first so users know what the grid contains.</a:t>
            </a:r>
            <a:endParaRPr lang="en-US" sz="1300" dirty="0"/>
          </a:p>
        </p:txBody>
      </p:sp>
      <p:sp>
        <p:nvSpPr>
          <p:cNvPr id="7" name="Shape 5"/>
          <p:cNvSpPr/>
          <p:nvPr/>
        </p:nvSpPr>
        <p:spPr>
          <a:xfrm>
            <a:off x="6175375" y="1984276"/>
            <a:ext cx="5200650" cy="1182191"/>
          </a:xfrm>
          <a:prstGeom prst="roundRect">
            <a:avLst>
              <a:gd name="adj" fmla="val 8326"/>
            </a:avLst>
          </a:prstGeom>
          <a:solidFill>
            <a:srgbClr val="FFFDF9"/>
          </a:solidFill>
          <a:ln w="6350">
            <a:solidFill>
              <a:srgbClr val="E4E0D8"/>
            </a:solidFill>
            <a:prstDash val="solid"/>
          </a:ln>
        </p:spPr>
      </p:sp>
      <p:sp>
        <p:nvSpPr>
          <p:cNvPr id="8" name="Text 6"/>
          <p:cNvSpPr/>
          <p:nvPr/>
        </p:nvSpPr>
        <p:spPr>
          <a:xfrm>
            <a:off x="6381750" y="2190651"/>
            <a:ext cx="493153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4ED8"/>
                </a:solidFill>
                <a:latin typeface="IBM Plex Sans" pitchFamily="34" charset="0"/>
                <a:ea typeface="IBM Plex Sans" pitchFamily="34" charset="-122"/>
                <a:cs typeface="IBM Plex Sans" pitchFamily="34" charset="-120"/>
              </a:rPr>
              <a:t>2 · Use real th</a:t>
            </a:r>
            <a:endParaRPr lang="en-US" sz="1600" dirty="0"/>
          </a:p>
        </p:txBody>
      </p:sp>
      <p:sp>
        <p:nvSpPr>
          <p:cNvPr id="9" name="Text 7"/>
          <p:cNvSpPr/>
          <p:nvPr/>
        </p:nvSpPr>
        <p:spPr>
          <a:xfrm>
            <a:off x="6381750" y="2497931"/>
            <a:ext cx="493153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With scope="col" or "row", every data cell is read with its headers.</a:t>
            </a:r>
            <a:endParaRPr lang="en-US" sz="1300" dirty="0"/>
          </a:p>
        </p:txBody>
      </p:sp>
      <p:sp>
        <p:nvSpPr>
          <p:cNvPr id="10" name="Shape 8"/>
          <p:cNvSpPr/>
          <p:nvPr/>
        </p:nvSpPr>
        <p:spPr>
          <a:xfrm>
            <a:off x="815975" y="3325217"/>
            <a:ext cx="5200650" cy="1182191"/>
          </a:xfrm>
          <a:prstGeom prst="roundRect">
            <a:avLst>
              <a:gd name="adj" fmla="val 8326"/>
            </a:avLst>
          </a:prstGeom>
          <a:solidFill>
            <a:srgbClr val="FFFDF9"/>
          </a:solidFill>
          <a:ln w="6350">
            <a:solidFill>
              <a:srgbClr val="E4E0D8"/>
            </a:solidFill>
            <a:prstDash val="solid"/>
          </a:ln>
        </p:spPr>
      </p:sp>
      <p:sp>
        <p:nvSpPr>
          <p:cNvPr id="11" name="Text 9"/>
          <p:cNvSpPr/>
          <p:nvPr/>
        </p:nvSpPr>
        <p:spPr>
          <a:xfrm>
            <a:off x="1022350" y="3531592"/>
            <a:ext cx="493153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4ED8"/>
                </a:solidFill>
                <a:latin typeface="IBM Plex Sans" pitchFamily="34" charset="0"/>
                <a:ea typeface="IBM Plex Sans" pitchFamily="34" charset="-122"/>
                <a:cs typeface="IBM Plex Sans" pitchFamily="34" charset="-120"/>
              </a:rPr>
              <a:t>3 · Complex? headers + id</a:t>
            </a:r>
            <a:endParaRPr lang="en-US" sz="1600" dirty="0"/>
          </a:p>
        </p:txBody>
      </p:sp>
      <p:sp>
        <p:nvSpPr>
          <p:cNvPr id="12" name="Text 10"/>
          <p:cNvSpPr/>
          <p:nvPr/>
        </p:nvSpPr>
        <p:spPr>
          <a:xfrm>
            <a:off x="1022350" y="3838873"/>
            <a:ext cx="49911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For multi-level headers: &lt;th id="q1"&gt; … &lt;td headers="q1 ali"&gt;.</a:t>
            </a:r>
            <a:endParaRPr lang="en-US" sz="1300" dirty="0"/>
          </a:p>
        </p:txBody>
      </p:sp>
      <p:sp>
        <p:nvSpPr>
          <p:cNvPr id="13" name="Shape 11"/>
          <p:cNvSpPr/>
          <p:nvPr/>
        </p:nvSpPr>
        <p:spPr>
          <a:xfrm>
            <a:off x="6175375" y="3325217"/>
            <a:ext cx="5200650" cy="1182191"/>
          </a:xfrm>
          <a:prstGeom prst="roundRect">
            <a:avLst>
              <a:gd name="adj" fmla="val 8326"/>
            </a:avLst>
          </a:prstGeom>
          <a:solidFill>
            <a:srgbClr val="FFFDF9"/>
          </a:solidFill>
          <a:ln w="6350">
            <a:solidFill>
              <a:srgbClr val="E4E0D8"/>
            </a:solidFill>
            <a:prstDash val="solid"/>
          </a:ln>
        </p:spPr>
      </p:sp>
      <p:sp>
        <p:nvSpPr>
          <p:cNvPr id="14" name="Text 12"/>
          <p:cNvSpPr/>
          <p:nvPr/>
        </p:nvSpPr>
        <p:spPr>
          <a:xfrm>
            <a:off x="6381750" y="3531592"/>
            <a:ext cx="493153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4ED8"/>
                </a:solidFill>
                <a:latin typeface="IBM Plex Sans" pitchFamily="34" charset="0"/>
                <a:ea typeface="IBM Plex Sans" pitchFamily="34" charset="-122"/>
                <a:cs typeface="IBM Plex Sans" pitchFamily="34" charset="-120"/>
              </a:rPr>
              <a:t>4 · Keep it simple</a:t>
            </a:r>
            <a:endParaRPr lang="en-US" sz="1600" dirty="0"/>
          </a:p>
        </p:txBody>
      </p:sp>
      <p:sp>
        <p:nvSpPr>
          <p:cNvPr id="15" name="Text 13"/>
          <p:cNvSpPr/>
          <p:nvPr/>
        </p:nvSpPr>
        <p:spPr>
          <a:xfrm>
            <a:off x="6381750" y="3838873"/>
            <a:ext cx="493153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Avoid empty cells for spacing and deeply merged cells; split into two tables if needed.</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WEB STANDARDS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Old table attributes → modern CSS</a:t>
            </a:r>
            <a:endParaRPr lang="en-US" sz="3200" dirty="0"/>
          </a:p>
        </p:txBody>
      </p:sp>
      <p:sp>
        <p:nvSpPr>
          <p:cNvPr id="4" name="Text 2"/>
          <p:cNvSpPr/>
          <p:nvPr/>
        </p:nvSpPr>
        <p:spPr>
          <a:xfrm>
            <a:off x="812800" y="198110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2318"/>
                </a:solidFill>
                <a:latin typeface="IBM Plex Sans" pitchFamily="34" charset="0"/>
                <a:ea typeface="IBM Plex Sans" pitchFamily="34" charset="-122"/>
                <a:cs typeface="IBM Plex Sans" pitchFamily="34" charset="-120"/>
              </a:rPr>
              <a:t>Obsolete in HTML5</a:t>
            </a:r>
            <a:endParaRPr lang="en-US" sz="1400" dirty="0"/>
          </a:p>
        </p:txBody>
      </p:sp>
      <p:sp>
        <p:nvSpPr>
          <p:cNvPr id="5" name="Text 3"/>
          <p:cNvSpPr/>
          <p:nvPr/>
        </p:nvSpPr>
        <p:spPr>
          <a:xfrm>
            <a:off x="812800" y="2331541"/>
            <a:ext cx="5181600" cy="1064022"/>
          </a:xfrm>
          <a:prstGeom prst="roundRect">
            <a:avLst>
              <a:gd name="adj" fmla="val 9549"/>
            </a:avLst>
          </a:prstGeom>
          <a:solidFill>
            <a:srgbClr val="1B2430"/>
          </a:solidFill>
          <a:ln/>
        </p:spPr>
        <p:txBody>
          <a:bodyPr wrap="square" lIns="198842" tIns="148042" rIns="57110" bIns="1226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&lt;table</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border</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"1"</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cellpadding</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"8"</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cellspacing</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"0"</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width</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"600"</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bgcolor</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"#eeeeee"</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align</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"center"</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p:txBody>
      </p:sp>
      <p:sp>
        <p:nvSpPr>
          <p:cNvPr id="6" name="Text 4"/>
          <p:cNvSpPr/>
          <p:nvPr/>
        </p:nvSpPr>
        <p:spPr>
          <a:xfrm>
            <a:off x="6197600" y="198110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F7A1E"/>
                </a:solidFill>
                <a:latin typeface="IBM Plex Sans" pitchFamily="34" charset="0"/>
                <a:ea typeface="IBM Plex Sans" pitchFamily="34" charset="-122"/>
                <a:cs typeface="IBM Plex Sans" pitchFamily="34" charset="-120"/>
              </a:rPr>
              <a:t>Lab-ready CSS preview</a:t>
            </a:r>
            <a:endParaRPr lang="en-US" sz="1400" dirty="0"/>
          </a:p>
        </p:txBody>
      </p:sp>
      <p:sp>
        <p:nvSpPr>
          <p:cNvPr id="7" name="Text 5"/>
          <p:cNvSpPr/>
          <p:nvPr/>
        </p:nvSpPr>
        <p:spPr>
          <a:xfrm>
            <a:off x="6197600" y="2331541"/>
            <a:ext cx="5181600" cy="1536303"/>
          </a:xfrm>
          <a:prstGeom prst="roundRect">
            <a:avLst>
              <a:gd name="adj" fmla="val 6613"/>
            </a:avLst>
          </a:prstGeom>
          <a:solidFill>
            <a:srgbClr val="1B2430"/>
          </a:solidFill>
          <a:ln/>
        </p:spPr>
        <p:txBody>
          <a:bodyPr wrap="square" lIns="198842" tIns="148042" rIns="57110" bIns="1226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&lt;style&gt;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table { </a:t>
            </a:r>
            <a:r>
              <a:rPr lang="en-US" sz="1200" dirty="0">
                <a:solidFill>
                  <a:srgbClr val="7DCFFF"/>
                </a:solidFill>
                <a:latin typeface="IBM Plex Mono" pitchFamily="49" charset="0"/>
                <a:ea typeface="IBM Plex Mono" pitchFamily="49" charset="-122"/>
                <a:cs typeface="IBM Plex Mono" pitchFamily="49" charset="-120"/>
              </a:rPr>
              <a:t>border-collapse</a:t>
            </a:r>
            <a:r>
              <a:rPr lang="en-US" sz="1200" dirty="0">
                <a:solidFill>
                  <a:srgbClr val="E6EDF3"/>
                </a:solidFill>
                <a:latin typeface="IBM Plex Mono" pitchFamily="49" charset="0"/>
                <a:ea typeface="IBM Plex Mono" pitchFamily="49" charset="-122"/>
                <a:cs typeface="IBM Plex Mono" pitchFamily="49" charset="-120"/>
              </a:rPr>
              <a:t>: collapse; }</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th, td { </a:t>
            </a:r>
            <a:r>
              <a:rPr lang="en-US" sz="1200" dirty="0">
                <a:solidFill>
                  <a:srgbClr val="7DCFFF"/>
                </a:solidFill>
                <a:latin typeface="IBM Plex Mono" pitchFamily="49" charset="0"/>
                <a:ea typeface="IBM Plex Mono" pitchFamily="49" charset="-122"/>
                <a:cs typeface="IBM Plex Mono" pitchFamily="49" charset="-120"/>
              </a:rPr>
              <a:t>border</a:t>
            </a:r>
            <a:r>
              <a:rPr lang="en-US" sz="1200" dirty="0">
                <a:solidFill>
                  <a:srgbClr val="E6EDF3"/>
                </a:solidFill>
                <a:latin typeface="IBM Plex Mono" pitchFamily="49" charset="0"/>
                <a:ea typeface="IBM Plex Mono" pitchFamily="49" charset="-122"/>
                <a:cs typeface="IBM Plex Mono" pitchFamily="49" charset="-120"/>
              </a:rPr>
              <a:t>: 1px solid #999;</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padding</a:t>
            </a:r>
            <a:r>
              <a:rPr lang="en-US" sz="1200" dirty="0">
                <a:solidFill>
                  <a:srgbClr val="E6EDF3"/>
                </a:solidFill>
                <a:latin typeface="IBM Plex Mono" pitchFamily="49" charset="0"/>
                <a:ea typeface="IBM Plex Mono" pitchFamily="49" charset="-122"/>
                <a:cs typeface="IBM Plex Mono" pitchFamily="49" charset="-120"/>
              </a:rPr>
              <a:t>: 8px; }</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&lt;/style&gt;</a:t>
            </a:r>
            <a:endParaRPr lang="en-US" sz="1200" dirty="0"/>
          </a:p>
        </p:txBody>
      </p:sp>
      <p:sp>
        <p:nvSpPr>
          <p:cNvPr id="8" name="Text 6"/>
          <p:cNvSpPr/>
          <p:nvPr/>
        </p:nvSpPr>
        <p:spPr>
          <a:xfrm>
            <a:off x="812800" y="4121845"/>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Put the style block in the head for today’s lab. In Week 4 we move it into an external </a:t>
            </a:r>
            <a:r>
              <a:rPr lang="en-US" sz="1400" b="1" dirty="0">
                <a:solidFill>
                  <a:srgbClr val="1F2A37"/>
                </a:solidFill>
                <a:latin typeface="IBM Plex Sans" pitchFamily="34" charset="0"/>
                <a:ea typeface="IBM Plex Sans" pitchFamily="34" charset="-122"/>
                <a:cs typeface="IBM Plex Sans" pitchFamily="34" charset="-120"/>
              </a:rPr>
              <a:t>style.css</a:t>
            </a:r>
            <a:r>
              <a:rPr lang="en-US" sz="1400" dirty="0">
                <a:solidFill>
                  <a:srgbClr val="1F2A37"/>
                </a:solidFill>
                <a:latin typeface="IBM Plex Sans" pitchFamily="34" charset="0"/>
                <a:ea typeface="IBM Plex Sans" pitchFamily="34" charset="-122"/>
                <a:cs typeface="IBM Plex Sans" pitchFamily="34" charset="-120"/>
              </a:rPr>
              <a:t>.</a:t>
            </a:r>
            <a:endParaRPr lang="en-US" sz="14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GENERIC CONTAINERS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div and span: containers with no meaning</a:t>
            </a:r>
            <a:endParaRPr lang="en-US" sz="3200" dirty="0"/>
          </a:p>
        </p:txBody>
      </p:sp>
      <p:sp>
        <p:nvSpPr>
          <p:cNvPr id="4" name="Text 2"/>
          <p:cNvSpPr/>
          <p:nvPr/>
        </p:nvSpPr>
        <p:spPr>
          <a:xfrm>
            <a:off x="812800" y="1981101"/>
            <a:ext cx="5715000" cy="2197596"/>
          </a:xfrm>
          <a:prstGeom prst="roundRect">
            <a:avLst>
              <a:gd name="adj" fmla="val 4623"/>
            </a:avLst>
          </a:prstGeom>
          <a:solidFill>
            <a:srgbClr val="1B2430"/>
          </a:solidFill>
          <a:ln/>
        </p:spPr>
        <p:txBody>
          <a:bodyPr wrap="square" lIns="224242" tIns="173442" rIns="68032"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&lt;div</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class</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"product-card"</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&lt;h3&gt;</a:t>
            </a:r>
            <a:r>
              <a:rPr lang="en-US" sz="1300" dirty="0">
                <a:solidFill>
                  <a:srgbClr val="E6EDF3"/>
                </a:solidFill>
                <a:latin typeface="IBM Plex Mono" pitchFamily="49" charset="0"/>
                <a:ea typeface="IBM Plex Mono" pitchFamily="49" charset="-122"/>
                <a:cs typeface="IBM Plex Mono" pitchFamily="49" charset="-120"/>
              </a:rPr>
              <a:t>Wireless Mouse</a:t>
            </a:r>
            <a:r>
              <a:rPr lang="en-US" sz="1300" dirty="0">
                <a:solidFill>
                  <a:srgbClr val="FF9E64"/>
                </a:solidFill>
                <a:latin typeface="IBM Plex Mono" pitchFamily="49" charset="0"/>
                <a:ea typeface="IBM Plex Mono" pitchFamily="49" charset="-122"/>
                <a:cs typeface="IBM Plex Mono" pitchFamily="49" charset="-120"/>
              </a:rPr>
              <a:t>&lt;/h3&gt;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&lt;p&gt;</a:t>
            </a:r>
            <a:r>
              <a:rPr lang="en-US" sz="1300" dirty="0">
                <a:solidFill>
                  <a:srgbClr val="E6EDF3"/>
                </a:solidFill>
                <a:latin typeface="IBM Plex Mono" pitchFamily="49" charset="0"/>
                <a:ea typeface="IBM Plex Mono" pitchFamily="49" charset="-122"/>
                <a:cs typeface="IBM Plex Mono" pitchFamily="49" charset="-120"/>
              </a:rPr>
              <a:t>Price:</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&lt;span</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class</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"price"</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Rs 1,850</a:t>
            </a:r>
            <a:r>
              <a:rPr lang="en-US" sz="1300" dirty="0">
                <a:solidFill>
                  <a:srgbClr val="FF9E64"/>
                </a:solidFill>
                <a:latin typeface="IBM Plex Mono" pitchFamily="49" charset="0"/>
                <a:ea typeface="IBM Plex Mono" pitchFamily="49" charset="-122"/>
                <a:cs typeface="IBM Plex Mono" pitchFamily="49" charset="-120"/>
              </a:rPr>
              <a:t>&lt;/span&gt;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&lt;/p&gt;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&lt;p&gt;</a:t>
            </a:r>
            <a:r>
              <a:rPr lang="en-US" sz="1300" dirty="0">
                <a:solidFill>
                  <a:srgbClr val="E6EDF3"/>
                </a:solidFill>
                <a:latin typeface="IBM Plex Mono" pitchFamily="49" charset="0"/>
                <a:ea typeface="IBM Plex Mono" pitchFamily="49" charset="-122"/>
                <a:cs typeface="IBM Plex Mono" pitchFamily="49" charset="-120"/>
              </a:rPr>
              <a:t>In stock</a:t>
            </a:r>
            <a:r>
              <a:rPr lang="en-US" sz="1300" dirty="0">
                <a:solidFill>
                  <a:srgbClr val="FF9E64"/>
                </a:solidFill>
                <a:latin typeface="IBM Plex Mono" pitchFamily="49" charset="0"/>
                <a:ea typeface="IBM Plex Mono" pitchFamily="49" charset="-122"/>
                <a:cs typeface="IBM Plex Mono" pitchFamily="49" charset="-120"/>
              </a:rPr>
              <a:t>&lt;/p&gt;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&lt;/div&gt;</a:t>
            </a:r>
            <a:endParaRPr lang="en-US" sz="1300" dirty="0"/>
          </a:p>
        </p:txBody>
      </p:sp>
      <p:sp>
        <p:nvSpPr>
          <p:cNvPr id="5" name="Shape 3"/>
          <p:cNvSpPr/>
          <p:nvPr/>
        </p:nvSpPr>
        <p:spPr>
          <a:xfrm>
            <a:off x="6784975" y="1984276"/>
            <a:ext cx="4591050" cy="1067891"/>
          </a:xfrm>
          <a:prstGeom prst="roundRect">
            <a:avLst>
              <a:gd name="adj" fmla="val 9217"/>
            </a:avLst>
          </a:prstGeom>
          <a:solidFill>
            <a:srgbClr val="FFFDF9"/>
          </a:solidFill>
          <a:ln w="6350">
            <a:solidFill>
              <a:srgbClr val="E4E0D8"/>
            </a:solidFill>
            <a:prstDash val="solid"/>
          </a:ln>
        </p:spPr>
      </p:sp>
      <p:sp>
        <p:nvSpPr>
          <p:cNvPr id="6" name="Text 4"/>
          <p:cNvSpPr/>
          <p:nvPr/>
        </p:nvSpPr>
        <p:spPr>
          <a:xfrm>
            <a:off x="6965950" y="2139851"/>
            <a:ext cx="435597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div — block</a:t>
            </a:r>
            <a:endParaRPr lang="en-US" sz="1600" dirty="0"/>
          </a:p>
        </p:txBody>
      </p:sp>
      <p:sp>
        <p:nvSpPr>
          <p:cNvPr id="7" name="Text 5"/>
          <p:cNvSpPr/>
          <p:nvPr/>
        </p:nvSpPr>
        <p:spPr>
          <a:xfrm>
            <a:off x="6965950" y="2434431"/>
            <a:ext cx="435597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Groups several elements into one box, e.g. a card or a column.</a:t>
            </a:r>
            <a:endParaRPr lang="en-US" sz="1300" dirty="0"/>
          </a:p>
        </p:txBody>
      </p:sp>
      <p:sp>
        <p:nvSpPr>
          <p:cNvPr id="8" name="Shape 6"/>
          <p:cNvSpPr/>
          <p:nvPr/>
        </p:nvSpPr>
        <p:spPr>
          <a:xfrm>
            <a:off x="6784975" y="3185517"/>
            <a:ext cx="4591050" cy="836811"/>
          </a:xfrm>
          <a:prstGeom prst="roundRect">
            <a:avLst>
              <a:gd name="adj" fmla="val 11762"/>
            </a:avLst>
          </a:prstGeom>
          <a:solidFill>
            <a:srgbClr val="FFFDF9"/>
          </a:solidFill>
          <a:ln w="6350">
            <a:solidFill>
              <a:srgbClr val="E4E0D8"/>
            </a:solidFill>
            <a:prstDash val="solid"/>
          </a:ln>
        </p:spPr>
      </p:sp>
      <p:sp>
        <p:nvSpPr>
          <p:cNvPr id="9" name="Text 7"/>
          <p:cNvSpPr/>
          <p:nvPr/>
        </p:nvSpPr>
        <p:spPr>
          <a:xfrm>
            <a:off x="6965950" y="3341092"/>
            <a:ext cx="435597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span — inline</a:t>
            </a:r>
            <a:endParaRPr lang="en-US" sz="1600" dirty="0"/>
          </a:p>
        </p:txBody>
      </p:sp>
      <p:sp>
        <p:nvSpPr>
          <p:cNvPr id="10" name="Text 8"/>
          <p:cNvSpPr/>
          <p:nvPr/>
        </p:nvSpPr>
        <p:spPr>
          <a:xfrm>
            <a:off x="6965950" y="3635673"/>
            <a:ext cx="435597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Wraps a few words inside text, e.g. a price to colour.</a:t>
            </a:r>
            <a:endParaRPr lang="en-US" sz="1300" dirty="0"/>
          </a:p>
        </p:txBody>
      </p:sp>
      <p:sp>
        <p:nvSpPr>
          <p:cNvPr id="11" name="Text 9"/>
          <p:cNvSpPr/>
          <p:nvPr/>
        </p:nvSpPr>
        <p:spPr>
          <a:xfrm>
            <a:off x="6781800" y="4152503"/>
            <a:ext cx="473532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4ED8"/>
                </a:solidFill>
                <a:latin typeface="IBM Plex Sans" pitchFamily="34" charset="0"/>
                <a:ea typeface="IBM Plex Sans" pitchFamily="34" charset="-122"/>
                <a:cs typeface="IBM Plex Sans" pitchFamily="34" charset="-120"/>
              </a:rPr>
              <a:t>Use them only when no meaningful element fits.</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GENERIC CONTAINERS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id vs class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315766"/>
        </p:xfrm>
        <a:graphic>
          <a:graphicData uri="http://schemas.openxmlformats.org/drawingml/2006/table">
            <a:tbl>
              <a:tblPr/>
              <a:tblGrid>
                <a:gridCol w="2321814"/>
                <a:gridCol w="4115943"/>
                <a:gridCol w="4115943"/>
              </a:tblGrid>
              <a:tr h="385961">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id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class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How many?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Unique: one element per page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Reusable: any number of elements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Per element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Only one id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Several, space-separated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Example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&lt;section id="contact"&gt;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&lt;div class="card featured"&gt;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CSS selector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#contact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.card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Typical use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Fragment links, JavaScript, labels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Styling groups of elements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4563566"/>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Name by </a:t>
            </a:r>
            <a:r>
              <a:rPr lang="en-US" sz="1400" b="1" dirty="0">
                <a:solidFill>
                  <a:srgbClr val="1F2A37"/>
                </a:solidFill>
                <a:latin typeface="IBM Plex Sans" pitchFamily="34" charset="0"/>
                <a:ea typeface="IBM Plex Sans" pitchFamily="34" charset="-122"/>
                <a:cs typeface="IBM Plex Sans" pitchFamily="34" charset="-120"/>
              </a:rPr>
              <a:t>purpose</a:t>
            </a:r>
            <a:r>
              <a:rPr lang="en-US" sz="1400" dirty="0">
                <a:solidFill>
                  <a:srgbClr val="1F2A37"/>
                </a:solidFill>
                <a:latin typeface="IBM Plex Sans" pitchFamily="34" charset="0"/>
                <a:ea typeface="IBM Plex Sans" pitchFamily="34" charset="-122"/>
                <a:cs typeface="IBM Plex Sans" pitchFamily="34" charset="-120"/>
              </a:rPr>
              <a:t>, not looks: class="warning", not class="red-text". Names are case-sensitive; no spaces in an id.</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SEMANTIC LAYOUT</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problem: “div soup”</a:t>
            </a:r>
            <a:endParaRPr lang="en-US" sz="3200" dirty="0"/>
          </a:p>
        </p:txBody>
      </p:sp>
      <p:sp>
        <p:nvSpPr>
          <p:cNvPr id="4" name="Text 2"/>
          <p:cNvSpPr/>
          <p:nvPr/>
        </p:nvSpPr>
        <p:spPr>
          <a:xfrm>
            <a:off x="812800" y="198110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2318"/>
                </a:solidFill>
                <a:latin typeface="IBM Plex Sans" pitchFamily="34" charset="0"/>
                <a:ea typeface="IBM Plex Sans" pitchFamily="34" charset="-122"/>
                <a:cs typeface="IBM Plex Sans" pitchFamily="34" charset="-120"/>
              </a:rPr>
              <a:t>Before HTML5</a:t>
            </a:r>
            <a:endParaRPr lang="en-US" sz="1400" dirty="0"/>
          </a:p>
        </p:txBody>
      </p:sp>
      <p:sp>
        <p:nvSpPr>
          <p:cNvPr id="5" name="Text 3"/>
          <p:cNvSpPr/>
          <p:nvPr/>
        </p:nvSpPr>
        <p:spPr>
          <a:xfrm>
            <a:off x="812800" y="2331541"/>
            <a:ext cx="5181600" cy="2008584"/>
          </a:xfrm>
          <a:prstGeom prst="roundRect">
            <a:avLst>
              <a:gd name="adj" fmla="val 5058"/>
            </a:avLst>
          </a:prstGeom>
          <a:solidFill>
            <a:srgbClr val="1B2430"/>
          </a:solidFill>
          <a:ln/>
        </p:spPr>
        <p:txBody>
          <a:bodyPr wrap="square" lIns="198842" tIns="148042" rIns="57110" bIns="1226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&lt;div</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id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"header"</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&lt;/div&gt;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&lt;div</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id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"menu"</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&lt;/div&gt;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&lt;div</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id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"content"</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&lt;div</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class</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"post"</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&lt;/div&gt;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&lt;/div&gt;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&lt;div</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id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"sidebar"</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&lt;/div&gt;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&lt;div</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id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"footer"</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&lt;/div&gt;</a:t>
            </a:r>
            <a:endParaRPr lang="en-US" sz="1200" dirty="0"/>
          </a:p>
        </p:txBody>
      </p:sp>
      <p:sp>
        <p:nvSpPr>
          <p:cNvPr id="6" name="Text 4"/>
          <p:cNvSpPr/>
          <p:nvPr/>
        </p:nvSpPr>
        <p:spPr>
          <a:xfrm>
            <a:off x="812800" y="4441726"/>
            <a:ext cx="533704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Only humans can read the meaning, and only if they read the ids.</a:t>
            </a:r>
            <a:endParaRPr lang="en-US" sz="1300" dirty="0"/>
          </a:p>
        </p:txBody>
      </p:sp>
      <p:sp>
        <p:nvSpPr>
          <p:cNvPr id="7" name="Text 5"/>
          <p:cNvSpPr/>
          <p:nvPr/>
        </p:nvSpPr>
        <p:spPr>
          <a:xfrm>
            <a:off x="6197600" y="198110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F7A1E"/>
                </a:solidFill>
                <a:latin typeface="IBM Plex Sans" pitchFamily="34" charset="0"/>
                <a:ea typeface="IBM Plex Sans" pitchFamily="34" charset="-122"/>
                <a:cs typeface="IBM Plex Sans" pitchFamily="34" charset="-120"/>
              </a:rPr>
              <a:t>HTML5</a:t>
            </a:r>
            <a:endParaRPr lang="en-US" sz="1400" dirty="0"/>
          </a:p>
        </p:txBody>
      </p:sp>
      <p:sp>
        <p:nvSpPr>
          <p:cNvPr id="8" name="Text 6"/>
          <p:cNvSpPr/>
          <p:nvPr/>
        </p:nvSpPr>
        <p:spPr>
          <a:xfrm>
            <a:off x="6197600" y="2331541"/>
            <a:ext cx="5181600" cy="2008584"/>
          </a:xfrm>
          <a:prstGeom prst="roundRect">
            <a:avLst>
              <a:gd name="adj" fmla="val 5058"/>
            </a:avLst>
          </a:prstGeom>
          <a:solidFill>
            <a:srgbClr val="1B2430"/>
          </a:solidFill>
          <a:ln/>
        </p:spPr>
        <p:txBody>
          <a:bodyPr wrap="square" lIns="198842" tIns="148042" rIns="57110" bIns="1226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&lt;header&gt;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&lt;/header&gt;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&lt;nav&gt;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&lt;/nav&gt;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&lt;main&gt;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&lt;article&gt;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&lt;/article&gt;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&lt;/main&gt;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&lt;aside&gt;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&lt;/aside&gt;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&lt;footer&gt;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&lt;/footer&gt;</a:t>
            </a:r>
            <a:endParaRPr lang="en-US" sz="1200" dirty="0"/>
          </a:p>
        </p:txBody>
      </p:sp>
      <p:sp>
        <p:nvSpPr>
          <p:cNvPr id="9" name="Text 7"/>
          <p:cNvSpPr/>
          <p:nvPr/>
        </p:nvSpPr>
        <p:spPr>
          <a:xfrm>
            <a:off x="6197600" y="4441726"/>
            <a:ext cx="533704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Browsers, screen readers and search engines now understand the regions.</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SEMANTIC LAYOUT</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A typical HTML5 page, region by region</a:t>
            </a:r>
            <a:endParaRPr lang="en-US" sz="3200" dirty="0"/>
          </a:p>
        </p:txBody>
      </p:sp>
      <p:sp>
        <p:nvSpPr>
          <p:cNvPr id="4" name="Shape 2"/>
          <p:cNvSpPr/>
          <p:nvPr/>
        </p:nvSpPr>
        <p:spPr>
          <a:xfrm>
            <a:off x="812800" y="1981101"/>
            <a:ext cx="10566400" cy="612080"/>
          </a:xfrm>
          <a:prstGeom prst="roundRect">
            <a:avLst>
              <a:gd name="adj" fmla="val 12449"/>
            </a:avLst>
          </a:prstGeom>
          <a:solidFill>
            <a:srgbClr val="16202E"/>
          </a:solidFill>
          <a:ln/>
        </p:spPr>
      </p:sp>
      <p:sp>
        <p:nvSpPr>
          <p:cNvPr id="5" name="Text 3"/>
          <p:cNvSpPr/>
          <p:nvPr/>
        </p:nvSpPr>
        <p:spPr>
          <a:xfrm>
            <a:off x="990600" y="2162671"/>
            <a:ext cx="32004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5F0"/>
                </a:solidFill>
                <a:latin typeface="IBM Plex Mono" pitchFamily="49" charset="0"/>
                <a:ea typeface="IBM Plex Mono" pitchFamily="49" charset="-122"/>
                <a:cs typeface="IBM Plex Mono" pitchFamily="49" charset="-120"/>
              </a:rPr>
              <a:t>&lt;header&gt; logo, site title</a:t>
            </a:r>
            <a:endParaRPr lang="en-US" sz="1400" dirty="0"/>
          </a:p>
        </p:txBody>
      </p:sp>
      <p:sp>
        <p:nvSpPr>
          <p:cNvPr id="6" name="Text 4"/>
          <p:cNvSpPr/>
          <p:nvPr/>
        </p:nvSpPr>
        <p:spPr>
          <a:xfrm>
            <a:off x="8173641" y="2108101"/>
            <a:ext cx="3027759" cy="358080"/>
          </a:xfrm>
          <a:prstGeom prst="roundRect">
            <a:avLst>
              <a:gd name="adj" fmla="val 14187"/>
            </a:avLst>
          </a:prstGeom>
          <a:solidFill>
            <a:srgbClr val="FF9E64"/>
          </a:solidFill>
          <a:ln/>
        </p:spPr>
        <p:txBody>
          <a:bodyPr wrap="none" lIns="0" tIns="0" rIns="0" bIns="0" rtlCol="0" anchor="ctr">
            <a:normAutofit/>
          </a:bodyPr>
          <a:lstStyle/>
          <a:p>
            <a:pPr algn="ctr" indent="0" marL="0">
              <a:lnSpc>
                <a:spcPts val="1820"/>
              </a:lnSpc>
              <a:buNone/>
            </a:pPr>
            <a:r>
              <a:rPr lang="en-US" sz="1300" dirty="0">
                <a:solidFill>
                  <a:srgbClr val="16202E"/>
                </a:solidFill>
                <a:latin typeface="IBM Plex Mono" pitchFamily="49" charset="0"/>
                <a:ea typeface="IBM Plex Mono" pitchFamily="49" charset="-122"/>
                <a:cs typeface="IBM Plex Mono" pitchFamily="49" charset="-120"/>
              </a:rPr>
              <a:t>&lt;nav&gt; Home · About · Courses</a:t>
            </a:r>
            <a:endParaRPr lang="en-US" sz="1300" dirty="0"/>
          </a:p>
        </p:txBody>
      </p:sp>
      <p:sp>
        <p:nvSpPr>
          <p:cNvPr id="7" name="Shape 5"/>
          <p:cNvSpPr/>
          <p:nvPr/>
        </p:nvSpPr>
        <p:spPr>
          <a:xfrm>
            <a:off x="819150" y="2675731"/>
            <a:ext cx="7854950" cy="1335881"/>
          </a:xfrm>
          <a:prstGeom prst="roundRect">
            <a:avLst>
              <a:gd name="adj" fmla="val 5229"/>
            </a:avLst>
          </a:prstGeom>
          <a:solidFill>
            <a:srgbClr val="FFFDF9"/>
          </a:solidFill>
          <a:ln w="12700">
            <a:solidFill>
              <a:srgbClr val="1D4ED8"/>
            </a:solidFill>
            <a:prstDash val="solid"/>
          </a:ln>
        </p:spPr>
      </p:sp>
      <p:sp>
        <p:nvSpPr>
          <p:cNvPr id="8" name="Text 6"/>
          <p:cNvSpPr/>
          <p:nvPr/>
        </p:nvSpPr>
        <p:spPr>
          <a:xfrm>
            <a:off x="1003300" y="2834481"/>
            <a:ext cx="771124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4ED8"/>
                </a:solidFill>
                <a:latin typeface="IBM Plex Mono" pitchFamily="49" charset="0"/>
                <a:ea typeface="IBM Plex Mono" pitchFamily="49" charset="-122"/>
                <a:cs typeface="IBM Plex Mono" pitchFamily="49" charset="-120"/>
              </a:rPr>
              <a:t>&lt;main&gt; — unique content of this page</a:t>
            </a:r>
            <a:endParaRPr lang="en-US" sz="1400" dirty="0"/>
          </a:p>
        </p:txBody>
      </p:sp>
      <p:sp>
        <p:nvSpPr>
          <p:cNvPr id="9" name="Text 7"/>
          <p:cNvSpPr/>
          <p:nvPr/>
        </p:nvSpPr>
        <p:spPr>
          <a:xfrm>
            <a:off x="1003300" y="3172222"/>
            <a:ext cx="2436217" cy="680641"/>
          </a:xfrm>
          <a:prstGeom prst="roundRect">
            <a:avLst>
              <a:gd name="adj" fmla="val 9329"/>
            </a:avLst>
          </a:prstGeom>
          <a:solidFill>
            <a:srgbClr val="E8EEFB"/>
          </a:solidFill>
          <a:ln/>
        </p:spPr>
        <p:txBody>
          <a:bodyPr wrap="square" lIns="108401" tIns="108401" rIns="42935" bIns="83001" rtlCol="0" anchor="t">
            <a:normAutofit/>
          </a:bodyPr>
          <a:lstStyle/>
          <a:p>
            <a:pPr algn="l" indent="0" marL="0">
              <a:lnSpc>
                <a:spcPts val="1680"/>
              </a:lnSpc>
              <a:buNone/>
            </a:pPr>
            <a:r>
              <a:rPr lang="en-US" sz="1200" dirty="0">
                <a:solidFill>
                  <a:srgbClr val="16202E"/>
                </a:solidFill>
                <a:latin typeface="IBM Plex Mono" pitchFamily="49" charset="0"/>
                <a:ea typeface="IBM Plex Mono" pitchFamily="49" charset="-122"/>
                <a:cs typeface="IBM Plex Mono" pitchFamily="49" charset="-120"/>
              </a:rPr>
              <a:t>&lt;article&gt;</a:t>
            </a:r>
            <a:endParaRPr lang="en-US" sz="1200" dirty="0"/>
          </a:p>
          <a:p>
            <a:pPr algn="l" indent="0" marL="0">
              <a:lnSpc>
                <a:spcPts val="1680"/>
              </a:lnSpc>
              <a:buNone/>
            </a:pPr>
            <a:r>
              <a:rPr lang="en-US" sz="1200" dirty="0">
                <a:solidFill>
                  <a:srgbClr val="16202E"/>
                </a:solidFill>
                <a:latin typeface="IBM Plex Mono" pitchFamily="49" charset="0"/>
                <a:ea typeface="IBM Plex Mono" pitchFamily="49" charset="-122"/>
                <a:cs typeface="IBM Plex Mono" pitchFamily="49" charset="-120"/>
              </a:rPr>
              <a:t>news post</a:t>
            </a:r>
            <a:endParaRPr lang="en-US" sz="1200" dirty="0"/>
          </a:p>
        </p:txBody>
      </p:sp>
      <p:sp>
        <p:nvSpPr>
          <p:cNvPr id="10" name="Text 8"/>
          <p:cNvSpPr/>
          <p:nvPr/>
        </p:nvSpPr>
        <p:spPr>
          <a:xfrm>
            <a:off x="3528417" y="3172222"/>
            <a:ext cx="2436316" cy="680641"/>
          </a:xfrm>
          <a:prstGeom prst="roundRect">
            <a:avLst>
              <a:gd name="adj" fmla="val 9329"/>
            </a:avLst>
          </a:prstGeom>
          <a:solidFill>
            <a:srgbClr val="E8EEFB"/>
          </a:solidFill>
          <a:ln/>
        </p:spPr>
        <p:txBody>
          <a:bodyPr wrap="square" lIns="108401" tIns="108401" rIns="42932" bIns="83001" rtlCol="0" anchor="t">
            <a:normAutofit/>
          </a:bodyPr>
          <a:lstStyle/>
          <a:p>
            <a:pPr algn="l" indent="0" marL="0">
              <a:lnSpc>
                <a:spcPts val="1680"/>
              </a:lnSpc>
              <a:buNone/>
            </a:pPr>
            <a:r>
              <a:rPr lang="en-US" sz="1200" dirty="0">
                <a:solidFill>
                  <a:srgbClr val="16202E"/>
                </a:solidFill>
                <a:latin typeface="IBM Plex Mono" pitchFamily="49" charset="0"/>
                <a:ea typeface="IBM Plex Mono" pitchFamily="49" charset="-122"/>
                <a:cs typeface="IBM Plex Mono" pitchFamily="49" charset="-120"/>
              </a:rPr>
              <a:t>&lt;article&gt;</a:t>
            </a:r>
            <a:endParaRPr lang="en-US" sz="1200" dirty="0"/>
          </a:p>
          <a:p>
            <a:pPr algn="l" indent="0" marL="0">
              <a:lnSpc>
                <a:spcPts val="1680"/>
              </a:lnSpc>
              <a:buNone/>
            </a:pPr>
            <a:r>
              <a:rPr lang="en-US" sz="1200" dirty="0">
                <a:solidFill>
                  <a:srgbClr val="16202E"/>
                </a:solidFill>
                <a:latin typeface="IBM Plex Mono" pitchFamily="49" charset="0"/>
                <a:ea typeface="IBM Plex Mono" pitchFamily="49" charset="-122"/>
                <a:cs typeface="IBM Plex Mono" pitchFamily="49" charset="-120"/>
              </a:rPr>
              <a:t>news post</a:t>
            </a:r>
            <a:endParaRPr lang="en-US" sz="1200" dirty="0"/>
          </a:p>
        </p:txBody>
      </p:sp>
      <p:sp>
        <p:nvSpPr>
          <p:cNvPr id="11" name="Text 9"/>
          <p:cNvSpPr/>
          <p:nvPr/>
        </p:nvSpPr>
        <p:spPr>
          <a:xfrm>
            <a:off x="6053634" y="3172222"/>
            <a:ext cx="2436316" cy="680641"/>
          </a:xfrm>
          <a:prstGeom prst="roundRect">
            <a:avLst>
              <a:gd name="adj" fmla="val 9329"/>
            </a:avLst>
          </a:prstGeom>
          <a:solidFill>
            <a:srgbClr val="ECE8DF"/>
          </a:solidFill>
          <a:ln/>
        </p:spPr>
        <p:txBody>
          <a:bodyPr wrap="square" lIns="108401" tIns="108401" rIns="42932" bIns="83001" rtlCol="0" anchor="t">
            <a:normAutofit/>
          </a:bodyPr>
          <a:lstStyle/>
          <a:p>
            <a:pPr algn="l" indent="0" marL="0">
              <a:lnSpc>
                <a:spcPts val="1680"/>
              </a:lnSpc>
              <a:buNone/>
            </a:pPr>
            <a:r>
              <a:rPr lang="en-US" sz="1200" dirty="0">
                <a:solidFill>
                  <a:srgbClr val="16202E"/>
                </a:solidFill>
                <a:latin typeface="IBM Plex Mono" pitchFamily="49" charset="0"/>
                <a:ea typeface="IBM Plex Mono" pitchFamily="49" charset="-122"/>
                <a:cs typeface="IBM Plex Mono" pitchFamily="49" charset="-120"/>
              </a:rPr>
              <a:t>&lt;section&gt;</a:t>
            </a:r>
            <a:endParaRPr lang="en-US" sz="1200" dirty="0"/>
          </a:p>
          <a:p>
            <a:pPr algn="l" indent="0" marL="0">
              <a:lnSpc>
                <a:spcPts val="1680"/>
              </a:lnSpc>
              <a:buNone/>
            </a:pPr>
            <a:r>
              <a:rPr lang="en-US" sz="1200" dirty="0">
                <a:solidFill>
                  <a:srgbClr val="16202E"/>
                </a:solidFill>
                <a:latin typeface="IBM Plex Mono" pitchFamily="49" charset="0"/>
                <a:ea typeface="IBM Plex Mono" pitchFamily="49" charset="-122"/>
                <a:cs typeface="IBM Plex Mono" pitchFamily="49" charset="-120"/>
              </a:rPr>
              <a:t>Events</a:t>
            </a:r>
            <a:endParaRPr lang="en-US" sz="1200" dirty="0"/>
          </a:p>
        </p:txBody>
      </p:sp>
      <p:sp>
        <p:nvSpPr>
          <p:cNvPr id="12" name="Text 10"/>
          <p:cNvSpPr/>
          <p:nvPr/>
        </p:nvSpPr>
        <p:spPr>
          <a:xfrm>
            <a:off x="8756650" y="2669381"/>
            <a:ext cx="2622550" cy="1348581"/>
          </a:xfrm>
          <a:prstGeom prst="roundRect">
            <a:avLst>
              <a:gd name="adj" fmla="val 5650"/>
            </a:avLst>
          </a:prstGeom>
          <a:solidFill>
            <a:srgbClr val="ECE8DF"/>
          </a:solidFill>
          <a:ln/>
        </p:spPr>
        <p:txBody>
          <a:bodyPr wrap="square" lIns="155482" tIns="130082" rIns="87473" bIns="130082" rtlCol="0" anchor="t">
            <a:normAutofit/>
          </a:bodyPr>
          <a:lstStyle/>
          <a:p>
            <a:pPr algn="l" indent="0" marL="0">
              <a:lnSpc>
                <a:spcPts val="1820"/>
              </a:lnSpc>
              <a:buNone/>
            </a:pPr>
            <a:r>
              <a:rPr lang="en-US" sz="1300" dirty="0">
                <a:solidFill>
                  <a:srgbClr val="16202E"/>
                </a:solidFill>
                <a:latin typeface="IBM Plex Mono" pitchFamily="49" charset="0"/>
                <a:ea typeface="IBM Plex Mono" pitchFamily="49" charset="-122"/>
                <a:cs typeface="IBM Plex Mono" pitchFamily="49" charset="-120"/>
              </a:rPr>
              <a:t>&lt;aside&gt;</a:t>
            </a:r>
            <a:endParaRPr lang="en-US" sz="1300" dirty="0"/>
          </a:p>
          <a:p>
            <a:pPr algn="l" indent="0" marL="0">
              <a:lnSpc>
                <a:spcPts val="1820"/>
              </a:lnSpc>
              <a:buNone/>
            </a:pPr>
            <a:r>
              <a:rPr lang="en-US" sz="1300" dirty="0">
                <a:solidFill>
                  <a:srgbClr val="16202E"/>
                </a:solidFill>
                <a:latin typeface="IBM Plex Mono" pitchFamily="49" charset="0"/>
                <a:ea typeface="IBM Plex Mono" pitchFamily="49" charset="-122"/>
                <a:cs typeface="IBM Plex Mono" pitchFamily="49" charset="-120"/>
              </a:rPr>
              <a:t>related links, ads</a:t>
            </a:r>
            <a:endParaRPr lang="en-US" sz="1300" dirty="0"/>
          </a:p>
        </p:txBody>
      </p:sp>
      <p:sp>
        <p:nvSpPr>
          <p:cNvPr id="13" name="Text 11"/>
          <p:cNvSpPr/>
          <p:nvPr/>
        </p:nvSpPr>
        <p:spPr>
          <a:xfrm>
            <a:off x="812800" y="4094163"/>
            <a:ext cx="10566400" cy="485080"/>
          </a:xfrm>
          <a:prstGeom prst="roundRect">
            <a:avLst>
              <a:gd name="adj" fmla="val 15709"/>
            </a:avLst>
          </a:prstGeom>
          <a:solidFill>
            <a:srgbClr val="16202E"/>
          </a:solidFill>
          <a:ln/>
        </p:spPr>
        <p:txBody>
          <a:bodyPr wrap="square" lIns="155482" tIns="104682" rIns="0" bIns="79282" rtlCol="0" anchor="t">
            <a:normAutofit/>
          </a:bodyPr>
          <a:lstStyle/>
          <a:p>
            <a:pPr algn="l" indent="0" marL="0">
              <a:lnSpc>
                <a:spcPts val="1820"/>
              </a:lnSpc>
              <a:buNone/>
            </a:pPr>
            <a:r>
              <a:rPr lang="en-US" sz="1300" dirty="0">
                <a:solidFill>
                  <a:srgbClr val="F7F5F0"/>
                </a:solidFill>
                <a:latin typeface="IBM Plex Mono" pitchFamily="49" charset="0"/>
                <a:ea typeface="IBM Plex Mono" pitchFamily="49" charset="-122"/>
                <a:cs typeface="IBM Plex Mono" pitchFamily="49" charset="-120"/>
              </a:rPr>
              <a:t>&lt;footer&gt; © 2026 · contact · policies</a:t>
            </a:r>
            <a:endParaRPr lang="en-US" sz="13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SEMANTIC LAYOUT</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sectioning elements and their landmarks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3353098"/>
        </p:xfrm>
        <a:graphic>
          <a:graphicData uri="http://schemas.openxmlformats.org/drawingml/2006/table">
            <a:tbl>
              <a:tblPr/>
              <a:tblGrid>
                <a:gridCol w="1583055"/>
                <a:gridCol w="6332220"/>
                <a:gridCol w="2638425"/>
              </a:tblGrid>
              <a:tr h="372566">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Element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Meaning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ARIA landmark</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header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Introductory content: logo, title, maybe nav</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banner (page level)</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nav</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Major navigation links only, not every link</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navigation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main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The page’s unique content — once per page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main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article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Self-contained; makes sense on its own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article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section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 thematic group, normally with a heading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region (if named)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aside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Tangentially related: sidebar, pull quote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complementary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footer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Info about its section: copyright, links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contentinfo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figure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Image, chart or code with a figcaption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CODE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A semantic page skeleton</a:t>
            </a:r>
            <a:endParaRPr lang="en-US" sz="3200" dirty="0"/>
          </a:p>
        </p:txBody>
      </p:sp>
      <p:sp>
        <p:nvSpPr>
          <p:cNvPr id="4" name="Text 2"/>
          <p:cNvSpPr/>
          <p:nvPr/>
        </p:nvSpPr>
        <p:spPr>
          <a:xfrm>
            <a:off x="812800" y="1981101"/>
            <a:ext cx="5181600" cy="3098800"/>
          </a:xfrm>
          <a:prstGeom prst="roundRect">
            <a:avLst>
              <a:gd name="adj" fmla="val 3279"/>
            </a:avLst>
          </a:prstGeom>
          <a:solidFill>
            <a:srgbClr val="1B2430"/>
          </a:solidFill>
          <a:ln/>
        </p:spPr>
        <p:txBody>
          <a:bodyPr wrap="square" lIns="198842" tIns="148042" rIns="57110" bIns="122642" rtlCol="0" anchor="t">
            <a:normAutofit/>
          </a:bodyPr>
          <a:lstStyle/>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&lt;body&gt;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&lt;header&gt;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&lt;h1&gt;</a:t>
            </a:r>
            <a:r>
              <a:rPr lang="en-US" sz="1200" dirty="0">
                <a:solidFill>
                  <a:srgbClr val="E6EDF3"/>
                </a:solidFill>
                <a:latin typeface="IBM Plex Mono" pitchFamily="49" charset="0"/>
                <a:ea typeface="IBM Plex Mono" pitchFamily="49" charset="-122"/>
                <a:cs typeface="IBM Plex Mono" pitchFamily="49" charset="-120"/>
              </a:rPr>
              <a:t>CS Department</a:t>
            </a:r>
            <a:r>
              <a:rPr lang="en-US" sz="1200" dirty="0">
                <a:solidFill>
                  <a:srgbClr val="FF9E64"/>
                </a:solidFill>
                <a:latin typeface="IBM Plex Mono" pitchFamily="49" charset="0"/>
                <a:ea typeface="IBM Plex Mono" pitchFamily="49" charset="-122"/>
                <a:cs typeface="IBM Plex Mono" pitchFamily="49" charset="-120"/>
              </a:rPr>
              <a:t>&lt;/h1&gt;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&lt;nav&gt;</a:t>
            </a:r>
            <a:r>
              <a:rPr lang="en-US" sz="1200" dirty="0">
                <a:solidFill>
                  <a:srgbClr val="E6EDF3"/>
                </a:solidFill>
                <a:latin typeface="IBM Plex Mono" pitchFamily="49" charset="0"/>
                <a:ea typeface="IBM Plex Mono" pitchFamily="49" charset="-122"/>
                <a:cs typeface="IBM Plex Mono" pitchFamily="49" charset="-120"/>
              </a:rPr>
              <a:t>…menu list…</a:t>
            </a:r>
            <a:r>
              <a:rPr lang="en-US" sz="1200" dirty="0">
                <a:solidFill>
                  <a:srgbClr val="FF9E64"/>
                </a:solidFill>
                <a:latin typeface="IBM Plex Mono" pitchFamily="49" charset="0"/>
                <a:ea typeface="IBM Plex Mono" pitchFamily="49" charset="-122"/>
                <a:cs typeface="IBM Plex Mono" pitchFamily="49" charset="-120"/>
              </a:rPr>
              <a:t>&lt;/nav&gt;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&lt;/header&gt;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&lt;main&gt;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&lt;section&gt;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&lt;h2&gt;</a:t>
            </a:r>
            <a:r>
              <a:rPr lang="en-US" sz="1200" dirty="0">
                <a:solidFill>
                  <a:srgbClr val="E6EDF3"/>
                </a:solidFill>
                <a:latin typeface="IBM Plex Mono" pitchFamily="49" charset="0"/>
                <a:ea typeface="IBM Plex Mono" pitchFamily="49" charset="-122"/>
                <a:cs typeface="IBM Plex Mono" pitchFamily="49" charset="-120"/>
              </a:rPr>
              <a:t>Latest news</a:t>
            </a:r>
            <a:r>
              <a:rPr lang="en-US" sz="1200" dirty="0">
                <a:solidFill>
                  <a:srgbClr val="FF9E64"/>
                </a:solidFill>
                <a:latin typeface="IBM Plex Mono" pitchFamily="49" charset="0"/>
                <a:ea typeface="IBM Plex Mono" pitchFamily="49" charset="-122"/>
                <a:cs typeface="IBM Plex Mono" pitchFamily="49" charset="-120"/>
              </a:rPr>
              <a:t>&lt;/h2&gt;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&lt;article&gt;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&lt;/article&gt;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&lt;article&gt;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&lt;/article&gt;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&lt;/section&gt;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&lt;/main&gt;</a:t>
            </a:r>
            <a:endParaRPr lang="en-US" sz="1200" dirty="0"/>
          </a:p>
        </p:txBody>
      </p:sp>
      <p:sp>
        <p:nvSpPr>
          <p:cNvPr id="5" name="Text 3"/>
          <p:cNvSpPr/>
          <p:nvPr/>
        </p:nvSpPr>
        <p:spPr>
          <a:xfrm>
            <a:off x="6197600" y="1981101"/>
            <a:ext cx="5181600" cy="3098800"/>
          </a:xfrm>
          <a:prstGeom prst="roundRect">
            <a:avLst>
              <a:gd name="adj" fmla="val 3279"/>
            </a:avLst>
          </a:prstGeom>
          <a:solidFill>
            <a:srgbClr val="1B2430"/>
          </a:solidFill>
          <a:ln/>
        </p:spPr>
        <p:txBody>
          <a:bodyPr wrap="square" lIns="198842" tIns="148042" rIns="57110" bIns="122642" rtlCol="0" anchor="t">
            <a:normAutofit/>
          </a:bodyPr>
          <a:lstStyle/>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&lt;aside&gt;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&lt;h2&gt;</a:t>
            </a:r>
            <a:r>
              <a:rPr lang="en-US" sz="1200" dirty="0">
                <a:solidFill>
                  <a:srgbClr val="E6EDF3"/>
                </a:solidFill>
                <a:latin typeface="IBM Plex Mono" pitchFamily="49" charset="0"/>
                <a:ea typeface="IBM Plex Mono" pitchFamily="49" charset="-122"/>
                <a:cs typeface="IBM Plex Mono" pitchFamily="49" charset="-120"/>
              </a:rPr>
              <a:t>Quick links</a:t>
            </a:r>
            <a:r>
              <a:rPr lang="en-US" sz="1200" dirty="0">
                <a:solidFill>
                  <a:srgbClr val="FF9E64"/>
                </a:solidFill>
                <a:latin typeface="IBM Plex Mono" pitchFamily="49" charset="0"/>
                <a:ea typeface="IBM Plex Mono" pitchFamily="49" charset="-122"/>
                <a:cs typeface="IBM Plex Mono" pitchFamily="49" charset="-120"/>
              </a:rPr>
              <a:t>&lt;/h2&gt;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&lt;ul&gt;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&lt;/ul&gt;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&lt;/aside&gt;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&lt;footer&gt;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&lt;p&gt;&lt;small&gt;</a:t>
            </a:r>
            <a:r>
              <a:rPr lang="en-US" sz="1200" dirty="0">
                <a:solidFill>
                  <a:srgbClr val="E6EDF3"/>
                </a:solidFill>
                <a:latin typeface="IBM Plex Mono" pitchFamily="49" charset="0"/>
                <a:ea typeface="IBM Plex Mono" pitchFamily="49" charset="-122"/>
                <a:cs typeface="IBM Plex Mono" pitchFamily="49" charset="-120"/>
              </a:rPr>
              <a:t>&amp;copy; 2026</a:t>
            </a:r>
            <a:r>
              <a:rPr lang="en-US" sz="1200" dirty="0">
                <a:solidFill>
                  <a:srgbClr val="FF9E64"/>
                </a:solidFill>
                <a:latin typeface="IBM Plex Mono" pitchFamily="49" charset="0"/>
                <a:ea typeface="IBM Plex Mono" pitchFamily="49" charset="-122"/>
                <a:cs typeface="IBM Plex Mono" pitchFamily="49" charset="-120"/>
              </a:rPr>
              <a:t>&lt;/small&gt;&lt;/p&gt;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&lt;address&gt;</a:t>
            </a:r>
            <a:r>
              <a:rPr lang="en-US" sz="1200" dirty="0">
                <a:solidFill>
                  <a:srgbClr val="E6EDF3"/>
                </a:solidFill>
                <a:latin typeface="IBM Plex Mono" pitchFamily="49" charset="0"/>
                <a:ea typeface="IBM Plex Mono" pitchFamily="49" charset="-122"/>
                <a:cs typeface="IBM Plex Mono" pitchFamily="49" charset="-120"/>
              </a:rPr>
              <a:t>cs@iqraisb.edu.pk</a:t>
            </a:r>
            <a:r>
              <a:rPr lang="en-US" sz="1200" dirty="0">
                <a:solidFill>
                  <a:srgbClr val="FF9E64"/>
                </a:solidFill>
                <a:latin typeface="IBM Plex Mono" pitchFamily="49" charset="0"/>
                <a:ea typeface="IBM Plex Mono" pitchFamily="49" charset="-122"/>
                <a:cs typeface="IBM Plex Mono" pitchFamily="49" charset="-120"/>
              </a:rPr>
              <a:t>&lt;/address&gt;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&lt;/footer&gt;</a:t>
            </a:r>
            <a:endParaRPr lang="en-US" sz="1200" dirty="0"/>
          </a:p>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&lt;/body&gt;</a:t>
            </a:r>
            <a:endParaRPr lang="en-US" sz="1200" dirty="0"/>
          </a:p>
          <a:p>
            <a:pPr algn="l" indent="0" marL="0">
              <a:lnSpc>
                <a:spcPts val="1800"/>
              </a:lnSpc>
              <a:buNone/>
            </a:pPr>
            <a:endParaRPr lang="en-US" sz="1200" dirty="0"/>
          </a:p>
          <a:p>
            <a:pPr algn="l" indent="0" marL="0">
              <a:lnSpc>
                <a:spcPts val="1800"/>
              </a:lnSpc>
              <a:buNone/>
            </a:pPr>
            <a:r>
              <a:rPr lang="en-US" sz="1200" dirty="0">
                <a:solidFill>
                  <a:srgbClr val="8B98A9"/>
                </a:solidFill>
                <a:latin typeface="IBM Plex Mono" pitchFamily="49" charset="0"/>
                <a:ea typeface="IBM Plex Mono" pitchFamily="49" charset="-122"/>
                <a:cs typeface="IBM Plex Mono" pitchFamily="49" charset="-120"/>
              </a:rPr>
              <a:t>&lt;!-- Each article can have its</a:t>
            </a:r>
            <a:endParaRPr lang="en-US" sz="1200" dirty="0"/>
          </a:p>
          <a:p>
            <a:pPr algn="l" indent="0" marL="0">
              <a:lnSpc>
                <a:spcPts val="1800"/>
              </a:lnSpc>
              <a:buNone/>
            </a:pPr>
            <a:r>
              <a:rPr lang="en-US" sz="1200" dirty="0">
                <a:solidFill>
                  <a:srgbClr val="8B98A9"/>
                </a:solidFill>
                <a:latin typeface="IBM Plex Mono" pitchFamily="49" charset="0"/>
                <a:ea typeface="IBM Plex Mono" pitchFamily="49" charset="-122"/>
                <a:cs typeface="IBM Plex Mono" pitchFamily="49" charset="-120"/>
              </a:rPr>
              <a:t>    own header and footer --&gt;</a:t>
            </a:r>
            <a:endParaRPr lang="en-US" sz="12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DECISION GUIDE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Which container should I use?</a:t>
            </a:r>
            <a:endParaRPr lang="en-US" sz="3200" dirty="0"/>
          </a:p>
        </p:txBody>
      </p:sp>
      <p:sp>
        <p:nvSpPr>
          <p:cNvPr id="4" name="Shape 2"/>
          <p:cNvSpPr/>
          <p:nvPr/>
        </p:nvSpPr>
        <p:spPr>
          <a:xfrm>
            <a:off x="815975" y="1984276"/>
            <a:ext cx="10560050" cy="483791"/>
          </a:xfrm>
          <a:prstGeom prst="roundRect">
            <a:avLst>
              <a:gd name="adj" fmla="val 17719"/>
            </a:avLst>
          </a:prstGeom>
          <a:solidFill>
            <a:srgbClr val="FFFDF9"/>
          </a:solidFill>
          <a:ln w="6350">
            <a:solidFill>
              <a:srgbClr val="E4E0D8"/>
            </a:solidFill>
            <a:prstDash val="solid"/>
          </a:ln>
        </p:spPr>
      </p:sp>
      <p:sp>
        <p:nvSpPr>
          <p:cNvPr id="5" name="Text 3"/>
          <p:cNvSpPr/>
          <p:nvPr/>
        </p:nvSpPr>
        <p:spPr>
          <a:xfrm>
            <a:off x="996950" y="2101751"/>
            <a:ext cx="893432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Is it the main, unique content of the page?</a:t>
            </a:r>
            <a:endParaRPr lang="en-US" sz="1400" dirty="0"/>
          </a:p>
        </p:txBody>
      </p:sp>
      <p:sp>
        <p:nvSpPr>
          <p:cNvPr id="6" name="Text 4"/>
          <p:cNvSpPr/>
          <p:nvPr/>
        </p:nvSpPr>
        <p:spPr>
          <a:xfrm>
            <a:off x="9798050" y="2101751"/>
            <a:ext cx="1447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2410C"/>
                </a:solidFill>
                <a:latin typeface="IBM Plex Mono" pitchFamily="49" charset="0"/>
                <a:ea typeface="IBM Plex Mono" pitchFamily="49" charset="-122"/>
                <a:cs typeface="IBM Plex Mono" pitchFamily="49" charset="-120"/>
              </a:rPr>
              <a:t>main</a:t>
            </a:r>
            <a:endParaRPr lang="en-US" sz="1400" dirty="0"/>
          </a:p>
        </p:txBody>
      </p:sp>
      <p:sp>
        <p:nvSpPr>
          <p:cNvPr id="7" name="Shape 5"/>
          <p:cNvSpPr/>
          <p:nvPr/>
        </p:nvSpPr>
        <p:spPr>
          <a:xfrm>
            <a:off x="815975" y="2563316"/>
            <a:ext cx="10560050" cy="483791"/>
          </a:xfrm>
          <a:prstGeom prst="roundRect">
            <a:avLst>
              <a:gd name="adj" fmla="val 17719"/>
            </a:avLst>
          </a:prstGeom>
          <a:solidFill>
            <a:srgbClr val="FFFDF9"/>
          </a:solidFill>
          <a:ln w="6350">
            <a:solidFill>
              <a:srgbClr val="E4E0D8"/>
            </a:solidFill>
            <a:prstDash val="solid"/>
          </a:ln>
        </p:spPr>
      </p:sp>
      <p:sp>
        <p:nvSpPr>
          <p:cNvPr id="8" name="Text 6"/>
          <p:cNvSpPr/>
          <p:nvPr/>
        </p:nvSpPr>
        <p:spPr>
          <a:xfrm>
            <a:off x="996950" y="2680791"/>
            <a:ext cx="893432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Would it make sense on its own, shared or syndicated? (post, comment, product card)</a:t>
            </a:r>
            <a:endParaRPr lang="en-US" sz="1400" dirty="0"/>
          </a:p>
        </p:txBody>
      </p:sp>
      <p:sp>
        <p:nvSpPr>
          <p:cNvPr id="9" name="Text 7"/>
          <p:cNvSpPr/>
          <p:nvPr/>
        </p:nvSpPr>
        <p:spPr>
          <a:xfrm>
            <a:off x="9798050" y="2680791"/>
            <a:ext cx="1447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2410C"/>
                </a:solidFill>
                <a:latin typeface="IBM Plex Mono" pitchFamily="49" charset="0"/>
                <a:ea typeface="IBM Plex Mono" pitchFamily="49" charset="-122"/>
                <a:cs typeface="IBM Plex Mono" pitchFamily="49" charset="-120"/>
              </a:rPr>
              <a:t>article</a:t>
            </a:r>
            <a:endParaRPr lang="en-US" sz="1400" dirty="0"/>
          </a:p>
        </p:txBody>
      </p:sp>
      <p:sp>
        <p:nvSpPr>
          <p:cNvPr id="10" name="Shape 8"/>
          <p:cNvSpPr/>
          <p:nvPr/>
        </p:nvSpPr>
        <p:spPr>
          <a:xfrm>
            <a:off x="815975" y="3142357"/>
            <a:ext cx="10560050" cy="483791"/>
          </a:xfrm>
          <a:prstGeom prst="roundRect">
            <a:avLst>
              <a:gd name="adj" fmla="val 17719"/>
            </a:avLst>
          </a:prstGeom>
          <a:solidFill>
            <a:srgbClr val="FFFDF9"/>
          </a:solidFill>
          <a:ln w="6350">
            <a:solidFill>
              <a:srgbClr val="E4E0D8"/>
            </a:solidFill>
            <a:prstDash val="solid"/>
          </a:ln>
        </p:spPr>
      </p:sp>
      <p:sp>
        <p:nvSpPr>
          <p:cNvPr id="11" name="Text 9"/>
          <p:cNvSpPr/>
          <p:nvPr/>
        </p:nvSpPr>
        <p:spPr>
          <a:xfrm>
            <a:off x="996950" y="3259832"/>
            <a:ext cx="893432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Is it a themed part of a page with its own heading?</a:t>
            </a:r>
            <a:endParaRPr lang="en-US" sz="1400" dirty="0"/>
          </a:p>
        </p:txBody>
      </p:sp>
      <p:sp>
        <p:nvSpPr>
          <p:cNvPr id="12" name="Text 10"/>
          <p:cNvSpPr/>
          <p:nvPr/>
        </p:nvSpPr>
        <p:spPr>
          <a:xfrm>
            <a:off x="9798050" y="3259832"/>
            <a:ext cx="1447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2410C"/>
                </a:solidFill>
                <a:latin typeface="IBM Plex Mono" pitchFamily="49" charset="0"/>
                <a:ea typeface="IBM Plex Mono" pitchFamily="49" charset="-122"/>
                <a:cs typeface="IBM Plex Mono" pitchFamily="49" charset="-120"/>
              </a:rPr>
              <a:t>section</a:t>
            </a:r>
            <a:endParaRPr lang="en-US" sz="1400" dirty="0"/>
          </a:p>
        </p:txBody>
      </p:sp>
      <p:sp>
        <p:nvSpPr>
          <p:cNvPr id="13" name="Shape 11"/>
          <p:cNvSpPr/>
          <p:nvPr/>
        </p:nvSpPr>
        <p:spPr>
          <a:xfrm>
            <a:off x="815975" y="3721398"/>
            <a:ext cx="10560050" cy="483791"/>
          </a:xfrm>
          <a:prstGeom prst="roundRect">
            <a:avLst>
              <a:gd name="adj" fmla="val 17719"/>
            </a:avLst>
          </a:prstGeom>
          <a:solidFill>
            <a:srgbClr val="FFFDF9"/>
          </a:solidFill>
          <a:ln w="6350">
            <a:solidFill>
              <a:srgbClr val="E4E0D8"/>
            </a:solidFill>
            <a:prstDash val="solid"/>
          </a:ln>
        </p:spPr>
      </p:sp>
      <p:sp>
        <p:nvSpPr>
          <p:cNvPr id="14" name="Text 12"/>
          <p:cNvSpPr/>
          <p:nvPr/>
        </p:nvSpPr>
        <p:spPr>
          <a:xfrm>
            <a:off x="996950" y="3838873"/>
            <a:ext cx="893432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Is it related but secondary? (sidebar, glossary box)</a:t>
            </a:r>
            <a:endParaRPr lang="en-US" sz="1400" dirty="0"/>
          </a:p>
        </p:txBody>
      </p:sp>
      <p:sp>
        <p:nvSpPr>
          <p:cNvPr id="15" name="Text 13"/>
          <p:cNvSpPr/>
          <p:nvPr/>
        </p:nvSpPr>
        <p:spPr>
          <a:xfrm>
            <a:off x="9798050" y="3838873"/>
            <a:ext cx="1447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2410C"/>
                </a:solidFill>
                <a:latin typeface="IBM Plex Mono" pitchFamily="49" charset="0"/>
                <a:ea typeface="IBM Plex Mono" pitchFamily="49" charset="-122"/>
                <a:cs typeface="IBM Plex Mono" pitchFamily="49" charset="-120"/>
              </a:rPr>
              <a:t>aside</a:t>
            </a:r>
            <a:endParaRPr lang="en-US" sz="1400" dirty="0"/>
          </a:p>
        </p:txBody>
      </p:sp>
      <p:sp>
        <p:nvSpPr>
          <p:cNvPr id="16" name="Shape 14"/>
          <p:cNvSpPr/>
          <p:nvPr/>
        </p:nvSpPr>
        <p:spPr>
          <a:xfrm>
            <a:off x="812800" y="4297263"/>
            <a:ext cx="10566400" cy="477441"/>
          </a:xfrm>
          <a:prstGeom prst="roundRect">
            <a:avLst>
              <a:gd name="adj" fmla="val 18620"/>
            </a:avLst>
          </a:prstGeom>
          <a:solidFill>
            <a:srgbClr val="16202E"/>
          </a:solidFill>
          <a:ln/>
        </p:spPr>
      </p:sp>
      <p:sp>
        <p:nvSpPr>
          <p:cNvPr id="17" name="Text 15"/>
          <p:cNvSpPr/>
          <p:nvPr/>
        </p:nvSpPr>
        <p:spPr>
          <a:xfrm>
            <a:off x="990600" y="4411563"/>
            <a:ext cx="89474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5F0"/>
                </a:solidFill>
                <a:latin typeface="IBM Plex Sans" pitchFamily="34" charset="0"/>
                <a:ea typeface="IBM Plex Sans" pitchFamily="34" charset="-122"/>
                <a:cs typeface="IBM Plex Sans" pitchFamily="34" charset="-120"/>
              </a:rPr>
              <a:t>None of these — just need a box for styling?</a:t>
            </a:r>
            <a:endParaRPr lang="en-US" sz="1400" dirty="0"/>
          </a:p>
        </p:txBody>
      </p:sp>
      <p:sp>
        <p:nvSpPr>
          <p:cNvPr id="18" name="Text 16"/>
          <p:cNvSpPr/>
          <p:nvPr/>
        </p:nvSpPr>
        <p:spPr>
          <a:xfrm>
            <a:off x="9804400" y="4411563"/>
            <a:ext cx="1447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9E64"/>
                </a:solidFill>
                <a:latin typeface="IBM Plex Mono" pitchFamily="49" charset="0"/>
                <a:ea typeface="IBM Plex Mono" pitchFamily="49" charset="-122"/>
                <a:cs typeface="IBM Plex Mono" pitchFamily="49" charset="-120"/>
              </a:rPr>
              <a:t>div</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C2410C"/>
        </a:solidFill>
      </p:bgPr>
    </p:bg>
    <p:spTree>
      <p:nvGrpSpPr>
        <p:cNvPr id="1" name=""/>
        <p:cNvGrpSpPr/>
        <p:nvPr/>
      </p:nvGrpSpPr>
      <p:grpSpPr>
        <a:xfrm>
          <a:off x="0" y="0"/>
          <a:ext cx="0" cy="0"/>
          <a:chOff x="0" y="0"/>
          <a:chExt cx="0" cy="0"/>
        </a:xfrm>
      </p:grpSpPr>
      <p:sp>
        <p:nvSpPr>
          <p:cNvPr id="2" name="Text 0"/>
          <p:cNvSpPr/>
          <p:nvPr/>
        </p:nvSpPr>
        <p:spPr>
          <a:xfrm>
            <a:off x="812800" y="223778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F8F1"/>
                </a:solidFill>
                <a:latin typeface="IBM Plex Sans" pitchFamily="34" charset="0"/>
                <a:ea typeface="IBM Plex Sans" pitchFamily="34" charset="-122"/>
                <a:cs typeface="IBM Plex Sans" pitchFamily="34" charset="-120"/>
              </a:rPr>
              <a:t>0:55 – 1:05</a:t>
            </a:r>
            <a:endParaRPr lang="en-US" sz="1400" dirty="0"/>
          </a:p>
        </p:txBody>
      </p:sp>
      <p:sp>
        <p:nvSpPr>
          <p:cNvPr id="3" name="Text 1"/>
          <p:cNvSpPr/>
          <p:nvPr>
            <p:ph type="title"/>
          </p:nvPr>
        </p:nvSpPr>
        <p:spPr>
          <a:xfrm>
            <a:off x="812800" y="268982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FF8F1"/>
                </a:solidFill>
                <a:latin typeface="IBM Plex Sans" pitchFamily="34" charset="0"/>
                <a:ea typeface="IBM Plex Sans" pitchFamily="34" charset="-122"/>
                <a:cs typeface="IBM Plex Sans" pitchFamily="34" charset="-120"/>
              </a:rPr>
              <a:t>Break · 10 min</a:t>
            </a:r>
            <a:endParaRPr lang="en-US" sz="8000" dirty="0"/>
          </a:p>
        </p:txBody>
      </p:sp>
      <p:sp>
        <p:nvSpPr>
          <p:cNvPr id="4" name="Text 2"/>
          <p:cNvSpPr/>
          <p:nvPr/>
        </p:nvSpPr>
        <p:spPr>
          <a:xfrm>
            <a:off x="812800" y="3909020"/>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8F1"/>
                </a:solidFill>
                <a:latin typeface="IBM Plex Sans" pitchFamily="34" charset="0"/>
                <a:ea typeface="IBM Plex Sans" pitchFamily="34" charset="-122"/>
                <a:cs typeface="IBM Plex Sans" pitchFamily="34" charset="-120"/>
              </a:rPr>
              <a:t>When we return: have your class timetable ready.</a:t>
            </a:r>
            <a:endParaRPr lang="en-US" sz="2000" dirty="0"/>
          </a:p>
          <a:p>
            <a:pPr algn="l" indent="0" marL="0">
              <a:lnSpc>
                <a:spcPts val="2800"/>
              </a:lnSpc>
              <a:buNone/>
            </a:pPr>
            <a:r>
              <a:rPr lang="en-US" sz="2000" dirty="0">
                <a:solidFill>
                  <a:srgbClr val="FFF8F1"/>
                </a:solidFill>
                <a:latin typeface="IBM Plex Sans" pitchFamily="34" charset="0"/>
                <a:ea typeface="IBM Plex Sans" pitchFamily="34" charset="-122"/>
                <a:cs typeface="IBM Plex Sans" pitchFamily="34" charset="-120"/>
              </a:rPr>
              <a:t>Sketch it on paper as a grid first.</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PART B · GUIDED DEMO · 10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Plan the grid before you type</a:t>
            </a:r>
            <a:endParaRPr lang="en-US" sz="3200" dirty="0"/>
          </a:p>
        </p:txBody>
      </p:sp>
      <p:sp>
        <p:nvSpPr>
          <p:cNvPr id="4" name="Shape 2"/>
          <p:cNvSpPr/>
          <p:nvPr/>
        </p:nvSpPr>
        <p:spPr>
          <a:xfrm>
            <a:off x="815975" y="1984276"/>
            <a:ext cx="2007791" cy="2165052"/>
          </a:xfrm>
          <a:prstGeom prst="roundRect">
            <a:avLst>
              <a:gd name="adj" fmla="val 4902"/>
            </a:avLst>
          </a:prstGeom>
          <a:solidFill>
            <a:srgbClr val="FFFDF9"/>
          </a:solidFill>
          <a:ln w="6350">
            <a:solidFill>
              <a:srgbClr val="E4E0D8"/>
            </a:solidFill>
            <a:prstDash val="solid"/>
          </a:ln>
        </p:spPr>
      </p:sp>
      <p:sp>
        <p:nvSpPr>
          <p:cNvPr id="5" name="Text 3"/>
          <p:cNvSpPr/>
          <p:nvPr/>
        </p:nvSpPr>
        <p:spPr>
          <a:xfrm>
            <a:off x="996950" y="2165251"/>
            <a:ext cx="1696641"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2410C"/>
                </a:solidFill>
                <a:latin typeface="IBM Plex Sans" pitchFamily="34" charset="0"/>
                <a:ea typeface="IBM Plex Sans" pitchFamily="34" charset="-122"/>
                <a:cs typeface="IBM Plex Sans" pitchFamily="34" charset="-120"/>
              </a:rPr>
              <a:t>1</a:t>
            </a:r>
            <a:endParaRPr lang="en-US" sz="2800" dirty="0"/>
          </a:p>
        </p:txBody>
      </p:sp>
      <p:sp>
        <p:nvSpPr>
          <p:cNvPr id="6" name="Text 4"/>
          <p:cNvSpPr/>
          <p:nvPr/>
        </p:nvSpPr>
        <p:spPr>
          <a:xfrm>
            <a:off x="996950" y="2739231"/>
            <a:ext cx="169664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Sketch</a:t>
            </a:r>
            <a:endParaRPr lang="en-US" sz="1500" dirty="0"/>
          </a:p>
        </p:txBody>
      </p:sp>
      <p:sp>
        <p:nvSpPr>
          <p:cNvPr id="7" name="Text 5"/>
          <p:cNvSpPr/>
          <p:nvPr/>
        </p:nvSpPr>
        <p:spPr>
          <a:xfrm>
            <a:off x="996950" y="3044031"/>
            <a:ext cx="1696641"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Draw rows and columns on paper; shade cells that merge.</a:t>
            </a:r>
            <a:endParaRPr lang="en-US" sz="1300" dirty="0"/>
          </a:p>
        </p:txBody>
      </p:sp>
      <p:sp>
        <p:nvSpPr>
          <p:cNvPr id="8" name="Shape 6"/>
          <p:cNvSpPr/>
          <p:nvPr/>
        </p:nvSpPr>
        <p:spPr>
          <a:xfrm>
            <a:off x="2957116" y="1984276"/>
            <a:ext cx="2007890" cy="2165052"/>
          </a:xfrm>
          <a:prstGeom prst="roundRect">
            <a:avLst>
              <a:gd name="adj" fmla="val 4902"/>
            </a:avLst>
          </a:prstGeom>
          <a:solidFill>
            <a:srgbClr val="FFFDF9"/>
          </a:solidFill>
          <a:ln w="6350">
            <a:solidFill>
              <a:srgbClr val="E4E0D8"/>
            </a:solidFill>
            <a:prstDash val="solid"/>
          </a:ln>
        </p:spPr>
      </p:sp>
      <p:sp>
        <p:nvSpPr>
          <p:cNvPr id="9" name="Text 7"/>
          <p:cNvSpPr/>
          <p:nvPr/>
        </p:nvSpPr>
        <p:spPr>
          <a:xfrm>
            <a:off x="3138091" y="2165251"/>
            <a:ext cx="169674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2410C"/>
                </a:solidFill>
                <a:latin typeface="IBM Plex Sans" pitchFamily="34" charset="0"/>
                <a:ea typeface="IBM Plex Sans" pitchFamily="34" charset="-122"/>
                <a:cs typeface="IBM Plex Sans" pitchFamily="34" charset="-120"/>
              </a:rPr>
              <a:t>2</a:t>
            </a:r>
            <a:endParaRPr lang="en-US" sz="2800" dirty="0"/>
          </a:p>
        </p:txBody>
      </p:sp>
      <p:sp>
        <p:nvSpPr>
          <p:cNvPr id="10" name="Text 8"/>
          <p:cNvSpPr/>
          <p:nvPr/>
        </p:nvSpPr>
        <p:spPr>
          <a:xfrm>
            <a:off x="3138091" y="2739231"/>
            <a:ext cx="16967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Count</a:t>
            </a:r>
            <a:endParaRPr lang="en-US" sz="1500" dirty="0"/>
          </a:p>
        </p:txBody>
      </p:sp>
      <p:sp>
        <p:nvSpPr>
          <p:cNvPr id="11" name="Text 9"/>
          <p:cNvSpPr/>
          <p:nvPr/>
        </p:nvSpPr>
        <p:spPr>
          <a:xfrm>
            <a:off x="3138091" y="3044031"/>
            <a:ext cx="169674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Write the number of cells each row needs after spans.</a:t>
            </a:r>
            <a:endParaRPr lang="en-US" sz="1300" dirty="0"/>
          </a:p>
        </p:txBody>
      </p:sp>
      <p:sp>
        <p:nvSpPr>
          <p:cNvPr id="12" name="Shape 10"/>
          <p:cNvSpPr/>
          <p:nvPr/>
        </p:nvSpPr>
        <p:spPr>
          <a:xfrm>
            <a:off x="5098355" y="1984276"/>
            <a:ext cx="2007890" cy="2165052"/>
          </a:xfrm>
          <a:prstGeom prst="roundRect">
            <a:avLst>
              <a:gd name="adj" fmla="val 4902"/>
            </a:avLst>
          </a:prstGeom>
          <a:solidFill>
            <a:srgbClr val="FFFDF9"/>
          </a:solidFill>
          <a:ln w="6350">
            <a:solidFill>
              <a:srgbClr val="E4E0D8"/>
            </a:solidFill>
            <a:prstDash val="solid"/>
          </a:ln>
        </p:spPr>
      </p:sp>
      <p:sp>
        <p:nvSpPr>
          <p:cNvPr id="13" name="Text 11"/>
          <p:cNvSpPr/>
          <p:nvPr/>
        </p:nvSpPr>
        <p:spPr>
          <a:xfrm>
            <a:off x="5279330" y="2165251"/>
            <a:ext cx="169674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2410C"/>
                </a:solidFill>
                <a:latin typeface="IBM Plex Sans" pitchFamily="34" charset="0"/>
                <a:ea typeface="IBM Plex Sans" pitchFamily="34" charset="-122"/>
                <a:cs typeface="IBM Plex Sans" pitchFamily="34" charset="-120"/>
              </a:rPr>
              <a:t>3</a:t>
            </a:r>
            <a:endParaRPr lang="en-US" sz="2800" dirty="0"/>
          </a:p>
        </p:txBody>
      </p:sp>
      <p:sp>
        <p:nvSpPr>
          <p:cNvPr id="14" name="Text 12"/>
          <p:cNvSpPr/>
          <p:nvPr/>
        </p:nvSpPr>
        <p:spPr>
          <a:xfrm>
            <a:off x="5279330" y="2739231"/>
            <a:ext cx="16967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Skeleton</a:t>
            </a:r>
            <a:endParaRPr lang="en-US" sz="1500" dirty="0"/>
          </a:p>
        </p:txBody>
      </p:sp>
      <p:sp>
        <p:nvSpPr>
          <p:cNvPr id="15" name="Text 13"/>
          <p:cNvSpPr/>
          <p:nvPr/>
        </p:nvSpPr>
        <p:spPr>
          <a:xfrm>
            <a:off x="5279330" y="3044031"/>
            <a:ext cx="169674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Emmet: table&gt;tr*4&gt;td*5 then Tab. Add caption, thead, tbody.</a:t>
            </a:r>
            <a:endParaRPr lang="en-US" sz="1300" dirty="0"/>
          </a:p>
        </p:txBody>
      </p:sp>
      <p:sp>
        <p:nvSpPr>
          <p:cNvPr id="16" name="Shape 14"/>
          <p:cNvSpPr/>
          <p:nvPr/>
        </p:nvSpPr>
        <p:spPr>
          <a:xfrm>
            <a:off x="7239595" y="1984276"/>
            <a:ext cx="2007890" cy="2165052"/>
          </a:xfrm>
          <a:prstGeom prst="roundRect">
            <a:avLst>
              <a:gd name="adj" fmla="val 4902"/>
            </a:avLst>
          </a:prstGeom>
          <a:solidFill>
            <a:srgbClr val="FFFDF9"/>
          </a:solidFill>
          <a:ln w="6350">
            <a:solidFill>
              <a:srgbClr val="E4E0D8"/>
            </a:solidFill>
            <a:prstDash val="solid"/>
          </a:ln>
        </p:spPr>
      </p:sp>
      <p:sp>
        <p:nvSpPr>
          <p:cNvPr id="17" name="Text 15"/>
          <p:cNvSpPr/>
          <p:nvPr/>
        </p:nvSpPr>
        <p:spPr>
          <a:xfrm>
            <a:off x="7420570" y="2165251"/>
            <a:ext cx="169674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2410C"/>
                </a:solidFill>
                <a:latin typeface="IBM Plex Sans" pitchFamily="34" charset="0"/>
                <a:ea typeface="IBM Plex Sans" pitchFamily="34" charset="-122"/>
                <a:cs typeface="IBM Plex Sans" pitchFamily="34" charset="-120"/>
              </a:rPr>
              <a:t>4</a:t>
            </a:r>
            <a:endParaRPr lang="en-US" sz="2800" dirty="0"/>
          </a:p>
        </p:txBody>
      </p:sp>
      <p:sp>
        <p:nvSpPr>
          <p:cNvPr id="18" name="Text 16"/>
          <p:cNvSpPr/>
          <p:nvPr/>
        </p:nvSpPr>
        <p:spPr>
          <a:xfrm>
            <a:off x="7420570" y="2739231"/>
            <a:ext cx="16967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Fill &amp; merge</a:t>
            </a:r>
            <a:endParaRPr lang="en-US" sz="1500" dirty="0"/>
          </a:p>
        </p:txBody>
      </p:sp>
      <p:sp>
        <p:nvSpPr>
          <p:cNvPr id="19" name="Text 17"/>
          <p:cNvSpPr/>
          <p:nvPr/>
        </p:nvSpPr>
        <p:spPr>
          <a:xfrm>
            <a:off x="7420570" y="3044031"/>
            <a:ext cx="169674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Add text, then colspan/rowspan, deleting covered cells.</a:t>
            </a:r>
            <a:endParaRPr lang="en-US" sz="1300" dirty="0"/>
          </a:p>
        </p:txBody>
      </p:sp>
      <p:sp>
        <p:nvSpPr>
          <p:cNvPr id="20" name="Shape 18"/>
          <p:cNvSpPr/>
          <p:nvPr/>
        </p:nvSpPr>
        <p:spPr>
          <a:xfrm>
            <a:off x="9377660" y="1981101"/>
            <a:ext cx="2001540" cy="2171402"/>
          </a:xfrm>
          <a:prstGeom prst="roundRect">
            <a:avLst>
              <a:gd name="adj" fmla="val 5076"/>
            </a:avLst>
          </a:prstGeom>
          <a:solidFill>
            <a:srgbClr val="16202E"/>
          </a:solidFill>
          <a:ln/>
        </p:spPr>
      </p:sp>
      <p:sp>
        <p:nvSpPr>
          <p:cNvPr id="21" name="Text 19"/>
          <p:cNvSpPr/>
          <p:nvPr/>
        </p:nvSpPr>
        <p:spPr>
          <a:xfrm>
            <a:off x="9555460" y="2158901"/>
            <a:ext cx="169674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F9E64"/>
                </a:solidFill>
                <a:latin typeface="IBM Plex Sans" pitchFamily="34" charset="0"/>
                <a:ea typeface="IBM Plex Sans" pitchFamily="34" charset="-122"/>
                <a:cs typeface="IBM Plex Sans" pitchFamily="34" charset="-120"/>
              </a:rPr>
              <a:t>5</a:t>
            </a:r>
            <a:endParaRPr lang="en-US" sz="2800" dirty="0"/>
          </a:p>
        </p:txBody>
      </p:sp>
      <p:sp>
        <p:nvSpPr>
          <p:cNvPr id="22" name="Text 20"/>
          <p:cNvSpPr/>
          <p:nvPr/>
        </p:nvSpPr>
        <p:spPr>
          <a:xfrm>
            <a:off x="9555460" y="2732881"/>
            <a:ext cx="16967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5F0"/>
                </a:solidFill>
                <a:latin typeface="IBM Plex Sans" pitchFamily="34" charset="0"/>
                <a:ea typeface="IBM Plex Sans" pitchFamily="34" charset="-122"/>
                <a:cs typeface="IBM Plex Sans" pitchFamily="34" charset="-120"/>
              </a:rPr>
              <a:t>Check</a:t>
            </a:r>
            <a:endParaRPr lang="en-US" sz="1500" dirty="0"/>
          </a:p>
        </p:txBody>
      </p:sp>
      <p:sp>
        <p:nvSpPr>
          <p:cNvPr id="23" name="Text 21"/>
          <p:cNvSpPr/>
          <p:nvPr/>
        </p:nvSpPr>
        <p:spPr>
          <a:xfrm>
            <a:off x="9555460" y="3037681"/>
            <a:ext cx="169674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0"/>
                </a:solidFill>
                <a:latin typeface="IBM Plex Sans" pitchFamily="34" charset="0"/>
                <a:ea typeface="IBM Plex Sans" pitchFamily="34" charset="-122"/>
                <a:cs typeface="IBM Plex Sans" pitchFamily="34" charset="-120"/>
              </a:rPr>
              <a:t>Add the border CSS, inspect in DevTools, validate.</a:t>
            </a:r>
            <a:endParaRPr lang="en-US" sz="1300" dirty="0"/>
          </a:p>
        </p:txBody>
      </p:sp>
      <p:sp>
        <p:nvSpPr>
          <p:cNvPr id="24" name="Text 22"/>
          <p:cNvSpPr/>
          <p:nvPr/>
        </p:nvSpPr>
        <p:spPr>
          <a:xfrm>
            <a:off x="812800" y="440650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467"/>
                </a:solidFill>
                <a:latin typeface="IBM Plex Sans" pitchFamily="34" charset="0"/>
                <a:ea typeface="IBM Plex Sans" pitchFamily="34" charset="-122"/>
                <a:cs typeface="IBM Plex Sans" pitchFamily="34" charset="-120"/>
              </a:rPr>
              <a:t>Then wrap the page itself: header with nav, main with the table in a section, footer.</a:t>
            </a:r>
            <a:endParaRPr lang="en-US" sz="1400" dirty="0"/>
          </a:p>
        </p:txBody>
      </p:sp>
      <p:sp>
        <p:nvSpPr>
          <p:cNvPr id="25"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LAB 4A · 15 MIN · INDIVIDUAL</a:t>
            </a:r>
            <a:endParaRPr lang="en-US" sz="1200" dirty="0"/>
          </a:p>
        </p:txBody>
      </p:sp>
      <p:sp>
        <p:nvSpPr>
          <p:cNvPr id="3" name="Text 1"/>
          <p:cNvSpPr/>
          <p:nvPr>
            <p:ph type="title"/>
          </p:nvPr>
        </p:nvSpPr>
        <p:spPr>
          <a:xfrm>
            <a:off x="812800" y="1254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Your weekly timetable: timetable.html</a:t>
            </a:r>
            <a:endParaRPr lang="en-US" sz="3200" dirty="0"/>
          </a:p>
        </p:txBody>
      </p:sp>
      <p:sp>
        <p:nvSpPr>
          <p:cNvPr id="4" name="Text 2"/>
          <p:cNvSpPr/>
          <p:nvPr/>
        </p:nvSpPr>
        <p:spPr>
          <a:xfrm>
            <a:off x="812800" y="1930301"/>
            <a:ext cx="597474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1.</a:t>
            </a:r>
            <a:r>
              <a:rPr lang="en-US" sz="1400" dirty="0">
                <a:solidFill>
                  <a:srgbClr val="1F2A37"/>
                </a:solidFill>
                <a:latin typeface="IBM Plex Sans" pitchFamily="34" charset="0"/>
                <a:ea typeface="IBM Plex Sans" pitchFamily="34" charset="-122"/>
                <a:cs typeface="IBM Plex Sans" pitchFamily="34" charset="-120"/>
              </a:rPr>
              <a:t> Columns: Time + Monday to Friday. Rows: your time slots.</a:t>
            </a:r>
            <a:endParaRPr lang="en-US" sz="1400" dirty="0"/>
          </a:p>
        </p:txBody>
      </p:sp>
      <p:sp>
        <p:nvSpPr>
          <p:cNvPr id="5" name="Text 3"/>
          <p:cNvSpPr/>
          <p:nvPr/>
        </p:nvSpPr>
        <p:spPr>
          <a:xfrm>
            <a:off x="812800" y="2268041"/>
            <a:ext cx="597474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2.</a:t>
            </a:r>
            <a:r>
              <a:rPr lang="en-US" sz="1400" dirty="0">
                <a:solidFill>
                  <a:srgbClr val="1F2A37"/>
                </a:solidFill>
                <a:latin typeface="IBM Plex Sans" pitchFamily="34" charset="0"/>
                <a:ea typeface="IBM Plex Sans" pitchFamily="34" charset="-122"/>
                <a:cs typeface="IBM Plex Sans" pitchFamily="34" charset="-120"/>
              </a:rPr>
              <a:t> A caption with your program and semester.</a:t>
            </a:r>
            <a:endParaRPr lang="en-US" sz="1400" dirty="0"/>
          </a:p>
        </p:txBody>
      </p:sp>
      <p:sp>
        <p:nvSpPr>
          <p:cNvPr id="6" name="Text 4"/>
          <p:cNvSpPr/>
          <p:nvPr/>
        </p:nvSpPr>
        <p:spPr>
          <a:xfrm>
            <a:off x="812800" y="2605782"/>
            <a:ext cx="5974747"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3.</a:t>
            </a:r>
            <a:r>
              <a:rPr lang="en-US" sz="1400" dirty="0">
                <a:solidFill>
                  <a:srgbClr val="1F2A37"/>
                </a:solidFill>
                <a:latin typeface="IBM Plex Sans" pitchFamily="34" charset="0"/>
                <a:ea typeface="IBM Plex Sans" pitchFamily="34" charset="-122"/>
                <a:cs typeface="IBM Plex Sans" pitchFamily="34" charset="-120"/>
              </a:rPr>
              <a:t> thead and tbody; th with scope="col" for days and scope="row" for times.</a:t>
            </a:r>
            <a:endParaRPr lang="en-US" sz="1400" dirty="0"/>
          </a:p>
        </p:txBody>
      </p:sp>
      <p:sp>
        <p:nvSpPr>
          <p:cNvPr id="7" name="Text 5"/>
          <p:cNvSpPr/>
          <p:nvPr/>
        </p:nvSpPr>
        <p:spPr>
          <a:xfrm>
            <a:off x="812800" y="3192363"/>
            <a:ext cx="5974747"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4.</a:t>
            </a:r>
            <a:r>
              <a:rPr lang="en-US" sz="1400" dirty="0">
                <a:solidFill>
                  <a:srgbClr val="1F2A37"/>
                </a:solidFill>
                <a:latin typeface="IBM Plex Sans" pitchFamily="34" charset="0"/>
                <a:ea typeface="IBM Plex Sans" pitchFamily="34" charset="-122"/>
                <a:cs typeface="IBM Plex Sans" pitchFamily="34" charset="-120"/>
              </a:rPr>
              <a:t> At least one </a:t>
            </a:r>
            <a:r>
              <a:rPr lang="en-US" sz="1400" b="1" dirty="0">
                <a:solidFill>
                  <a:srgbClr val="1F2A37"/>
                </a:solidFill>
                <a:latin typeface="IBM Plex Sans" pitchFamily="34" charset="0"/>
                <a:ea typeface="IBM Plex Sans" pitchFamily="34" charset="-122"/>
                <a:cs typeface="IBM Plex Sans" pitchFamily="34" charset="-120"/>
              </a:rPr>
              <a:t>rowspan</a:t>
            </a:r>
            <a:r>
              <a:rPr lang="en-US" sz="1400" dirty="0">
                <a:solidFill>
                  <a:srgbClr val="1F2A37"/>
                </a:solidFill>
                <a:latin typeface="IBM Plex Sans" pitchFamily="34" charset="0"/>
                <a:ea typeface="IBM Plex Sans" pitchFamily="34" charset="-122"/>
                <a:cs typeface="IBM Plex Sans" pitchFamily="34" charset="-120"/>
              </a:rPr>
              <a:t> (a 2-hour class) and one </a:t>
            </a:r>
            <a:r>
              <a:rPr lang="en-US" sz="1400" b="1" dirty="0">
                <a:solidFill>
                  <a:srgbClr val="1F2A37"/>
                </a:solidFill>
                <a:latin typeface="IBM Plex Sans" pitchFamily="34" charset="0"/>
                <a:ea typeface="IBM Plex Sans" pitchFamily="34" charset="-122"/>
                <a:cs typeface="IBM Plex Sans" pitchFamily="34" charset="-120"/>
              </a:rPr>
              <a:t>colspan</a:t>
            </a:r>
            <a:r>
              <a:rPr lang="en-US" sz="1400" dirty="0">
                <a:solidFill>
                  <a:srgbClr val="1F2A37"/>
                </a:solidFill>
                <a:latin typeface="IBM Plex Sans" pitchFamily="34" charset="0"/>
                <a:ea typeface="IBM Plex Sans" pitchFamily="34" charset="-122"/>
                <a:cs typeface="IBM Plex Sans" pitchFamily="34" charset="-120"/>
              </a:rPr>
              <a:t> (a break across days).</a:t>
            </a:r>
            <a:endParaRPr lang="en-US" sz="1400" dirty="0"/>
          </a:p>
        </p:txBody>
      </p:sp>
      <p:sp>
        <p:nvSpPr>
          <p:cNvPr id="8" name="Text 6"/>
          <p:cNvSpPr/>
          <p:nvPr/>
        </p:nvSpPr>
        <p:spPr>
          <a:xfrm>
            <a:off x="812800" y="3778945"/>
            <a:ext cx="597474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5.</a:t>
            </a:r>
            <a:r>
              <a:rPr lang="en-US" sz="1400" dirty="0">
                <a:solidFill>
                  <a:srgbClr val="1F2A37"/>
                </a:solidFill>
                <a:latin typeface="IBM Plex Sans" pitchFamily="34" charset="0"/>
                <a:ea typeface="IBM Plex Sans" pitchFamily="34" charset="-122"/>
                <a:cs typeface="IBM Plex Sans" pitchFamily="34" charset="-120"/>
              </a:rPr>
              <a:t> The border CSS from the slide; link the page from your site’s nav.</a:t>
            </a:r>
            <a:endParaRPr lang="en-US" sz="1400" dirty="0"/>
          </a:p>
        </p:txBody>
      </p:sp>
      <p:sp>
        <p:nvSpPr>
          <p:cNvPr id="9" name="Shape 7"/>
          <p:cNvSpPr/>
          <p:nvPr/>
        </p:nvSpPr>
        <p:spPr>
          <a:xfrm>
            <a:off x="6819900" y="1933476"/>
            <a:ext cx="4556125" cy="1898352"/>
          </a:xfrm>
          <a:prstGeom prst="roundRect">
            <a:avLst>
              <a:gd name="adj" fmla="val 5185"/>
            </a:avLst>
          </a:prstGeom>
          <a:solidFill>
            <a:srgbClr val="FFFDF9"/>
          </a:solidFill>
          <a:ln w="6350">
            <a:solidFill>
              <a:srgbClr val="D9D3C7"/>
            </a:solidFill>
            <a:prstDash val="solid"/>
          </a:ln>
        </p:spPr>
      </p:sp>
      <p:sp>
        <p:nvSpPr>
          <p:cNvPr id="10" name="Text 8"/>
          <p:cNvSpPr/>
          <p:nvPr/>
        </p:nvSpPr>
        <p:spPr>
          <a:xfrm>
            <a:off x="7026275" y="2139851"/>
            <a:ext cx="42676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Self-check</a:t>
            </a:r>
            <a:endParaRPr lang="en-US" sz="1600" dirty="0"/>
          </a:p>
        </p:txBody>
      </p:sp>
      <p:sp>
        <p:nvSpPr>
          <p:cNvPr id="11" name="Text 9"/>
          <p:cNvSpPr/>
          <p:nvPr/>
        </p:nvSpPr>
        <p:spPr>
          <a:xfrm>
            <a:off x="7026275" y="2485231"/>
            <a:ext cx="42676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Every row adds up to 6 columns · no border or bgcolor attributes · validator shows 0 errors</a:t>
            </a:r>
            <a:endParaRPr lang="en-US" sz="1300" dirty="0"/>
          </a:p>
        </p:txBody>
      </p:sp>
      <p:sp>
        <p:nvSpPr>
          <p:cNvPr id="12" name="Text 10"/>
          <p:cNvSpPr/>
          <p:nvPr/>
        </p:nvSpPr>
        <p:spPr>
          <a:xfrm>
            <a:off x="7026275" y="3048992"/>
            <a:ext cx="42676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2410C"/>
                </a:solidFill>
                <a:latin typeface="IBM Plex Sans" pitchFamily="34" charset="0"/>
                <a:ea typeface="IBM Plex Sans" pitchFamily="34" charset="-122"/>
                <a:cs typeface="IBM Plex Sans" pitchFamily="34" charset="-120"/>
              </a:rPr>
              <a:t>Stretch goal</a:t>
            </a:r>
            <a:endParaRPr lang="en-US" sz="1600" dirty="0"/>
          </a:p>
        </p:txBody>
      </p:sp>
      <p:sp>
        <p:nvSpPr>
          <p:cNvPr id="13" name="Text 11"/>
          <p:cNvSpPr/>
          <p:nvPr/>
        </p:nvSpPr>
        <p:spPr>
          <a:xfrm>
            <a:off x="7026275" y="3394373"/>
            <a:ext cx="426767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Add a tfoot row with total contact hours per day.</a:t>
            </a:r>
            <a:endParaRPr lang="en-US" sz="13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LAB 4B · 15 MIN · PAIRS</a:t>
            </a:r>
            <a:endParaRPr lang="en-US" sz="1200" dirty="0"/>
          </a:p>
        </p:txBody>
      </p:sp>
      <p:sp>
        <p:nvSpPr>
          <p:cNvPr id="3" name="Text 1"/>
          <p:cNvSpPr/>
          <p:nvPr>
            <p:ph type="title"/>
          </p:nvPr>
        </p:nvSpPr>
        <p:spPr>
          <a:xfrm>
            <a:off x="812800" y="1254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Refactor the div soup into semantic HTML</a:t>
            </a:r>
            <a:endParaRPr lang="en-US" sz="3200" dirty="0"/>
          </a:p>
        </p:txBody>
      </p:sp>
      <p:sp>
        <p:nvSpPr>
          <p:cNvPr id="4" name="Text 2"/>
          <p:cNvSpPr/>
          <p:nvPr/>
        </p:nvSpPr>
        <p:spPr>
          <a:xfrm>
            <a:off x="812800" y="1930301"/>
            <a:ext cx="5588000" cy="2870200"/>
          </a:xfrm>
          <a:prstGeom prst="roundRect">
            <a:avLst>
              <a:gd name="adj" fmla="val 3540"/>
            </a:avLst>
          </a:prstGeom>
          <a:solidFill>
            <a:srgbClr val="1B2430"/>
          </a:solidFill>
          <a:ln/>
        </p:spPr>
        <p:txBody>
          <a:bodyPr wrap="square" lIns="198842" tIns="148042" rIns="44918" bIns="122642" rtlCol="0" anchor="t">
            <a:normAutofit/>
          </a:bodyPr>
          <a:lstStyle/>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&lt;div</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id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"top"</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&lt;div</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class</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"title"</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Tech Blog</a:t>
            </a:r>
            <a:r>
              <a:rPr lang="en-US" sz="1200" dirty="0">
                <a:solidFill>
                  <a:srgbClr val="FF9E64"/>
                </a:solidFill>
                <a:latin typeface="IBM Plex Mono" pitchFamily="49" charset="0"/>
                <a:ea typeface="IBM Plex Mono" pitchFamily="49" charset="-122"/>
                <a:cs typeface="IBM Plex Mono" pitchFamily="49" charset="-120"/>
              </a:rPr>
              <a:t>&lt;/div&gt;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&lt;div</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class</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"links"</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Home | Posts | About</a:t>
            </a:r>
            <a:r>
              <a:rPr lang="en-US" sz="1200" dirty="0">
                <a:solidFill>
                  <a:srgbClr val="FF9E64"/>
                </a:solidFill>
                <a:latin typeface="IBM Plex Mono" pitchFamily="49" charset="0"/>
                <a:ea typeface="IBM Plex Mono" pitchFamily="49" charset="-122"/>
                <a:cs typeface="IBM Plex Mono" pitchFamily="49" charset="-120"/>
              </a:rPr>
              <a:t>&lt;/div&gt;</a:t>
            </a:r>
            <a:endParaRPr lang="en-US" sz="1200" dirty="0"/>
          </a:p>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&lt;/div&gt;</a:t>
            </a:r>
            <a:endParaRPr lang="en-US" sz="1200" dirty="0"/>
          </a:p>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&lt;div</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class</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"post"</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&lt;div</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class</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"big"</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Why HTML5?</a:t>
            </a:r>
            <a:r>
              <a:rPr lang="en-US" sz="1200" dirty="0">
                <a:solidFill>
                  <a:srgbClr val="FF9E64"/>
                </a:solidFill>
                <a:latin typeface="IBM Plex Mono" pitchFamily="49" charset="0"/>
                <a:ea typeface="IBM Plex Mono" pitchFamily="49" charset="-122"/>
                <a:cs typeface="IBM Plex Mono" pitchFamily="49" charset="-120"/>
              </a:rPr>
              <a:t>&lt;/div&gt;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&lt;div&gt;</a:t>
            </a:r>
            <a:r>
              <a:rPr lang="en-US" sz="1200" dirty="0">
                <a:solidFill>
                  <a:srgbClr val="E6EDF3"/>
                </a:solidFill>
                <a:latin typeface="IBM Plex Mono" pitchFamily="49" charset="0"/>
                <a:ea typeface="IBM Plex Mono" pitchFamily="49" charset="-122"/>
                <a:cs typeface="IBM Plex Mono" pitchFamily="49" charset="-120"/>
              </a:rPr>
              <a:t>Posted 3 Nov 2026</a:t>
            </a:r>
            <a:r>
              <a:rPr lang="en-US" sz="1200" dirty="0">
                <a:solidFill>
                  <a:srgbClr val="FF9E64"/>
                </a:solidFill>
                <a:latin typeface="IBM Plex Mono" pitchFamily="49" charset="0"/>
                <a:ea typeface="IBM Plex Mono" pitchFamily="49" charset="-122"/>
                <a:cs typeface="IBM Plex Mono" pitchFamily="49" charset="-120"/>
              </a:rPr>
              <a:t>&lt;/div&gt;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&lt;div&gt;</a:t>
            </a:r>
            <a:r>
              <a:rPr lang="en-US" sz="1200" dirty="0">
                <a:solidFill>
                  <a:srgbClr val="E6EDF3"/>
                </a:solidFill>
                <a:latin typeface="IBM Plex Mono" pitchFamily="49" charset="0"/>
                <a:ea typeface="IBM Plex Mono" pitchFamily="49" charset="-122"/>
                <a:cs typeface="IBM Plex Mono" pitchFamily="49" charset="-120"/>
              </a:rPr>
              <a:t>Semantic tags help…</a:t>
            </a:r>
            <a:r>
              <a:rPr lang="en-US" sz="1200" dirty="0">
                <a:solidFill>
                  <a:srgbClr val="FF9E64"/>
                </a:solidFill>
                <a:latin typeface="IBM Plex Mono" pitchFamily="49" charset="0"/>
                <a:ea typeface="IBM Plex Mono" pitchFamily="49" charset="-122"/>
                <a:cs typeface="IBM Plex Mono" pitchFamily="49" charset="-120"/>
              </a:rPr>
              <a:t>&lt;/div&gt;</a:t>
            </a:r>
            <a:endParaRPr lang="en-US" sz="1200" dirty="0"/>
          </a:p>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&lt;/div&gt;</a:t>
            </a:r>
            <a:endParaRPr lang="en-US" sz="1200" dirty="0"/>
          </a:p>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&lt;div</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class</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"side"</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Popular posts…</a:t>
            </a:r>
            <a:r>
              <a:rPr lang="en-US" sz="1200" dirty="0">
                <a:solidFill>
                  <a:srgbClr val="FF9E64"/>
                </a:solidFill>
                <a:latin typeface="IBM Plex Mono" pitchFamily="49" charset="0"/>
                <a:ea typeface="IBM Plex Mono" pitchFamily="49" charset="-122"/>
                <a:cs typeface="IBM Plex Mono" pitchFamily="49" charset="-120"/>
              </a:rPr>
              <a:t>&lt;/div&gt;</a:t>
            </a:r>
            <a:endParaRPr lang="en-US" sz="1200" dirty="0"/>
          </a:p>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&lt;div</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class</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"bottom"</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 2026 Tech Blog</a:t>
            </a:r>
            <a:r>
              <a:rPr lang="en-US" sz="1200" dirty="0">
                <a:solidFill>
                  <a:srgbClr val="FF9E64"/>
                </a:solidFill>
                <a:latin typeface="IBM Plex Mono" pitchFamily="49" charset="0"/>
                <a:ea typeface="IBM Plex Mono" pitchFamily="49" charset="-122"/>
                <a:cs typeface="IBM Plex Mono" pitchFamily="49" charset="-120"/>
              </a:rPr>
              <a:t>&lt;/div&gt;</a:t>
            </a:r>
            <a:endParaRPr lang="en-US" sz="1200" dirty="0"/>
          </a:p>
        </p:txBody>
      </p:sp>
      <p:sp>
        <p:nvSpPr>
          <p:cNvPr id="5" name="Text 3"/>
          <p:cNvSpPr/>
          <p:nvPr/>
        </p:nvSpPr>
        <p:spPr>
          <a:xfrm>
            <a:off x="6604000" y="1930301"/>
            <a:ext cx="4918456"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1.</a:t>
            </a:r>
            <a:r>
              <a:rPr lang="en-US" sz="1350" dirty="0">
                <a:solidFill>
                  <a:srgbClr val="1F2A37"/>
                </a:solidFill>
                <a:latin typeface="IBM Plex Sans" pitchFamily="34" charset="0"/>
                <a:ea typeface="IBM Plex Sans" pitchFamily="34" charset="-122"/>
                <a:cs typeface="IBM Plex Sans" pitchFamily="34" charset="-120"/>
              </a:rPr>
              <a:t> Replace each div with the right element.</a:t>
            </a:r>
            <a:endParaRPr lang="en-US" sz="1350" dirty="0"/>
          </a:p>
        </p:txBody>
      </p:sp>
      <p:sp>
        <p:nvSpPr>
          <p:cNvPr id="6" name="Text 4"/>
          <p:cNvSpPr/>
          <p:nvPr/>
        </p:nvSpPr>
        <p:spPr>
          <a:xfrm>
            <a:off x="6604000" y="2259211"/>
            <a:ext cx="4918456"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2.</a:t>
            </a:r>
            <a:r>
              <a:rPr lang="en-US" sz="1350" dirty="0">
                <a:solidFill>
                  <a:srgbClr val="1F2A37"/>
                </a:solidFill>
                <a:latin typeface="IBM Plex Sans" pitchFamily="34" charset="0"/>
                <a:ea typeface="IBM Plex Sans" pitchFamily="34" charset="-122"/>
                <a:cs typeface="IBM Plex Sans" pitchFamily="34" charset="-120"/>
              </a:rPr>
              <a:t> Turn the links into a proper nav list with a elements.</a:t>
            </a:r>
            <a:endParaRPr lang="en-US" sz="1350" dirty="0"/>
          </a:p>
        </p:txBody>
      </p:sp>
      <p:sp>
        <p:nvSpPr>
          <p:cNvPr id="7" name="Text 5"/>
          <p:cNvSpPr/>
          <p:nvPr/>
        </p:nvSpPr>
        <p:spPr>
          <a:xfrm>
            <a:off x="6604000" y="2588121"/>
            <a:ext cx="4918456"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3.</a:t>
            </a:r>
            <a:r>
              <a:rPr lang="en-US" sz="1350" dirty="0">
                <a:solidFill>
                  <a:srgbClr val="1F2A37"/>
                </a:solidFill>
                <a:latin typeface="IBM Plex Sans" pitchFamily="34" charset="0"/>
                <a:ea typeface="IBM Plex Sans" pitchFamily="34" charset="-122"/>
                <a:cs typeface="IBM Plex Sans" pitchFamily="34" charset="-120"/>
              </a:rPr>
              <a:t> Use h1 / h2, a time element and p where they belong.</a:t>
            </a:r>
            <a:endParaRPr lang="en-US" sz="1350" dirty="0"/>
          </a:p>
        </p:txBody>
      </p:sp>
      <p:sp>
        <p:nvSpPr>
          <p:cNvPr id="8" name="Text 6"/>
          <p:cNvSpPr/>
          <p:nvPr/>
        </p:nvSpPr>
        <p:spPr>
          <a:xfrm>
            <a:off x="6604000" y="2917031"/>
            <a:ext cx="4918456" cy="50542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4.</a:t>
            </a:r>
            <a:r>
              <a:rPr lang="en-US" sz="1350" dirty="0">
                <a:solidFill>
                  <a:srgbClr val="1F2A37"/>
                </a:solidFill>
                <a:latin typeface="IBM Plex Sans" pitchFamily="34" charset="0"/>
                <a:ea typeface="IBM Plex Sans" pitchFamily="34" charset="-122"/>
                <a:cs typeface="IBM Plex Sans" pitchFamily="34" charset="-120"/>
              </a:rPr>
              <a:t> Add main. Validate. Then apply the same skeleton to your own index.html.</a:t>
            </a:r>
            <a:endParaRPr lang="en-US" sz="135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9E64"/>
                </a:solidFill>
                <a:latin typeface="IBM Plex Sans" pitchFamily="34" charset="0"/>
                <a:ea typeface="IBM Plex Sans" pitchFamily="34" charset="-122"/>
                <a:cs typeface="IBM Plex Sans" pitchFamily="34" charset="-120"/>
              </a:rPr>
              <a:t>QUICK CHECK · 5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F0"/>
                </a:solidFill>
                <a:latin typeface="IBM Plex Sans" pitchFamily="34" charset="0"/>
                <a:ea typeface="IBM Plex Sans" pitchFamily="34" charset="-122"/>
                <a:cs typeface="IBM Plex Sans" pitchFamily="34" charset="-120"/>
              </a:rPr>
              <a:t>Five questions — answer on paper</a:t>
            </a:r>
            <a:endParaRPr lang="en-US" sz="3200" dirty="0"/>
          </a:p>
        </p:txBody>
      </p:sp>
      <p:sp>
        <p:nvSpPr>
          <p:cNvPr id="4" name="Text 2"/>
          <p:cNvSpPr/>
          <p:nvPr/>
        </p:nvSpPr>
        <p:spPr>
          <a:xfrm>
            <a:off x="812800" y="19811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1.</a:t>
            </a:r>
            <a:r>
              <a:rPr lang="en-US" sz="1500" dirty="0">
                <a:solidFill>
                  <a:srgbClr val="F7F5F0"/>
                </a:solidFill>
                <a:latin typeface="IBM Plex Sans" pitchFamily="34" charset="0"/>
                <a:ea typeface="IBM Plex Sans" pitchFamily="34" charset="-122"/>
                <a:cs typeface="IBM Plex Sans" pitchFamily="34" charset="-120"/>
              </a:rPr>
              <a:t> Name the element that gives a table its title, and where it must go.</a:t>
            </a:r>
            <a:endParaRPr lang="en-US" sz="1500" dirty="0"/>
          </a:p>
        </p:txBody>
      </p:sp>
      <p:sp>
        <p:nvSpPr>
          <p:cNvPr id="5" name="Text 3"/>
          <p:cNvSpPr/>
          <p:nvPr/>
        </p:nvSpPr>
        <p:spPr>
          <a:xfrm>
            <a:off x="812800" y="23748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2.</a:t>
            </a:r>
            <a:r>
              <a:rPr lang="en-US" sz="1500" dirty="0">
                <a:solidFill>
                  <a:srgbClr val="F7F5F0"/>
                </a:solidFill>
                <a:latin typeface="IBM Plex Sans" pitchFamily="34" charset="0"/>
                <a:ea typeface="IBM Plex Sans" pitchFamily="34" charset="-122"/>
                <a:cs typeface="IBM Plex Sans" pitchFamily="34" charset="-120"/>
              </a:rPr>
              <a:t> A 4-column table: one row has a td with colspan="3". How many more cells in that row?</a:t>
            </a:r>
            <a:endParaRPr lang="en-US" sz="1500" dirty="0"/>
          </a:p>
        </p:txBody>
      </p:sp>
      <p:sp>
        <p:nvSpPr>
          <p:cNvPr id="6" name="Text 4"/>
          <p:cNvSpPr/>
          <p:nvPr/>
        </p:nvSpPr>
        <p:spPr>
          <a:xfrm>
            <a:off x="812800" y="27685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3.</a:t>
            </a:r>
            <a:r>
              <a:rPr lang="en-US" sz="1500" dirty="0">
                <a:solidFill>
                  <a:srgbClr val="F7F5F0"/>
                </a:solidFill>
                <a:latin typeface="IBM Plex Sans" pitchFamily="34" charset="0"/>
                <a:ea typeface="IBM Plex Sans" pitchFamily="34" charset="-122"/>
                <a:cs typeface="IBM Plex Sans" pitchFamily="34" charset="-120"/>
              </a:rPr>
              <a:t> What does scope="row" tell a screen reader?</a:t>
            </a:r>
            <a:endParaRPr lang="en-US" sz="1500" dirty="0"/>
          </a:p>
        </p:txBody>
      </p:sp>
      <p:sp>
        <p:nvSpPr>
          <p:cNvPr id="7" name="Text 5"/>
          <p:cNvSpPr/>
          <p:nvPr/>
        </p:nvSpPr>
        <p:spPr>
          <a:xfrm>
            <a:off x="812800" y="31622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4.</a:t>
            </a:r>
            <a:r>
              <a:rPr lang="en-US" sz="1500" dirty="0">
                <a:solidFill>
                  <a:srgbClr val="F7F5F0"/>
                </a:solidFill>
                <a:latin typeface="IBM Plex Sans" pitchFamily="34" charset="0"/>
                <a:ea typeface="IBM Plex Sans" pitchFamily="34" charset="-122"/>
                <a:cs typeface="IBM Plex Sans" pitchFamily="34" charset="-120"/>
              </a:rPr>
              <a:t> div or span: wrapping one word to colour it red?</a:t>
            </a:r>
            <a:endParaRPr lang="en-US" sz="1500" dirty="0"/>
          </a:p>
        </p:txBody>
      </p:sp>
      <p:sp>
        <p:nvSpPr>
          <p:cNvPr id="8" name="Text 6"/>
          <p:cNvSpPr/>
          <p:nvPr/>
        </p:nvSpPr>
        <p:spPr>
          <a:xfrm>
            <a:off x="812800" y="35559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5.</a:t>
            </a:r>
            <a:r>
              <a:rPr lang="en-US" sz="1500" dirty="0">
                <a:solidFill>
                  <a:srgbClr val="F7F5F0"/>
                </a:solidFill>
                <a:latin typeface="IBM Plex Sans" pitchFamily="34" charset="0"/>
                <a:ea typeface="IBM Plex Sans" pitchFamily="34" charset="-122"/>
                <a:cs typeface="IBM Plex Sans" pitchFamily="34" charset="-120"/>
              </a:rPr>
              <a:t> article or section: one customer review on a product page?</a:t>
            </a:r>
            <a:endParaRPr lang="en-US" sz="15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3"/>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WRAP-UP</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Key takeaways</a:t>
            </a:r>
            <a:endParaRPr lang="en-US" sz="3200" dirty="0"/>
          </a:p>
        </p:txBody>
      </p:sp>
      <p:sp>
        <p:nvSpPr>
          <p:cNvPr id="4" name="Shape 2"/>
          <p:cNvSpPr/>
          <p:nvPr/>
        </p:nvSpPr>
        <p:spPr>
          <a:xfrm>
            <a:off x="831850" y="1981101"/>
            <a:ext cx="0" cy="317500"/>
          </a:xfrm>
          <a:prstGeom prst="line">
            <a:avLst/>
          </a:prstGeom>
          <a:noFill/>
          <a:ln w="38100">
            <a:solidFill>
              <a:srgbClr val="C2410C"/>
            </a:solidFill>
            <a:prstDash val="solid"/>
          </a:ln>
        </p:spPr>
      </p:sp>
      <p:sp>
        <p:nvSpPr>
          <p:cNvPr id="5" name="Text 3"/>
          <p:cNvSpPr/>
          <p:nvPr/>
        </p:nvSpPr>
        <p:spPr>
          <a:xfrm>
            <a:off x="1003300" y="2006501"/>
            <a:ext cx="508850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Tables are for </a:t>
            </a:r>
            <a:r>
              <a:rPr lang="en-US" sz="1500" b="1" dirty="0">
                <a:solidFill>
                  <a:srgbClr val="1F2A37"/>
                </a:solidFill>
                <a:latin typeface="IBM Plex Sans" pitchFamily="34" charset="0"/>
                <a:ea typeface="IBM Plex Sans" pitchFamily="34" charset="-122"/>
                <a:cs typeface="IBM Plex Sans" pitchFamily="34" charset="-120"/>
              </a:rPr>
              <a:t>tabular data</a:t>
            </a:r>
            <a:r>
              <a:rPr lang="en-US" sz="1500" dirty="0">
                <a:solidFill>
                  <a:srgbClr val="1F2A37"/>
                </a:solidFill>
                <a:latin typeface="IBM Plex Sans" pitchFamily="34" charset="0"/>
                <a:ea typeface="IBM Plex Sans" pitchFamily="34" charset="-122"/>
                <a:cs typeface="IBM Plex Sans" pitchFamily="34" charset="-120"/>
              </a:rPr>
              <a:t>; layout belongs to CSS.</a:t>
            </a:r>
            <a:endParaRPr lang="en-US" sz="1500" dirty="0"/>
          </a:p>
        </p:txBody>
      </p:sp>
      <p:sp>
        <p:nvSpPr>
          <p:cNvPr id="6" name="Shape 4"/>
          <p:cNvSpPr/>
          <p:nvPr/>
        </p:nvSpPr>
        <p:spPr>
          <a:xfrm>
            <a:off x="6267450" y="1981101"/>
            <a:ext cx="0" cy="317500"/>
          </a:xfrm>
          <a:prstGeom prst="line">
            <a:avLst/>
          </a:prstGeom>
          <a:noFill/>
          <a:ln w="38100">
            <a:solidFill>
              <a:srgbClr val="C2410C"/>
            </a:solidFill>
            <a:prstDash val="solid"/>
          </a:ln>
        </p:spPr>
      </p:sp>
      <p:sp>
        <p:nvSpPr>
          <p:cNvPr id="7" name="Text 5"/>
          <p:cNvSpPr/>
          <p:nvPr/>
        </p:nvSpPr>
        <p:spPr>
          <a:xfrm>
            <a:off x="6438900" y="2006501"/>
            <a:ext cx="508850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table › caption, thead, tbody, tfoot › tr › th / td.</a:t>
            </a:r>
            <a:endParaRPr lang="en-US" sz="1500" dirty="0"/>
          </a:p>
        </p:txBody>
      </p:sp>
      <p:sp>
        <p:nvSpPr>
          <p:cNvPr id="8" name="Shape 6"/>
          <p:cNvSpPr/>
          <p:nvPr/>
        </p:nvSpPr>
        <p:spPr>
          <a:xfrm>
            <a:off x="831850" y="2425601"/>
            <a:ext cx="0" cy="584200"/>
          </a:xfrm>
          <a:prstGeom prst="line">
            <a:avLst/>
          </a:prstGeom>
          <a:noFill/>
          <a:ln w="38100">
            <a:solidFill>
              <a:srgbClr val="C2410C"/>
            </a:solidFill>
            <a:prstDash val="solid"/>
          </a:ln>
        </p:spPr>
      </p:sp>
      <p:sp>
        <p:nvSpPr>
          <p:cNvPr id="9" name="Text 7"/>
          <p:cNvSpPr/>
          <p:nvPr/>
        </p:nvSpPr>
        <p:spPr>
          <a:xfrm>
            <a:off x="1003300" y="24510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colspan / rowspan</a:t>
            </a:r>
            <a:r>
              <a:rPr lang="en-US" sz="1500" dirty="0">
                <a:solidFill>
                  <a:srgbClr val="1F2A37"/>
                </a:solidFill>
                <a:latin typeface="IBM Plex Sans" pitchFamily="34" charset="0"/>
                <a:ea typeface="IBM Plex Sans" pitchFamily="34" charset="-122"/>
                <a:cs typeface="IBM Plex Sans" pitchFamily="34" charset="-120"/>
              </a:rPr>
              <a:t> merge cells — delete the cells they cover.</a:t>
            </a:r>
            <a:endParaRPr lang="en-US" sz="1500" dirty="0"/>
          </a:p>
        </p:txBody>
      </p:sp>
      <p:sp>
        <p:nvSpPr>
          <p:cNvPr id="10" name="Shape 8"/>
          <p:cNvSpPr/>
          <p:nvPr/>
        </p:nvSpPr>
        <p:spPr>
          <a:xfrm>
            <a:off x="6267450" y="2425601"/>
            <a:ext cx="0" cy="584200"/>
          </a:xfrm>
          <a:prstGeom prst="line">
            <a:avLst/>
          </a:prstGeom>
          <a:noFill/>
          <a:ln w="38100">
            <a:solidFill>
              <a:srgbClr val="C2410C"/>
            </a:solidFill>
            <a:prstDash val="solid"/>
          </a:ln>
        </p:spPr>
      </p:sp>
      <p:sp>
        <p:nvSpPr>
          <p:cNvPr id="11" name="Text 9"/>
          <p:cNvSpPr/>
          <p:nvPr/>
        </p:nvSpPr>
        <p:spPr>
          <a:xfrm>
            <a:off x="6438900" y="24510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th + </a:t>
            </a:r>
            <a:r>
              <a:rPr lang="en-US" sz="1500" b="1" dirty="0">
                <a:solidFill>
                  <a:srgbClr val="1F2A37"/>
                </a:solidFill>
                <a:latin typeface="IBM Plex Sans" pitchFamily="34" charset="0"/>
                <a:ea typeface="IBM Plex Sans" pitchFamily="34" charset="-122"/>
                <a:cs typeface="IBM Plex Sans" pitchFamily="34" charset="-120"/>
              </a:rPr>
              <a:t>scope</a:t>
            </a:r>
            <a:r>
              <a:rPr lang="en-US" sz="1500" dirty="0">
                <a:solidFill>
                  <a:srgbClr val="1F2A37"/>
                </a:solidFill>
                <a:latin typeface="IBM Plex Sans" pitchFamily="34" charset="0"/>
                <a:ea typeface="IBM Plex Sans" pitchFamily="34" charset="-122"/>
                <a:cs typeface="IBM Plex Sans" pitchFamily="34" charset="-120"/>
              </a:rPr>
              <a:t> + caption make tables accessible.</a:t>
            </a:r>
            <a:endParaRPr lang="en-US" sz="1500" dirty="0"/>
          </a:p>
        </p:txBody>
      </p:sp>
      <p:sp>
        <p:nvSpPr>
          <p:cNvPr id="12" name="Shape 10"/>
          <p:cNvSpPr/>
          <p:nvPr/>
        </p:nvSpPr>
        <p:spPr>
          <a:xfrm>
            <a:off x="831850" y="3136801"/>
            <a:ext cx="0" cy="584200"/>
          </a:xfrm>
          <a:prstGeom prst="line">
            <a:avLst/>
          </a:prstGeom>
          <a:noFill/>
          <a:ln w="38100">
            <a:solidFill>
              <a:srgbClr val="C2410C"/>
            </a:solidFill>
            <a:prstDash val="solid"/>
          </a:ln>
        </p:spPr>
      </p:sp>
      <p:sp>
        <p:nvSpPr>
          <p:cNvPr id="13" name="Text 11"/>
          <p:cNvSpPr/>
          <p:nvPr/>
        </p:nvSpPr>
        <p:spPr>
          <a:xfrm>
            <a:off x="1003300" y="31622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div</a:t>
            </a:r>
            <a:r>
              <a:rPr lang="en-US" sz="1500" dirty="0">
                <a:solidFill>
                  <a:srgbClr val="1F2A37"/>
                </a:solidFill>
                <a:latin typeface="IBM Plex Sans" pitchFamily="34" charset="0"/>
                <a:ea typeface="IBM Plex Sans" pitchFamily="34" charset="-122"/>
                <a:cs typeface="IBM Plex Sans" pitchFamily="34" charset="-120"/>
              </a:rPr>
              <a:t> (block) and </a:t>
            </a:r>
            <a:r>
              <a:rPr lang="en-US" sz="1500" b="1" dirty="0">
                <a:solidFill>
                  <a:srgbClr val="1F2A37"/>
                </a:solidFill>
                <a:latin typeface="IBM Plex Sans" pitchFamily="34" charset="0"/>
                <a:ea typeface="IBM Plex Sans" pitchFamily="34" charset="-122"/>
                <a:cs typeface="IBM Plex Sans" pitchFamily="34" charset="-120"/>
              </a:rPr>
              <a:t>span</a:t>
            </a:r>
            <a:r>
              <a:rPr lang="en-US" sz="1500" dirty="0">
                <a:solidFill>
                  <a:srgbClr val="1F2A37"/>
                </a:solidFill>
                <a:latin typeface="IBM Plex Sans" pitchFamily="34" charset="0"/>
                <a:ea typeface="IBM Plex Sans" pitchFamily="34" charset="-122"/>
                <a:cs typeface="IBM Plex Sans" pitchFamily="34" charset="-120"/>
              </a:rPr>
              <a:t> (inline) carry no meaning; id is unique, class is reusable.</a:t>
            </a:r>
            <a:endParaRPr lang="en-US" sz="1500" dirty="0"/>
          </a:p>
        </p:txBody>
      </p:sp>
      <p:sp>
        <p:nvSpPr>
          <p:cNvPr id="14" name="Shape 12"/>
          <p:cNvSpPr/>
          <p:nvPr/>
        </p:nvSpPr>
        <p:spPr>
          <a:xfrm>
            <a:off x="6267450" y="3136801"/>
            <a:ext cx="0" cy="584200"/>
          </a:xfrm>
          <a:prstGeom prst="line">
            <a:avLst/>
          </a:prstGeom>
          <a:noFill/>
          <a:ln w="38100">
            <a:solidFill>
              <a:srgbClr val="C2410C"/>
            </a:solidFill>
            <a:prstDash val="solid"/>
          </a:ln>
        </p:spPr>
      </p:sp>
      <p:sp>
        <p:nvSpPr>
          <p:cNvPr id="15" name="Text 13"/>
          <p:cNvSpPr/>
          <p:nvPr/>
        </p:nvSpPr>
        <p:spPr>
          <a:xfrm>
            <a:off x="6438900" y="31622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header, nav, </a:t>
            </a:r>
            <a:r>
              <a:rPr lang="en-US" sz="1500" b="1" dirty="0">
                <a:solidFill>
                  <a:srgbClr val="1F2A37"/>
                </a:solidFill>
                <a:latin typeface="IBM Plex Sans" pitchFamily="34" charset="0"/>
                <a:ea typeface="IBM Plex Sans" pitchFamily="34" charset="-122"/>
                <a:cs typeface="IBM Plex Sans" pitchFamily="34" charset="-120"/>
              </a:rPr>
              <a:t>main</a:t>
            </a:r>
            <a:r>
              <a:rPr lang="en-US" sz="1500" dirty="0">
                <a:solidFill>
                  <a:srgbClr val="1F2A37"/>
                </a:solidFill>
                <a:latin typeface="IBM Plex Sans" pitchFamily="34" charset="0"/>
                <a:ea typeface="IBM Plex Sans" pitchFamily="34" charset="-122"/>
                <a:cs typeface="IBM Plex Sans" pitchFamily="34" charset="-120"/>
              </a:rPr>
              <a:t>, section, article, aside, footer give pages landmarks.</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BEFORE NEXT LECTURE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Homework &amp; preparation</a:t>
            </a:r>
            <a:endParaRPr lang="en-US" sz="3200" dirty="0"/>
          </a:p>
        </p:txBody>
      </p:sp>
      <p:sp>
        <p:nvSpPr>
          <p:cNvPr id="4" name="Shape 2"/>
          <p:cNvSpPr/>
          <p:nvPr/>
        </p:nvSpPr>
        <p:spPr>
          <a:xfrm>
            <a:off x="815975" y="1984276"/>
            <a:ext cx="3418384" cy="1857772"/>
          </a:xfrm>
          <a:prstGeom prst="roundRect">
            <a:avLst>
              <a:gd name="adj" fmla="val 5298"/>
            </a:avLst>
          </a:prstGeom>
          <a:solidFill>
            <a:srgbClr val="FFFDF9"/>
          </a:solidFill>
          <a:ln w="6350">
            <a:solidFill>
              <a:srgbClr val="E4E0D8"/>
            </a:solidFill>
            <a:prstDash val="solid"/>
          </a:ln>
        </p:spPr>
      </p:sp>
      <p:pic>
        <p:nvPicPr>
          <p:cNvPr id="5" name="Image 0" descr="Book">    </p:cNvPr>
          <p:cNvPicPr>
            <a:picLocks noChangeAspect="1"/>
          </p:cNvPicPr>
          <p:nvPr/>
        </p:nvPicPr>
        <p:blipFill>
          <a:blip r:embed="rId1"/>
          <a:srcRect l="0" r="0" t="0" b="0"/>
          <a:stretch/>
        </p:blipFill>
        <p:spPr>
          <a:xfrm>
            <a:off x="1022350" y="2190651"/>
            <a:ext cx="304800" cy="304800"/>
          </a:xfrm>
          <a:prstGeom prst="rect">
            <a:avLst/>
          </a:prstGeom>
        </p:spPr>
      </p:pic>
      <p:sp>
        <p:nvSpPr>
          <p:cNvPr id="6" name="Text 3"/>
          <p:cNvSpPr/>
          <p:nvPr/>
        </p:nvSpPr>
        <p:spPr>
          <a:xfrm>
            <a:off x="1022350" y="2597051"/>
            <a:ext cx="30958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Read</a:t>
            </a:r>
            <a:endParaRPr lang="en-US" sz="1600" dirty="0"/>
          </a:p>
        </p:txBody>
      </p:sp>
      <p:sp>
        <p:nvSpPr>
          <p:cNvPr id="7" name="Text 4"/>
          <p:cNvSpPr/>
          <p:nvPr/>
        </p:nvSpPr>
        <p:spPr>
          <a:xfrm>
            <a:off x="1022350" y="2942431"/>
            <a:ext cx="3095803" cy="718641"/>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1F2A37"/>
                </a:solidFill>
                <a:latin typeface="IBM Plex Sans" pitchFamily="34" charset="0"/>
                <a:ea typeface="IBM Plex Sans" pitchFamily="34" charset="-122"/>
                <a:cs typeface="IBM Plex Sans" pitchFamily="34" charset="-120"/>
              </a:rPr>
              <a:t>Learning Web Design</a:t>
            </a:r>
            <a:r>
              <a:rPr lang="en-US" sz="1300" dirty="0">
                <a:solidFill>
                  <a:srgbClr val="1F2A37"/>
                </a:solidFill>
                <a:latin typeface="IBM Plex Sans" pitchFamily="34" charset="0"/>
                <a:ea typeface="IBM Plex Sans" pitchFamily="34" charset="-122"/>
                <a:cs typeface="IBM Plex Sans" pitchFamily="34" charset="-120"/>
              </a:rPr>
              <a:t>, Ch. 8 Table Markup and Ch. 5 Organizing Page Content, Generic Elements and ARIA</a:t>
            </a:r>
            <a:endParaRPr lang="en-US" sz="1300" dirty="0"/>
          </a:p>
        </p:txBody>
      </p:sp>
      <p:sp>
        <p:nvSpPr>
          <p:cNvPr id="8" name="Shape 5"/>
          <p:cNvSpPr/>
          <p:nvPr/>
        </p:nvSpPr>
        <p:spPr>
          <a:xfrm>
            <a:off x="4393109" y="1984276"/>
            <a:ext cx="3418483" cy="1857772"/>
          </a:xfrm>
          <a:prstGeom prst="roundRect">
            <a:avLst>
              <a:gd name="adj" fmla="val 5298"/>
            </a:avLst>
          </a:prstGeom>
          <a:solidFill>
            <a:srgbClr val="FFFDF9"/>
          </a:solidFill>
          <a:ln w="6350">
            <a:solidFill>
              <a:srgbClr val="E4E0D8"/>
            </a:solidFill>
            <a:prstDash val="solid"/>
          </a:ln>
        </p:spPr>
      </p:sp>
      <p:pic>
        <p:nvPicPr>
          <p:cNvPr id="9" name="Image 1" descr="Wrench">    </p:cNvPr>
          <p:cNvPicPr>
            <a:picLocks noChangeAspect="1"/>
          </p:cNvPicPr>
          <p:nvPr/>
        </p:nvPicPr>
        <p:blipFill>
          <a:blip r:embed="rId2"/>
          <a:srcRect l="0" r="0" t="0" b="0"/>
          <a:stretch/>
        </p:blipFill>
        <p:spPr>
          <a:xfrm>
            <a:off x="4599484" y="2190651"/>
            <a:ext cx="304800" cy="304800"/>
          </a:xfrm>
          <a:prstGeom prst="rect">
            <a:avLst/>
          </a:prstGeom>
        </p:spPr>
      </p:pic>
      <p:sp>
        <p:nvSpPr>
          <p:cNvPr id="10" name="Text 6"/>
          <p:cNvSpPr/>
          <p:nvPr/>
        </p:nvSpPr>
        <p:spPr>
          <a:xfrm>
            <a:off x="4599484" y="2597051"/>
            <a:ext cx="309590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Practise</a:t>
            </a:r>
            <a:endParaRPr lang="en-US" sz="1600" dirty="0"/>
          </a:p>
        </p:txBody>
      </p:sp>
      <p:sp>
        <p:nvSpPr>
          <p:cNvPr id="11" name="Text 7"/>
          <p:cNvSpPr/>
          <p:nvPr/>
        </p:nvSpPr>
        <p:spPr>
          <a:xfrm>
            <a:off x="4599484" y="2942431"/>
            <a:ext cx="3095905"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Finish Labs 4A and 4B. Convert every page of your mini-site to the semantic skeleton.</a:t>
            </a:r>
            <a:endParaRPr lang="en-US" sz="1300" dirty="0"/>
          </a:p>
        </p:txBody>
      </p:sp>
      <p:sp>
        <p:nvSpPr>
          <p:cNvPr id="12" name="Shape 8"/>
          <p:cNvSpPr/>
          <p:nvPr/>
        </p:nvSpPr>
        <p:spPr>
          <a:xfrm>
            <a:off x="7967166" y="1981101"/>
            <a:ext cx="3412034" cy="1864122"/>
          </a:xfrm>
          <a:prstGeom prst="roundRect">
            <a:avLst>
              <a:gd name="adj" fmla="val 5450"/>
            </a:avLst>
          </a:prstGeom>
          <a:solidFill>
            <a:srgbClr val="16202E"/>
          </a:solidFill>
          <a:ln/>
        </p:spPr>
      </p:sp>
      <p:pic>
        <p:nvPicPr>
          <p:cNvPr id="13" name="Image 2" descr="Lightbulb">    </p:cNvPr>
          <p:cNvPicPr>
            <a:picLocks noChangeAspect="1"/>
          </p:cNvPicPr>
          <p:nvPr/>
        </p:nvPicPr>
        <p:blipFill>
          <a:blip r:embed="rId3"/>
          <a:srcRect l="0" r="0" t="0" b="0"/>
          <a:stretch/>
        </p:blipFill>
        <p:spPr>
          <a:xfrm>
            <a:off x="8170366" y="2184301"/>
            <a:ext cx="304800" cy="304800"/>
          </a:xfrm>
          <a:prstGeom prst="rect">
            <a:avLst/>
          </a:prstGeom>
        </p:spPr>
      </p:pic>
      <p:sp>
        <p:nvSpPr>
          <p:cNvPr id="14" name="Text 9"/>
          <p:cNvSpPr/>
          <p:nvPr/>
        </p:nvSpPr>
        <p:spPr>
          <a:xfrm>
            <a:off x="8170366" y="2590701"/>
            <a:ext cx="30958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Next: Lecture 5</a:t>
            </a:r>
            <a:endParaRPr lang="en-US" sz="1600" dirty="0"/>
          </a:p>
        </p:txBody>
      </p:sp>
      <p:sp>
        <p:nvSpPr>
          <p:cNvPr id="15" name="Text 10"/>
          <p:cNvSpPr/>
          <p:nvPr/>
        </p:nvSpPr>
        <p:spPr>
          <a:xfrm>
            <a:off x="8170366" y="2936081"/>
            <a:ext cx="309580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0"/>
                </a:solidFill>
                <a:latin typeface="IBM Plex Sans" pitchFamily="34" charset="0"/>
                <a:ea typeface="IBM Plex Sans" pitchFamily="34" charset="-122"/>
                <a:cs typeface="IBM Plex Sans" pitchFamily="34" charset="-120"/>
              </a:rPr>
              <a:t>Images, audio, video, iframes and the head: SEO and sharing</a:t>
            </a:r>
            <a:endParaRPr lang="en-US" sz="13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4 — Tables, div/span &amp; Semantic Layout</a:t>
            </a:r>
            <a:endParaRPr lang="en-US" sz="1200" dirty="0"/>
          </a:p>
        </p:txBody>
      </p:sp>
    </p:spTree>
  </p:cSld>
  <p:clrMapOvr>
    <a:masterClrMapping/>
  </p:clrMapOvr>
</p:sld>
</file>

<file path=ppt/theme/theme1.xml><?xml version="1.0" encoding="utf-8"?>
<a:theme xmlns:a="http://schemas.openxmlformats.org/drawingml/2006/main" name="HTML W2·L4 – Tables, div/span &amp; Semantic Layout">
  <a:themeElements>
    <a:clrScheme name="HTML W2·L4 – Tables, div/span &amp; Semantic Layout">
      <a:dk1>
        <a:srgbClr val="16202E"/>
      </a:dk1>
      <a:lt1>
        <a:srgbClr val="F7F5F0"/>
      </a:lt1>
      <a:dk2>
        <a:srgbClr val="4E555F"/>
      </a:dk2>
      <a:lt2>
        <a:srgbClr val="E1E0DD"/>
      </a:lt2>
      <a:accent1>
        <a:srgbClr val="C2410C"/>
      </a:accent1>
      <a:accent2>
        <a:srgbClr val="1D4ED8"/>
      </a:accent2>
      <a:accent3>
        <a:srgbClr val="FF9E64"/>
      </a:accent3>
      <a:accent4>
        <a:srgbClr val="3F7A1E"/>
      </a:accent4>
      <a:accent5>
        <a:srgbClr val="B42318"/>
      </a:accent5>
      <a:accent6>
        <a:srgbClr val="667085"/>
      </a:accent6>
      <a:hlink>
        <a:srgbClr val="0563C1"/>
      </a:hlink>
      <a:folHlink>
        <a:srgbClr val="954F72"/>
      </a:folHlink>
    </a:clrScheme>
    <a:fontScheme name="HTML W2·L4 – Tables, div/span &amp; Semantic Layou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W2·L4 – Tables, div/span &amp; Semantic Layout</dc:title>
  <dc:subject/>
  <dc:creator/>
  <cp:lastModifiedBy/>
  <cp:revision>1</cp:revision>
  <dcterms:created xsi:type="dcterms:W3CDTF">2026-10-24T07:34:34Z</dcterms:created>
  <dcterms:modified xsi:type="dcterms:W3CDTF">2026-10-24T07:34:34Z</dcterms:modified>
</cp:coreProperties>
</file>