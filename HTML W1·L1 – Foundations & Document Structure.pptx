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students to the HTML module. This is the first of six two-hour lectures (three weeks) that take them from zero to building complete, valid, accessible multi-page sites with forms. Connect to last week: they learned HTTP, URLs, browsers and servers. Today they learn the language of the document the server actually sends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plan so students know a break is coming at about the 55 minute mark. Tell them to have VS Code and Chrome ready for Part B; anyone without a laptop pairs with a neighbour.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Outcomes 01 and 02 support CLO 1 (how web standards shape development). Outcomes 03 and 04 support CLO 2 (building the front end of a web application). Return to this slide at the end and ask students to self-rate each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from Week 2 (HTTP, URL, browser and server). Open any site, press Ctrl+U to show the source, then open DevTools Network tab and click the document request to show the Content-Type: text/html header. Let pairs discuss for two minutes and collect two or three answers. Do not correct yet; the render slide later answers the question properly.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Unpack the acronym word by word. Hypertext: the idea predates the web (Ted Nelson, 1960s) but Tim Berners-Lee made it global. Markup: compare to a teacher marking up an essay with notes in the margin; the notes are not the essay, they describe it. Language: maintained today by WHATWG as the HTML Living Standard. Common exam trap: students write that HTML is a programming language. It is a markup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to about four minutes. The key message for CLO 1 (web standards): HTML evolved from a small set of tags into a standard that separates structure (HTML) from presentation (CSS). In 2019 the W3C and WHATWG agreed that WHATWG maintains the single HTML Living Standard, so there will be no HTML6; features are added continuously. That is why we say HTML5 colloquially but the spec is just 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idea: open a news site, then in DevTools disable CSS (or use a View, No Style option in Firefox). The page is ugly but still readable and usable; that is good HTML doing its job. Map to the course: HTML weeks 3 to 5, CSS and Bootstrap next, then JavaScript before the midterm, then PHP on the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vocabulary precise because students mix up tag and element. A tag is the bit in angle brackets; an element is the whole thing including content. Ask: how many tags in this example? Two. How many elements? One. How many attributes? One. Mention boolean attributes (like required or disabled) that need no value; we meet them in the forms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 void elements for completeness: area, base, col, embed, source, track, wbr. Students often write a closing tag for img or br, which the validator flags as a stray end tag. Note that writing a closing tag on a void element is an error, while omitting the slash is perfectly valid HTML5.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box-inside-a-box analogy: you cannot close the outer box while the inner box is still open. Browsers silently repair bad nesting, but each browser may repair it differently, which is why a page can look fine in Chrome and broken elsewhere. The family vocabulary (parent, child, sibling, ancestor, descendant) returns in CSS selectors and in the JavaScript DOM, so introduce it carefully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slide of the lecture. Have students copy it by hand once, then close their notes and rewrite it from memory; it will appear in Quiz 1. Explain that html has exactly two children, head and body. For Urdu content, lang would be ur and dir would be rtl. Then show the Emmet shortcut that generates this whole skeleton in VS Code, but only after they can write it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in head is displayed in the page body. Show the title appearing in the tab, then search Google for the university and point at the title and description in the result. Charset must appear within the first 1024 bytes of the file. The viewport tag returns in Week 6 (responsive design). We revisit SEO and social sharing meta tags in Lecture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Older HTML 4.01 had three doctypes (Strict, Transitional, Frameset) that pointed to a DTD, a Document Type Definition listing the allowed rules. HTML5 is not based on SGML so it needs no DTD, and the short doctype exists only to trigger standards mode. Quick demo: in DevTools console type document.compatMode. CSS1Compat means standards mode; BackCompat means quirks mode. Remove the doctype, reload and run it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the warm-up question. The parser reads bytes, decodes them using the charset into characters, tokenises tags, creates nodes and links them into the DOM tree. CSS is parsed into the CSSOM; together they form the render tree, then layout and paint happen. Live demo: open the skeleton page, open Elements, and show that it matches this tree. Then deliberately delete a closing tag and show how Elements differs from View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need this mental model before CSS box model in Week 5. Rule of thumb: inline elements can sit inside block elements, not the other way round (except a, which in HTML5 may wrap blocks). Quick demo in DevTools: hover over an h1 and a strong to show the highlighted box width.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conventions are marked in assignments. Explain why index.html matters: web servers like Apache serve it automatically when a folder URL is requested, which connects to last week's web server lecture. File names with spaces become %20 in URLs and Linux servers are case-sensitive, so About.html and about.html are different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the most time on id versus class, because CSS selectors next week depend on it: id is like a CNIC number (unique), class is like a department (many members). An element may have several classes separated by spaces. Also mention tabindex and contenteditable briefly for the curious. Ask: can two elements share id="main"? No, invalid.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a visible 10-minute timer. Walk around and check that laptops have VS Code and Chrome installed; help anyone who needs to install the Live Server extension during the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 plain-text editor works (Notepad, Notepad++, Sublime), but VS Code is the course standard and is also used for PHP and Laravel later. Never use Word: it saves formatting, not plain text. Show File, Open Folder (not Open File) so relative links work later. Right-click index.html and choose Open with Live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follows Chapter 4 of Learning Web Design (Robbins), the Black Goose Bistro exercise. Live-code it in front of the class: type the text first and show that all line breaks disappear (whitespace collapse), then add structure, then elements. For step 5 add a style element in head with body font-family sans-serif and h1 colour, only to show the separation of layers; CSS proper starts in Week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25 minutes. Circulate and check three things on each screen: the doctype is the first line, there is exactly one h1, and the title shows in the browser tab. Students who finish early do the stretch goal or help a neighbour. Typing the skeleton by hand is intentional; it builds memory for the quiz. Suggested marking (lab participation): skeleton 3, content structure 3, comment 1, validation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your own demo page live: delete the closing h1 tag and let students describe the symptom before you explain it. Windows hides known extensions by default; show how to turn on File name extensions in Explorer’s View menu. Encourage students to read browser behaviour as evidence, the same way they read compiler errors in programming courses.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with Validate by Direct Input: paste a page with a nesting mistake and read the error together. Teach students to read line and column numbers. Validation links directly to CLO 1: web standards exist so that one document works across every browser and device. Make a zero-error validator screenshot a requirement for every HTML submission this term.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(b) br. 2 The browser falls back to quirks mode and may render the layout inconsistently. 3 title, inside head. 4 An attribute (name href, value x.html). 5 Close b before p: the p element opens first, b second, so b must close first. Ask students to swap papers and mark each other, then take a show of hands per question to see which concept needs revisiting next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the outcomes slide and ask students to rate themselves from 1 to 3 on each outcome with their fingers. Anything rated 1 by many students is the first warm-up topic next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students that Chapter 4 walks through the same five-step process used in today’s demo, so reading it reinforces the lab. Ask them to bring one news article or recipe printed or saved; we will mark it up in Lecture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8012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6202E"/>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031901"/>
            <a:ext cx="10566400" cy="4013299"/>
          </a:xfrm>
          <a:prstGeom prst="rect">
            <a:avLst/>
          </a:prstGeom>
          <a:noFill/>
          <a:ln/>
        </p:spPr>
        <p:txBody>
          <a:bodyPr wrap="square" lIns="0" tIns="0" rIns="0" bIns="0" rtlCol="0" anchor="t"/>
          <a:lstStyle>
            <a:lvl1pPr algn="l" indent="0" marL="0">
              <a:lnSpc>
                <a:spcPct val="140000"/>
              </a:lnSpc>
              <a:buNone/>
              <a:defRPr lang="en-US" sz="1600" dirty="0">
                <a:solidFill>
                  <a:srgbClr val="16202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80120"/>
            <a:ext cx="10566400" cy="446980"/>
          </a:xfrm>
          <a:prstGeom prst="rect">
            <a:avLst/>
          </a:prstGeom>
          <a:noFill/>
          <a:ln/>
        </p:spPr>
        <p:txBody>
          <a:bodyPr wrap="square" lIns="0" tIns="0" rIns="0" bIns="0" rtlCol="0" anchor="t"/>
          <a:lstStyle>
            <a:lvl1pPr algn="l" indent="0" marL="0">
              <a:lnSpc>
                <a:spcPct val="115000"/>
              </a:lnSpc>
              <a:buNone/>
              <a:defRPr lang="en-US" sz="3200" dirty="0">
                <a:solidFill>
                  <a:srgbClr val="16202E"/>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031901"/>
            <a:ext cx="10566400" cy="4013299"/>
          </a:xfrm>
          <a:prstGeom prst="rect">
            <a:avLst/>
          </a:prstGeom>
          <a:noFill/>
          <a:ln/>
        </p:spPr>
        <p:txBody>
          <a:bodyPr wrap="square" lIns="0" tIns="0" rIns="0" bIns="0" rtlCol="0" anchor="t"/>
          <a:lstStyle>
            <a:lvl1pPr algn="l" indent="0" marL="0">
              <a:lnSpc>
                <a:spcPct val="140000"/>
              </a:lnSpc>
              <a:buNone/>
              <a:defRPr lang="en-US" sz="1600" dirty="0">
                <a:solidFill>
                  <a:srgbClr val="16202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2.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2.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2.xml"/><Relationship Id="rId5"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02E"/>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F9E64"/>
                </a:solidFill>
                <a:latin typeface="IBM Plex Sans" pitchFamily="34" charset="0"/>
                <a:ea typeface="IBM Plex Sans" pitchFamily="34" charset="-122"/>
                <a:cs typeface="IBM Plex Sans" pitchFamily="34" charset="-120"/>
              </a:rPr>
              <a:t>CSC-312 WEB ENGINEERING · HTML MODULE</a:t>
            </a:r>
            <a:endParaRPr lang="en-US" sz="1400" dirty="0"/>
          </a:p>
        </p:txBody>
      </p:sp>
      <p:sp>
        <p:nvSpPr>
          <p:cNvPr id="3" name="Text 1"/>
          <p:cNvSpPr/>
          <p:nvPr/>
        </p:nvSpPr>
        <p:spPr>
          <a:xfrm>
            <a:off x="812800" y="121404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FB0C3"/>
                </a:solidFill>
                <a:latin typeface="IBM Plex Mono" pitchFamily="49" charset="0"/>
                <a:ea typeface="IBM Plex Mono" pitchFamily="49" charset="-122"/>
                <a:cs typeface="IBM Plex Mono" pitchFamily="49" charset="-120"/>
              </a:rPr>
              <a:t>Week 1 · Lecture 1 of 6</a:t>
            </a:r>
            <a:endParaRPr lang="en-US" sz="1600" dirty="0"/>
          </a:p>
        </p:txBody>
      </p:sp>
      <p:sp>
        <p:nvSpPr>
          <p:cNvPr id="4" name="Text 2"/>
          <p:cNvSpPr/>
          <p:nvPr>
            <p:ph type="title"/>
          </p:nvPr>
        </p:nvSpPr>
        <p:spPr>
          <a:xfrm>
            <a:off x="812800" y="258574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7F5F0"/>
                </a:solidFill>
                <a:latin typeface="IBM Plex Sans" pitchFamily="34" charset="0"/>
                <a:ea typeface="IBM Plex Sans" pitchFamily="34" charset="-122"/>
                <a:cs typeface="IBM Plex Sans" pitchFamily="34" charset="-120"/>
              </a:rPr>
              <a:t>HTML Foundations &amp;</a:t>
            </a:r>
            <a:endParaRPr lang="en-US" sz="6000" dirty="0"/>
          </a:p>
          <a:p>
            <a:pPr algn="l" indent="0" marL="0">
              <a:lnSpc>
                <a:spcPts val="6300"/>
              </a:lnSpc>
              <a:buNone/>
            </a:pPr>
            <a:r>
              <a:rPr lang="en-US" sz="6000" b="1" i="0" dirty="0">
                <a:solidFill>
                  <a:srgbClr val="F7F5F0"/>
                </a:solidFill>
                <a:latin typeface="IBM Plex Sans" pitchFamily="34" charset="0"/>
                <a:ea typeface="IBM Plex Sans" pitchFamily="34" charset="-122"/>
                <a:cs typeface="IBM Plex Sans" pitchFamily="34" charset="-120"/>
              </a:rPr>
              <a:t>Document Structure</a:t>
            </a:r>
            <a:endParaRPr lang="en-US" sz="6000" dirty="0"/>
          </a:p>
        </p:txBody>
      </p:sp>
      <p:sp>
        <p:nvSpPr>
          <p:cNvPr id="5" name="Text 3"/>
          <p:cNvSpPr/>
          <p:nvPr/>
        </p:nvSpPr>
        <p:spPr>
          <a:xfrm>
            <a:off x="812800" y="4389140"/>
            <a:ext cx="10883392"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4E0"/>
                </a:solidFill>
                <a:latin typeface="IBM Plex Sans" pitchFamily="34" charset="0"/>
                <a:ea typeface="IBM Plex Sans" pitchFamily="34" charset="-122"/>
                <a:cs typeface="IBM Plex Sans" pitchFamily="34" charset="-120"/>
              </a:rPr>
              <a:t>What HTML is, how a page is built, and how the browser reads it</a:t>
            </a:r>
            <a:endParaRPr lang="en-US" sz="1800" dirty="0"/>
          </a:p>
        </p:txBody>
      </p:sp>
      <p:sp>
        <p:nvSpPr>
          <p:cNvPr id="6" name="Text 4"/>
          <p:cNvSpPr/>
          <p:nvPr/>
        </p:nvSpPr>
        <p:spPr>
          <a:xfrm>
            <a:off x="812800" y="5796359"/>
            <a:ext cx="501360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4E0"/>
                </a:solidFill>
                <a:latin typeface="IBM Plex Sans" pitchFamily="34" charset="0"/>
                <a:ea typeface="IBM Plex Sans" pitchFamily="34" charset="-122"/>
                <a:cs typeface="IBM Plex Sans" pitchFamily="34" charset="-120"/>
              </a:rPr>
              <a:t>Dr. Faheem Shaukat · BSCS 6th Semester · Fall 2026</a:t>
            </a:r>
            <a:endParaRPr lang="en-US" sz="1400" dirty="0"/>
          </a:p>
        </p:txBody>
      </p:sp>
      <p:sp>
        <p:nvSpPr>
          <p:cNvPr id="7" name="Text 5"/>
          <p:cNvSpPr/>
          <p:nvPr/>
        </p:nvSpPr>
        <p:spPr>
          <a:xfrm>
            <a:off x="9458960" y="5796359"/>
            <a:ext cx="1920240" cy="274241"/>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FF9E64"/>
                </a:solidFill>
                <a:latin typeface="IBM Plex Mono" pitchFamily="49" charset="0"/>
                <a:ea typeface="IBM Plex Mono" pitchFamily="49" charset="-122"/>
                <a:cs typeface="IBM Plex Mono" pitchFamily="49" charset="-120"/>
              </a:rPr>
              <a:t>&lt;!DOCTYPE html&gt;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TODAY’S 2-HOUR PLAN</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Agenda</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93801"/>
          <a:ext cx="10553700" cy="2743200"/>
        </p:xfrm>
        <a:graphic>
          <a:graphicData uri="http://schemas.openxmlformats.org/drawingml/2006/table">
            <a:tbl>
              <a:tblPr/>
              <a:tblGrid>
                <a:gridCol w="1899666"/>
                <a:gridCol w="3166110"/>
                <a:gridCol w="5487924"/>
              </a:tblGrid>
              <a:tr h="412750">
                <a:tc>
                  <a:txBody>
                    <a:bodyPr/>
                    <a:lstStyle/>
                    <a:p>
                      <a:pPr indent="0" marL="0">
                        <a:lnSpc>
                          <a:spcPts val="2100"/>
                        </a:lnSpc>
                        <a:buNone/>
                      </a:pPr>
                      <a:r>
                        <a:rPr lang="en-US" sz="1500" b="1" dirty="0">
                          <a:solidFill>
                            <a:srgbClr val="1F2A37"/>
                          </a:solidFill>
                          <a:latin typeface="IBM Plex Sans" pitchFamily="34" charset="0"/>
                          <a:ea typeface="IBM Plex Sans" pitchFamily="34" charset="-122"/>
                          <a:cs typeface="IBM Plex Sans" pitchFamily="34" charset="-120"/>
                        </a:rPr>
                        <a:t>Time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2100"/>
                        </a:lnSpc>
                        <a:buNone/>
                      </a:pPr>
                      <a:r>
                        <a:rPr lang="en-US" sz="1500" b="1" dirty="0">
                          <a:solidFill>
                            <a:srgbClr val="1F2A37"/>
                          </a:solidFill>
                          <a:latin typeface="IBM Plex Sans" pitchFamily="34" charset="0"/>
                          <a:ea typeface="IBM Plex Sans" pitchFamily="34" charset="-122"/>
                          <a:cs typeface="IBM Plex Sans" pitchFamily="34" charset="-120"/>
                        </a:rPr>
                        <a:t>Segment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2100"/>
                        </a:lnSpc>
                        <a:buNone/>
                      </a:pPr>
                      <a:r>
                        <a:rPr lang="en-US" sz="1500" b="1" dirty="0">
                          <a:solidFill>
                            <a:srgbClr val="1F2A37"/>
                          </a:solidFill>
                          <a:latin typeface="IBM Plex Sans" pitchFamily="34" charset="0"/>
                          <a:ea typeface="IBM Plex Sans" pitchFamily="34" charset="-122"/>
                          <a:cs typeface="IBM Plex Sans" pitchFamily="34" charset="-120"/>
                        </a:rPr>
                        <a:t>What we do</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r>
              <a:tr h="412750">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0:00 – 0:10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Warm-up</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From HTTP response to HTML document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679450">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0:10 – 0:55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Part A · Theory</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What HTML is, history, elements, document structure, parsing</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0:55 – 1:05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9B9AE"/>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9B9AE"/>
                      </a:solidFill>
                      <a:prstDash val="solid"/>
                      <a:round/>
                      <a:headEnd type="none" w="med" len="med"/>
                      <a:tailEnd type="none" w="med" len="med"/>
                    </a:lnB>
                    <a:solidFill>
                      <a:srgbClr val="FCE7DA"/>
                    </a:solidFill>
                  </a:tcPr>
                </a:tc>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Break</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9B9AE"/>
                      </a:solidFill>
                      <a:prstDash val="solid"/>
                      <a:round/>
                      <a:headEnd type="none" w="med" len="med"/>
                      <a:tailEnd type="none" w="med" len="med"/>
                    </a:lnL>
                    <a:lnR w="12700" cap="flat" cmpd="sng" algn="ctr">
                      <a:solidFill>
                        <a:srgbClr val="C9B9AE"/>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9B9AE"/>
                      </a:solidFill>
                      <a:prstDash val="solid"/>
                      <a:round/>
                      <a:headEnd type="none" w="med" len="med"/>
                      <a:tailEnd type="none" w="med" len="med"/>
                    </a:lnB>
                    <a:solidFill>
                      <a:srgbClr val="FCE7DA"/>
                    </a:solidFill>
                  </a:tcPr>
                </a:tc>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10 minutes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9B9AE"/>
                      </a:solidFill>
                      <a:prstDash val="solid"/>
                      <a:round/>
                      <a:headEnd type="none" w="med" len="med"/>
                      <a:tailEnd type="none" w="med" len="med"/>
                    </a:lnL>
                    <a:lnR w="12700" cap="flat" cmpd="sng" algn="ctr">
                      <a:solidFill>
                        <a:srgbClr val="C9B9AE"/>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9B9AE"/>
                      </a:solidFill>
                      <a:prstDash val="solid"/>
                      <a:round/>
                      <a:headEnd type="none" w="med" len="med"/>
                      <a:tailEnd type="none" w="med" len="med"/>
                    </a:lnB>
                    <a:solidFill>
                      <a:srgbClr val="FCE7DA"/>
                    </a:solidFill>
                  </a:tcPr>
                </a:tc>
              </a:tr>
              <a:tr h="412750">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1:05 – 1:45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9B9AE"/>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Part B · Hands-on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9B9AE"/>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Tools, build a first page, Lab 1, debugging, validation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9B9AE"/>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412750">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1:45 – 2:00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Wrap-up</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Quick check, summary, homework</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1 · Lecture 1 — HTML Foundations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LEARNING OUTCOMES · CLO 1, CLO 2</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By the end of today you can…</a:t>
            </a:r>
            <a:endParaRPr lang="en-US" sz="3200" dirty="0"/>
          </a:p>
        </p:txBody>
      </p:sp>
      <p:sp>
        <p:nvSpPr>
          <p:cNvPr id="4" name="Shape 2"/>
          <p:cNvSpPr/>
          <p:nvPr/>
        </p:nvSpPr>
        <p:spPr>
          <a:xfrm>
            <a:off x="815975" y="1984276"/>
            <a:ext cx="5200650" cy="1333500"/>
          </a:xfrm>
          <a:prstGeom prst="roundRect">
            <a:avLst>
              <a:gd name="adj" fmla="val 7381"/>
            </a:avLst>
          </a:prstGeom>
          <a:solidFill>
            <a:srgbClr val="FFFDF9"/>
          </a:solidFill>
          <a:ln w="6350">
            <a:solidFill>
              <a:srgbClr val="E4E0D8"/>
            </a:solidFill>
            <a:prstDash val="solid"/>
          </a:ln>
        </p:spPr>
      </p:sp>
      <p:sp>
        <p:nvSpPr>
          <p:cNvPr id="5" name="Text 3"/>
          <p:cNvSpPr/>
          <p:nvPr/>
        </p:nvSpPr>
        <p:spPr>
          <a:xfrm>
            <a:off x="1022350" y="2190651"/>
            <a:ext cx="4931537"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2410C"/>
                </a:solidFill>
                <a:latin typeface="IBM Plex Sans" pitchFamily="34" charset="0"/>
                <a:ea typeface="IBM Plex Sans" pitchFamily="34" charset="-122"/>
                <a:cs typeface="IBM Plex Sans" pitchFamily="34" charset="-120"/>
              </a:rPr>
              <a:t>01</a:t>
            </a:r>
            <a:endParaRPr lang="en-US" sz="2000" dirty="0"/>
          </a:p>
        </p:txBody>
      </p:sp>
      <p:sp>
        <p:nvSpPr>
          <p:cNvPr id="6" name="Text 4"/>
          <p:cNvSpPr/>
          <p:nvPr/>
        </p:nvSpPr>
        <p:spPr>
          <a:xfrm>
            <a:off x="1022350" y="2597051"/>
            <a:ext cx="4931537"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F2A37"/>
                </a:solidFill>
                <a:latin typeface="IBM Plex Sans" pitchFamily="34" charset="0"/>
                <a:ea typeface="IBM Plex Sans" pitchFamily="34" charset="-122"/>
                <a:cs typeface="IBM Plex Sans" pitchFamily="34" charset="-120"/>
              </a:rPr>
              <a:t>Explain what HTML is, and its role next to CSS and JavaScript</a:t>
            </a:r>
            <a:endParaRPr lang="en-US" sz="1500" dirty="0"/>
          </a:p>
        </p:txBody>
      </p:sp>
      <p:sp>
        <p:nvSpPr>
          <p:cNvPr id="7" name="Shape 5"/>
          <p:cNvSpPr/>
          <p:nvPr/>
        </p:nvSpPr>
        <p:spPr>
          <a:xfrm>
            <a:off x="6175375" y="1984276"/>
            <a:ext cx="5200650" cy="1333500"/>
          </a:xfrm>
          <a:prstGeom prst="roundRect">
            <a:avLst>
              <a:gd name="adj" fmla="val 7381"/>
            </a:avLst>
          </a:prstGeom>
          <a:solidFill>
            <a:srgbClr val="FFFDF9"/>
          </a:solidFill>
          <a:ln w="6350">
            <a:solidFill>
              <a:srgbClr val="E4E0D8"/>
            </a:solidFill>
            <a:prstDash val="solid"/>
          </a:ln>
        </p:spPr>
      </p:sp>
      <p:sp>
        <p:nvSpPr>
          <p:cNvPr id="8" name="Text 6"/>
          <p:cNvSpPr/>
          <p:nvPr/>
        </p:nvSpPr>
        <p:spPr>
          <a:xfrm>
            <a:off x="6381750" y="2190651"/>
            <a:ext cx="4931537"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2410C"/>
                </a:solidFill>
                <a:latin typeface="IBM Plex Sans" pitchFamily="34" charset="0"/>
                <a:ea typeface="IBM Plex Sans" pitchFamily="34" charset="-122"/>
                <a:cs typeface="IBM Plex Sans" pitchFamily="34" charset="-120"/>
              </a:rPr>
              <a:t>02</a:t>
            </a:r>
            <a:endParaRPr lang="en-US" sz="2000" dirty="0"/>
          </a:p>
        </p:txBody>
      </p:sp>
      <p:sp>
        <p:nvSpPr>
          <p:cNvPr id="9" name="Text 7"/>
          <p:cNvSpPr/>
          <p:nvPr/>
        </p:nvSpPr>
        <p:spPr>
          <a:xfrm>
            <a:off x="6381750" y="2597051"/>
            <a:ext cx="4931537"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F2A37"/>
                </a:solidFill>
                <a:latin typeface="IBM Plex Sans" pitchFamily="34" charset="0"/>
                <a:ea typeface="IBM Plex Sans" pitchFamily="34" charset="-122"/>
                <a:cs typeface="IBM Plex Sans" pitchFamily="34" charset="-120"/>
              </a:rPr>
              <a:t>Identify tags, elements, attributes and void elements, and nest them correctly</a:t>
            </a:r>
            <a:endParaRPr lang="en-US" sz="1500" dirty="0"/>
          </a:p>
        </p:txBody>
      </p:sp>
      <p:sp>
        <p:nvSpPr>
          <p:cNvPr id="10" name="Shape 8"/>
          <p:cNvSpPr/>
          <p:nvPr/>
        </p:nvSpPr>
        <p:spPr>
          <a:xfrm>
            <a:off x="815975" y="3476526"/>
            <a:ext cx="5200650" cy="1333500"/>
          </a:xfrm>
          <a:prstGeom prst="roundRect">
            <a:avLst>
              <a:gd name="adj" fmla="val 7381"/>
            </a:avLst>
          </a:prstGeom>
          <a:solidFill>
            <a:srgbClr val="FFFDF9"/>
          </a:solidFill>
          <a:ln w="6350">
            <a:solidFill>
              <a:srgbClr val="E4E0D8"/>
            </a:solidFill>
            <a:prstDash val="solid"/>
          </a:ln>
        </p:spPr>
      </p:sp>
      <p:sp>
        <p:nvSpPr>
          <p:cNvPr id="11" name="Text 9"/>
          <p:cNvSpPr/>
          <p:nvPr/>
        </p:nvSpPr>
        <p:spPr>
          <a:xfrm>
            <a:off x="1022350" y="3682901"/>
            <a:ext cx="4931537"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2410C"/>
                </a:solidFill>
                <a:latin typeface="IBM Plex Sans" pitchFamily="34" charset="0"/>
                <a:ea typeface="IBM Plex Sans" pitchFamily="34" charset="-122"/>
                <a:cs typeface="IBM Plex Sans" pitchFamily="34" charset="-120"/>
              </a:rPr>
              <a:t>03</a:t>
            </a:r>
            <a:endParaRPr lang="en-US" sz="2000" dirty="0"/>
          </a:p>
        </p:txBody>
      </p:sp>
      <p:sp>
        <p:nvSpPr>
          <p:cNvPr id="12" name="Text 10"/>
          <p:cNvSpPr/>
          <p:nvPr/>
        </p:nvSpPr>
        <p:spPr>
          <a:xfrm>
            <a:off x="1022350" y="4089301"/>
            <a:ext cx="499110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F2A37"/>
                </a:solidFill>
                <a:latin typeface="IBM Plex Sans" pitchFamily="34" charset="0"/>
                <a:ea typeface="IBM Plex Sans" pitchFamily="34" charset="-122"/>
                <a:cs typeface="IBM Plex Sans" pitchFamily="34" charset="-120"/>
              </a:rPr>
              <a:t>Write a complete, valid HTML5 document from memory</a:t>
            </a:r>
            <a:endParaRPr lang="en-US" sz="1500" dirty="0"/>
          </a:p>
        </p:txBody>
      </p:sp>
      <p:sp>
        <p:nvSpPr>
          <p:cNvPr id="13" name="Shape 11"/>
          <p:cNvSpPr/>
          <p:nvPr/>
        </p:nvSpPr>
        <p:spPr>
          <a:xfrm>
            <a:off x="6175375" y="3476526"/>
            <a:ext cx="5200650" cy="1333500"/>
          </a:xfrm>
          <a:prstGeom prst="roundRect">
            <a:avLst>
              <a:gd name="adj" fmla="val 7381"/>
            </a:avLst>
          </a:prstGeom>
          <a:solidFill>
            <a:srgbClr val="FFFDF9"/>
          </a:solidFill>
          <a:ln w="6350">
            <a:solidFill>
              <a:srgbClr val="E4E0D8"/>
            </a:solidFill>
            <a:prstDash val="solid"/>
          </a:ln>
        </p:spPr>
      </p:sp>
      <p:sp>
        <p:nvSpPr>
          <p:cNvPr id="14" name="Text 12"/>
          <p:cNvSpPr/>
          <p:nvPr/>
        </p:nvSpPr>
        <p:spPr>
          <a:xfrm>
            <a:off x="6381750" y="3682901"/>
            <a:ext cx="4931537"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C2410C"/>
                </a:solidFill>
                <a:latin typeface="IBM Plex Sans" pitchFamily="34" charset="0"/>
                <a:ea typeface="IBM Plex Sans" pitchFamily="34" charset="-122"/>
                <a:cs typeface="IBM Plex Sans" pitchFamily="34" charset="-120"/>
              </a:rPr>
              <a:t>04</a:t>
            </a:r>
            <a:endParaRPr lang="en-US" sz="2000" dirty="0"/>
          </a:p>
        </p:txBody>
      </p:sp>
      <p:sp>
        <p:nvSpPr>
          <p:cNvPr id="15" name="Text 13"/>
          <p:cNvSpPr/>
          <p:nvPr/>
        </p:nvSpPr>
        <p:spPr>
          <a:xfrm>
            <a:off x="6381750" y="4089301"/>
            <a:ext cx="4931537"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F2A37"/>
                </a:solidFill>
                <a:latin typeface="IBM Plex Sans" pitchFamily="34" charset="0"/>
                <a:ea typeface="IBM Plex Sans" pitchFamily="34" charset="-122"/>
                <a:cs typeface="IBM Plex Sans" pitchFamily="34" charset="-120"/>
              </a:rPr>
              <a:t>Use VS Code, DevTools and the W3C validator to build and debug a page</a:t>
            </a:r>
            <a:endParaRPr lang="en-US" sz="15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1 · Lecture 1 — HTML Foundations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WARM-UP · 10 MIN</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Last week the server answered. What did it send?</a:t>
            </a:r>
            <a:endParaRPr lang="en-US" sz="3200" dirty="0"/>
          </a:p>
        </p:txBody>
      </p:sp>
      <p:sp>
        <p:nvSpPr>
          <p:cNvPr id="4" name="Text 2"/>
          <p:cNvSpPr/>
          <p:nvPr/>
        </p:nvSpPr>
        <p:spPr>
          <a:xfrm>
            <a:off x="812800" y="1981101"/>
            <a:ext cx="6223000" cy="2882900"/>
          </a:xfrm>
          <a:prstGeom prst="roundRect">
            <a:avLst>
              <a:gd name="adj" fmla="val 3524"/>
            </a:avLst>
          </a:prstGeom>
          <a:solidFill>
            <a:srgbClr val="1B2430"/>
          </a:solidFill>
          <a:ln/>
        </p:spPr>
        <p:txBody>
          <a:bodyPr wrap="square" lIns="224242" tIns="173442" rIns="52792" bIns="148042" rtlCol="0" anchor="t">
            <a:normAutofit/>
          </a:bodyPr>
          <a:lstStyle/>
          <a:p>
            <a:pPr algn="l" indent="0" marL="0">
              <a:lnSpc>
                <a:spcPts val="1950"/>
              </a:lnSpc>
              <a:buNone/>
            </a:pPr>
            <a:r>
              <a:rPr lang="en-US" sz="1300" dirty="0">
                <a:solidFill>
                  <a:srgbClr val="8B98A9"/>
                </a:solidFill>
                <a:latin typeface="IBM Plex Mono" pitchFamily="49" charset="0"/>
                <a:ea typeface="IBM Plex Mono" pitchFamily="49" charset="-122"/>
                <a:cs typeface="IBM Plex Mono" pitchFamily="49" charset="-120"/>
              </a:rPr>
              <a:t>GET /index.html HTTP/1.1 →</a:t>
            </a:r>
            <a:endParaRPr lang="en-US" sz="1300" dirty="0"/>
          </a:p>
          <a:p>
            <a:pPr algn="l" indent="0" marL="0">
              <a:lnSpc>
                <a:spcPts val="1950"/>
              </a:lnSpc>
              <a:buNone/>
            </a:pPr>
            <a:endParaRPr lang="en-US" sz="1300" dirty="0"/>
          </a:p>
          <a:p>
            <a:pPr algn="l" indent="0" marL="0">
              <a:lnSpc>
                <a:spcPts val="1950"/>
              </a:lnSpc>
              <a:buNone/>
            </a:pPr>
            <a:r>
              <a:rPr lang="en-US" sz="1300" dirty="0">
                <a:solidFill>
                  <a:srgbClr val="E6EDF3"/>
                </a:solidFill>
                <a:latin typeface="IBM Plex Mono" pitchFamily="49" charset="0"/>
                <a:ea typeface="IBM Plex Mono" pitchFamily="49" charset="-122"/>
                <a:cs typeface="IBM Plex Mono" pitchFamily="49" charset="-120"/>
              </a:rPr>
              <a:t>HTTP/1.1 200 OK</a:t>
            </a:r>
            <a:endParaRPr lang="en-US" sz="1300" dirty="0"/>
          </a:p>
          <a:p>
            <a:pPr algn="l" indent="0" marL="0">
              <a:lnSpc>
                <a:spcPts val="1950"/>
              </a:lnSpc>
              <a:buNone/>
            </a:pPr>
            <a:r>
              <a:rPr lang="en-US" sz="1300" dirty="0">
                <a:solidFill>
                  <a:srgbClr val="E6EDF3"/>
                </a:solidFill>
                <a:latin typeface="IBM Plex Mono" pitchFamily="49" charset="0"/>
                <a:ea typeface="IBM Plex Mono" pitchFamily="49" charset="-122"/>
                <a:cs typeface="IBM Plex Mono" pitchFamily="49" charset="-120"/>
              </a:rPr>
              <a:t>Content-Type: </a:t>
            </a:r>
            <a:r>
              <a:rPr lang="en-US" sz="1300" dirty="0">
                <a:solidFill>
                  <a:srgbClr val="9ECE6A"/>
                </a:solidFill>
                <a:latin typeface="IBM Plex Mono" pitchFamily="49" charset="0"/>
                <a:ea typeface="IBM Plex Mono" pitchFamily="49" charset="-122"/>
                <a:cs typeface="IBM Plex Mono" pitchFamily="49" charset="-120"/>
              </a:rPr>
              <a:t>text/html; charset=UTF-8</a:t>
            </a:r>
            <a:endParaRPr lang="en-US" sz="1300" dirty="0"/>
          </a:p>
          <a:p>
            <a:pPr algn="l" indent="0" marL="0">
              <a:lnSpc>
                <a:spcPts val="1950"/>
              </a:lnSpc>
              <a:buNone/>
            </a:pPr>
            <a:endParaRPr lang="en-US" sz="1300" dirty="0"/>
          </a:p>
          <a:p>
            <a:pPr algn="l" indent="0" marL="0">
              <a:lnSpc>
                <a:spcPts val="1950"/>
              </a:lnSpc>
              <a:buNone/>
            </a:pPr>
            <a:r>
              <a:rPr lang="en-US" sz="1300" dirty="0">
                <a:solidFill>
                  <a:srgbClr val="FF9E64"/>
                </a:solidFill>
                <a:latin typeface="IBM Plex Mono" pitchFamily="49" charset="0"/>
                <a:ea typeface="IBM Plex Mono" pitchFamily="49" charset="-122"/>
                <a:cs typeface="IBM Plex Mono" pitchFamily="49" charset="-120"/>
              </a:rPr>
              <a:t>&lt;!DOCTYPE html&gt;</a:t>
            </a:r>
            <a:endParaRPr lang="en-US" sz="1300" dirty="0"/>
          </a:p>
          <a:p>
            <a:pPr algn="l" indent="0" marL="0">
              <a:lnSpc>
                <a:spcPts val="1950"/>
              </a:lnSpc>
              <a:buNone/>
            </a:pPr>
            <a:r>
              <a:rPr lang="en-US" sz="1300" dirty="0">
                <a:solidFill>
                  <a:srgbClr val="FF9E64"/>
                </a:solidFill>
                <a:latin typeface="IBM Plex Mono" pitchFamily="49" charset="0"/>
                <a:ea typeface="IBM Plex Mono" pitchFamily="49" charset="-122"/>
                <a:cs typeface="IBM Plex Mono" pitchFamily="49" charset="-120"/>
              </a:rPr>
              <a:t>&lt;html lang="en"&gt;</a:t>
            </a:r>
            <a:endParaRPr lang="en-US" sz="1300" dirty="0"/>
          </a:p>
          <a:p>
            <a:pPr algn="l" indent="0" marL="0">
              <a:lnSpc>
                <a:spcPts val="1950"/>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&lt;head&gt;</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FF9E64"/>
                </a:solidFill>
                <a:latin typeface="IBM Plex Mono" pitchFamily="49" charset="0"/>
                <a:ea typeface="IBM Plex Mono" pitchFamily="49" charset="-122"/>
                <a:cs typeface="IBM Plex Mono" pitchFamily="49" charset="-120"/>
              </a:rPr>
              <a:t>&lt;/head&gt;</a:t>
            </a:r>
            <a:endParaRPr lang="en-US" sz="1300" dirty="0"/>
          </a:p>
          <a:p>
            <a:pPr algn="l" indent="0" marL="0">
              <a:lnSpc>
                <a:spcPts val="1950"/>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&lt;body&gt;</a:t>
            </a:r>
            <a:r>
              <a:rPr lang="en-US" sz="1300" dirty="0">
                <a:solidFill>
                  <a:srgbClr val="E6EDF3"/>
                </a:solidFill>
                <a:latin typeface="IBM Plex Mono" pitchFamily="49" charset="0"/>
                <a:ea typeface="IBM Plex Mono" pitchFamily="49" charset="-122"/>
                <a:cs typeface="IBM Plex Mono" pitchFamily="49" charset="-120"/>
              </a:rPr>
              <a:t>…</a:t>
            </a:r>
            <a:r>
              <a:rPr lang="en-US" sz="1300" dirty="0">
                <a:solidFill>
                  <a:srgbClr val="FF9E64"/>
                </a:solidFill>
                <a:latin typeface="IBM Plex Mono" pitchFamily="49" charset="0"/>
                <a:ea typeface="IBM Plex Mono" pitchFamily="49" charset="-122"/>
                <a:cs typeface="IBM Plex Mono" pitchFamily="49" charset="-120"/>
              </a:rPr>
              <a:t>&lt;/body&gt;</a:t>
            </a:r>
            <a:endParaRPr lang="en-US" sz="1300" dirty="0"/>
          </a:p>
          <a:p>
            <a:pPr algn="l" indent="0" marL="0">
              <a:lnSpc>
                <a:spcPts val="1950"/>
              </a:lnSpc>
              <a:buNone/>
            </a:pPr>
            <a:r>
              <a:rPr lang="en-US" sz="1300" dirty="0">
                <a:solidFill>
                  <a:srgbClr val="FF9E64"/>
                </a:solidFill>
                <a:latin typeface="IBM Plex Mono" pitchFamily="49" charset="0"/>
                <a:ea typeface="IBM Plex Mono" pitchFamily="49" charset="-122"/>
                <a:cs typeface="IBM Plex Mono" pitchFamily="49" charset="-120"/>
              </a:rPr>
              <a:t>&lt;/html&gt;</a:t>
            </a:r>
            <a:endParaRPr lang="en-US" sz="1300" dirty="0"/>
          </a:p>
        </p:txBody>
      </p:sp>
      <p:sp>
        <p:nvSpPr>
          <p:cNvPr id="5" name="Text 3"/>
          <p:cNvSpPr/>
          <p:nvPr/>
        </p:nvSpPr>
        <p:spPr>
          <a:xfrm>
            <a:off x="7340600" y="1981101"/>
            <a:ext cx="4159758"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F2A37"/>
                </a:solidFill>
                <a:latin typeface="IBM Plex Sans" pitchFamily="34" charset="0"/>
                <a:ea typeface="IBM Plex Sans" pitchFamily="34" charset="-122"/>
                <a:cs typeface="IBM Plex Sans" pitchFamily="34" charset="-120"/>
              </a:rPr>
              <a:t>The body of almost every web response is a plain-text </a:t>
            </a:r>
            <a:r>
              <a:rPr lang="en-US" sz="1600" b="1" dirty="0">
                <a:solidFill>
                  <a:srgbClr val="1F2A37"/>
                </a:solidFill>
                <a:latin typeface="IBM Plex Sans" pitchFamily="34" charset="0"/>
                <a:ea typeface="IBM Plex Sans" pitchFamily="34" charset="-122"/>
                <a:cs typeface="IBM Plex Sans" pitchFamily="34" charset="-120"/>
              </a:rPr>
              <a:t>HTML document</a:t>
            </a:r>
            <a:r>
              <a:rPr lang="en-US" sz="1600" dirty="0">
                <a:solidFill>
                  <a:srgbClr val="1F2A37"/>
                </a:solidFill>
                <a:latin typeface="IBM Plex Sans" pitchFamily="34" charset="0"/>
                <a:ea typeface="IBM Plex Sans" pitchFamily="34" charset="-122"/>
                <a:cs typeface="IBM Plex Sans" pitchFamily="34" charset="-120"/>
              </a:rPr>
              <a:t>.</a:t>
            </a:r>
            <a:endParaRPr lang="en-US" sz="1600" dirty="0"/>
          </a:p>
        </p:txBody>
      </p:sp>
      <p:sp>
        <p:nvSpPr>
          <p:cNvPr id="6" name="Text 4"/>
          <p:cNvSpPr/>
          <p:nvPr/>
        </p:nvSpPr>
        <p:spPr>
          <a:xfrm>
            <a:off x="7340600" y="2702421"/>
            <a:ext cx="415975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75467"/>
                </a:solidFill>
                <a:latin typeface="IBM Plex Sans" pitchFamily="34" charset="0"/>
                <a:ea typeface="IBM Plex Sans" pitchFamily="34" charset="-122"/>
                <a:cs typeface="IBM Plex Sans" pitchFamily="34" charset="-120"/>
              </a:rPr>
              <a:t>Ask your neighbour (2 min):</a:t>
            </a:r>
            <a:endParaRPr lang="en-US" sz="1600" dirty="0"/>
          </a:p>
        </p:txBody>
      </p:sp>
      <p:sp>
        <p:nvSpPr>
          <p:cNvPr id="7" name="Text 5"/>
          <p:cNvSpPr/>
          <p:nvPr/>
        </p:nvSpPr>
        <p:spPr>
          <a:xfrm>
            <a:off x="7340600" y="3139281"/>
            <a:ext cx="4159758"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D4ED8"/>
                </a:solidFill>
                <a:latin typeface="IBM Plex Sans" pitchFamily="34" charset="0"/>
                <a:ea typeface="IBM Plex Sans" pitchFamily="34" charset="-122"/>
                <a:cs typeface="IBM Plex Sans" pitchFamily="34" charset="-120"/>
              </a:rPr>
              <a:t>How does the browser turn this text into the page you see?</a:t>
            </a:r>
            <a:endParaRPr lang="en-US" sz="1600" dirty="0"/>
          </a:p>
        </p:txBody>
      </p:sp>
      <p:sp>
        <p:nvSpPr>
          <p:cNvPr id="8"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1 · Lecture 1 — HTML Foundations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THEORY</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HTML = HyperText Markup Language</a:t>
            </a:r>
            <a:endParaRPr lang="en-US" sz="3200" dirty="0"/>
          </a:p>
        </p:txBody>
      </p:sp>
      <p:sp>
        <p:nvSpPr>
          <p:cNvPr id="4" name="Shape 2"/>
          <p:cNvSpPr/>
          <p:nvPr/>
        </p:nvSpPr>
        <p:spPr>
          <a:xfrm>
            <a:off x="815975" y="1984276"/>
            <a:ext cx="3414117" cy="1616472"/>
          </a:xfrm>
          <a:prstGeom prst="roundRect">
            <a:avLst>
              <a:gd name="adj" fmla="val 6089"/>
            </a:avLst>
          </a:prstGeom>
          <a:solidFill>
            <a:srgbClr val="FFFDF9"/>
          </a:solidFill>
          <a:ln w="6350">
            <a:solidFill>
              <a:srgbClr val="E4E0D8"/>
            </a:solidFill>
            <a:prstDash val="solid"/>
          </a:ln>
        </p:spPr>
      </p:sp>
      <p:sp>
        <p:nvSpPr>
          <p:cNvPr id="5" name="Text 3"/>
          <p:cNvSpPr/>
          <p:nvPr/>
        </p:nvSpPr>
        <p:spPr>
          <a:xfrm>
            <a:off x="1047750" y="2216051"/>
            <a:ext cx="303908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C2410C"/>
                </a:solidFill>
                <a:latin typeface="IBM Plex Sans" pitchFamily="34" charset="0"/>
                <a:ea typeface="IBM Plex Sans" pitchFamily="34" charset="-122"/>
                <a:cs typeface="IBM Plex Sans" pitchFamily="34" charset="-120"/>
              </a:rPr>
              <a:t>HyperText</a:t>
            </a:r>
            <a:endParaRPr lang="en-US" sz="2000" dirty="0"/>
          </a:p>
        </p:txBody>
      </p:sp>
      <p:sp>
        <p:nvSpPr>
          <p:cNvPr id="6" name="Text 4"/>
          <p:cNvSpPr/>
          <p:nvPr/>
        </p:nvSpPr>
        <p:spPr>
          <a:xfrm>
            <a:off x="1047750" y="2622451"/>
            <a:ext cx="3039084"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Text that links to other text. Readers jump between documents instead of reading in a straight line.</a:t>
            </a:r>
            <a:endParaRPr lang="en-US" sz="1400" dirty="0"/>
          </a:p>
        </p:txBody>
      </p:sp>
      <p:sp>
        <p:nvSpPr>
          <p:cNvPr id="7" name="Shape 5"/>
          <p:cNvSpPr/>
          <p:nvPr/>
        </p:nvSpPr>
        <p:spPr>
          <a:xfrm>
            <a:off x="4388842" y="1984276"/>
            <a:ext cx="3414216" cy="1616472"/>
          </a:xfrm>
          <a:prstGeom prst="roundRect">
            <a:avLst>
              <a:gd name="adj" fmla="val 6089"/>
            </a:avLst>
          </a:prstGeom>
          <a:solidFill>
            <a:srgbClr val="FFFDF9"/>
          </a:solidFill>
          <a:ln w="6350">
            <a:solidFill>
              <a:srgbClr val="E4E0D8"/>
            </a:solidFill>
            <a:prstDash val="solid"/>
          </a:ln>
        </p:spPr>
      </p:sp>
      <p:sp>
        <p:nvSpPr>
          <p:cNvPr id="8" name="Text 6"/>
          <p:cNvSpPr/>
          <p:nvPr/>
        </p:nvSpPr>
        <p:spPr>
          <a:xfrm>
            <a:off x="4620617" y="2216051"/>
            <a:ext cx="303918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C2410C"/>
                </a:solidFill>
                <a:latin typeface="IBM Plex Sans" pitchFamily="34" charset="0"/>
                <a:ea typeface="IBM Plex Sans" pitchFamily="34" charset="-122"/>
                <a:cs typeface="IBM Plex Sans" pitchFamily="34" charset="-120"/>
              </a:rPr>
              <a:t>Markup</a:t>
            </a:r>
            <a:endParaRPr lang="en-US" sz="2000" dirty="0"/>
          </a:p>
        </p:txBody>
      </p:sp>
      <p:sp>
        <p:nvSpPr>
          <p:cNvPr id="9" name="Text 7"/>
          <p:cNvSpPr/>
          <p:nvPr/>
        </p:nvSpPr>
        <p:spPr>
          <a:xfrm>
            <a:off x="4620617" y="2622451"/>
            <a:ext cx="3039186"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Tags wrapped around content to say what each part </a:t>
            </a:r>
            <a:r>
              <a:rPr lang="en-US" sz="1400" i="1" dirty="0">
                <a:solidFill>
                  <a:srgbClr val="1F2A37"/>
                </a:solidFill>
                <a:latin typeface="IBM Plex Sans" pitchFamily="34" charset="0"/>
                <a:ea typeface="IBM Plex Sans" pitchFamily="34" charset="-122"/>
                <a:cs typeface="IBM Plex Sans" pitchFamily="34" charset="-120"/>
              </a:rPr>
              <a:t>is</a:t>
            </a:r>
            <a:r>
              <a:rPr lang="en-US" sz="1400" dirty="0">
                <a:solidFill>
                  <a:srgbClr val="1F2A37"/>
                </a:solidFill>
                <a:latin typeface="IBM Plex Sans" pitchFamily="34" charset="0"/>
                <a:ea typeface="IBM Plex Sans" pitchFamily="34" charset="-122"/>
                <a:cs typeface="IBM Plex Sans" pitchFamily="34" charset="-120"/>
              </a:rPr>
              <a:t>: a heading, a paragraph, a link, a list.</a:t>
            </a:r>
            <a:endParaRPr lang="en-US" sz="1400" dirty="0"/>
          </a:p>
        </p:txBody>
      </p:sp>
      <p:sp>
        <p:nvSpPr>
          <p:cNvPr id="10" name="Shape 8"/>
          <p:cNvSpPr/>
          <p:nvPr/>
        </p:nvSpPr>
        <p:spPr>
          <a:xfrm>
            <a:off x="7961809" y="1984276"/>
            <a:ext cx="3414216" cy="1616472"/>
          </a:xfrm>
          <a:prstGeom prst="roundRect">
            <a:avLst>
              <a:gd name="adj" fmla="val 6089"/>
            </a:avLst>
          </a:prstGeom>
          <a:solidFill>
            <a:srgbClr val="FFFDF9"/>
          </a:solidFill>
          <a:ln w="6350">
            <a:solidFill>
              <a:srgbClr val="E4E0D8"/>
            </a:solidFill>
            <a:prstDash val="solid"/>
          </a:ln>
        </p:spPr>
      </p:sp>
      <p:sp>
        <p:nvSpPr>
          <p:cNvPr id="11" name="Text 9"/>
          <p:cNvSpPr/>
          <p:nvPr/>
        </p:nvSpPr>
        <p:spPr>
          <a:xfrm>
            <a:off x="8193584" y="2216051"/>
            <a:ext cx="303918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C2410C"/>
                </a:solidFill>
                <a:latin typeface="IBM Plex Sans" pitchFamily="34" charset="0"/>
                <a:ea typeface="IBM Plex Sans" pitchFamily="34" charset="-122"/>
                <a:cs typeface="IBM Plex Sans" pitchFamily="34" charset="-120"/>
              </a:rPr>
              <a:t>Language</a:t>
            </a:r>
            <a:endParaRPr lang="en-US" sz="2000" dirty="0"/>
          </a:p>
        </p:txBody>
      </p:sp>
      <p:sp>
        <p:nvSpPr>
          <p:cNvPr id="12" name="Text 10"/>
          <p:cNvSpPr/>
          <p:nvPr/>
        </p:nvSpPr>
        <p:spPr>
          <a:xfrm>
            <a:off x="8193584" y="2622451"/>
            <a:ext cx="3039186"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A shared vocabulary (elements) and grammar (rules), standardised so every browser reads it the same way.</a:t>
            </a:r>
            <a:endParaRPr lang="en-US" sz="1400" dirty="0"/>
          </a:p>
        </p:txBody>
      </p:sp>
      <p:sp>
        <p:nvSpPr>
          <p:cNvPr id="13" name="Shape 11"/>
          <p:cNvSpPr/>
          <p:nvPr/>
        </p:nvSpPr>
        <p:spPr>
          <a:xfrm>
            <a:off x="812800" y="3857923"/>
            <a:ext cx="10566400" cy="939800"/>
          </a:xfrm>
          <a:prstGeom prst="roundRect">
            <a:avLst>
              <a:gd name="adj" fmla="val 10811"/>
            </a:avLst>
          </a:prstGeom>
          <a:solidFill>
            <a:srgbClr val="16202E"/>
          </a:solidFill>
          <a:ln/>
        </p:spPr>
      </p:sp>
      <p:pic>
        <p:nvPicPr>
          <p:cNvPr id="14" name="Image 0" descr="Lightbulb">    </p:cNvPr>
          <p:cNvPicPr>
            <a:picLocks noChangeAspect="1"/>
          </p:cNvPicPr>
          <p:nvPr/>
        </p:nvPicPr>
        <p:blipFill>
          <a:blip r:embed="rId1"/>
          <a:srcRect l="0" r="0" t="-583" b="-583"/>
          <a:stretch/>
        </p:blipFill>
        <p:spPr>
          <a:xfrm>
            <a:off x="1066800" y="4150023"/>
            <a:ext cx="263624" cy="355600"/>
          </a:xfrm>
          <a:prstGeom prst="rect">
            <a:avLst/>
          </a:prstGeom>
        </p:spPr>
      </p:pic>
      <p:sp>
        <p:nvSpPr>
          <p:cNvPr id="15" name="Text 12"/>
          <p:cNvSpPr/>
          <p:nvPr/>
        </p:nvSpPr>
        <p:spPr>
          <a:xfrm>
            <a:off x="1533624" y="4061123"/>
            <a:ext cx="9879323"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7F5F0"/>
                </a:solidFill>
                <a:latin typeface="IBM Plex Sans" pitchFamily="34" charset="0"/>
                <a:ea typeface="IBM Plex Sans" pitchFamily="34" charset="-122"/>
                <a:cs typeface="IBM Plex Sans" pitchFamily="34" charset="-120"/>
              </a:rPr>
              <a:t>HTML is </a:t>
            </a:r>
            <a:r>
              <a:rPr lang="en-US" sz="1500" b="1" dirty="0">
                <a:solidFill>
                  <a:srgbClr val="F7F5F0"/>
                </a:solidFill>
                <a:latin typeface="IBM Plex Sans" pitchFamily="34" charset="0"/>
                <a:ea typeface="IBM Plex Sans" pitchFamily="34" charset="-122"/>
                <a:cs typeface="IBM Plex Sans" pitchFamily="34" charset="-120"/>
              </a:rPr>
              <a:t>not a programming language</a:t>
            </a:r>
            <a:r>
              <a:rPr lang="en-US" sz="1500" dirty="0">
                <a:solidFill>
                  <a:srgbClr val="F7F5F0"/>
                </a:solidFill>
                <a:latin typeface="IBM Plex Sans" pitchFamily="34" charset="0"/>
                <a:ea typeface="IBM Plex Sans" pitchFamily="34" charset="-122"/>
                <a:cs typeface="IBM Plex Sans" pitchFamily="34" charset="-120"/>
              </a:rPr>
              <a:t>: no variables, loops or logic. It describes the </a:t>
            </a:r>
            <a:r>
              <a:rPr lang="en-US" sz="1500" b="1" dirty="0">
                <a:solidFill>
                  <a:srgbClr val="F7F5F0"/>
                </a:solidFill>
                <a:latin typeface="IBM Plex Sans" pitchFamily="34" charset="0"/>
                <a:ea typeface="IBM Plex Sans" pitchFamily="34" charset="-122"/>
                <a:cs typeface="IBM Plex Sans" pitchFamily="34" charset="-120"/>
              </a:rPr>
              <a:t>structure and meaning</a:t>
            </a:r>
            <a:r>
              <a:rPr lang="en-US" sz="1500" dirty="0">
                <a:solidFill>
                  <a:srgbClr val="F7F5F0"/>
                </a:solidFill>
                <a:latin typeface="IBM Plex Sans" pitchFamily="34" charset="0"/>
                <a:ea typeface="IBM Plex Sans" pitchFamily="34" charset="-122"/>
                <a:cs typeface="IBM Plex Sans" pitchFamily="34" charset="-120"/>
              </a:rPr>
              <a:t> of content, saved as plain text in a </a:t>
            </a:r>
            <a:r>
              <a:rPr lang="en-US" sz="1500" dirty="0">
                <a:solidFill>
                  <a:srgbClr val="FF9E64"/>
                </a:solidFill>
                <a:latin typeface="IBM Plex Sans" pitchFamily="34" charset="0"/>
                <a:ea typeface="IBM Plex Sans" pitchFamily="34" charset="-122"/>
                <a:cs typeface="IBM Plex Sans" pitchFamily="34" charset="-120"/>
              </a:rPr>
              <a:t>.html</a:t>
            </a:r>
            <a:r>
              <a:rPr lang="en-US" sz="1500" dirty="0">
                <a:solidFill>
                  <a:srgbClr val="F7F5F0"/>
                </a:solidFill>
                <a:latin typeface="IBM Plex Sans" pitchFamily="34" charset="0"/>
                <a:ea typeface="IBM Plex Sans" pitchFamily="34" charset="-122"/>
                <a:cs typeface="IBM Plex Sans" pitchFamily="34" charset="-120"/>
              </a:rPr>
              <a:t> file.</a:t>
            </a:r>
            <a:endParaRPr lang="en-US" sz="1500" dirty="0"/>
          </a:p>
        </p:txBody>
      </p:sp>
      <p:sp>
        <p:nvSpPr>
          <p:cNvPr id="16"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1 · Lecture 1 — HTML Foundations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THEORY</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From 18 tags to a living standard</a:t>
            </a:r>
            <a:endParaRPr lang="en-US" sz="3200" dirty="0"/>
          </a:p>
        </p:txBody>
      </p:sp>
      <p:sp>
        <p:nvSpPr>
          <p:cNvPr id="4" name="Shape 2"/>
          <p:cNvSpPr/>
          <p:nvPr/>
        </p:nvSpPr>
        <p:spPr>
          <a:xfrm>
            <a:off x="812800" y="2000151"/>
            <a:ext cx="1422400" cy="0"/>
          </a:xfrm>
          <a:prstGeom prst="line">
            <a:avLst/>
          </a:prstGeom>
          <a:noFill/>
          <a:ln w="38100">
            <a:solidFill>
              <a:srgbClr val="C2410C"/>
            </a:solidFill>
            <a:prstDash val="solid"/>
          </a:ln>
        </p:spPr>
      </p:sp>
      <p:sp>
        <p:nvSpPr>
          <p:cNvPr id="5" name="Text 3"/>
          <p:cNvSpPr/>
          <p:nvPr/>
        </p:nvSpPr>
        <p:spPr>
          <a:xfrm>
            <a:off x="812800" y="2146201"/>
            <a:ext cx="1473200"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6202E"/>
                </a:solidFill>
                <a:latin typeface="IBM Plex Sans" pitchFamily="34" charset="0"/>
                <a:ea typeface="IBM Plex Sans" pitchFamily="34" charset="-122"/>
                <a:cs typeface="IBM Plex Sans" pitchFamily="34" charset="-120"/>
              </a:rPr>
              <a:t>1991</a:t>
            </a:r>
            <a:endParaRPr lang="en-US" sz="1800" dirty="0"/>
          </a:p>
        </p:txBody>
      </p:sp>
      <p:sp>
        <p:nvSpPr>
          <p:cNvPr id="6" name="Text 4"/>
          <p:cNvSpPr/>
          <p:nvPr/>
        </p:nvSpPr>
        <p:spPr>
          <a:xfrm>
            <a:off x="812800" y="2542381"/>
            <a:ext cx="1473200" cy="84812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F2A37"/>
                </a:solidFill>
                <a:latin typeface="IBM Plex Sans" pitchFamily="34" charset="0"/>
                <a:ea typeface="IBM Plex Sans" pitchFamily="34" charset="-122"/>
                <a:cs typeface="IBM Plex Sans" pitchFamily="34" charset="-120"/>
              </a:rPr>
              <a:t>Tim Berners-Lee, CERN: first description of HTML, about 18 tags</a:t>
            </a:r>
            <a:endParaRPr lang="en-US" sz="1200" dirty="0"/>
          </a:p>
        </p:txBody>
      </p:sp>
      <p:sp>
        <p:nvSpPr>
          <p:cNvPr id="7" name="Shape 5"/>
          <p:cNvSpPr/>
          <p:nvPr/>
        </p:nvSpPr>
        <p:spPr>
          <a:xfrm>
            <a:off x="2336800" y="2000151"/>
            <a:ext cx="1422400" cy="0"/>
          </a:xfrm>
          <a:prstGeom prst="line">
            <a:avLst/>
          </a:prstGeom>
          <a:noFill/>
          <a:ln w="38100">
            <a:solidFill>
              <a:srgbClr val="C2410C"/>
            </a:solidFill>
            <a:prstDash val="solid"/>
          </a:ln>
        </p:spPr>
      </p:sp>
      <p:sp>
        <p:nvSpPr>
          <p:cNvPr id="8" name="Text 6"/>
          <p:cNvSpPr/>
          <p:nvPr/>
        </p:nvSpPr>
        <p:spPr>
          <a:xfrm>
            <a:off x="2336800" y="2146201"/>
            <a:ext cx="1473200"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6202E"/>
                </a:solidFill>
                <a:latin typeface="IBM Plex Sans" pitchFamily="34" charset="0"/>
                <a:ea typeface="IBM Plex Sans" pitchFamily="34" charset="-122"/>
                <a:cs typeface="IBM Plex Sans" pitchFamily="34" charset="-120"/>
              </a:rPr>
              <a:t>1995</a:t>
            </a:r>
            <a:endParaRPr lang="en-US" sz="1800" dirty="0"/>
          </a:p>
        </p:txBody>
      </p:sp>
      <p:sp>
        <p:nvSpPr>
          <p:cNvPr id="9" name="Text 7"/>
          <p:cNvSpPr/>
          <p:nvPr/>
        </p:nvSpPr>
        <p:spPr>
          <a:xfrm>
            <a:off x="2336800" y="2542381"/>
            <a:ext cx="1473200" cy="84812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F2A37"/>
                </a:solidFill>
                <a:latin typeface="IBM Plex Sans" pitchFamily="34" charset="0"/>
                <a:ea typeface="IBM Plex Sans" pitchFamily="34" charset="-122"/>
                <a:cs typeface="IBM Plex Sans" pitchFamily="34" charset="-120"/>
              </a:rPr>
              <a:t>HTML 2.0 (IETF): first formal standard, adds forms</a:t>
            </a:r>
            <a:endParaRPr lang="en-US" sz="1200" dirty="0"/>
          </a:p>
        </p:txBody>
      </p:sp>
      <p:sp>
        <p:nvSpPr>
          <p:cNvPr id="10" name="Shape 8"/>
          <p:cNvSpPr/>
          <p:nvPr/>
        </p:nvSpPr>
        <p:spPr>
          <a:xfrm>
            <a:off x="3860800" y="2000151"/>
            <a:ext cx="1422400" cy="0"/>
          </a:xfrm>
          <a:prstGeom prst="line">
            <a:avLst/>
          </a:prstGeom>
          <a:noFill/>
          <a:ln w="38100">
            <a:solidFill>
              <a:srgbClr val="C2410C"/>
            </a:solidFill>
            <a:prstDash val="solid"/>
          </a:ln>
        </p:spPr>
      </p:sp>
      <p:sp>
        <p:nvSpPr>
          <p:cNvPr id="11" name="Text 9"/>
          <p:cNvSpPr/>
          <p:nvPr/>
        </p:nvSpPr>
        <p:spPr>
          <a:xfrm>
            <a:off x="3860800" y="2146201"/>
            <a:ext cx="1473200"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6202E"/>
                </a:solidFill>
                <a:latin typeface="IBM Plex Sans" pitchFamily="34" charset="0"/>
                <a:ea typeface="IBM Plex Sans" pitchFamily="34" charset="-122"/>
                <a:cs typeface="IBM Plex Sans" pitchFamily="34" charset="-120"/>
              </a:rPr>
              <a:t>1997</a:t>
            </a:r>
            <a:endParaRPr lang="en-US" sz="1800" dirty="0"/>
          </a:p>
        </p:txBody>
      </p:sp>
      <p:sp>
        <p:nvSpPr>
          <p:cNvPr id="12" name="Text 10"/>
          <p:cNvSpPr/>
          <p:nvPr/>
        </p:nvSpPr>
        <p:spPr>
          <a:xfrm>
            <a:off x="3860800" y="2542381"/>
            <a:ext cx="1473200" cy="6424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F2A37"/>
                </a:solidFill>
                <a:latin typeface="IBM Plex Sans" pitchFamily="34" charset="0"/>
                <a:ea typeface="IBM Plex Sans" pitchFamily="34" charset="-122"/>
                <a:cs typeface="IBM Plex Sans" pitchFamily="34" charset="-120"/>
              </a:rPr>
              <a:t>HTML 3.2 and 4.0 (W3C): tables, scripts, style sheets</a:t>
            </a:r>
            <a:endParaRPr lang="en-US" sz="1200" dirty="0"/>
          </a:p>
        </p:txBody>
      </p:sp>
      <p:sp>
        <p:nvSpPr>
          <p:cNvPr id="13" name="Shape 11"/>
          <p:cNvSpPr/>
          <p:nvPr/>
        </p:nvSpPr>
        <p:spPr>
          <a:xfrm>
            <a:off x="5384800" y="2000151"/>
            <a:ext cx="1422400" cy="0"/>
          </a:xfrm>
          <a:prstGeom prst="line">
            <a:avLst/>
          </a:prstGeom>
          <a:noFill/>
          <a:ln w="38100">
            <a:solidFill>
              <a:srgbClr val="C2410C"/>
            </a:solidFill>
            <a:prstDash val="solid"/>
          </a:ln>
        </p:spPr>
      </p:sp>
      <p:sp>
        <p:nvSpPr>
          <p:cNvPr id="14" name="Text 12"/>
          <p:cNvSpPr/>
          <p:nvPr/>
        </p:nvSpPr>
        <p:spPr>
          <a:xfrm>
            <a:off x="5384800" y="2146201"/>
            <a:ext cx="1473200"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6202E"/>
                </a:solidFill>
                <a:latin typeface="IBM Plex Sans" pitchFamily="34" charset="0"/>
                <a:ea typeface="IBM Plex Sans" pitchFamily="34" charset="-122"/>
                <a:cs typeface="IBM Plex Sans" pitchFamily="34" charset="-120"/>
              </a:rPr>
              <a:t>1999</a:t>
            </a:r>
            <a:endParaRPr lang="en-US" sz="1800" dirty="0"/>
          </a:p>
        </p:txBody>
      </p:sp>
      <p:sp>
        <p:nvSpPr>
          <p:cNvPr id="15" name="Text 13"/>
          <p:cNvSpPr/>
          <p:nvPr/>
        </p:nvSpPr>
        <p:spPr>
          <a:xfrm>
            <a:off x="5384800" y="2542381"/>
            <a:ext cx="1473200" cy="84812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F2A37"/>
                </a:solidFill>
                <a:latin typeface="IBM Plex Sans" pitchFamily="34" charset="0"/>
                <a:ea typeface="IBM Plex Sans" pitchFamily="34" charset="-122"/>
                <a:cs typeface="IBM Plex Sans" pitchFamily="34" charset="-120"/>
              </a:rPr>
              <a:t>HTML 4.01: presentation tags deprecated in favour of CSS</a:t>
            </a:r>
            <a:endParaRPr lang="en-US" sz="1200" dirty="0"/>
          </a:p>
        </p:txBody>
      </p:sp>
      <p:sp>
        <p:nvSpPr>
          <p:cNvPr id="16" name="Shape 14"/>
          <p:cNvSpPr/>
          <p:nvPr/>
        </p:nvSpPr>
        <p:spPr>
          <a:xfrm>
            <a:off x="6908800" y="2000151"/>
            <a:ext cx="1422400" cy="0"/>
          </a:xfrm>
          <a:prstGeom prst="line">
            <a:avLst/>
          </a:prstGeom>
          <a:noFill/>
          <a:ln w="38100">
            <a:solidFill>
              <a:srgbClr val="C2410C"/>
            </a:solidFill>
            <a:prstDash val="solid"/>
          </a:ln>
        </p:spPr>
      </p:sp>
      <p:sp>
        <p:nvSpPr>
          <p:cNvPr id="17" name="Text 15"/>
          <p:cNvSpPr/>
          <p:nvPr/>
        </p:nvSpPr>
        <p:spPr>
          <a:xfrm>
            <a:off x="6908800" y="2146201"/>
            <a:ext cx="1473200"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6202E"/>
                </a:solidFill>
                <a:latin typeface="IBM Plex Sans" pitchFamily="34" charset="0"/>
                <a:ea typeface="IBM Plex Sans" pitchFamily="34" charset="-122"/>
                <a:cs typeface="IBM Plex Sans" pitchFamily="34" charset="-120"/>
              </a:rPr>
              <a:t>2000</a:t>
            </a:r>
            <a:endParaRPr lang="en-US" sz="1800" dirty="0"/>
          </a:p>
        </p:txBody>
      </p:sp>
      <p:sp>
        <p:nvSpPr>
          <p:cNvPr id="18" name="Text 16"/>
          <p:cNvSpPr/>
          <p:nvPr/>
        </p:nvSpPr>
        <p:spPr>
          <a:xfrm>
            <a:off x="6908800" y="2542381"/>
            <a:ext cx="1473200" cy="6424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F2A37"/>
                </a:solidFill>
                <a:latin typeface="IBM Plex Sans" pitchFamily="34" charset="0"/>
                <a:ea typeface="IBM Plex Sans" pitchFamily="34" charset="-122"/>
                <a:cs typeface="IBM Plex Sans" pitchFamily="34" charset="-120"/>
              </a:rPr>
              <a:t>XHTML 1.0: HTML rewritten with strict XML rules</a:t>
            </a:r>
            <a:endParaRPr lang="en-US" sz="1200" dirty="0"/>
          </a:p>
        </p:txBody>
      </p:sp>
      <p:sp>
        <p:nvSpPr>
          <p:cNvPr id="19" name="Shape 17"/>
          <p:cNvSpPr/>
          <p:nvPr/>
        </p:nvSpPr>
        <p:spPr>
          <a:xfrm>
            <a:off x="8432800" y="2000151"/>
            <a:ext cx="1422400" cy="0"/>
          </a:xfrm>
          <a:prstGeom prst="line">
            <a:avLst/>
          </a:prstGeom>
          <a:noFill/>
          <a:ln w="38100">
            <a:solidFill>
              <a:srgbClr val="C2410C"/>
            </a:solidFill>
            <a:prstDash val="solid"/>
          </a:ln>
        </p:spPr>
      </p:sp>
      <p:sp>
        <p:nvSpPr>
          <p:cNvPr id="20" name="Text 18"/>
          <p:cNvSpPr/>
          <p:nvPr/>
        </p:nvSpPr>
        <p:spPr>
          <a:xfrm>
            <a:off x="8432800" y="2146201"/>
            <a:ext cx="1473200"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6202E"/>
                </a:solidFill>
                <a:latin typeface="IBM Plex Sans" pitchFamily="34" charset="0"/>
                <a:ea typeface="IBM Plex Sans" pitchFamily="34" charset="-122"/>
                <a:cs typeface="IBM Plex Sans" pitchFamily="34" charset="-120"/>
              </a:rPr>
              <a:t>2014</a:t>
            </a:r>
            <a:endParaRPr lang="en-US" sz="1800" dirty="0"/>
          </a:p>
        </p:txBody>
      </p:sp>
      <p:sp>
        <p:nvSpPr>
          <p:cNvPr id="21" name="Text 19"/>
          <p:cNvSpPr/>
          <p:nvPr/>
        </p:nvSpPr>
        <p:spPr>
          <a:xfrm>
            <a:off x="8432800" y="2542381"/>
            <a:ext cx="1473200" cy="84812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F2A37"/>
                </a:solidFill>
                <a:latin typeface="IBM Plex Sans" pitchFamily="34" charset="0"/>
                <a:ea typeface="IBM Plex Sans" pitchFamily="34" charset="-122"/>
                <a:cs typeface="IBM Plex Sans" pitchFamily="34" charset="-120"/>
              </a:rPr>
              <a:t>HTML5 (W3C Rec.): semantic elements, audio, video, new form inputs</a:t>
            </a:r>
            <a:endParaRPr lang="en-US" sz="1200" dirty="0"/>
          </a:p>
        </p:txBody>
      </p:sp>
      <p:sp>
        <p:nvSpPr>
          <p:cNvPr id="22" name="Shape 20"/>
          <p:cNvSpPr/>
          <p:nvPr/>
        </p:nvSpPr>
        <p:spPr>
          <a:xfrm>
            <a:off x="9956800" y="2000151"/>
            <a:ext cx="1422400" cy="0"/>
          </a:xfrm>
          <a:prstGeom prst="line">
            <a:avLst/>
          </a:prstGeom>
          <a:noFill/>
          <a:ln w="38100">
            <a:solidFill>
              <a:srgbClr val="1D4ED8"/>
            </a:solidFill>
            <a:prstDash val="solid"/>
          </a:ln>
        </p:spPr>
      </p:sp>
      <p:sp>
        <p:nvSpPr>
          <p:cNvPr id="23" name="Text 21"/>
          <p:cNvSpPr/>
          <p:nvPr/>
        </p:nvSpPr>
        <p:spPr>
          <a:xfrm>
            <a:off x="9956800" y="2146201"/>
            <a:ext cx="1473200"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D4ED8"/>
                </a:solidFill>
                <a:latin typeface="IBM Plex Sans" pitchFamily="34" charset="0"/>
                <a:ea typeface="IBM Plex Sans" pitchFamily="34" charset="-122"/>
                <a:cs typeface="IBM Plex Sans" pitchFamily="34" charset="-120"/>
              </a:rPr>
              <a:t>2019 →</a:t>
            </a:r>
            <a:endParaRPr lang="en-US" sz="1800" dirty="0"/>
          </a:p>
        </p:txBody>
      </p:sp>
      <p:sp>
        <p:nvSpPr>
          <p:cNvPr id="24" name="Text 22"/>
          <p:cNvSpPr/>
          <p:nvPr/>
        </p:nvSpPr>
        <p:spPr>
          <a:xfrm>
            <a:off x="9956800" y="2542381"/>
            <a:ext cx="1473200" cy="848122"/>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F2A37"/>
                </a:solidFill>
                <a:latin typeface="IBM Plex Sans" pitchFamily="34" charset="0"/>
                <a:ea typeface="IBM Plex Sans" pitchFamily="34" charset="-122"/>
                <a:cs typeface="IBM Plex Sans" pitchFamily="34" charset="-120"/>
              </a:rPr>
              <a:t>WHATWG HTML Living Standard: one spec, updated continuously</a:t>
            </a:r>
            <a:endParaRPr lang="en-US" sz="1200" dirty="0"/>
          </a:p>
        </p:txBody>
      </p:sp>
      <p:sp>
        <p:nvSpPr>
          <p:cNvPr id="25" name="Text 23"/>
          <p:cNvSpPr/>
          <p:nvPr/>
        </p:nvSpPr>
        <p:spPr>
          <a:xfrm>
            <a:off x="815975" y="3622278"/>
            <a:ext cx="5200650" cy="859631"/>
          </a:xfrm>
          <a:prstGeom prst="roundRect">
            <a:avLst>
              <a:gd name="adj" fmla="val 11450"/>
            </a:avLst>
          </a:prstGeom>
          <a:solidFill>
            <a:srgbClr val="FFFDF9"/>
          </a:solidFill>
          <a:ln w="6350">
            <a:solidFill>
              <a:srgbClr val="E4E0D8"/>
            </a:solidFill>
            <a:prstDash val="solid"/>
          </a:ln>
        </p:spPr>
        <p:txBody>
          <a:bodyPr wrap="square" lIns="152147" tIns="152147" rIns="6986" bIns="126747" rtlCol="0" anchor="t">
            <a:normAutofit/>
          </a:bodyPr>
          <a:lstStyle/>
          <a:p>
            <a:pPr algn="l"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W3C</a:t>
            </a:r>
            <a:r>
              <a:rPr lang="en-US" sz="1400" dirty="0">
                <a:solidFill>
                  <a:srgbClr val="1F2A37"/>
                </a:solidFill>
                <a:latin typeface="IBM Plex Sans" pitchFamily="34" charset="0"/>
                <a:ea typeface="IBM Plex Sans" pitchFamily="34" charset="-122"/>
                <a:cs typeface="IBM Plex Sans" pitchFamily="34" charset="-120"/>
              </a:rPr>
              <a:t> — World Wide Web Consortium, founded 1994 by Berners-Lee</a:t>
            </a:r>
            <a:endParaRPr lang="en-US" sz="1400" dirty="0"/>
          </a:p>
        </p:txBody>
      </p:sp>
      <p:sp>
        <p:nvSpPr>
          <p:cNvPr id="26" name="Text 24"/>
          <p:cNvSpPr/>
          <p:nvPr/>
        </p:nvSpPr>
        <p:spPr>
          <a:xfrm>
            <a:off x="6175375" y="3622278"/>
            <a:ext cx="5200650" cy="859631"/>
          </a:xfrm>
          <a:prstGeom prst="roundRect">
            <a:avLst>
              <a:gd name="adj" fmla="val 11450"/>
            </a:avLst>
          </a:prstGeom>
          <a:solidFill>
            <a:srgbClr val="FFFDF9"/>
          </a:solidFill>
          <a:ln w="6350">
            <a:solidFill>
              <a:srgbClr val="E4E0D8"/>
            </a:solidFill>
            <a:prstDash val="solid"/>
          </a:ln>
        </p:spPr>
        <p:txBody>
          <a:bodyPr wrap="square" lIns="152147" tIns="152147" rIns="6986" bIns="126747" rtlCol="0" anchor="t">
            <a:normAutofit/>
          </a:bodyPr>
          <a:lstStyle/>
          <a:p>
            <a:pPr algn="l"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WHATWG</a:t>
            </a:r>
            <a:r>
              <a:rPr lang="en-US" sz="1400" dirty="0">
                <a:solidFill>
                  <a:srgbClr val="1F2A37"/>
                </a:solidFill>
                <a:latin typeface="IBM Plex Sans" pitchFamily="34" charset="0"/>
                <a:ea typeface="IBM Plex Sans" pitchFamily="34" charset="-122"/>
                <a:cs typeface="IBM Plex Sans" pitchFamily="34" charset="-120"/>
              </a:rPr>
              <a:t> — browser makers (Apple, Mozilla, Opera, Google) who now maintain HTML</a:t>
            </a:r>
            <a:endParaRPr lang="en-US" sz="1400" dirty="0"/>
          </a:p>
        </p:txBody>
      </p:sp>
      <p:sp>
        <p:nvSpPr>
          <p:cNvPr id="27" name="Text 2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1 · Lecture 1 — HTML Foundations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THEORY</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The three layers of a web page</a:t>
            </a:r>
            <a:endParaRPr lang="en-US" sz="3200" dirty="0"/>
          </a:p>
        </p:txBody>
      </p:sp>
      <p:sp>
        <p:nvSpPr>
          <p:cNvPr id="4" name="Shape 2"/>
          <p:cNvSpPr/>
          <p:nvPr/>
        </p:nvSpPr>
        <p:spPr>
          <a:xfrm>
            <a:off x="812800" y="1981101"/>
            <a:ext cx="3412034" cy="2369443"/>
          </a:xfrm>
          <a:prstGeom prst="roundRect">
            <a:avLst>
              <a:gd name="adj" fmla="val 4288"/>
            </a:avLst>
          </a:prstGeom>
          <a:solidFill>
            <a:srgbClr val="16202E"/>
          </a:solidFill>
          <a:ln/>
        </p:spPr>
      </p:sp>
      <p:sp>
        <p:nvSpPr>
          <p:cNvPr id="5" name="Text 3"/>
          <p:cNvSpPr/>
          <p:nvPr/>
        </p:nvSpPr>
        <p:spPr>
          <a:xfrm>
            <a:off x="1066800" y="2235101"/>
            <a:ext cx="2991155"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9E64"/>
                </a:solidFill>
                <a:latin typeface="IBM Plex Mono" pitchFamily="49" charset="0"/>
                <a:ea typeface="IBM Plex Mono" pitchFamily="49" charset="-122"/>
                <a:cs typeface="IBM Plex Mono" pitchFamily="49" charset="-120"/>
              </a:rPr>
              <a:t>HTML</a:t>
            </a:r>
            <a:endParaRPr lang="en-US" sz="1400" dirty="0"/>
          </a:p>
        </p:txBody>
      </p:sp>
      <p:sp>
        <p:nvSpPr>
          <p:cNvPr id="6" name="Text 4"/>
          <p:cNvSpPr/>
          <p:nvPr/>
        </p:nvSpPr>
        <p:spPr>
          <a:xfrm>
            <a:off x="1066800" y="2585541"/>
            <a:ext cx="2991155"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7F5F0"/>
                </a:solidFill>
                <a:latin typeface="IBM Plex Sans" pitchFamily="34" charset="0"/>
                <a:ea typeface="IBM Plex Sans" pitchFamily="34" charset="-122"/>
                <a:cs typeface="IBM Plex Sans" pitchFamily="34" charset="-120"/>
              </a:rPr>
              <a:t>Structure</a:t>
            </a:r>
            <a:endParaRPr lang="en-US" sz="2200" dirty="0"/>
          </a:p>
        </p:txBody>
      </p:sp>
      <p:sp>
        <p:nvSpPr>
          <p:cNvPr id="7" name="Text 5"/>
          <p:cNvSpPr/>
          <p:nvPr/>
        </p:nvSpPr>
        <p:spPr>
          <a:xfrm>
            <a:off x="1066800" y="3022402"/>
            <a:ext cx="2991155"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4E0"/>
                </a:solidFill>
                <a:latin typeface="IBM Plex Sans" pitchFamily="34" charset="0"/>
                <a:ea typeface="IBM Plex Sans" pitchFamily="34" charset="-122"/>
                <a:cs typeface="IBM Plex Sans" pitchFamily="34" charset="-120"/>
              </a:rPr>
              <a:t>What the content </a:t>
            </a:r>
            <a:r>
              <a:rPr lang="en-US" sz="1400" b="1" dirty="0">
                <a:solidFill>
                  <a:srgbClr val="C9D4E0"/>
                </a:solidFill>
                <a:latin typeface="IBM Plex Sans" pitchFamily="34" charset="0"/>
                <a:ea typeface="IBM Plex Sans" pitchFamily="34" charset="-122"/>
                <a:cs typeface="IBM Plex Sans" pitchFamily="34" charset="-120"/>
              </a:rPr>
              <a:t>is</a:t>
            </a:r>
            <a:r>
              <a:rPr lang="en-US" sz="1400" dirty="0">
                <a:solidFill>
                  <a:srgbClr val="C9D4E0"/>
                </a:solidFill>
                <a:latin typeface="IBM Plex Sans" pitchFamily="34" charset="0"/>
                <a:ea typeface="IBM Plex Sans" pitchFamily="34" charset="-122"/>
                <a:cs typeface="IBM Plex Sans" pitchFamily="34" charset="-120"/>
              </a:rPr>
              <a:t>: headings, paragraphs, images, links, forms.</a:t>
            </a:r>
            <a:endParaRPr lang="en-US" sz="1400" dirty="0"/>
          </a:p>
        </p:txBody>
      </p:sp>
      <p:sp>
        <p:nvSpPr>
          <p:cNvPr id="8" name="Text 6"/>
          <p:cNvSpPr/>
          <p:nvPr/>
        </p:nvSpPr>
        <p:spPr>
          <a:xfrm>
            <a:off x="1066800" y="3621683"/>
            <a:ext cx="299115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9FB0C3"/>
                </a:solidFill>
                <a:latin typeface="IBM Plex Sans" pitchFamily="34" charset="0"/>
                <a:ea typeface="IBM Plex Sans" pitchFamily="34" charset="-122"/>
                <a:cs typeface="IBM Plex Sans" pitchFamily="34" charset="-120"/>
              </a:rPr>
              <a:t>House analogy: walls and rooms</a:t>
            </a:r>
            <a:endParaRPr lang="en-US" sz="1300" dirty="0"/>
          </a:p>
        </p:txBody>
      </p:sp>
      <p:sp>
        <p:nvSpPr>
          <p:cNvPr id="9" name="Shape 7"/>
          <p:cNvSpPr/>
          <p:nvPr/>
        </p:nvSpPr>
        <p:spPr>
          <a:xfrm>
            <a:off x="4380409" y="1984276"/>
            <a:ext cx="3418483" cy="2363093"/>
          </a:xfrm>
          <a:prstGeom prst="roundRect">
            <a:avLst>
              <a:gd name="adj" fmla="val 4165"/>
            </a:avLst>
          </a:prstGeom>
          <a:solidFill>
            <a:srgbClr val="FFFDF9"/>
          </a:solidFill>
          <a:ln w="6350">
            <a:solidFill>
              <a:srgbClr val="E4E0D8"/>
            </a:solidFill>
            <a:prstDash val="solid"/>
          </a:ln>
        </p:spPr>
      </p:sp>
      <p:sp>
        <p:nvSpPr>
          <p:cNvPr id="10" name="Text 8"/>
          <p:cNvSpPr/>
          <p:nvPr/>
        </p:nvSpPr>
        <p:spPr>
          <a:xfrm>
            <a:off x="4637584" y="2241451"/>
            <a:ext cx="2991257"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4ED8"/>
                </a:solidFill>
                <a:latin typeface="IBM Plex Mono" pitchFamily="49" charset="0"/>
                <a:ea typeface="IBM Plex Mono" pitchFamily="49" charset="-122"/>
                <a:cs typeface="IBM Plex Mono" pitchFamily="49" charset="-120"/>
              </a:rPr>
              <a:t>CSS</a:t>
            </a:r>
            <a:endParaRPr lang="en-US" sz="1400" dirty="0"/>
          </a:p>
        </p:txBody>
      </p:sp>
      <p:sp>
        <p:nvSpPr>
          <p:cNvPr id="11" name="Text 9"/>
          <p:cNvSpPr/>
          <p:nvPr/>
        </p:nvSpPr>
        <p:spPr>
          <a:xfrm>
            <a:off x="4637584" y="2591891"/>
            <a:ext cx="2991257"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6202E"/>
                </a:solidFill>
                <a:latin typeface="IBM Plex Sans" pitchFamily="34" charset="0"/>
                <a:ea typeface="IBM Plex Sans" pitchFamily="34" charset="-122"/>
                <a:cs typeface="IBM Plex Sans" pitchFamily="34" charset="-120"/>
              </a:rPr>
              <a:t>Presentation</a:t>
            </a:r>
            <a:endParaRPr lang="en-US" sz="2200" dirty="0"/>
          </a:p>
        </p:txBody>
      </p:sp>
      <p:sp>
        <p:nvSpPr>
          <p:cNvPr id="12" name="Text 10"/>
          <p:cNvSpPr/>
          <p:nvPr/>
        </p:nvSpPr>
        <p:spPr>
          <a:xfrm>
            <a:off x="4637584" y="3028752"/>
            <a:ext cx="2991257"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How it </a:t>
            </a:r>
            <a:r>
              <a:rPr lang="en-US" sz="1400" b="1" dirty="0">
                <a:solidFill>
                  <a:srgbClr val="1F2A37"/>
                </a:solidFill>
                <a:latin typeface="IBM Plex Sans" pitchFamily="34" charset="0"/>
                <a:ea typeface="IBM Plex Sans" pitchFamily="34" charset="-122"/>
                <a:cs typeface="IBM Plex Sans" pitchFamily="34" charset="-120"/>
              </a:rPr>
              <a:t>looks</a:t>
            </a:r>
            <a:r>
              <a:rPr lang="en-US" sz="1400" dirty="0">
                <a:solidFill>
                  <a:srgbClr val="1F2A37"/>
                </a:solidFill>
                <a:latin typeface="IBM Plex Sans" pitchFamily="34" charset="0"/>
                <a:ea typeface="IBM Plex Sans" pitchFamily="34" charset="-122"/>
                <a:cs typeface="IBM Plex Sans" pitchFamily="34" charset="-120"/>
              </a:rPr>
              <a:t>: colours, fonts, spacing, layout, responsiveness.</a:t>
            </a:r>
            <a:endParaRPr lang="en-US" sz="1400" dirty="0"/>
          </a:p>
        </p:txBody>
      </p:sp>
      <p:sp>
        <p:nvSpPr>
          <p:cNvPr id="13" name="Text 11"/>
          <p:cNvSpPr/>
          <p:nvPr/>
        </p:nvSpPr>
        <p:spPr>
          <a:xfrm>
            <a:off x="4637584" y="3628033"/>
            <a:ext cx="299125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467"/>
                </a:solidFill>
                <a:latin typeface="IBM Plex Sans" pitchFamily="34" charset="0"/>
                <a:ea typeface="IBM Plex Sans" pitchFamily="34" charset="-122"/>
                <a:cs typeface="IBM Plex Sans" pitchFamily="34" charset="-120"/>
              </a:rPr>
              <a:t>House analogy: paint and furniture</a:t>
            </a:r>
            <a:endParaRPr lang="en-US" sz="1300" dirty="0"/>
          </a:p>
        </p:txBody>
      </p:sp>
      <p:sp>
        <p:nvSpPr>
          <p:cNvPr id="14" name="Shape 12"/>
          <p:cNvSpPr/>
          <p:nvPr/>
        </p:nvSpPr>
        <p:spPr>
          <a:xfrm>
            <a:off x="7957641" y="1984276"/>
            <a:ext cx="3418384" cy="2363093"/>
          </a:xfrm>
          <a:prstGeom prst="roundRect">
            <a:avLst>
              <a:gd name="adj" fmla="val 4165"/>
            </a:avLst>
          </a:prstGeom>
          <a:solidFill>
            <a:srgbClr val="FFFDF9"/>
          </a:solidFill>
          <a:ln w="6350">
            <a:solidFill>
              <a:srgbClr val="E4E0D8"/>
            </a:solidFill>
            <a:prstDash val="solid"/>
          </a:ln>
        </p:spPr>
      </p:sp>
      <p:sp>
        <p:nvSpPr>
          <p:cNvPr id="15" name="Text 13"/>
          <p:cNvSpPr/>
          <p:nvPr/>
        </p:nvSpPr>
        <p:spPr>
          <a:xfrm>
            <a:off x="8214816" y="2241451"/>
            <a:ext cx="2991155"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D4ED8"/>
                </a:solidFill>
                <a:latin typeface="IBM Plex Mono" pitchFamily="49" charset="0"/>
                <a:ea typeface="IBM Plex Mono" pitchFamily="49" charset="-122"/>
                <a:cs typeface="IBM Plex Mono" pitchFamily="49" charset="-120"/>
              </a:rPr>
              <a:t>JavaScript</a:t>
            </a:r>
            <a:endParaRPr lang="en-US" sz="1400" dirty="0"/>
          </a:p>
        </p:txBody>
      </p:sp>
      <p:sp>
        <p:nvSpPr>
          <p:cNvPr id="16" name="Text 14"/>
          <p:cNvSpPr/>
          <p:nvPr/>
        </p:nvSpPr>
        <p:spPr>
          <a:xfrm>
            <a:off x="8214816" y="2591891"/>
            <a:ext cx="2991155"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6202E"/>
                </a:solidFill>
                <a:latin typeface="IBM Plex Sans" pitchFamily="34" charset="0"/>
                <a:ea typeface="IBM Plex Sans" pitchFamily="34" charset="-122"/>
                <a:cs typeface="IBM Plex Sans" pitchFamily="34" charset="-120"/>
              </a:rPr>
              <a:t>Behaviour</a:t>
            </a:r>
            <a:endParaRPr lang="en-US" sz="2200" dirty="0"/>
          </a:p>
        </p:txBody>
      </p:sp>
      <p:sp>
        <p:nvSpPr>
          <p:cNvPr id="17" name="Text 15"/>
          <p:cNvSpPr/>
          <p:nvPr/>
        </p:nvSpPr>
        <p:spPr>
          <a:xfrm>
            <a:off x="8214816" y="3028752"/>
            <a:ext cx="2991155"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What it </a:t>
            </a:r>
            <a:r>
              <a:rPr lang="en-US" sz="1400" b="1" dirty="0">
                <a:solidFill>
                  <a:srgbClr val="1F2A37"/>
                </a:solidFill>
                <a:latin typeface="IBM Plex Sans" pitchFamily="34" charset="0"/>
                <a:ea typeface="IBM Plex Sans" pitchFamily="34" charset="-122"/>
                <a:cs typeface="IBM Plex Sans" pitchFamily="34" charset="-120"/>
              </a:rPr>
              <a:t>does</a:t>
            </a:r>
            <a:r>
              <a:rPr lang="en-US" sz="1400" dirty="0">
                <a:solidFill>
                  <a:srgbClr val="1F2A37"/>
                </a:solidFill>
                <a:latin typeface="IBM Plex Sans" pitchFamily="34" charset="0"/>
                <a:ea typeface="IBM Plex Sans" pitchFamily="34" charset="-122"/>
                <a:cs typeface="IBM Plex Sans" pitchFamily="34" charset="-120"/>
              </a:rPr>
              <a:t>: reacts to clicks, validates, updates content.</a:t>
            </a:r>
            <a:endParaRPr lang="en-US" sz="1400" dirty="0"/>
          </a:p>
        </p:txBody>
      </p:sp>
      <p:sp>
        <p:nvSpPr>
          <p:cNvPr id="18" name="Text 16"/>
          <p:cNvSpPr/>
          <p:nvPr/>
        </p:nvSpPr>
        <p:spPr>
          <a:xfrm>
            <a:off x="8214816" y="3628033"/>
            <a:ext cx="299115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467"/>
                </a:solidFill>
                <a:latin typeface="IBM Plex Sans" pitchFamily="34" charset="0"/>
                <a:ea typeface="IBM Plex Sans" pitchFamily="34" charset="-122"/>
                <a:cs typeface="IBM Plex Sans" pitchFamily="34" charset="-120"/>
              </a:rPr>
              <a:t>House analogy: electricity and plumbing</a:t>
            </a:r>
            <a:endParaRPr lang="en-US" sz="1300" dirty="0"/>
          </a:p>
        </p:txBody>
      </p:sp>
      <p:sp>
        <p:nvSpPr>
          <p:cNvPr id="19" name="Text 17"/>
          <p:cNvSpPr/>
          <p:nvPr/>
        </p:nvSpPr>
        <p:spPr>
          <a:xfrm>
            <a:off x="812800" y="4604544"/>
            <a:ext cx="10883392"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2A37"/>
                </a:solidFill>
                <a:latin typeface="IBM Plex Sans" pitchFamily="34" charset="0"/>
                <a:ea typeface="IBM Plex Sans" pitchFamily="34" charset="-122"/>
                <a:cs typeface="IBM Plex Sans" pitchFamily="34" charset="-120"/>
              </a:rPr>
              <a:t>Separation of concerns:</a:t>
            </a:r>
            <a:r>
              <a:rPr lang="en-US" sz="1500" dirty="0">
                <a:solidFill>
                  <a:srgbClr val="1F2A37"/>
                </a:solidFill>
                <a:latin typeface="IBM Plex Sans" pitchFamily="34" charset="0"/>
                <a:ea typeface="IBM Plex Sans" pitchFamily="34" charset="-122"/>
                <a:cs typeface="IBM Plex Sans" pitchFamily="34" charset="-120"/>
              </a:rPr>
              <a:t> keep each layer in its own file. You can restyle a site without touching its HTML, and the content still works if CSS or JS fails to load.</a:t>
            </a:r>
            <a:endParaRPr lang="en-US" sz="15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1 · Lecture 1 — HTML Foundations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THEORY</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Anatomy of an element</a:t>
            </a:r>
            <a:endParaRPr lang="en-US" sz="3200" dirty="0"/>
          </a:p>
        </p:txBody>
      </p:sp>
      <p:sp>
        <p:nvSpPr>
          <p:cNvPr id="4" name="Text 2"/>
          <p:cNvSpPr/>
          <p:nvPr/>
        </p:nvSpPr>
        <p:spPr>
          <a:xfrm>
            <a:off x="812800" y="1981101"/>
            <a:ext cx="3927078" cy="695920"/>
          </a:xfrm>
          <a:custGeom>
            <a:avLst/>
            <a:gdLst/>
            <a:ahLst/>
            <a:cxnLst/>
            <a:rect l="l" t="t" r="r" b="b"/>
            <a:pathLst>
              <a:path w="3927078" h="695920">
                <a:moveTo>
                  <a:pt x="101600" y="0"/>
                </a:moveTo>
                <a:lnTo>
                  <a:pt x="3927078" y="0"/>
                </a:lnTo>
                <a:lnTo>
                  <a:pt x="3927078" y="695920"/>
                </a:lnTo>
                <a:lnTo>
                  <a:pt x="101600" y="695920"/>
                </a:lnTo>
                <a:arcTo hR="101600" wR="101600" stAng="5400000" swAng="5400000"/>
                <a:lnTo>
                  <a:pt x="0" y="101600"/>
                </a:lnTo>
                <a:arcTo hR="101600" wR="101600" stAng="10800000" swAng="5400000"/>
                <a:close/>
              </a:path>
            </a:pathLst>
          </a:custGeom>
          <a:solidFill>
            <a:srgbClr val="1B2430"/>
          </a:solidFill>
          <a:ln/>
        </p:spPr>
        <p:txBody>
          <a:bodyPr wrap="none" lIns="0" tIns="0" rIns="0" bIns="0" rtlCol="0" anchor="ctr">
            <a:normAutofit/>
          </a:bodyPr>
          <a:lstStyle/>
          <a:p>
            <a:pPr algn="ctr" indent="0" marL="0">
              <a:lnSpc>
                <a:spcPts val="3080"/>
              </a:lnSpc>
              <a:buNone/>
            </a:pPr>
            <a:r>
              <a:rPr lang="en-US" sz="2200" dirty="0">
                <a:solidFill>
                  <a:srgbClr val="FF9E64"/>
                </a:solidFill>
                <a:latin typeface="IBM Plex Mono" pitchFamily="49" charset="0"/>
                <a:ea typeface="IBM Plex Mono" pitchFamily="49" charset="-122"/>
                <a:cs typeface="IBM Plex Mono" pitchFamily="49" charset="-120"/>
              </a:rPr>
              <a:t>&lt;a </a:t>
            </a:r>
            <a:r>
              <a:rPr lang="en-US" sz="2200" dirty="0">
                <a:solidFill>
                  <a:srgbClr val="7DCFFF"/>
                </a:solidFill>
                <a:latin typeface="IBM Plex Mono" pitchFamily="49" charset="0"/>
                <a:ea typeface="IBM Plex Mono" pitchFamily="49" charset="-122"/>
                <a:cs typeface="IBM Plex Mono" pitchFamily="49" charset="-120"/>
              </a:rPr>
              <a:t>href</a:t>
            </a:r>
            <a:r>
              <a:rPr lang="en-US" sz="2200" dirty="0">
                <a:solidFill>
                  <a:srgbClr val="FF9E64"/>
                </a:solidFill>
                <a:latin typeface="IBM Plex Mono" pitchFamily="49" charset="0"/>
                <a:ea typeface="IBM Plex Mono" pitchFamily="49" charset="-122"/>
                <a:cs typeface="IBM Plex Mono" pitchFamily="49" charset="-120"/>
              </a:rPr>
              <a:t>=</a:t>
            </a:r>
            <a:r>
              <a:rPr lang="en-US" sz="2200" dirty="0">
                <a:solidFill>
                  <a:srgbClr val="9ECE6A"/>
                </a:solidFill>
                <a:latin typeface="IBM Plex Mono" pitchFamily="49" charset="0"/>
                <a:ea typeface="IBM Plex Mono" pitchFamily="49" charset="-122"/>
                <a:cs typeface="IBM Plex Mono" pitchFamily="49" charset="-120"/>
              </a:rPr>
              <a:t>"about.html"</a:t>
            </a:r>
            <a:r>
              <a:rPr lang="en-US" sz="2200" dirty="0">
                <a:solidFill>
                  <a:srgbClr val="FF9E64"/>
                </a:solidFill>
                <a:latin typeface="IBM Plex Mono" pitchFamily="49" charset="0"/>
                <a:ea typeface="IBM Plex Mono" pitchFamily="49" charset="-122"/>
                <a:cs typeface="IBM Plex Mono" pitchFamily="49" charset="-120"/>
              </a:rPr>
              <a:t>&gt;</a:t>
            </a:r>
            <a:endParaRPr lang="en-US" sz="2200" dirty="0"/>
          </a:p>
        </p:txBody>
      </p:sp>
      <p:sp>
        <p:nvSpPr>
          <p:cNvPr id="5" name="Text 3"/>
          <p:cNvSpPr/>
          <p:nvPr/>
        </p:nvSpPr>
        <p:spPr>
          <a:xfrm>
            <a:off x="812800" y="2753221"/>
            <a:ext cx="404489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75467"/>
                </a:solidFill>
                <a:latin typeface="IBM Plex Sans" pitchFamily="34" charset="0"/>
                <a:ea typeface="IBM Plex Sans" pitchFamily="34" charset="-122"/>
                <a:cs typeface="IBM Plex Sans" pitchFamily="34" charset="-120"/>
              </a:rPr>
              <a:t>Opening tag</a:t>
            </a:r>
            <a:endParaRPr lang="en-US" sz="1300" dirty="0"/>
          </a:p>
        </p:txBody>
      </p:sp>
      <p:sp>
        <p:nvSpPr>
          <p:cNvPr id="6" name="Text 4"/>
          <p:cNvSpPr/>
          <p:nvPr/>
        </p:nvSpPr>
        <p:spPr>
          <a:xfrm>
            <a:off x="4739878" y="1981101"/>
            <a:ext cx="1747540" cy="695920"/>
          </a:xfrm>
          <a:prstGeom prst="rect">
            <a:avLst/>
          </a:prstGeom>
          <a:solidFill>
            <a:srgbClr val="FCE7DA"/>
          </a:solidFill>
          <a:ln/>
        </p:spPr>
        <p:txBody>
          <a:bodyPr wrap="none" lIns="0" tIns="0" rIns="0" bIns="0" rtlCol="0" anchor="ctr">
            <a:normAutofit/>
          </a:bodyPr>
          <a:lstStyle/>
          <a:p>
            <a:pPr algn="ctr" indent="0" marL="0">
              <a:lnSpc>
                <a:spcPts val="3080"/>
              </a:lnSpc>
              <a:buNone/>
            </a:pPr>
            <a:r>
              <a:rPr lang="en-US" sz="2200" dirty="0">
                <a:solidFill>
                  <a:srgbClr val="16202E"/>
                </a:solidFill>
                <a:latin typeface="IBM Plex Mono" pitchFamily="49" charset="0"/>
                <a:ea typeface="IBM Plex Mono" pitchFamily="49" charset="-122"/>
                <a:cs typeface="IBM Plex Mono" pitchFamily="49" charset="-120"/>
              </a:rPr>
              <a:t>About us</a:t>
            </a:r>
            <a:endParaRPr lang="en-US" sz="2200" dirty="0"/>
          </a:p>
        </p:txBody>
      </p:sp>
      <p:sp>
        <p:nvSpPr>
          <p:cNvPr id="7" name="Text 5"/>
          <p:cNvSpPr/>
          <p:nvPr/>
        </p:nvSpPr>
        <p:spPr>
          <a:xfrm>
            <a:off x="4739878" y="2753221"/>
            <a:ext cx="1799966"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75467"/>
                </a:solidFill>
                <a:latin typeface="IBM Plex Sans" pitchFamily="34" charset="0"/>
                <a:ea typeface="IBM Plex Sans" pitchFamily="34" charset="-122"/>
                <a:cs typeface="IBM Plex Sans" pitchFamily="34" charset="-120"/>
              </a:rPr>
              <a:t>Content</a:t>
            </a:r>
            <a:endParaRPr lang="en-US" sz="1300" dirty="0"/>
          </a:p>
        </p:txBody>
      </p:sp>
      <p:sp>
        <p:nvSpPr>
          <p:cNvPr id="8" name="Text 6"/>
          <p:cNvSpPr/>
          <p:nvPr/>
        </p:nvSpPr>
        <p:spPr>
          <a:xfrm>
            <a:off x="6487418" y="1981101"/>
            <a:ext cx="1739205" cy="695920"/>
          </a:xfrm>
          <a:custGeom>
            <a:avLst/>
            <a:gdLst/>
            <a:ahLst/>
            <a:cxnLst/>
            <a:rect l="l" t="t" r="r" b="b"/>
            <a:pathLst>
              <a:path w="1739205" h="695920">
                <a:moveTo>
                  <a:pt x="0" y="0"/>
                </a:moveTo>
                <a:lnTo>
                  <a:pt x="1637605" y="0"/>
                </a:lnTo>
                <a:arcTo hR="101600" wR="101600" stAng="16200000" swAng="5400000"/>
                <a:lnTo>
                  <a:pt x="1739205" y="594320"/>
                </a:lnTo>
                <a:arcTo hR="101600" wR="101600" stAng="0" swAng="5400000"/>
                <a:lnTo>
                  <a:pt x="0" y="695920"/>
                </a:lnTo>
                <a:lnTo>
                  <a:pt x="0" y="0"/>
                </a:lnTo>
                <a:close/>
              </a:path>
            </a:pathLst>
          </a:custGeom>
          <a:solidFill>
            <a:srgbClr val="1B2430"/>
          </a:solidFill>
          <a:ln/>
        </p:spPr>
        <p:txBody>
          <a:bodyPr wrap="square" lIns="203200" tIns="152400" rIns="152400" bIns="127000" rtlCol="0" anchor="t">
            <a:normAutofit/>
          </a:bodyPr>
          <a:lstStyle/>
          <a:p>
            <a:pPr algn="l" indent="0" marL="0">
              <a:lnSpc>
                <a:spcPts val="3080"/>
              </a:lnSpc>
              <a:buNone/>
            </a:pPr>
            <a:r>
              <a:rPr lang="en-US" sz="2200" dirty="0">
                <a:solidFill>
                  <a:srgbClr val="FF9E64"/>
                </a:solidFill>
                <a:latin typeface="IBM Plex Mono" pitchFamily="49" charset="0"/>
                <a:ea typeface="IBM Plex Mono" pitchFamily="49" charset="-122"/>
                <a:cs typeface="IBM Plex Mono" pitchFamily="49" charset="-120"/>
              </a:rPr>
              <a:t>&lt;/a&gt;</a:t>
            </a:r>
            <a:endParaRPr lang="en-US" sz="2200" dirty="0"/>
          </a:p>
        </p:txBody>
      </p:sp>
      <p:sp>
        <p:nvSpPr>
          <p:cNvPr id="9" name="Text 7"/>
          <p:cNvSpPr/>
          <p:nvPr/>
        </p:nvSpPr>
        <p:spPr>
          <a:xfrm>
            <a:off x="6487418" y="2753221"/>
            <a:ext cx="2087047"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75467"/>
                </a:solidFill>
                <a:latin typeface="IBM Plex Sans" pitchFamily="34" charset="0"/>
                <a:ea typeface="IBM Plex Sans" pitchFamily="34" charset="-122"/>
                <a:cs typeface="IBM Plex Sans" pitchFamily="34" charset="-120"/>
              </a:rPr>
              <a:t>Closing tag (note the /)</a:t>
            </a:r>
            <a:endParaRPr lang="en-US" sz="1300" dirty="0"/>
          </a:p>
        </p:txBody>
      </p:sp>
      <p:sp>
        <p:nvSpPr>
          <p:cNvPr id="10" name="Shape 8"/>
          <p:cNvSpPr/>
          <p:nvPr/>
        </p:nvSpPr>
        <p:spPr>
          <a:xfrm>
            <a:off x="812800" y="3098602"/>
            <a:ext cx="7493000" cy="0"/>
          </a:xfrm>
          <a:prstGeom prst="line">
            <a:avLst/>
          </a:prstGeom>
          <a:noFill/>
          <a:ln w="25400">
            <a:solidFill>
              <a:srgbClr val="16202E"/>
            </a:solidFill>
            <a:prstDash val="solid"/>
          </a:ln>
        </p:spPr>
      </p:sp>
      <p:sp>
        <p:nvSpPr>
          <p:cNvPr id="11" name="Text 9"/>
          <p:cNvSpPr/>
          <p:nvPr/>
        </p:nvSpPr>
        <p:spPr>
          <a:xfrm>
            <a:off x="812800" y="3212902"/>
            <a:ext cx="771779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2A37"/>
                </a:solidFill>
                <a:latin typeface="IBM Plex Sans" pitchFamily="34" charset="0"/>
                <a:ea typeface="IBM Plex Sans" pitchFamily="34" charset="-122"/>
                <a:cs typeface="IBM Plex Sans" pitchFamily="34" charset="-120"/>
              </a:rPr>
              <a:t>Element</a:t>
            </a:r>
            <a:r>
              <a:rPr lang="en-US" sz="1500" dirty="0">
                <a:solidFill>
                  <a:srgbClr val="1F2A37"/>
                </a:solidFill>
                <a:latin typeface="IBM Plex Sans" pitchFamily="34" charset="0"/>
                <a:ea typeface="IBM Plex Sans" pitchFamily="34" charset="-122"/>
                <a:cs typeface="IBM Plex Sans" pitchFamily="34" charset="-120"/>
              </a:rPr>
              <a:t> = opening tag + content + closing tag</a:t>
            </a:r>
            <a:endParaRPr lang="en-US" sz="1500" dirty="0"/>
          </a:p>
        </p:txBody>
      </p:sp>
      <p:sp>
        <p:nvSpPr>
          <p:cNvPr id="12" name="Shape 10"/>
          <p:cNvSpPr/>
          <p:nvPr/>
        </p:nvSpPr>
        <p:spPr>
          <a:xfrm>
            <a:off x="815975" y="3736777"/>
            <a:ext cx="3055045" cy="1103511"/>
          </a:xfrm>
          <a:prstGeom prst="roundRect">
            <a:avLst>
              <a:gd name="adj" fmla="val 8919"/>
            </a:avLst>
          </a:prstGeom>
          <a:solidFill>
            <a:srgbClr val="FFFDF9"/>
          </a:solidFill>
          <a:ln w="6350">
            <a:solidFill>
              <a:srgbClr val="E4E0D8"/>
            </a:solidFill>
            <a:prstDash val="solid"/>
          </a:ln>
        </p:spPr>
      </p:sp>
      <p:sp>
        <p:nvSpPr>
          <p:cNvPr id="13" name="Text 11"/>
          <p:cNvSpPr/>
          <p:nvPr/>
        </p:nvSpPr>
        <p:spPr>
          <a:xfrm>
            <a:off x="996950" y="3917752"/>
            <a:ext cx="277388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D4ED8"/>
                </a:solidFill>
                <a:latin typeface="IBM Plex Sans" pitchFamily="34" charset="0"/>
                <a:ea typeface="IBM Plex Sans" pitchFamily="34" charset="-122"/>
                <a:cs typeface="IBM Plex Sans" pitchFamily="34" charset="-120"/>
              </a:rPr>
              <a:t>Attribute name</a:t>
            </a:r>
            <a:endParaRPr lang="en-US" sz="1500" dirty="0"/>
          </a:p>
        </p:txBody>
      </p:sp>
      <p:sp>
        <p:nvSpPr>
          <p:cNvPr id="14" name="Text 12"/>
          <p:cNvSpPr/>
          <p:nvPr/>
        </p:nvSpPr>
        <p:spPr>
          <a:xfrm>
            <a:off x="996950" y="4197152"/>
            <a:ext cx="2773887" cy="487561"/>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2A37"/>
                </a:solidFill>
                <a:latin typeface="IBM Plex Sans" pitchFamily="34" charset="0"/>
                <a:ea typeface="IBM Plex Sans" pitchFamily="34" charset="-122"/>
                <a:cs typeface="IBM Plex Sans" pitchFamily="34" charset="-120"/>
              </a:rPr>
              <a:t>href</a:t>
            </a:r>
            <a:r>
              <a:rPr lang="en-US" sz="1300" dirty="0">
                <a:solidFill>
                  <a:srgbClr val="1F2A37"/>
                </a:solidFill>
                <a:latin typeface="IBM Plex Sans" pitchFamily="34" charset="0"/>
                <a:ea typeface="IBM Plex Sans" pitchFamily="34" charset="-122"/>
                <a:cs typeface="IBM Plex Sans" pitchFamily="34" charset="-120"/>
              </a:rPr>
              <a:t> — extra information about the element</a:t>
            </a:r>
            <a:endParaRPr lang="en-US" sz="1300" dirty="0"/>
          </a:p>
        </p:txBody>
      </p:sp>
      <p:sp>
        <p:nvSpPr>
          <p:cNvPr id="15" name="Shape 13"/>
          <p:cNvSpPr/>
          <p:nvPr/>
        </p:nvSpPr>
        <p:spPr>
          <a:xfrm>
            <a:off x="4029770" y="3736777"/>
            <a:ext cx="3055144" cy="1103511"/>
          </a:xfrm>
          <a:prstGeom prst="roundRect">
            <a:avLst>
              <a:gd name="adj" fmla="val 8919"/>
            </a:avLst>
          </a:prstGeom>
          <a:solidFill>
            <a:srgbClr val="FFFDF9"/>
          </a:solidFill>
          <a:ln w="6350">
            <a:solidFill>
              <a:srgbClr val="E4E0D8"/>
            </a:solidFill>
            <a:prstDash val="solid"/>
          </a:ln>
        </p:spPr>
      </p:sp>
      <p:sp>
        <p:nvSpPr>
          <p:cNvPr id="16" name="Text 14"/>
          <p:cNvSpPr/>
          <p:nvPr/>
        </p:nvSpPr>
        <p:spPr>
          <a:xfrm>
            <a:off x="4210745" y="3917752"/>
            <a:ext cx="277399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3F7A1E"/>
                </a:solidFill>
                <a:latin typeface="IBM Plex Sans" pitchFamily="34" charset="0"/>
                <a:ea typeface="IBM Plex Sans" pitchFamily="34" charset="-122"/>
                <a:cs typeface="IBM Plex Sans" pitchFamily="34" charset="-120"/>
              </a:rPr>
              <a:t>Attribute value</a:t>
            </a:r>
            <a:endParaRPr lang="en-US" sz="1500" dirty="0"/>
          </a:p>
        </p:txBody>
      </p:sp>
      <p:sp>
        <p:nvSpPr>
          <p:cNvPr id="17" name="Text 15"/>
          <p:cNvSpPr/>
          <p:nvPr/>
        </p:nvSpPr>
        <p:spPr>
          <a:xfrm>
            <a:off x="4210745" y="4197152"/>
            <a:ext cx="277399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F2A37"/>
                </a:solidFill>
                <a:latin typeface="IBM Plex Sans" pitchFamily="34" charset="0"/>
                <a:ea typeface="IBM Plex Sans" pitchFamily="34" charset="-122"/>
                <a:cs typeface="IBM Plex Sans" pitchFamily="34" charset="-120"/>
              </a:rPr>
              <a:t>"about.html"</a:t>
            </a:r>
            <a:r>
              <a:rPr lang="en-US" sz="1300" dirty="0">
                <a:solidFill>
                  <a:srgbClr val="1F2A37"/>
                </a:solidFill>
                <a:latin typeface="IBM Plex Sans" pitchFamily="34" charset="0"/>
                <a:ea typeface="IBM Plex Sans" pitchFamily="34" charset="-122"/>
                <a:cs typeface="IBM Plex Sans" pitchFamily="34" charset="-120"/>
              </a:rPr>
              <a:t> — always in quotes</a:t>
            </a:r>
            <a:endParaRPr lang="en-US" sz="1300" dirty="0"/>
          </a:p>
        </p:txBody>
      </p:sp>
      <p:sp>
        <p:nvSpPr>
          <p:cNvPr id="18" name="Shape 16"/>
          <p:cNvSpPr/>
          <p:nvPr/>
        </p:nvSpPr>
        <p:spPr>
          <a:xfrm>
            <a:off x="7243663" y="3736777"/>
            <a:ext cx="4132362" cy="1103511"/>
          </a:xfrm>
          <a:prstGeom prst="roundRect">
            <a:avLst>
              <a:gd name="adj" fmla="val 8919"/>
            </a:avLst>
          </a:prstGeom>
          <a:solidFill>
            <a:srgbClr val="FFFDF9"/>
          </a:solidFill>
          <a:ln w="6350">
            <a:solidFill>
              <a:srgbClr val="E4E0D8"/>
            </a:solidFill>
            <a:prstDash val="solid"/>
          </a:ln>
        </p:spPr>
      </p:sp>
      <p:sp>
        <p:nvSpPr>
          <p:cNvPr id="19" name="Text 17"/>
          <p:cNvSpPr/>
          <p:nvPr/>
        </p:nvSpPr>
        <p:spPr>
          <a:xfrm>
            <a:off x="7424638" y="3917752"/>
            <a:ext cx="388352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202E"/>
                </a:solidFill>
                <a:latin typeface="IBM Plex Sans" pitchFamily="34" charset="0"/>
                <a:ea typeface="IBM Plex Sans" pitchFamily="34" charset="-122"/>
                <a:cs typeface="IBM Plex Sans" pitchFamily="34" charset="-120"/>
              </a:rPr>
              <a:t>Rules</a:t>
            </a:r>
            <a:endParaRPr lang="en-US" sz="1500" dirty="0"/>
          </a:p>
        </p:txBody>
      </p:sp>
      <p:sp>
        <p:nvSpPr>
          <p:cNvPr id="20" name="Text 18"/>
          <p:cNvSpPr/>
          <p:nvPr/>
        </p:nvSpPr>
        <p:spPr>
          <a:xfrm>
            <a:off x="7424638" y="4197152"/>
            <a:ext cx="388352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Only in the opening tag · name="value" · several separated by spaces · any order</a:t>
            </a:r>
            <a:endParaRPr lang="en-US" sz="1300" dirty="0"/>
          </a:p>
        </p:txBody>
      </p:sp>
      <p:sp>
        <p:nvSpPr>
          <p:cNvPr id="21" name="Text 1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1 · Lecture 1 — HTML Foundations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THEORY</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Void (empty) elements have no closing tag</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93801"/>
          <a:ext cx="6718300" cy="2701727"/>
        </p:xfrm>
        <a:graphic>
          <a:graphicData uri="http://schemas.openxmlformats.org/drawingml/2006/table">
            <a:tbl>
              <a:tblPr/>
              <a:tblGrid>
                <a:gridCol w="1478026"/>
                <a:gridCol w="2552954"/>
                <a:gridCol w="2687320"/>
              </a:tblGrid>
              <a:tr h="385961">
                <a:tc>
                  <a:txBody>
                    <a:bodyPr/>
                    <a:lstStyle/>
                    <a:p>
                      <a:pPr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Element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Purpose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Example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r>
              <a:tr h="385961">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br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Line break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&lt;br&gt;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hr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Thematic break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&lt;hr&gt;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img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Embed an image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&lt;img src="a.jpg" alt=""&gt;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input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Form control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&lt;input type="text"&gt;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meta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Page metadata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&lt;meta charset="UTF-8"&gt;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link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Link a resource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&lt;link rel="stylesheet"&gt;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5" name="Text 2"/>
          <p:cNvSpPr/>
          <p:nvPr/>
        </p:nvSpPr>
        <p:spPr>
          <a:xfrm>
            <a:off x="7848600" y="1981101"/>
            <a:ext cx="363651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They have </a:t>
            </a:r>
            <a:r>
              <a:rPr lang="en-US" sz="1500" b="1" dirty="0">
                <a:solidFill>
                  <a:srgbClr val="1F2A37"/>
                </a:solidFill>
                <a:latin typeface="IBM Plex Sans" pitchFamily="34" charset="0"/>
                <a:ea typeface="IBM Plex Sans" pitchFamily="34" charset="-122"/>
                <a:cs typeface="IBM Plex Sans" pitchFamily="34" charset="-120"/>
              </a:rPr>
              <a:t>nothing to wrap</a:t>
            </a:r>
            <a:r>
              <a:rPr lang="en-US" sz="1500" dirty="0">
                <a:solidFill>
                  <a:srgbClr val="1F2A37"/>
                </a:solidFill>
                <a:latin typeface="IBM Plex Sans" pitchFamily="34" charset="0"/>
                <a:ea typeface="IBM Plex Sans" pitchFamily="34" charset="-122"/>
                <a:cs typeface="IBM Plex Sans" pitchFamily="34" charset="-120"/>
              </a:rPr>
              <a:t>, so all their information comes from attributes.</a:t>
            </a:r>
            <a:endParaRPr lang="en-US" sz="1500" dirty="0"/>
          </a:p>
        </p:txBody>
      </p:sp>
      <p:sp>
        <p:nvSpPr>
          <p:cNvPr id="6" name="Text 3"/>
          <p:cNvSpPr/>
          <p:nvPr/>
        </p:nvSpPr>
        <p:spPr>
          <a:xfrm>
            <a:off x="7851775" y="2670076"/>
            <a:ext cx="3524250" cy="1357313"/>
          </a:xfrm>
          <a:prstGeom prst="roundRect">
            <a:avLst>
              <a:gd name="adj" fmla="val 7251"/>
            </a:avLst>
          </a:prstGeom>
          <a:solidFill>
            <a:srgbClr val="FFFDF9"/>
          </a:solidFill>
          <a:ln w="6350">
            <a:solidFill>
              <a:srgbClr val="E4E0D8"/>
            </a:solidFill>
            <a:prstDash val="solid"/>
          </a:ln>
        </p:spPr>
        <p:txBody>
          <a:bodyPr wrap="square" lIns="152147" tIns="152147" rIns="57278" bIns="126747" rtlCol="0" anchor="t">
            <a:normAutofit/>
          </a:bodyPr>
          <a:lstStyle/>
          <a:p>
            <a:pPr algn="l"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&lt;br /&gt; vs &lt;br&gt;</a:t>
            </a:r>
            <a:endParaRPr lang="en-US" sz="1400" dirty="0"/>
          </a:p>
          <a:p>
            <a:pPr algn="l"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The trailing slash is an XHTML habit. HTML5 accepts both; pick one style and stay consistent.</a:t>
            </a:r>
            <a:endParaRPr lang="en-US" sz="1400" dirty="0"/>
          </a:p>
        </p:txBody>
      </p:sp>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1 · Lecture 1 — HTML Foundations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THEORY</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Nesting: last opened, first closed</a:t>
            </a:r>
            <a:endParaRPr lang="en-US" sz="3200" dirty="0"/>
          </a:p>
        </p:txBody>
      </p:sp>
      <p:sp>
        <p:nvSpPr>
          <p:cNvPr id="4" name="Text 2"/>
          <p:cNvSpPr/>
          <p:nvPr/>
        </p:nvSpPr>
        <p:spPr>
          <a:xfrm>
            <a:off x="812800" y="1981101"/>
            <a:ext cx="5337048"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42318"/>
                </a:solidFill>
                <a:latin typeface="IBM Plex Sans" pitchFamily="34" charset="0"/>
                <a:ea typeface="IBM Plex Sans" pitchFamily="34" charset="-122"/>
                <a:cs typeface="IBM Plex Sans" pitchFamily="34" charset="-120"/>
              </a:rPr>
              <a:t>✗ Wrong — tags overlap</a:t>
            </a:r>
            <a:endParaRPr lang="en-US" sz="1400" dirty="0"/>
          </a:p>
        </p:txBody>
      </p:sp>
      <p:sp>
        <p:nvSpPr>
          <p:cNvPr id="5" name="Text 3"/>
          <p:cNvSpPr/>
          <p:nvPr/>
        </p:nvSpPr>
        <p:spPr>
          <a:xfrm>
            <a:off x="812800" y="2331541"/>
            <a:ext cx="5181600" cy="939800"/>
          </a:xfrm>
          <a:prstGeom prst="roundRect">
            <a:avLst>
              <a:gd name="adj" fmla="val 10811"/>
            </a:avLst>
          </a:prstGeom>
          <a:solidFill>
            <a:srgbClr val="1B2430"/>
          </a:solidFill>
          <a:ln/>
        </p:spPr>
        <p:txBody>
          <a:bodyPr wrap="square" lIns="275042" tIns="173442" rIns="85558" bIns="148042" rtlCol="0" anchor="t">
            <a:normAutofit/>
          </a:bodyPr>
          <a:lstStyle/>
          <a:p>
            <a:pPr algn="l" indent="0" marL="0">
              <a:lnSpc>
                <a:spcPts val="2100"/>
              </a:lnSpc>
              <a:buNone/>
            </a:pPr>
            <a:r>
              <a:rPr lang="en-US" sz="1400" dirty="0">
                <a:solidFill>
                  <a:srgbClr val="FF9E64"/>
                </a:solidFill>
                <a:latin typeface="IBM Plex Mono" pitchFamily="49" charset="0"/>
                <a:ea typeface="IBM Plex Mono" pitchFamily="49" charset="-122"/>
                <a:cs typeface="IBM Plex Mono" pitchFamily="49" charset="-120"/>
              </a:rPr>
              <a:t>&lt;p&gt;</a:t>
            </a:r>
            <a:r>
              <a:rPr lang="en-US" sz="1400" dirty="0">
                <a:solidFill>
                  <a:srgbClr val="E6EDF3"/>
                </a:solidFill>
                <a:latin typeface="IBM Plex Mono" pitchFamily="49" charset="0"/>
                <a:ea typeface="IBM Plex Mono" pitchFamily="49" charset="-122"/>
                <a:cs typeface="IBM Plex Mono" pitchFamily="49" charset="-120"/>
              </a:rPr>
              <a:t>I am </a:t>
            </a:r>
            <a:r>
              <a:rPr lang="en-US" sz="1400" dirty="0">
                <a:solidFill>
                  <a:srgbClr val="FF9E64"/>
                </a:solidFill>
                <a:latin typeface="IBM Plex Mono" pitchFamily="49" charset="0"/>
                <a:ea typeface="IBM Plex Mono" pitchFamily="49" charset="-122"/>
                <a:cs typeface="IBM Plex Mono" pitchFamily="49" charset="-120"/>
              </a:rPr>
              <a:t>&lt;strong&gt;</a:t>
            </a:r>
            <a:r>
              <a:rPr lang="en-US" sz="1400" dirty="0">
                <a:solidFill>
                  <a:srgbClr val="E6EDF3"/>
                </a:solidFill>
                <a:latin typeface="IBM Plex Mono" pitchFamily="49" charset="0"/>
                <a:ea typeface="IBM Plex Mono" pitchFamily="49" charset="-122"/>
                <a:cs typeface="IBM Plex Mono" pitchFamily="49" charset="-120"/>
              </a:rPr>
              <a:t>learning</a:t>
            </a:r>
            <a:r>
              <a:rPr lang="en-US" sz="1400" dirty="0">
                <a:solidFill>
                  <a:srgbClr val="FF9E64"/>
                </a:solidFill>
                <a:latin typeface="IBM Plex Mono" pitchFamily="49" charset="0"/>
                <a:ea typeface="IBM Plex Mono" pitchFamily="49" charset="-122"/>
                <a:cs typeface="IBM Plex Mono" pitchFamily="49" charset="-120"/>
              </a:rPr>
              <a:t>&lt;/p&gt;</a:t>
            </a:r>
            <a:endParaRPr lang="en-US" sz="1400" dirty="0"/>
          </a:p>
          <a:p>
            <a:pPr algn="l" indent="0" marL="0">
              <a:lnSpc>
                <a:spcPts val="2100"/>
              </a:lnSpc>
              <a:buNone/>
            </a:pPr>
            <a:r>
              <a:rPr lang="en-US" sz="1400" dirty="0">
                <a:solidFill>
                  <a:srgbClr val="FF9E64"/>
                </a:solidFill>
                <a:latin typeface="IBM Plex Mono" pitchFamily="49" charset="0"/>
                <a:ea typeface="IBM Plex Mono" pitchFamily="49" charset="-122"/>
                <a:cs typeface="IBM Plex Mono" pitchFamily="49" charset="-120"/>
              </a:rPr>
              <a:t>&lt;/strong&gt;</a:t>
            </a:r>
            <a:endParaRPr lang="en-US" sz="1400" dirty="0"/>
          </a:p>
        </p:txBody>
      </p:sp>
      <p:sp>
        <p:nvSpPr>
          <p:cNvPr id="6" name="Shape 4"/>
          <p:cNvSpPr/>
          <p:nvPr/>
        </p:nvSpPr>
        <p:spPr>
          <a:xfrm>
            <a:off x="812800" y="2331541"/>
            <a:ext cx="5181600" cy="939800"/>
          </a:xfrm>
          <a:custGeom>
            <a:avLst/>
            <a:gdLst/>
            <a:ahLst/>
            <a:cxnLst/>
            <a:rect l="l" t="t" r="r" b="b"/>
            <a:pathLst>
              <a:path w="5181600" h="939800">
                <a:moveTo>
                  <a:pt x="101600" y="939800"/>
                </a:moveTo>
                <a:lnTo>
                  <a:pt x="101600" y="939800"/>
                </a:lnTo>
                <a:arcTo hR="101600" wR="101600" stAng="5400000" swAng="5400000"/>
                <a:lnTo>
                  <a:pt x="0" y="101600"/>
                </a:lnTo>
                <a:arcTo hR="101600" wR="101600" stAng="10800000" swAng="5400000"/>
                <a:lnTo>
                  <a:pt x="101600" y="0"/>
                </a:lnTo>
                <a:arcTo hR="101600" wR="50800" stAng="16200000" swAng="-5400000"/>
                <a:lnTo>
                  <a:pt x="50800" y="838200"/>
                </a:lnTo>
                <a:arcTo hR="101600" wR="50800" stAng="10800000" swAng="-5400000"/>
                <a:close/>
              </a:path>
            </a:pathLst>
          </a:custGeom>
          <a:solidFill>
            <a:srgbClr val="F97066"/>
          </a:solidFill>
          <a:ln/>
        </p:spPr>
      </p:sp>
      <p:sp>
        <p:nvSpPr>
          <p:cNvPr id="7" name="Text 5"/>
          <p:cNvSpPr/>
          <p:nvPr/>
        </p:nvSpPr>
        <p:spPr>
          <a:xfrm>
            <a:off x="6197600" y="1981101"/>
            <a:ext cx="5337048"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F7A1E"/>
                </a:solidFill>
                <a:latin typeface="IBM Plex Sans" pitchFamily="34" charset="0"/>
                <a:ea typeface="IBM Plex Sans" pitchFamily="34" charset="-122"/>
                <a:cs typeface="IBM Plex Sans" pitchFamily="34" charset="-120"/>
              </a:rPr>
              <a:t>✓ Right — inner closes first</a:t>
            </a:r>
            <a:endParaRPr lang="en-US" sz="1400" dirty="0"/>
          </a:p>
        </p:txBody>
      </p:sp>
      <p:sp>
        <p:nvSpPr>
          <p:cNvPr id="8" name="Text 6"/>
          <p:cNvSpPr/>
          <p:nvPr/>
        </p:nvSpPr>
        <p:spPr>
          <a:xfrm>
            <a:off x="6197600" y="2331541"/>
            <a:ext cx="5181600" cy="939800"/>
          </a:xfrm>
          <a:prstGeom prst="roundRect">
            <a:avLst>
              <a:gd name="adj" fmla="val 10811"/>
            </a:avLst>
          </a:prstGeom>
          <a:solidFill>
            <a:srgbClr val="1B2430"/>
          </a:solidFill>
          <a:ln/>
        </p:spPr>
        <p:txBody>
          <a:bodyPr wrap="square" lIns="275042" tIns="173442" rIns="85558" bIns="148042" rtlCol="0" anchor="t">
            <a:normAutofit/>
          </a:bodyPr>
          <a:lstStyle/>
          <a:p>
            <a:pPr algn="l" indent="0" marL="0">
              <a:lnSpc>
                <a:spcPts val="2100"/>
              </a:lnSpc>
              <a:buNone/>
            </a:pPr>
            <a:r>
              <a:rPr lang="en-US" sz="1400" dirty="0">
                <a:solidFill>
                  <a:srgbClr val="FF9E64"/>
                </a:solidFill>
                <a:latin typeface="IBM Plex Mono" pitchFamily="49" charset="0"/>
                <a:ea typeface="IBM Plex Mono" pitchFamily="49" charset="-122"/>
                <a:cs typeface="IBM Plex Mono" pitchFamily="49" charset="-120"/>
              </a:rPr>
              <a:t>&lt;p&gt;</a:t>
            </a:r>
            <a:r>
              <a:rPr lang="en-US" sz="1400" dirty="0">
                <a:solidFill>
                  <a:srgbClr val="E6EDF3"/>
                </a:solidFill>
                <a:latin typeface="IBM Plex Mono" pitchFamily="49" charset="0"/>
                <a:ea typeface="IBM Plex Mono" pitchFamily="49" charset="-122"/>
                <a:cs typeface="IBM Plex Mono" pitchFamily="49" charset="-120"/>
              </a:rPr>
              <a:t>I am </a:t>
            </a:r>
            <a:r>
              <a:rPr lang="en-US" sz="1400" dirty="0">
                <a:solidFill>
                  <a:srgbClr val="FF9E64"/>
                </a:solidFill>
                <a:latin typeface="IBM Plex Mono" pitchFamily="49" charset="0"/>
                <a:ea typeface="IBM Plex Mono" pitchFamily="49" charset="-122"/>
                <a:cs typeface="IBM Plex Mono" pitchFamily="49" charset="-120"/>
              </a:rPr>
              <a:t>&lt;strong&gt;</a:t>
            </a:r>
            <a:r>
              <a:rPr lang="en-US" sz="1400" dirty="0">
                <a:solidFill>
                  <a:srgbClr val="E6EDF3"/>
                </a:solidFill>
                <a:latin typeface="IBM Plex Mono" pitchFamily="49" charset="0"/>
                <a:ea typeface="IBM Plex Mono" pitchFamily="49" charset="-122"/>
                <a:cs typeface="IBM Plex Mono" pitchFamily="49" charset="-120"/>
              </a:rPr>
              <a:t>learning</a:t>
            </a:r>
            <a:endParaRPr lang="en-US" sz="1400" dirty="0"/>
          </a:p>
          <a:p>
            <a:pPr algn="l" indent="0" marL="0">
              <a:lnSpc>
                <a:spcPts val="2100"/>
              </a:lnSpc>
              <a:buNone/>
            </a:pPr>
            <a:r>
              <a:rPr lang="en-US" sz="1400" dirty="0">
                <a:solidFill>
                  <a:srgbClr val="FF9E64"/>
                </a:solidFill>
                <a:latin typeface="IBM Plex Mono" pitchFamily="49" charset="0"/>
                <a:ea typeface="IBM Plex Mono" pitchFamily="49" charset="-122"/>
                <a:cs typeface="IBM Plex Mono" pitchFamily="49" charset="-120"/>
              </a:rPr>
              <a:t>&lt;/strong&gt;&lt;/p&gt;</a:t>
            </a:r>
            <a:endParaRPr lang="en-US" sz="1400" dirty="0"/>
          </a:p>
        </p:txBody>
      </p:sp>
      <p:sp>
        <p:nvSpPr>
          <p:cNvPr id="9" name="Shape 7"/>
          <p:cNvSpPr/>
          <p:nvPr/>
        </p:nvSpPr>
        <p:spPr>
          <a:xfrm>
            <a:off x="6197600" y="2331541"/>
            <a:ext cx="5181600" cy="939800"/>
          </a:xfrm>
          <a:custGeom>
            <a:avLst/>
            <a:gdLst/>
            <a:ahLst/>
            <a:cxnLst/>
            <a:rect l="l" t="t" r="r" b="b"/>
            <a:pathLst>
              <a:path w="5181600" h="939800">
                <a:moveTo>
                  <a:pt x="101600" y="939800"/>
                </a:moveTo>
                <a:lnTo>
                  <a:pt x="101600" y="939800"/>
                </a:lnTo>
                <a:arcTo hR="101600" wR="101600" stAng="5400000" swAng="5400000"/>
                <a:lnTo>
                  <a:pt x="0" y="101600"/>
                </a:lnTo>
                <a:arcTo hR="101600" wR="101600" stAng="10800000" swAng="5400000"/>
                <a:lnTo>
                  <a:pt x="101600" y="0"/>
                </a:lnTo>
                <a:arcTo hR="101600" wR="50800" stAng="16200000" swAng="-5400000"/>
                <a:lnTo>
                  <a:pt x="50800" y="838200"/>
                </a:lnTo>
                <a:arcTo hR="101600" wR="50800" stAng="10800000" swAng="-5400000"/>
                <a:close/>
              </a:path>
            </a:pathLst>
          </a:custGeom>
          <a:solidFill>
            <a:srgbClr val="9ECE6A"/>
          </a:solidFill>
          <a:ln/>
        </p:spPr>
      </p:sp>
      <p:sp>
        <p:nvSpPr>
          <p:cNvPr id="10" name="Text 8"/>
          <p:cNvSpPr/>
          <p:nvPr/>
        </p:nvSpPr>
        <p:spPr>
          <a:xfrm>
            <a:off x="815975" y="3528516"/>
            <a:ext cx="3414117" cy="1108472"/>
          </a:xfrm>
          <a:prstGeom prst="roundRect">
            <a:avLst>
              <a:gd name="adj" fmla="val 8879"/>
            </a:avLst>
          </a:prstGeom>
          <a:solidFill>
            <a:srgbClr val="FFFDF9"/>
          </a:solidFill>
          <a:ln w="6350">
            <a:solidFill>
              <a:srgbClr val="E4E0D8"/>
            </a:solidFill>
            <a:prstDash val="solid"/>
          </a:ln>
        </p:spPr>
        <p:txBody>
          <a:bodyPr wrap="square" lIns="152147" tIns="152147" rIns="60582" bIns="126747" rtlCol="0" anchor="t">
            <a:normAutofit/>
          </a:bodyPr>
          <a:lstStyle/>
          <a:p>
            <a:pPr algn="l"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Parent / child</a:t>
            </a:r>
            <a:endParaRPr lang="en-US" sz="1400" dirty="0"/>
          </a:p>
          <a:p>
            <a:pPr algn="l"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p is the parent of strong; strong is its child</a:t>
            </a:r>
            <a:endParaRPr lang="en-US" sz="1400" dirty="0"/>
          </a:p>
        </p:txBody>
      </p:sp>
      <p:sp>
        <p:nvSpPr>
          <p:cNvPr id="11" name="Text 9"/>
          <p:cNvSpPr/>
          <p:nvPr/>
        </p:nvSpPr>
        <p:spPr>
          <a:xfrm>
            <a:off x="4388842" y="3528516"/>
            <a:ext cx="3414216" cy="1108472"/>
          </a:xfrm>
          <a:prstGeom prst="roundRect">
            <a:avLst>
              <a:gd name="adj" fmla="val 8879"/>
            </a:avLst>
          </a:prstGeom>
          <a:solidFill>
            <a:srgbClr val="FFFDF9"/>
          </a:solidFill>
          <a:ln w="6350">
            <a:solidFill>
              <a:srgbClr val="E4E0D8"/>
            </a:solidFill>
            <a:prstDash val="solid"/>
          </a:ln>
        </p:spPr>
        <p:txBody>
          <a:bodyPr wrap="square" lIns="152147" tIns="152147" rIns="60579" bIns="126747" rtlCol="0" anchor="t">
            <a:normAutofit/>
          </a:bodyPr>
          <a:lstStyle/>
          <a:p>
            <a:pPr algn="l"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Siblings</a:t>
            </a:r>
            <a:endParaRPr lang="en-US" sz="1400" dirty="0"/>
          </a:p>
          <a:p>
            <a:pPr algn="l"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Elements that share the same parent, e.g. head and body</a:t>
            </a:r>
            <a:endParaRPr lang="en-US" sz="1400" dirty="0"/>
          </a:p>
        </p:txBody>
      </p:sp>
      <p:sp>
        <p:nvSpPr>
          <p:cNvPr id="12" name="Text 10"/>
          <p:cNvSpPr/>
          <p:nvPr/>
        </p:nvSpPr>
        <p:spPr>
          <a:xfrm>
            <a:off x="7961809" y="3528516"/>
            <a:ext cx="3414216" cy="1108472"/>
          </a:xfrm>
          <a:prstGeom prst="roundRect">
            <a:avLst>
              <a:gd name="adj" fmla="val 8879"/>
            </a:avLst>
          </a:prstGeom>
          <a:solidFill>
            <a:srgbClr val="FFFDF9"/>
          </a:solidFill>
          <a:ln w="6350">
            <a:solidFill>
              <a:srgbClr val="E4E0D8"/>
            </a:solidFill>
            <a:prstDash val="solid"/>
          </a:ln>
        </p:spPr>
        <p:txBody>
          <a:bodyPr wrap="square" lIns="152147" tIns="152147" rIns="60579" bIns="126747" rtlCol="0" anchor="t">
            <a:normAutofit/>
          </a:bodyPr>
          <a:lstStyle/>
          <a:p>
            <a:pPr algn="l"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Content rules</a:t>
            </a:r>
            <a:endParaRPr lang="en-US" sz="1400" dirty="0"/>
          </a:p>
          <a:p>
            <a:pPr algn="l"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A p cannot contain a div, h1 or another p</a:t>
            </a:r>
            <a:endParaRPr lang="en-US" sz="14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1 · Lecture 1 — HTML Foundations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THEORY</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The minimal HTML5 document — memorise it</a:t>
            </a:r>
            <a:endParaRPr lang="en-US" sz="3200" dirty="0"/>
          </a:p>
        </p:txBody>
      </p:sp>
      <p:sp>
        <p:nvSpPr>
          <p:cNvPr id="4" name="Text 2"/>
          <p:cNvSpPr/>
          <p:nvPr/>
        </p:nvSpPr>
        <p:spPr>
          <a:xfrm>
            <a:off x="812800" y="1981101"/>
            <a:ext cx="7493000" cy="3476228"/>
          </a:xfrm>
          <a:prstGeom prst="roundRect">
            <a:avLst>
              <a:gd name="adj" fmla="val 2923"/>
            </a:avLst>
          </a:prstGeom>
          <a:solidFill>
            <a:srgbClr val="1B2430"/>
          </a:solidFill>
          <a:ln/>
        </p:spPr>
        <p:txBody>
          <a:bodyPr wrap="square" lIns="224242" tIns="173442" rIns="14692" bIns="148042" rtlCol="0" anchor="t">
            <a:normAutofit/>
          </a:bodyPr>
          <a:lstStyle/>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&lt;!DOCTYPE html&gt;</a:t>
            </a:r>
            <a:endParaRPr lang="en-US" sz="1200" dirty="0"/>
          </a:p>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&lt;html</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lang</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"en"</a:t>
            </a:r>
            <a:r>
              <a:rPr lang="en-US" sz="1200" dirty="0">
                <a:solidFill>
                  <a:srgbClr val="FF9E64"/>
                </a:solidFill>
                <a:latin typeface="IBM Plex Mono" pitchFamily="49" charset="0"/>
                <a:ea typeface="IBM Plex Mono" pitchFamily="49" charset="-122"/>
                <a:cs typeface="IBM Plex Mono" pitchFamily="49" charset="-120"/>
              </a:rPr>
              <a:t>&gt;</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&lt;head&gt;</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&lt;meta</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charset</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"UTF-8"</a:t>
            </a:r>
            <a:r>
              <a:rPr lang="en-US" sz="1200" dirty="0">
                <a:solidFill>
                  <a:srgbClr val="FF9E64"/>
                </a:solidFill>
                <a:latin typeface="IBM Plex Mono" pitchFamily="49" charset="0"/>
                <a:ea typeface="IBM Plex Mono" pitchFamily="49" charset="-122"/>
                <a:cs typeface="IBM Plex Mono" pitchFamily="49" charset="-120"/>
              </a:rPr>
              <a:t>&gt;</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&lt;meta</a:t>
            </a: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name</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"viewport"</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7DCFFF"/>
                </a:solidFill>
                <a:latin typeface="IBM Plex Mono" pitchFamily="49" charset="0"/>
                <a:ea typeface="IBM Plex Mono" pitchFamily="49" charset="-122"/>
                <a:cs typeface="IBM Plex Mono" pitchFamily="49" charset="-120"/>
              </a:rPr>
              <a:t>content</a:t>
            </a:r>
            <a:r>
              <a:rPr lang="en-US" sz="1200" dirty="0">
                <a:solidFill>
                  <a:srgbClr val="E6EDF3"/>
                </a:solidFill>
                <a:latin typeface="IBM Plex Mono" pitchFamily="49" charset="0"/>
                <a:ea typeface="IBM Plex Mono" pitchFamily="49" charset="-122"/>
                <a:cs typeface="IBM Plex Mono" pitchFamily="49" charset="-120"/>
              </a:rPr>
              <a:t>=</a:t>
            </a:r>
            <a:r>
              <a:rPr lang="en-US" sz="1200" dirty="0">
                <a:solidFill>
                  <a:srgbClr val="9ECE6A"/>
                </a:solidFill>
                <a:latin typeface="IBM Plex Mono" pitchFamily="49" charset="0"/>
                <a:ea typeface="IBM Plex Mono" pitchFamily="49" charset="-122"/>
                <a:cs typeface="IBM Plex Mono" pitchFamily="49" charset="-120"/>
              </a:rPr>
              <a:t>"width=device-width, initial-scale=1.0"</a:t>
            </a:r>
            <a:r>
              <a:rPr lang="en-US" sz="1200" dirty="0">
                <a:solidFill>
                  <a:srgbClr val="FF9E64"/>
                </a:solidFill>
                <a:latin typeface="IBM Plex Mono" pitchFamily="49" charset="0"/>
                <a:ea typeface="IBM Plex Mono" pitchFamily="49" charset="-122"/>
                <a:cs typeface="IBM Plex Mono" pitchFamily="49" charset="-120"/>
              </a:rPr>
              <a:t>&gt;</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&lt;title&gt;</a:t>
            </a:r>
            <a:r>
              <a:rPr lang="en-US" sz="1200" dirty="0">
                <a:solidFill>
                  <a:srgbClr val="E6EDF3"/>
                </a:solidFill>
                <a:latin typeface="IBM Plex Mono" pitchFamily="49" charset="0"/>
                <a:ea typeface="IBM Plex Mono" pitchFamily="49" charset="-122"/>
                <a:cs typeface="IBM Plex Mono" pitchFamily="49" charset="-120"/>
              </a:rPr>
              <a:t>My First Page</a:t>
            </a:r>
            <a:r>
              <a:rPr lang="en-US" sz="1200" dirty="0">
                <a:solidFill>
                  <a:srgbClr val="FF9E64"/>
                </a:solidFill>
                <a:latin typeface="IBM Plex Mono" pitchFamily="49" charset="0"/>
                <a:ea typeface="IBM Plex Mono" pitchFamily="49" charset="-122"/>
                <a:cs typeface="IBM Plex Mono" pitchFamily="49" charset="-120"/>
              </a:rPr>
              <a:t>&lt;/title&gt;</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&lt;/head&gt;</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&lt;body&gt;</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&lt;h1&gt;</a:t>
            </a:r>
            <a:r>
              <a:rPr lang="en-US" sz="1200" dirty="0">
                <a:solidFill>
                  <a:srgbClr val="E6EDF3"/>
                </a:solidFill>
                <a:latin typeface="IBM Plex Mono" pitchFamily="49" charset="0"/>
                <a:ea typeface="IBM Plex Mono" pitchFamily="49" charset="-122"/>
                <a:cs typeface="IBM Plex Mono" pitchFamily="49" charset="-120"/>
              </a:rPr>
              <a:t>Hello, Web!</a:t>
            </a:r>
            <a:r>
              <a:rPr lang="en-US" sz="1200" dirty="0">
                <a:solidFill>
                  <a:srgbClr val="FF9E64"/>
                </a:solidFill>
                <a:latin typeface="IBM Plex Mono" pitchFamily="49" charset="0"/>
                <a:ea typeface="IBM Plex Mono" pitchFamily="49" charset="-122"/>
                <a:cs typeface="IBM Plex Mono" pitchFamily="49" charset="-120"/>
              </a:rPr>
              <a:t>&lt;/h1&gt;</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&lt;p&gt;</a:t>
            </a:r>
            <a:r>
              <a:rPr lang="en-US" sz="1200" dirty="0">
                <a:solidFill>
                  <a:srgbClr val="E6EDF3"/>
                </a:solidFill>
                <a:latin typeface="IBM Plex Mono" pitchFamily="49" charset="0"/>
                <a:ea typeface="IBM Plex Mono" pitchFamily="49" charset="-122"/>
                <a:cs typeface="IBM Plex Mono" pitchFamily="49" charset="-120"/>
              </a:rPr>
              <a:t>This is my first HTML page.</a:t>
            </a:r>
            <a:r>
              <a:rPr lang="en-US" sz="1200" dirty="0">
                <a:solidFill>
                  <a:srgbClr val="FF9E64"/>
                </a:solidFill>
                <a:latin typeface="IBM Plex Mono" pitchFamily="49" charset="0"/>
                <a:ea typeface="IBM Plex Mono" pitchFamily="49" charset="-122"/>
                <a:cs typeface="IBM Plex Mono" pitchFamily="49" charset="-120"/>
              </a:rPr>
              <a:t>&lt;/p&gt;</a:t>
            </a:r>
            <a:endParaRPr lang="en-US" sz="1200" dirty="0"/>
          </a:p>
          <a:p>
            <a:pPr algn="l" indent="0" marL="0">
              <a:lnSpc>
                <a:spcPts val="1860"/>
              </a:lnSpc>
              <a:buNone/>
            </a:pPr>
            <a:r>
              <a:rPr lang="en-US" sz="1200" dirty="0">
                <a:solidFill>
                  <a:srgbClr val="E6EDF3"/>
                </a:solidFill>
                <a:latin typeface="IBM Plex Mono" pitchFamily="49" charset="0"/>
                <a:ea typeface="IBM Plex Mono" pitchFamily="49" charset="-122"/>
                <a:cs typeface="IBM Plex Mono" pitchFamily="49" charset="-120"/>
              </a:rPr>
              <a:t>  </a:t>
            </a:r>
            <a:r>
              <a:rPr lang="en-US" sz="1200" dirty="0">
                <a:solidFill>
                  <a:srgbClr val="FF9E64"/>
                </a:solidFill>
                <a:latin typeface="IBM Plex Mono" pitchFamily="49" charset="0"/>
                <a:ea typeface="IBM Plex Mono" pitchFamily="49" charset="-122"/>
                <a:cs typeface="IBM Plex Mono" pitchFamily="49" charset="-120"/>
              </a:rPr>
              <a:t>&lt;/body&gt;</a:t>
            </a:r>
            <a:endParaRPr lang="en-US" sz="1200" dirty="0"/>
          </a:p>
          <a:p>
            <a:pPr algn="l" indent="0" marL="0">
              <a:lnSpc>
                <a:spcPts val="1860"/>
              </a:lnSpc>
              <a:buNone/>
            </a:pPr>
            <a:r>
              <a:rPr lang="en-US" sz="1200" dirty="0">
                <a:solidFill>
                  <a:srgbClr val="FF9E64"/>
                </a:solidFill>
                <a:latin typeface="IBM Plex Mono" pitchFamily="49" charset="0"/>
                <a:ea typeface="IBM Plex Mono" pitchFamily="49" charset="-122"/>
                <a:cs typeface="IBM Plex Mono" pitchFamily="49" charset="-120"/>
              </a:rPr>
              <a:t>&lt;/html&gt;</a:t>
            </a:r>
            <a:endParaRPr lang="en-US" sz="1200" dirty="0"/>
          </a:p>
        </p:txBody>
      </p:sp>
      <p:sp>
        <p:nvSpPr>
          <p:cNvPr id="5" name="Text 3"/>
          <p:cNvSpPr/>
          <p:nvPr/>
        </p:nvSpPr>
        <p:spPr>
          <a:xfrm>
            <a:off x="8559800" y="1981101"/>
            <a:ext cx="2903982" cy="471091"/>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F2A37"/>
                </a:solidFill>
                <a:latin typeface="IBM Plex Sans" pitchFamily="34" charset="0"/>
                <a:ea typeface="IBM Plex Sans" pitchFamily="34" charset="-122"/>
                <a:cs typeface="IBM Plex Sans" pitchFamily="34" charset="-120"/>
              </a:rPr>
              <a:t>DOCTYPE</a:t>
            </a:r>
            <a:r>
              <a:rPr lang="en-US" sz="1300" dirty="0">
                <a:solidFill>
                  <a:srgbClr val="1F2A37"/>
                </a:solidFill>
                <a:latin typeface="IBM Plex Sans" pitchFamily="34" charset="0"/>
                <a:ea typeface="IBM Plex Sans" pitchFamily="34" charset="-122"/>
                <a:cs typeface="IBM Plex Sans" pitchFamily="34" charset="-120"/>
              </a:rPr>
              <a:t> — use HTML5 standards mode</a:t>
            </a:r>
            <a:endParaRPr lang="en-US" sz="1300" dirty="0"/>
          </a:p>
        </p:txBody>
      </p:sp>
      <p:sp>
        <p:nvSpPr>
          <p:cNvPr id="6" name="Text 4"/>
          <p:cNvSpPr/>
          <p:nvPr/>
        </p:nvSpPr>
        <p:spPr>
          <a:xfrm>
            <a:off x="8559800" y="2553791"/>
            <a:ext cx="2903982" cy="471091"/>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F2A37"/>
                </a:solidFill>
                <a:latin typeface="IBM Plex Sans" pitchFamily="34" charset="0"/>
                <a:ea typeface="IBM Plex Sans" pitchFamily="34" charset="-122"/>
                <a:cs typeface="IBM Plex Sans" pitchFamily="34" charset="-120"/>
              </a:rPr>
              <a:t>html</a:t>
            </a:r>
            <a:r>
              <a:rPr lang="en-US" sz="1300" dirty="0">
                <a:solidFill>
                  <a:srgbClr val="1F2A37"/>
                </a:solidFill>
                <a:latin typeface="IBM Plex Sans" pitchFamily="34" charset="0"/>
                <a:ea typeface="IBM Plex Sans" pitchFamily="34" charset="-122"/>
                <a:cs typeface="IBM Plex Sans" pitchFamily="34" charset="-120"/>
              </a:rPr>
              <a:t> — the root; lang helps screen readers and search</a:t>
            </a:r>
            <a:endParaRPr lang="en-US" sz="1300" dirty="0"/>
          </a:p>
        </p:txBody>
      </p:sp>
      <p:sp>
        <p:nvSpPr>
          <p:cNvPr id="7" name="Text 5"/>
          <p:cNvSpPr/>
          <p:nvPr/>
        </p:nvSpPr>
        <p:spPr>
          <a:xfrm>
            <a:off x="8559800" y="3126482"/>
            <a:ext cx="2903982" cy="471091"/>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F2A37"/>
                </a:solidFill>
                <a:latin typeface="IBM Plex Sans" pitchFamily="34" charset="0"/>
                <a:ea typeface="IBM Plex Sans" pitchFamily="34" charset="-122"/>
                <a:cs typeface="IBM Plex Sans" pitchFamily="34" charset="-120"/>
              </a:rPr>
              <a:t>head</a:t>
            </a:r>
            <a:r>
              <a:rPr lang="en-US" sz="1300" dirty="0">
                <a:solidFill>
                  <a:srgbClr val="1F2A37"/>
                </a:solidFill>
                <a:latin typeface="IBM Plex Sans" pitchFamily="34" charset="0"/>
                <a:ea typeface="IBM Plex Sans" pitchFamily="34" charset="-122"/>
                <a:cs typeface="IBM Plex Sans" pitchFamily="34" charset="-120"/>
              </a:rPr>
              <a:t> — information </a:t>
            </a:r>
            <a:r>
              <a:rPr lang="en-US" sz="1300" i="1" dirty="0">
                <a:solidFill>
                  <a:srgbClr val="1F2A37"/>
                </a:solidFill>
                <a:latin typeface="IBM Plex Sans" pitchFamily="34" charset="0"/>
                <a:ea typeface="IBM Plex Sans" pitchFamily="34" charset="-122"/>
                <a:cs typeface="IBM Plex Sans" pitchFamily="34" charset="-120"/>
              </a:rPr>
              <a:t>about</a:t>
            </a:r>
            <a:r>
              <a:rPr lang="en-US" sz="1300" dirty="0">
                <a:solidFill>
                  <a:srgbClr val="1F2A37"/>
                </a:solidFill>
                <a:latin typeface="IBM Plex Sans" pitchFamily="34" charset="0"/>
                <a:ea typeface="IBM Plex Sans" pitchFamily="34" charset="-122"/>
                <a:cs typeface="IBM Plex Sans" pitchFamily="34" charset="-120"/>
              </a:rPr>
              <a:t> the page (not shown)</a:t>
            </a:r>
            <a:endParaRPr lang="en-US" sz="1300" dirty="0"/>
          </a:p>
        </p:txBody>
      </p:sp>
      <p:sp>
        <p:nvSpPr>
          <p:cNvPr id="8" name="Text 6"/>
          <p:cNvSpPr/>
          <p:nvPr/>
        </p:nvSpPr>
        <p:spPr>
          <a:xfrm>
            <a:off x="8559800" y="3699173"/>
            <a:ext cx="2903982" cy="471091"/>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F2A37"/>
                </a:solidFill>
                <a:latin typeface="IBM Plex Sans" pitchFamily="34" charset="0"/>
                <a:ea typeface="IBM Plex Sans" pitchFamily="34" charset="-122"/>
                <a:cs typeface="IBM Plex Sans" pitchFamily="34" charset="-120"/>
              </a:rPr>
              <a:t>body</a:t>
            </a:r>
            <a:r>
              <a:rPr lang="en-US" sz="1300" dirty="0">
                <a:solidFill>
                  <a:srgbClr val="1F2A37"/>
                </a:solidFill>
                <a:latin typeface="IBM Plex Sans" pitchFamily="34" charset="0"/>
                <a:ea typeface="IBM Plex Sans" pitchFamily="34" charset="-122"/>
                <a:cs typeface="IBM Plex Sans" pitchFamily="34" charset="-120"/>
              </a:rPr>
              <a:t> — everything visible in the window</a:t>
            </a:r>
            <a:endParaRPr lang="en-US" sz="1300" dirty="0"/>
          </a:p>
        </p:txBody>
      </p:sp>
      <p:sp>
        <p:nvSpPr>
          <p:cNvPr id="9" name="Text 7"/>
          <p:cNvSpPr/>
          <p:nvPr/>
        </p:nvSpPr>
        <p:spPr>
          <a:xfrm>
            <a:off x="8559800" y="4271863"/>
            <a:ext cx="2903982" cy="24824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D4ED8"/>
                </a:solidFill>
                <a:latin typeface="IBM Plex Sans" pitchFamily="34" charset="0"/>
                <a:ea typeface="IBM Plex Sans" pitchFamily="34" charset="-122"/>
                <a:cs typeface="IBM Plex Sans" pitchFamily="34" charset="-120"/>
              </a:rPr>
              <a:t>VS Code shortcut: type ! then Tab</a:t>
            </a:r>
            <a:endParaRPr lang="en-US" sz="1300" dirty="0"/>
          </a:p>
        </p:txBody>
      </p:sp>
      <p:sp>
        <p:nvSpPr>
          <p:cNvPr id="10"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1 · Lecture 1 — HTML Foundations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THEORY</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Inside the head: information about the page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93801"/>
          <a:ext cx="10553700" cy="2980531"/>
        </p:xfrm>
        <a:graphic>
          <a:graphicData uri="http://schemas.openxmlformats.org/drawingml/2006/table">
            <a:tbl>
              <a:tblPr/>
              <a:tblGrid>
                <a:gridCol w="4643628"/>
                <a:gridCol w="5910072"/>
              </a:tblGrid>
              <a:tr h="372566">
                <a:tc>
                  <a:txBody>
                    <a:bodyPr/>
                    <a:lstStyle/>
                    <a:p>
                      <a:pPr indent="0" marL="0">
                        <a:lnSpc>
                          <a:spcPts val="1890"/>
                        </a:lnSpc>
                        <a:buNone/>
                      </a:pPr>
                      <a:r>
                        <a:rPr lang="en-US" sz="1350" b="1" dirty="0">
                          <a:solidFill>
                            <a:srgbClr val="1F2A37"/>
                          </a:solidFill>
                          <a:latin typeface="IBM Plex Sans" pitchFamily="34" charset="0"/>
                          <a:ea typeface="IBM Plex Sans" pitchFamily="34" charset="-122"/>
                          <a:cs typeface="IBM Plex Sans" pitchFamily="34" charset="-120"/>
                        </a:rPr>
                        <a:t>Element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1890"/>
                        </a:lnSpc>
                        <a:buNone/>
                      </a:pPr>
                      <a:r>
                        <a:rPr lang="en-US" sz="1350" b="1" dirty="0">
                          <a:solidFill>
                            <a:srgbClr val="1F2A37"/>
                          </a:solidFill>
                          <a:latin typeface="IBM Plex Sans" pitchFamily="34" charset="0"/>
                          <a:ea typeface="IBM Plex Sans" pitchFamily="34" charset="-122"/>
                          <a:cs typeface="IBM Plex Sans" pitchFamily="34" charset="-120"/>
                        </a:rPr>
                        <a:t>Why it matters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&lt;meta charset="UTF-8"&gt;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Character encoding; put it first so اردو, é and ✓ display correctly</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&lt;meta name="viewport" …&gt;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Makes the page fit phone screens (responsive design)</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&lt;title&gt;…&lt;/title&gt;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Required. Browser tab, bookmarks, search-result headline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&lt;meta name="description" …&gt;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The snippet search engines show under your title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&lt;link rel="stylesheet" href="…"&gt;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Attaches an external CSS file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&lt;link rel="icon" href="…"&gt;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The favicon shown in the tab</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&lt;script src="…" defer&gt;&lt;/script&gt;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Loads JavaScript after the HTML is parsed</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1 · Lecture 1 — HTML Foundations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THEORY</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The DOCTYPE switches on standards mode</a:t>
            </a:r>
            <a:endParaRPr lang="en-US" sz="3200" dirty="0"/>
          </a:p>
        </p:txBody>
      </p:sp>
      <p:sp>
        <p:nvSpPr>
          <p:cNvPr id="4" name="Text 2"/>
          <p:cNvSpPr/>
          <p:nvPr/>
        </p:nvSpPr>
        <p:spPr>
          <a:xfrm>
            <a:off x="812800" y="1981101"/>
            <a:ext cx="486613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It is </a:t>
            </a:r>
            <a:r>
              <a:rPr lang="en-US" sz="1500" b="1" dirty="0">
                <a:solidFill>
                  <a:srgbClr val="1F2A37"/>
                </a:solidFill>
                <a:latin typeface="IBM Plex Sans" pitchFamily="34" charset="0"/>
                <a:ea typeface="IBM Plex Sans" pitchFamily="34" charset="-122"/>
                <a:cs typeface="IBM Plex Sans" pitchFamily="34" charset="-120"/>
              </a:rPr>
              <a:t>not a tag</a:t>
            </a:r>
            <a:r>
              <a:rPr lang="en-US" sz="1500" dirty="0">
                <a:solidFill>
                  <a:srgbClr val="1F2A37"/>
                </a:solidFill>
                <a:latin typeface="IBM Plex Sans" pitchFamily="34" charset="0"/>
                <a:ea typeface="IBM Plex Sans" pitchFamily="34" charset="-122"/>
                <a:cs typeface="IBM Plex Sans" pitchFamily="34" charset="-120"/>
              </a:rPr>
              <a:t>. It is an instruction to the browser, and it must be the </a:t>
            </a:r>
            <a:r>
              <a:rPr lang="en-US" sz="1500" b="1" dirty="0">
                <a:solidFill>
                  <a:srgbClr val="1F2A37"/>
                </a:solidFill>
                <a:latin typeface="IBM Plex Sans" pitchFamily="34" charset="0"/>
                <a:ea typeface="IBM Plex Sans" pitchFamily="34" charset="-122"/>
                <a:cs typeface="IBM Plex Sans" pitchFamily="34" charset="-120"/>
              </a:rPr>
              <a:t>very first line</a:t>
            </a:r>
            <a:r>
              <a:rPr lang="en-US" sz="1500" dirty="0">
                <a:solidFill>
                  <a:srgbClr val="1F2A37"/>
                </a:solidFill>
                <a:latin typeface="IBM Plex Sans" pitchFamily="34" charset="0"/>
                <a:ea typeface="IBM Plex Sans" pitchFamily="34" charset="-122"/>
                <a:cs typeface="IBM Plex Sans" pitchFamily="34" charset="-120"/>
              </a:rPr>
              <a:t>.</a:t>
            </a:r>
            <a:endParaRPr lang="en-US" sz="1500" dirty="0"/>
          </a:p>
        </p:txBody>
      </p:sp>
      <p:sp>
        <p:nvSpPr>
          <p:cNvPr id="5" name="Text 3"/>
          <p:cNvSpPr/>
          <p:nvPr/>
        </p:nvSpPr>
        <p:spPr>
          <a:xfrm>
            <a:off x="812800" y="2641501"/>
            <a:ext cx="4866132"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2A37"/>
                </a:solidFill>
                <a:latin typeface="IBM Plex Sans" pitchFamily="34" charset="0"/>
                <a:ea typeface="IBM Plex Sans" pitchFamily="34" charset="-122"/>
                <a:cs typeface="IBM Plex Sans" pitchFamily="34" charset="-120"/>
              </a:rPr>
              <a:t>With it:</a:t>
            </a:r>
            <a:r>
              <a:rPr lang="en-US" sz="1500" dirty="0">
                <a:solidFill>
                  <a:srgbClr val="1F2A37"/>
                </a:solidFill>
                <a:latin typeface="IBM Plex Sans" pitchFamily="34" charset="0"/>
                <a:ea typeface="IBM Plex Sans" pitchFamily="34" charset="-122"/>
                <a:cs typeface="IBM Plex Sans" pitchFamily="34" charset="-120"/>
              </a:rPr>
              <a:t> standards mode — the browser follows the modern spec.</a:t>
            </a:r>
            <a:endParaRPr lang="en-US" sz="1500" dirty="0"/>
          </a:p>
        </p:txBody>
      </p:sp>
      <p:sp>
        <p:nvSpPr>
          <p:cNvPr id="6" name="Text 4"/>
          <p:cNvSpPr/>
          <p:nvPr/>
        </p:nvSpPr>
        <p:spPr>
          <a:xfrm>
            <a:off x="812800" y="3301901"/>
            <a:ext cx="4866132"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2A37"/>
                </a:solidFill>
                <a:latin typeface="IBM Plex Sans" pitchFamily="34" charset="0"/>
                <a:ea typeface="IBM Plex Sans" pitchFamily="34" charset="-122"/>
                <a:cs typeface="IBM Plex Sans" pitchFamily="34" charset="-120"/>
              </a:rPr>
              <a:t>Without it:</a:t>
            </a:r>
            <a:r>
              <a:rPr lang="en-US" sz="1500" dirty="0">
                <a:solidFill>
                  <a:srgbClr val="1F2A37"/>
                </a:solidFill>
                <a:latin typeface="IBM Plex Sans" pitchFamily="34" charset="0"/>
                <a:ea typeface="IBM Plex Sans" pitchFamily="34" charset="-122"/>
                <a:cs typeface="IBM Plex Sans" pitchFamily="34" charset="-120"/>
              </a:rPr>
              <a:t> quirks mode — the browser imitates 1990s bugs, and layouts break.</a:t>
            </a:r>
            <a:endParaRPr lang="en-US" sz="1500" dirty="0"/>
          </a:p>
        </p:txBody>
      </p:sp>
      <p:sp>
        <p:nvSpPr>
          <p:cNvPr id="7" name="Text 5"/>
          <p:cNvSpPr/>
          <p:nvPr/>
        </p:nvSpPr>
        <p:spPr>
          <a:xfrm>
            <a:off x="812800" y="3962301"/>
            <a:ext cx="486613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467"/>
                </a:solidFill>
                <a:latin typeface="IBM Plex Sans" pitchFamily="34" charset="0"/>
                <a:ea typeface="IBM Plex Sans" pitchFamily="34" charset="-122"/>
                <a:cs typeface="IBM Plex Sans" pitchFamily="34" charset="-120"/>
              </a:rPr>
              <a:t>Not case-sensitive, but write it as shown.</a:t>
            </a:r>
            <a:endParaRPr lang="en-US" sz="1400" dirty="0"/>
          </a:p>
        </p:txBody>
      </p:sp>
      <p:sp>
        <p:nvSpPr>
          <p:cNvPr id="8" name="Text 6"/>
          <p:cNvSpPr/>
          <p:nvPr/>
        </p:nvSpPr>
        <p:spPr>
          <a:xfrm>
            <a:off x="5791200" y="1981101"/>
            <a:ext cx="575564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75467"/>
                </a:solidFill>
                <a:latin typeface="IBM Plex Sans" pitchFamily="34" charset="0"/>
                <a:ea typeface="IBM Plex Sans" pitchFamily="34" charset="-122"/>
                <a:cs typeface="IBM Plex Sans" pitchFamily="34" charset="-120"/>
              </a:rPr>
              <a:t>HTML 4.01 Strict (old)</a:t>
            </a:r>
            <a:endParaRPr lang="en-US" sz="1300" dirty="0"/>
          </a:p>
        </p:txBody>
      </p:sp>
      <p:sp>
        <p:nvSpPr>
          <p:cNvPr id="9" name="Text 7"/>
          <p:cNvSpPr/>
          <p:nvPr/>
        </p:nvSpPr>
        <p:spPr>
          <a:xfrm>
            <a:off x="5791200" y="2313781"/>
            <a:ext cx="5588000" cy="990600"/>
          </a:xfrm>
          <a:prstGeom prst="roundRect">
            <a:avLst>
              <a:gd name="adj" fmla="val 10256"/>
            </a:avLst>
          </a:prstGeom>
          <a:solidFill>
            <a:srgbClr val="1B2430"/>
          </a:solidFill>
          <a:ln/>
        </p:spPr>
        <p:txBody>
          <a:bodyPr wrap="square" lIns="173442" tIns="122642" rIns="17994" bIns="97242" rtlCol="0" anchor="t">
            <a:normAutofit/>
          </a:bodyPr>
          <a:lstStyle/>
          <a:p>
            <a:pPr algn="l" indent="0" marL="0">
              <a:lnSpc>
                <a:spcPts val="1800"/>
              </a:lnSpc>
              <a:buNone/>
            </a:pPr>
            <a:r>
              <a:rPr lang="en-US" sz="1200" dirty="0">
                <a:solidFill>
                  <a:srgbClr val="8B98A9"/>
                </a:solidFill>
                <a:latin typeface="IBM Plex Mono" pitchFamily="49" charset="0"/>
                <a:ea typeface="IBM Plex Mono" pitchFamily="49" charset="-122"/>
                <a:cs typeface="IBM Plex Mono" pitchFamily="49" charset="-120"/>
              </a:rPr>
              <a:t>&lt;!DOCTYPE HTML PUBLIC</a:t>
            </a:r>
            <a:endParaRPr lang="en-US" sz="1200" dirty="0"/>
          </a:p>
          <a:p>
            <a:pPr algn="l" indent="0" marL="0">
              <a:lnSpc>
                <a:spcPts val="1800"/>
              </a:lnSpc>
              <a:buNone/>
            </a:pPr>
            <a:r>
              <a:rPr lang="en-US" sz="1200" dirty="0">
                <a:solidFill>
                  <a:srgbClr val="8B98A9"/>
                </a:solidFill>
                <a:latin typeface="IBM Plex Mono" pitchFamily="49" charset="0"/>
                <a:ea typeface="IBM Plex Mono" pitchFamily="49" charset="-122"/>
                <a:cs typeface="IBM Plex Mono" pitchFamily="49" charset="-120"/>
              </a:rPr>
              <a:t>"-//W3C//DTD HTML 4.01//EN"</a:t>
            </a:r>
            <a:endParaRPr lang="en-US" sz="1200" dirty="0"/>
          </a:p>
          <a:p>
            <a:pPr algn="l" indent="0" marL="0">
              <a:lnSpc>
                <a:spcPts val="1800"/>
              </a:lnSpc>
              <a:buNone/>
            </a:pPr>
            <a:r>
              <a:rPr lang="en-US" sz="1200" dirty="0">
                <a:solidFill>
                  <a:srgbClr val="8B98A9"/>
                </a:solidFill>
                <a:latin typeface="IBM Plex Mono" pitchFamily="49" charset="0"/>
                <a:ea typeface="IBM Plex Mono" pitchFamily="49" charset="-122"/>
                <a:cs typeface="IBM Plex Mono" pitchFamily="49" charset="-120"/>
              </a:rPr>
              <a:t>"http://www.w3.org/TR/html4/strict.dtd"&gt;</a:t>
            </a:r>
            <a:endParaRPr lang="en-US" sz="1200" dirty="0"/>
          </a:p>
        </p:txBody>
      </p:sp>
      <p:sp>
        <p:nvSpPr>
          <p:cNvPr id="10" name="Text 8"/>
          <p:cNvSpPr/>
          <p:nvPr/>
        </p:nvSpPr>
        <p:spPr>
          <a:xfrm>
            <a:off x="5791200" y="3405981"/>
            <a:ext cx="575564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75467"/>
                </a:solidFill>
                <a:latin typeface="IBM Plex Sans" pitchFamily="34" charset="0"/>
                <a:ea typeface="IBM Plex Sans" pitchFamily="34" charset="-122"/>
                <a:cs typeface="IBM Plex Sans" pitchFamily="34" charset="-120"/>
              </a:rPr>
              <a:t>HTML5 (today)</a:t>
            </a:r>
            <a:endParaRPr lang="en-US" sz="1300" dirty="0"/>
          </a:p>
        </p:txBody>
      </p:sp>
      <p:sp>
        <p:nvSpPr>
          <p:cNvPr id="11" name="Text 9"/>
          <p:cNvSpPr/>
          <p:nvPr/>
        </p:nvSpPr>
        <p:spPr>
          <a:xfrm>
            <a:off x="5791200" y="3738662"/>
            <a:ext cx="5588000" cy="647700"/>
          </a:xfrm>
          <a:prstGeom prst="roundRect">
            <a:avLst>
              <a:gd name="adj" fmla="val 15686"/>
            </a:avLst>
          </a:prstGeom>
          <a:solidFill>
            <a:srgbClr val="1B2430"/>
          </a:solidFill>
          <a:ln/>
        </p:spPr>
        <p:txBody>
          <a:bodyPr wrap="square" lIns="173442" tIns="122642" rIns="17994" bIns="97242" rtlCol="0" anchor="t">
            <a:normAutofit/>
          </a:bodyPr>
          <a:lstStyle/>
          <a:p>
            <a:pPr algn="l" indent="0" marL="0">
              <a:lnSpc>
                <a:spcPts val="2700"/>
              </a:lnSpc>
              <a:buNone/>
            </a:pPr>
            <a:r>
              <a:rPr lang="en-US" sz="1800" dirty="0">
                <a:solidFill>
                  <a:srgbClr val="FF9E64"/>
                </a:solidFill>
                <a:latin typeface="IBM Plex Mono" pitchFamily="49" charset="0"/>
                <a:ea typeface="IBM Plex Mono" pitchFamily="49" charset="-122"/>
                <a:cs typeface="IBM Plex Mono" pitchFamily="49" charset="-120"/>
              </a:rPr>
              <a:t>&lt;!DOCTYPE html&gt;</a:t>
            </a:r>
            <a:endParaRPr lang="en-US" sz="1800" dirty="0"/>
          </a:p>
        </p:txBody>
      </p:sp>
      <p:sp>
        <p:nvSpPr>
          <p:cNvPr id="12"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1 · Lecture 1 — HTML Foundations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THEORY</a:t>
            </a:r>
            <a:endParaRPr lang="en-US" sz="1200" dirty="0"/>
          </a:p>
        </p:txBody>
      </p:sp>
      <p:sp>
        <p:nvSpPr>
          <p:cNvPr id="3" name="Text 1"/>
          <p:cNvSpPr/>
          <p:nvPr>
            <p:ph type="title"/>
          </p:nvPr>
        </p:nvSpPr>
        <p:spPr>
          <a:xfrm>
            <a:off x="812800" y="1254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How the browser reads your HTML</a:t>
            </a:r>
            <a:endParaRPr lang="en-US" sz="3200" dirty="0"/>
          </a:p>
        </p:txBody>
      </p:sp>
      <p:sp>
        <p:nvSpPr>
          <p:cNvPr id="4" name="Text 2"/>
          <p:cNvSpPr/>
          <p:nvPr/>
        </p:nvSpPr>
        <p:spPr>
          <a:xfrm>
            <a:off x="815975" y="1933476"/>
            <a:ext cx="1277541" cy="491430"/>
          </a:xfrm>
          <a:prstGeom prst="roundRect">
            <a:avLst>
              <a:gd name="adj" fmla="val 14860"/>
            </a:avLst>
          </a:prstGeom>
          <a:solidFill>
            <a:srgbClr val="FFFDF9"/>
          </a:solidFill>
          <a:ln w="6350">
            <a:solidFill>
              <a:srgbClr val="E4E0D8"/>
            </a:solidFill>
            <a:prstDash val="solid"/>
          </a:ln>
        </p:spPr>
        <p:txBody>
          <a:bodyPr wrap="square" lIns="32587" tIns="108787" rIns="32587" bIns="83387" rtlCol="0" anchor="t">
            <a:normAutofit/>
          </a:bodyPr>
          <a:lstStyle/>
          <a:p>
            <a:pPr algn="ctr" indent="0" marL="0">
              <a:lnSpc>
                <a:spcPts val="1820"/>
              </a:lnSpc>
              <a:buNone/>
            </a:pPr>
            <a:r>
              <a:rPr lang="en-US" sz="1300" b="1" dirty="0">
                <a:solidFill>
                  <a:srgbClr val="1F2A37"/>
                </a:solidFill>
                <a:latin typeface="IBM Plex Sans" pitchFamily="34" charset="0"/>
                <a:ea typeface="IBM Plex Sans" pitchFamily="34" charset="-122"/>
                <a:cs typeface="IBM Plex Sans" pitchFamily="34" charset="-120"/>
              </a:rPr>
              <a:t>Bytes</a:t>
            </a:r>
            <a:endParaRPr lang="en-US" sz="1300" dirty="0"/>
          </a:p>
        </p:txBody>
      </p:sp>
      <p:pic>
        <p:nvPicPr>
          <p:cNvPr id="5" name="Image 0" descr="arrow-right">    </p:cNvPr>
          <p:cNvPicPr>
            <a:picLocks noChangeAspect="1"/>
          </p:cNvPicPr>
          <p:nvPr/>
        </p:nvPicPr>
        <p:blipFill>
          <a:blip r:embed="rId1"/>
          <a:srcRect l="0" r="0" t="0" b="0"/>
          <a:stretch/>
        </p:blipFill>
        <p:spPr>
          <a:xfrm>
            <a:off x="2198291" y="2102941"/>
            <a:ext cx="304800" cy="152400"/>
          </a:xfrm>
          <a:prstGeom prst="rect">
            <a:avLst/>
          </a:prstGeom>
        </p:spPr>
      </p:pic>
      <p:sp>
        <p:nvSpPr>
          <p:cNvPr id="6" name="Text 3"/>
          <p:cNvSpPr/>
          <p:nvPr/>
        </p:nvSpPr>
        <p:spPr>
          <a:xfrm>
            <a:off x="2607866" y="1933476"/>
            <a:ext cx="1277640" cy="491430"/>
          </a:xfrm>
          <a:prstGeom prst="roundRect">
            <a:avLst>
              <a:gd name="adj" fmla="val 14860"/>
            </a:avLst>
          </a:prstGeom>
          <a:solidFill>
            <a:srgbClr val="FFFDF9"/>
          </a:solidFill>
          <a:ln w="6350">
            <a:solidFill>
              <a:srgbClr val="E4E0D8"/>
            </a:solidFill>
            <a:prstDash val="solid"/>
          </a:ln>
        </p:spPr>
        <p:txBody>
          <a:bodyPr wrap="square" lIns="32587" tIns="108787" rIns="32587" bIns="83387" rtlCol="0" anchor="t">
            <a:normAutofit/>
          </a:bodyPr>
          <a:lstStyle/>
          <a:p>
            <a:pPr algn="ctr" indent="0" marL="0">
              <a:lnSpc>
                <a:spcPts val="1820"/>
              </a:lnSpc>
              <a:buNone/>
            </a:pPr>
            <a:r>
              <a:rPr lang="en-US" sz="1300" b="1" dirty="0">
                <a:solidFill>
                  <a:srgbClr val="1F2A37"/>
                </a:solidFill>
                <a:latin typeface="IBM Plex Sans" pitchFamily="34" charset="0"/>
                <a:ea typeface="IBM Plex Sans" pitchFamily="34" charset="-122"/>
                <a:cs typeface="IBM Plex Sans" pitchFamily="34" charset="-120"/>
              </a:rPr>
              <a:t>Characters</a:t>
            </a:r>
            <a:endParaRPr lang="en-US" sz="1300" dirty="0"/>
          </a:p>
        </p:txBody>
      </p:sp>
      <p:pic>
        <p:nvPicPr>
          <p:cNvPr id="7" name="Image 1" descr="arrow-right">    </p:cNvPr>
          <p:cNvPicPr>
            <a:picLocks noChangeAspect="1"/>
          </p:cNvPicPr>
          <p:nvPr/>
        </p:nvPicPr>
        <p:blipFill>
          <a:blip r:embed="rId2"/>
          <a:srcRect l="0" r="0" t="0" b="0"/>
          <a:stretch/>
        </p:blipFill>
        <p:spPr>
          <a:xfrm>
            <a:off x="3990280" y="2102941"/>
            <a:ext cx="304800" cy="152400"/>
          </a:xfrm>
          <a:prstGeom prst="rect">
            <a:avLst/>
          </a:prstGeom>
        </p:spPr>
      </p:pic>
      <p:sp>
        <p:nvSpPr>
          <p:cNvPr id="8" name="Text 4"/>
          <p:cNvSpPr/>
          <p:nvPr/>
        </p:nvSpPr>
        <p:spPr>
          <a:xfrm>
            <a:off x="4399855" y="1933476"/>
            <a:ext cx="1277541" cy="491430"/>
          </a:xfrm>
          <a:prstGeom prst="roundRect">
            <a:avLst>
              <a:gd name="adj" fmla="val 14860"/>
            </a:avLst>
          </a:prstGeom>
          <a:solidFill>
            <a:srgbClr val="FFFDF9"/>
          </a:solidFill>
          <a:ln w="6350">
            <a:solidFill>
              <a:srgbClr val="E4E0D8"/>
            </a:solidFill>
            <a:prstDash val="solid"/>
          </a:ln>
        </p:spPr>
        <p:txBody>
          <a:bodyPr wrap="square" lIns="32587" tIns="108787" rIns="32587" bIns="83387" rtlCol="0" anchor="t">
            <a:normAutofit/>
          </a:bodyPr>
          <a:lstStyle/>
          <a:p>
            <a:pPr algn="ctr" indent="0" marL="0">
              <a:lnSpc>
                <a:spcPts val="1820"/>
              </a:lnSpc>
              <a:buNone/>
            </a:pPr>
            <a:r>
              <a:rPr lang="en-US" sz="1300" b="1" dirty="0">
                <a:solidFill>
                  <a:srgbClr val="1F2A37"/>
                </a:solidFill>
                <a:latin typeface="IBM Plex Sans" pitchFamily="34" charset="0"/>
                <a:ea typeface="IBM Plex Sans" pitchFamily="34" charset="-122"/>
                <a:cs typeface="IBM Plex Sans" pitchFamily="34" charset="-120"/>
              </a:rPr>
              <a:t>Tokens</a:t>
            </a:r>
            <a:endParaRPr lang="en-US" sz="1300" dirty="0"/>
          </a:p>
        </p:txBody>
      </p:sp>
      <p:pic>
        <p:nvPicPr>
          <p:cNvPr id="9" name="Image 2" descr="arrow-right">    </p:cNvPr>
          <p:cNvPicPr>
            <a:picLocks noChangeAspect="1"/>
          </p:cNvPicPr>
          <p:nvPr/>
        </p:nvPicPr>
        <p:blipFill>
          <a:blip r:embed="rId3"/>
          <a:srcRect l="0" r="0" t="0" b="0"/>
          <a:stretch/>
        </p:blipFill>
        <p:spPr>
          <a:xfrm>
            <a:off x="5782171" y="2102941"/>
            <a:ext cx="304800" cy="152400"/>
          </a:xfrm>
          <a:prstGeom prst="rect">
            <a:avLst/>
          </a:prstGeom>
        </p:spPr>
      </p:pic>
      <p:sp>
        <p:nvSpPr>
          <p:cNvPr id="10" name="Text 5"/>
          <p:cNvSpPr/>
          <p:nvPr/>
        </p:nvSpPr>
        <p:spPr>
          <a:xfrm>
            <a:off x="6191746" y="1933476"/>
            <a:ext cx="1277541" cy="491430"/>
          </a:xfrm>
          <a:prstGeom prst="roundRect">
            <a:avLst>
              <a:gd name="adj" fmla="val 14860"/>
            </a:avLst>
          </a:prstGeom>
          <a:solidFill>
            <a:srgbClr val="FFFDF9"/>
          </a:solidFill>
          <a:ln w="6350">
            <a:solidFill>
              <a:srgbClr val="E4E0D8"/>
            </a:solidFill>
            <a:prstDash val="solid"/>
          </a:ln>
        </p:spPr>
        <p:txBody>
          <a:bodyPr wrap="square" lIns="32587" tIns="108787" rIns="32587" bIns="83387" rtlCol="0" anchor="t">
            <a:normAutofit/>
          </a:bodyPr>
          <a:lstStyle/>
          <a:p>
            <a:pPr algn="ctr" indent="0" marL="0">
              <a:lnSpc>
                <a:spcPts val="1820"/>
              </a:lnSpc>
              <a:buNone/>
            </a:pPr>
            <a:r>
              <a:rPr lang="en-US" sz="1300" b="1" dirty="0">
                <a:solidFill>
                  <a:srgbClr val="1F2A37"/>
                </a:solidFill>
                <a:latin typeface="IBM Plex Sans" pitchFamily="34" charset="0"/>
                <a:ea typeface="IBM Plex Sans" pitchFamily="34" charset="-122"/>
                <a:cs typeface="IBM Plex Sans" pitchFamily="34" charset="-120"/>
              </a:rPr>
              <a:t>Nodes</a:t>
            </a:r>
            <a:endParaRPr lang="en-US" sz="1300" dirty="0"/>
          </a:p>
        </p:txBody>
      </p:sp>
      <p:pic>
        <p:nvPicPr>
          <p:cNvPr id="11" name="Image 3" descr="arrow-right">    </p:cNvPr>
          <p:cNvPicPr>
            <a:picLocks noChangeAspect="1"/>
          </p:cNvPicPr>
          <p:nvPr/>
        </p:nvPicPr>
        <p:blipFill>
          <a:blip r:embed="rId4"/>
          <a:srcRect l="0" r="0" t="0" b="0"/>
          <a:stretch/>
        </p:blipFill>
        <p:spPr>
          <a:xfrm>
            <a:off x="7574062" y="2102941"/>
            <a:ext cx="304800" cy="152400"/>
          </a:xfrm>
          <a:prstGeom prst="rect">
            <a:avLst/>
          </a:prstGeom>
        </p:spPr>
      </p:pic>
      <p:sp>
        <p:nvSpPr>
          <p:cNvPr id="12" name="Text 6"/>
          <p:cNvSpPr/>
          <p:nvPr/>
        </p:nvSpPr>
        <p:spPr>
          <a:xfrm>
            <a:off x="7980462" y="1936651"/>
            <a:ext cx="1271191" cy="485080"/>
          </a:xfrm>
          <a:prstGeom prst="roundRect">
            <a:avLst>
              <a:gd name="adj" fmla="val 15709"/>
            </a:avLst>
          </a:prstGeom>
          <a:solidFill>
            <a:srgbClr val="16202E"/>
          </a:solidFill>
          <a:ln/>
        </p:spPr>
        <p:txBody>
          <a:bodyPr wrap="square" lIns="28482" tIns="104682" rIns="28482" bIns="79282" rtlCol="0" anchor="t">
            <a:normAutofit/>
          </a:bodyPr>
          <a:lstStyle/>
          <a:p>
            <a:pPr algn="ctr" indent="0" marL="0">
              <a:lnSpc>
                <a:spcPts val="1820"/>
              </a:lnSpc>
              <a:buNone/>
            </a:pPr>
            <a:r>
              <a:rPr lang="en-US" sz="1300" b="1" dirty="0">
                <a:solidFill>
                  <a:srgbClr val="F7F5F0"/>
                </a:solidFill>
                <a:latin typeface="IBM Plex Sans" pitchFamily="34" charset="0"/>
                <a:ea typeface="IBM Plex Sans" pitchFamily="34" charset="-122"/>
                <a:cs typeface="IBM Plex Sans" pitchFamily="34" charset="-120"/>
              </a:rPr>
              <a:t>DOM tree</a:t>
            </a:r>
            <a:endParaRPr lang="en-US" sz="1300" dirty="0"/>
          </a:p>
        </p:txBody>
      </p:sp>
      <p:pic>
        <p:nvPicPr>
          <p:cNvPr id="13" name="Image 4" descr="arrow-right">    </p:cNvPr>
          <p:cNvPicPr>
            <a:picLocks noChangeAspect="1"/>
          </p:cNvPicPr>
          <p:nvPr/>
        </p:nvPicPr>
        <p:blipFill>
          <a:blip r:embed="rId5"/>
          <a:srcRect l="0" r="0" t="0" b="0"/>
          <a:stretch/>
        </p:blipFill>
        <p:spPr>
          <a:xfrm>
            <a:off x="9353252" y="2102941"/>
            <a:ext cx="304800" cy="152400"/>
          </a:xfrm>
          <a:prstGeom prst="rect">
            <a:avLst/>
          </a:prstGeom>
        </p:spPr>
      </p:pic>
      <p:sp>
        <p:nvSpPr>
          <p:cNvPr id="14" name="Text 7"/>
          <p:cNvSpPr/>
          <p:nvPr/>
        </p:nvSpPr>
        <p:spPr>
          <a:xfrm>
            <a:off x="9762827" y="1933476"/>
            <a:ext cx="1613198" cy="491430"/>
          </a:xfrm>
          <a:prstGeom prst="roundRect">
            <a:avLst>
              <a:gd name="adj" fmla="val 14860"/>
            </a:avLst>
          </a:prstGeom>
          <a:solidFill>
            <a:srgbClr val="FFFDF9"/>
          </a:solidFill>
          <a:ln w="6350">
            <a:solidFill>
              <a:srgbClr val="E4E0D8"/>
            </a:solidFill>
            <a:prstDash val="solid"/>
          </a:ln>
        </p:spPr>
        <p:txBody>
          <a:bodyPr wrap="square" lIns="32587" tIns="108787" rIns="32587" bIns="83387" rtlCol="0" anchor="t">
            <a:normAutofit/>
          </a:bodyPr>
          <a:lstStyle/>
          <a:p>
            <a:pPr algn="ctr" indent="0" marL="0">
              <a:lnSpc>
                <a:spcPts val="1820"/>
              </a:lnSpc>
              <a:buNone/>
            </a:pPr>
            <a:r>
              <a:rPr lang="en-US" sz="1300" b="1" dirty="0">
                <a:solidFill>
                  <a:srgbClr val="1F2A37"/>
                </a:solidFill>
                <a:latin typeface="IBM Plex Sans" pitchFamily="34" charset="0"/>
                <a:ea typeface="IBM Plex Sans" pitchFamily="34" charset="-122"/>
                <a:cs typeface="IBM Plex Sans" pitchFamily="34" charset="-120"/>
              </a:rPr>
              <a:t>+ CSS → paint</a:t>
            </a:r>
            <a:endParaRPr lang="en-US" sz="1300" dirty="0"/>
          </a:p>
        </p:txBody>
      </p:sp>
      <p:sp>
        <p:nvSpPr>
          <p:cNvPr id="15" name="Text 8"/>
          <p:cNvSpPr/>
          <p:nvPr/>
        </p:nvSpPr>
        <p:spPr>
          <a:xfrm>
            <a:off x="812800" y="2656681"/>
            <a:ext cx="4826000" cy="2089150"/>
          </a:xfrm>
          <a:prstGeom prst="roundRect">
            <a:avLst>
              <a:gd name="adj" fmla="val 4863"/>
            </a:avLst>
          </a:prstGeom>
          <a:solidFill>
            <a:srgbClr val="1B2430"/>
          </a:solidFill>
          <a:ln/>
        </p:spPr>
        <p:txBody>
          <a:bodyPr wrap="square" lIns="198842" tIns="148042" rIns="67778" bIns="122642" rtlCol="0" anchor="t">
            <a:normAutofit/>
          </a:bodyPr>
          <a:lstStyle/>
          <a:p>
            <a:pPr algn="l" indent="0" marL="0">
              <a:lnSpc>
                <a:spcPts val="1950"/>
              </a:lnSpc>
              <a:buNone/>
            </a:pPr>
            <a:r>
              <a:rPr lang="en-US" sz="1300" dirty="0">
                <a:solidFill>
                  <a:srgbClr val="E6EDF3"/>
                </a:solidFill>
                <a:latin typeface="IBM Plex Mono" pitchFamily="49" charset="0"/>
                <a:ea typeface="IBM Plex Mono" pitchFamily="49" charset="-122"/>
                <a:cs typeface="IBM Plex Mono" pitchFamily="49" charset="-120"/>
              </a:rPr>
              <a:t>document</a:t>
            </a:r>
            <a:endParaRPr lang="en-US" sz="1300" dirty="0"/>
          </a:p>
          <a:p>
            <a:pPr algn="l" indent="0" marL="0">
              <a:lnSpc>
                <a:spcPts val="1950"/>
              </a:lnSpc>
              <a:buNone/>
            </a:pPr>
            <a:r>
              <a:rPr lang="en-US" sz="1300" dirty="0">
                <a:solidFill>
                  <a:srgbClr val="E6EDF3"/>
                </a:solidFill>
                <a:latin typeface="IBM Plex Mono" pitchFamily="49" charset="0"/>
                <a:ea typeface="IBM Plex Mono" pitchFamily="49" charset="-122"/>
                <a:cs typeface="IBM Plex Mono" pitchFamily="49" charset="-120"/>
              </a:rPr>
              <a:t>└─ </a:t>
            </a:r>
            <a:r>
              <a:rPr lang="en-US" sz="1300" dirty="0">
                <a:solidFill>
                  <a:srgbClr val="FF9E64"/>
                </a:solidFill>
                <a:latin typeface="IBM Plex Mono" pitchFamily="49" charset="0"/>
                <a:ea typeface="IBM Plex Mono" pitchFamily="49" charset="-122"/>
                <a:cs typeface="IBM Plex Mono" pitchFamily="49" charset="-120"/>
              </a:rPr>
              <a:t>html</a:t>
            </a:r>
            <a:endParaRPr lang="en-US" sz="1300" dirty="0"/>
          </a:p>
          <a:p>
            <a:pPr algn="l" indent="0" marL="0">
              <a:lnSpc>
                <a:spcPts val="1950"/>
              </a:lnSpc>
              <a:buNone/>
            </a:pPr>
            <a:r>
              <a:rPr lang="en-US" sz="1300" dirty="0">
                <a:solidFill>
                  <a:srgbClr val="E6EDF3"/>
                </a:solidFill>
                <a:latin typeface="IBM Plex Mono" pitchFamily="49" charset="0"/>
                <a:ea typeface="IBM Plex Mono" pitchFamily="49" charset="-122"/>
                <a:cs typeface="IBM Plex Mono" pitchFamily="49" charset="-120"/>
              </a:rPr>
              <a:t>   ├─ </a:t>
            </a:r>
            <a:r>
              <a:rPr lang="en-US" sz="1300" dirty="0">
                <a:solidFill>
                  <a:srgbClr val="FF9E64"/>
                </a:solidFill>
                <a:latin typeface="IBM Plex Mono" pitchFamily="49" charset="0"/>
                <a:ea typeface="IBM Plex Mono" pitchFamily="49" charset="-122"/>
                <a:cs typeface="IBM Plex Mono" pitchFamily="49" charset="-120"/>
              </a:rPr>
              <a:t>head</a:t>
            </a:r>
            <a:endParaRPr lang="en-US" sz="1300" dirty="0"/>
          </a:p>
          <a:p>
            <a:pPr algn="l" indent="0" marL="0">
              <a:lnSpc>
                <a:spcPts val="1950"/>
              </a:lnSpc>
              <a:buNone/>
            </a:pPr>
            <a:r>
              <a:rPr lang="en-US" sz="1300" dirty="0">
                <a:solidFill>
                  <a:srgbClr val="E6EDF3"/>
                </a:solidFill>
                <a:latin typeface="IBM Plex Mono" pitchFamily="49" charset="0"/>
                <a:ea typeface="IBM Plex Mono" pitchFamily="49" charset="-122"/>
                <a:cs typeface="IBM Plex Mono" pitchFamily="49" charset="-120"/>
              </a:rPr>
              <a:t>   │  └─ </a:t>
            </a:r>
            <a:r>
              <a:rPr lang="en-US" sz="1300" dirty="0">
                <a:solidFill>
                  <a:srgbClr val="FF9E64"/>
                </a:solidFill>
                <a:latin typeface="IBM Plex Mono" pitchFamily="49" charset="0"/>
                <a:ea typeface="IBM Plex Mono" pitchFamily="49" charset="-122"/>
                <a:cs typeface="IBM Plex Mono" pitchFamily="49" charset="-120"/>
              </a:rPr>
              <a:t>title</a:t>
            </a:r>
            <a:r>
              <a:rPr lang="en-US" sz="1300" dirty="0">
                <a:solidFill>
                  <a:srgbClr val="E6EDF3"/>
                </a:solidFill>
                <a:latin typeface="IBM Plex Mono" pitchFamily="49" charset="0"/>
                <a:ea typeface="IBM Plex Mono" pitchFamily="49" charset="-122"/>
                <a:cs typeface="IBM Plex Mono" pitchFamily="49" charset="-120"/>
              </a:rPr>
              <a:t> → </a:t>
            </a:r>
            <a:r>
              <a:rPr lang="en-US" sz="1300" dirty="0">
                <a:solidFill>
                  <a:srgbClr val="9ECE6A"/>
                </a:solidFill>
                <a:latin typeface="IBM Plex Mono" pitchFamily="49" charset="0"/>
                <a:ea typeface="IBM Plex Mono" pitchFamily="49" charset="-122"/>
                <a:cs typeface="IBM Plex Mono" pitchFamily="49" charset="-120"/>
              </a:rPr>
              <a:t>"My First Page"</a:t>
            </a:r>
            <a:endParaRPr lang="en-US" sz="1300" dirty="0"/>
          </a:p>
          <a:p>
            <a:pPr algn="l" indent="0" marL="0">
              <a:lnSpc>
                <a:spcPts val="1950"/>
              </a:lnSpc>
              <a:buNone/>
            </a:pPr>
            <a:r>
              <a:rPr lang="en-US" sz="1300" dirty="0">
                <a:solidFill>
                  <a:srgbClr val="E6EDF3"/>
                </a:solidFill>
                <a:latin typeface="IBM Plex Mono" pitchFamily="49" charset="0"/>
                <a:ea typeface="IBM Plex Mono" pitchFamily="49" charset="-122"/>
                <a:cs typeface="IBM Plex Mono" pitchFamily="49" charset="-120"/>
              </a:rPr>
              <a:t>   └─ </a:t>
            </a:r>
            <a:r>
              <a:rPr lang="en-US" sz="1300" dirty="0">
                <a:solidFill>
                  <a:srgbClr val="FF9E64"/>
                </a:solidFill>
                <a:latin typeface="IBM Plex Mono" pitchFamily="49" charset="0"/>
                <a:ea typeface="IBM Plex Mono" pitchFamily="49" charset="-122"/>
                <a:cs typeface="IBM Plex Mono" pitchFamily="49" charset="-120"/>
              </a:rPr>
              <a:t>body</a:t>
            </a:r>
            <a:endParaRPr lang="en-US" sz="1300" dirty="0"/>
          </a:p>
          <a:p>
            <a:pPr algn="l" indent="0" marL="0">
              <a:lnSpc>
                <a:spcPts val="1950"/>
              </a:lnSpc>
              <a:buNone/>
            </a:pPr>
            <a:r>
              <a:rPr lang="en-US" sz="1300" dirty="0">
                <a:solidFill>
                  <a:srgbClr val="E6EDF3"/>
                </a:solidFill>
                <a:latin typeface="IBM Plex Mono" pitchFamily="49" charset="0"/>
                <a:ea typeface="IBM Plex Mono" pitchFamily="49" charset="-122"/>
                <a:cs typeface="IBM Plex Mono" pitchFamily="49" charset="-120"/>
              </a:rPr>
              <a:t>      ├─ </a:t>
            </a:r>
            <a:r>
              <a:rPr lang="en-US" sz="1300" dirty="0">
                <a:solidFill>
                  <a:srgbClr val="FF9E64"/>
                </a:solidFill>
                <a:latin typeface="IBM Plex Mono" pitchFamily="49" charset="0"/>
                <a:ea typeface="IBM Plex Mono" pitchFamily="49" charset="-122"/>
                <a:cs typeface="IBM Plex Mono" pitchFamily="49" charset="-120"/>
              </a:rPr>
              <a:t>h1</a:t>
            </a:r>
            <a:r>
              <a:rPr lang="en-US" sz="1300" dirty="0">
                <a:solidFill>
                  <a:srgbClr val="E6EDF3"/>
                </a:solidFill>
                <a:latin typeface="IBM Plex Mono" pitchFamily="49" charset="0"/>
                <a:ea typeface="IBM Plex Mono" pitchFamily="49" charset="-122"/>
                <a:cs typeface="IBM Plex Mono" pitchFamily="49" charset="-120"/>
              </a:rPr>
              <a:t> → </a:t>
            </a:r>
            <a:r>
              <a:rPr lang="en-US" sz="1300" dirty="0">
                <a:solidFill>
                  <a:srgbClr val="9ECE6A"/>
                </a:solidFill>
                <a:latin typeface="IBM Plex Mono" pitchFamily="49" charset="0"/>
                <a:ea typeface="IBM Plex Mono" pitchFamily="49" charset="-122"/>
                <a:cs typeface="IBM Plex Mono" pitchFamily="49" charset="-120"/>
              </a:rPr>
              <a:t>"Hello, Web!"</a:t>
            </a:r>
            <a:endParaRPr lang="en-US" sz="1300" dirty="0"/>
          </a:p>
          <a:p>
            <a:pPr algn="l" indent="0" marL="0">
              <a:lnSpc>
                <a:spcPts val="1950"/>
              </a:lnSpc>
              <a:buNone/>
            </a:pPr>
            <a:r>
              <a:rPr lang="en-US" sz="1300" dirty="0">
                <a:solidFill>
                  <a:srgbClr val="E6EDF3"/>
                </a:solidFill>
                <a:latin typeface="IBM Plex Mono" pitchFamily="49" charset="0"/>
                <a:ea typeface="IBM Plex Mono" pitchFamily="49" charset="-122"/>
                <a:cs typeface="IBM Plex Mono" pitchFamily="49" charset="-120"/>
              </a:rPr>
              <a:t>      └─ </a:t>
            </a:r>
            <a:r>
              <a:rPr lang="en-US" sz="1300" dirty="0">
                <a:solidFill>
                  <a:srgbClr val="FF9E64"/>
                </a:solidFill>
                <a:latin typeface="IBM Plex Mono" pitchFamily="49" charset="0"/>
                <a:ea typeface="IBM Plex Mono" pitchFamily="49" charset="-122"/>
                <a:cs typeface="IBM Plex Mono" pitchFamily="49" charset="-120"/>
              </a:rPr>
              <a:t>p</a:t>
            </a:r>
            <a:r>
              <a:rPr lang="en-US" sz="1300" dirty="0">
                <a:solidFill>
                  <a:srgbClr val="E6EDF3"/>
                </a:solidFill>
                <a:latin typeface="IBM Plex Mono" pitchFamily="49" charset="0"/>
                <a:ea typeface="IBM Plex Mono" pitchFamily="49" charset="-122"/>
                <a:cs typeface="IBM Plex Mono" pitchFamily="49" charset="-120"/>
              </a:rPr>
              <a:t>  → </a:t>
            </a:r>
            <a:r>
              <a:rPr lang="en-US" sz="1300" dirty="0">
                <a:solidFill>
                  <a:srgbClr val="9ECE6A"/>
                </a:solidFill>
                <a:latin typeface="IBM Plex Mono" pitchFamily="49" charset="0"/>
                <a:ea typeface="IBM Plex Mono" pitchFamily="49" charset="-122"/>
                <a:cs typeface="IBM Plex Mono" pitchFamily="49" charset="-120"/>
              </a:rPr>
              <a:t>"This is my…"</a:t>
            </a:r>
            <a:endParaRPr lang="en-US" sz="1300" dirty="0"/>
          </a:p>
        </p:txBody>
      </p:sp>
      <p:sp>
        <p:nvSpPr>
          <p:cNvPr id="16" name="Text 9"/>
          <p:cNvSpPr/>
          <p:nvPr/>
        </p:nvSpPr>
        <p:spPr>
          <a:xfrm>
            <a:off x="5892800" y="2656681"/>
            <a:ext cx="56509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The </a:t>
            </a:r>
            <a:r>
              <a:rPr lang="en-US" sz="1500" b="1" dirty="0">
                <a:solidFill>
                  <a:srgbClr val="1F2A37"/>
                </a:solidFill>
                <a:latin typeface="IBM Plex Sans" pitchFamily="34" charset="0"/>
                <a:ea typeface="IBM Plex Sans" pitchFamily="34" charset="-122"/>
                <a:cs typeface="IBM Plex Sans" pitchFamily="34" charset="-120"/>
              </a:rPr>
              <a:t>DOM</a:t>
            </a:r>
            <a:r>
              <a:rPr lang="en-US" sz="1500" dirty="0">
                <a:solidFill>
                  <a:srgbClr val="1F2A37"/>
                </a:solidFill>
                <a:latin typeface="IBM Plex Sans" pitchFamily="34" charset="0"/>
                <a:ea typeface="IBM Plex Sans" pitchFamily="34" charset="-122"/>
                <a:cs typeface="IBM Plex Sans" pitchFamily="34" charset="-120"/>
              </a:rPr>
              <a:t> (Document Object Model) is the live tree of objects the browser builds from your tags.</a:t>
            </a:r>
            <a:endParaRPr lang="en-US" sz="1500" dirty="0"/>
          </a:p>
        </p:txBody>
      </p:sp>
      <p:sp>
        <p:nvSpPr>
          <p:cNvPr id="17" name="Text 10"/>
          <p:cNvSpPr/>
          <p:nvPr/>
        </p:nvSpPr>
        <p:spPr>
          <a:xfrm>
            <a:off x="5892800" y="3317081"/>
            <a:ext cx="56509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467"/>
                </a:solidFill>
                <a:latin typeface="IBM Plex Sans" pitchFamily="34" charset="0"/>
                <a:ea typeface="IBM Plex Sans" pitchFamily="34" charset="-122"/>
                <a:cs typeface="IBM Plex Sans" pitchFamily="34" charset="-120"/>
              </a:rPr>
              <a:t>CSS styles the tree; JavaScript reads and changes it (Week 9).</a:t>
            </a:r>
            <a:endParaRPr lang="en-US" sz="1400" dirty="0"/>
          </a:p>
        </p:txBody>
      </p:sp>
      <p:sp>
        <p:nvSpPr>
          <p:cNvPr id="18" name="Text 11"/>
          <p:cNvSpPr/>
          <p:nvPr/>
        </p:nvSpPr>
        <p:spPr>
          <a:xfrm>
            <a:off x="5892800" y="3692922"/>
            <a:ext cx="5650992"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467"/>
                </a:solidFill>
                <a:latin typeface="IBM Plex Sans" pitchFamily="34" charset="0"/>
                <a:ea typeface="IBM Plex Sans" pitchFamily="34" charset="-122"/>
                <a:cs typeface="IBM Plex Sans" pitchFamily="34" charset="-120"/>
              </a:rPr>
              <a:t>DevTools </a:t>
            </a:r>
            <a:r>
              <a:rPr lang="en-US" sz="1400" b="1" dirty="0">
                <a:solidFill>
                  <a:srgbClr val="475467"/>
                </a:solidFill>
                <a:latin typeface="IBM Plex Sans" pitchFamily="34" charset="0"/>
                <a:ea typeface="IBM Plex Sans" pitchFamily="34" charset="-122"/>
                <a:cs typeface="IBM Plex Sans" pitchFamily="34" charset="-120"/>
              </a:rPr>
              <a:t>Elements</a:t>
            </a:r>
            <a:r>
              <a:rPr lang="en-US" sz="1400" dirty="0">
                <a:solidFill>
                  <a:srgbClr val="475467"/>
                </a:solidFill>
                <a:latin typeface="IBM Plex Sans" pitchFamily="34" charset="0"/>
                <a:ea typeface="IBM Plex Sans" pitchFamily="34" charset="-122"/>
                <a:cs typeface="IBM Plex Sans" pitchFamily="34" charset="-120"/>
              </a:rPr>
              <a:t> panel shows the DOM — after the browser repaired your mistakes. </a:t>
            </a:r>
            <a:r>
              <a:rPr lang="en-US" sz="1400" b="1" dirty="0">
                <a:solidFill>
                  <a:srgbClr val="475467"/>
                </a:solidFill>
                <a:latin typeface="IBM Plex Sans" pitchFamily="34" charset="0"/>
                <a:ea typeface="IBM Plex Sans" pitchFamily="34" charset="-122"/>
                <a:cs typeface="IBM Plex Sans" pitchFamily="34" charset="-120"/>
              </a:rPr>
              <a:t>View Source</a:t>
            </a:r>
            <a:r>
              <a:rPr lang="en-US" sz="1400" dirty="0">
                <a:solidFill>
                  <a:srgbClr val="475467"/>
                </a:solidFill>
                <a:latin typeface="IBM Plex Sans" pitchFamily="34" charset="0"/>
                <a:ea typeface="IBM Plex Sans" pitchFamily="34" charset="-122"/>
                <a:cs typeface="IBM Plex Sans" pitchFamily="34" charset="-120"/>
              </a:rPr>
              <a:t> (Ctrl+U) shows what you wrote.</a:t>
            </a:r>
            <a:endParaRPr lang="en-US" sz="1400" dirty="0"/>
          </a:p>
        </p:txBody>
      </p:sp>
      <p:sp>
        <p:nvSpPr>
          <p:cNvPr id="19"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1 · Lecture 1 — HTML Foundations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THEORY</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Block vs inline: how elements flow</a:t>
            </a:r>
            <a:endParaRPr lang="en-US" sz="3200" dirty="0"/>
          </a:p>
        </p:txBody>
      </p:sp>
      <p:sp>
        <p:nvSpPr>
          <p:cNvPr id="4" name="Text 2"/>
          <p:cNvSpPr/>
          <p:nvPr/>
        </p:nvSpPr>
        <p:spPr>
          <a:xfrm>
            <a:off x="812800" y="1981101"/>
            <a:ext cx="533704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IBM Plex Sans" pitchFamily="34" charset="0"/>
                <a:ea typeface="IBM Plex Sans" pitchFamily="34" charset="-122"/>
                <a:cs typeface="IBM Plex Sans" pitchFamily="34" charset="-120"/>
              </a:rPr>
              <a:t>Block-level</a:t>
            </a:r>
            <a:endParaRPr lang="en-US" sz="1800" dirty="0"/>
          </a:p>
        </p:txBody>
      </p:sp>
      <p:sp>
        <p:nvSpPr>
          <p:cNvPr id="5" name="Text 3"/>
          <p:cNvSpPr/>
          <p:nvPr/>
        </p:nvSpPr>
        <p:spPr>
          <a:xfrm>
            <a:off x="812800" y="2356941"/>
            <a:ext cx="533704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467"/>
                </a:solidFill>
                <a:latin typeface="IBM Plex Sans" pitchFamily="34" charset="0"/>
                <a:ea typeface="IBM Plex Sans" pitchFamily="34" charset="-122"/>
                <a:cs typeface="IBM Plex Sans" pitchFamily="34" charset="-120"/>
              </a:rPr>
              <a:t>Starts on a new line, stretches the full width</a:t>
            </a:r>
            <a:endParaRPr lang="en-US" sz="1300" dirty="0"/>
          </a:p>
        </p:txBody>
      </p:sp>
      <p:sp>
        <p:nvSpPr>
          <p:cNvPr id="6" name="Shape 4"/>
          <p:cNvSpPr/>
          <p:nvPr/>
        </p:nvSpPr>
        <p:spPr>
          <a:xfrm>
            <a:off x="815975" y="2692797"/>
            <a:ext cx="5175250" cy="1512391"/>
          </a:xfrm>
          <a:prstGeom prst="roundRect">
            <a:avLst>
              <a:gd name="adj" fmla="val 6508"/>
            </a:avLst>
          </a:prstGeom>
          <a:solidFill>
            <a:srgbClr val="FFFDF9"/>
          </a:solidFill>
          <a:ln w="6350">
            <a:solidFill>
              <a:srgbClr val="E4E0D8"/>
            </a:solidFill>
            <a:prstDash val="solid"/>
          </a:ln>
        </p:spPr>
      </p:sp>
      <p:sp>
        <p:nvSpPr>
          <p:cNvPr id="7" name="Text 5"/>
          <p:cNvSpPr/>
          <p:nvPr/>
        </p:nvSpPr>
        <p:spPr>
          <a:xfrm>
            <a:off x="946150" y="2822972"/>
            <a:ext cx="4914900" cy="383480"/>
          </a:xfrm>
          <a:prstGeom prst="roundRect">
            <a:avLst>
              <a:gd name="adj" fmla="val 13247"/>
            </a:avLst>
          </a:prstGeom>
          <a:solidFill>
            <a:srgbClr val="FCE7DA"/>
          </a:solidFill>
          <a:ln/>
        </p:spPr>
        <p:txBody>
          <a:bodyPr wrap="square" lIns="86721" tIns="61321" rIns="0" bIns="35921" rtlCol="0" anchor="t">
            <a:normAutofit/>
          </a:bodyPr>
          <a:lstStyle/>
          <a:p>
            <a:pPr algn="l" indent="0" marL="0">
              <a:lnSpc>
                <a:spcPts val="1820"/>
              </a:lnSpc>
              <a:buNone/>
            </a:pPr>
            <a:r>
              <a:rPr lang="en-US" sz="1300" dirty="0">
                <a:solidFill>
                  <a:srgbClr val="1F2A37"/>
                </a:solidFill>
                <a:latin typeface="IBM Plex Mono" pitchFamily="49" charset="0"/>
                <a:ea typeface="IBM Plex Mono" pitchFamily="49" charset="-122"/>
                <a:cs typeface="IBM Plex Mono" pitchFamily="49" charset="-120"/>
              </a:rPr>
              <a:t>h1</a:t>
            </a:r>
            <a:endParaRPr lang="en-US" sz="1300" dirty="0"/>
          </a:p>
        </p:txBody>
      </p:sp>
      <p:sp>
        <p:nvSpPr>
          <p:cNvPr id="8" name="Text 6"/>
          <p:cNvSpPr/>
          <p:nvPr/>
        </p:nvSpPr>
        <p:spPr>
          <a:xfrm>
            <a:off x="946150" y="3257252"/>
            <a:ext cx="4914900" cy="383480"/>
          </a:xfrm>
          <a:prstGeom prst="roundRect">
            <a:avLst>
              <a:gd name="adj" fmla="val 13247"/>
            </a:avLst>
          </a:prstGeom>
          <a:solidFill>
            <a:srgbClr val="FCE7DA"/>
          </a:solidFill>
          <a:ln/>
        </p:spPr>
        <p:txBody>
          <a:bodyPr wrap="square" lIns="86721" tIns="61321" rIns="0" bIns="35921" rtlCol="0" anchor="t">
            <a:normAutofit/>
          </a:bodyPr>
          <a:lstStyle/>
          <a:p>
            <a:pPr algn="l" indent="0" marL="0">
              <a:lnSpc>
                <a:spcPts val="1820"/>
              </a:lnSpc>
              <a:buNone/>
            </a:pPr>
            <a:r>
              <a:rPr lang="en-US" sz="1300" dirty="0">
                <a:solidFill>
                  <a:srgbClr val="1F2A37"/>
                </a:solidFill>
                <a:latin typeface="IBM Plex Mono" pitchFamily="49" charset="0"/>
                <a:ea typeface="IBM Plex Mono" pitchFamily="49" charset="-122"/>
                <a:cs typeface="IBM Plex Mono" pitchFamily="49" charset="-120"/>
              </a:rPr>
              <a:t>p</a:t>
            </a:r>
            <a:endParaRPr lang="en-US" sz="1300" dirty="0"/>
          </a:p>
        </p:txBody>
      </p:sp>
      <p:sp>
        <p:nvSpPr>
          <p:cNvPr id="9" name="Text 7"/>
          <p:cNvSpPr/>
          <p:nvPr/>
        </p:nvSpPr>
        <p:spPr>
          <a:xfrm>
            <a:off x="946150" y="3691533"/>
            <a:ext cx="4914900" cy="383480"/>
          </a:xfrm>
          <a:prstGeom prst="roundRect">
            <a:avLst>
              <a:gd name="adj" fmla="val 13247"/>
            </a:avLst>
          </a:prstGeom>
          <a:solidFill>
            <a:srgbClr val="FCE7DA"/>
          </a:solidFill>
          <a:ln/>
        </p:spPr>
        <p:txBody>
          <a:bodyPr wrap="square" lIns="86721" tIns="61321" rIns="0" bIns="35921" rtlCol="0" anchor="t">
            <a:normAutofit/>
          </a:bodyPr>
          <a:lstStyle/>
          <a:p>
            <a:pPr algn="l" indent="0" marL="0">
              <a:lnSpc>
                <a:spcPts val="1820"/>
              </a:lnSpc>
              <a:buNone/>
            </a:pPr>
            <a:r>
              <a:rPr lang="en-US" sz="1300" dirty="0">
                <a:solidFill>
                  <a:srgbClr val="1F2A37"/>
                </a:solidFill>
                <a:latin typeface="IBM Plex Mono" pitchFamily="49" charset="0"/>
                <a:ea typeface="IBM Plex Mono" pitchFamily="49" charset="-122"/>
                <a:cs typeface="IBM Plex Mono" pitchFamily="49" charset="-120"/>
              </a:rPr>
              <a:t>div</a:t>
            </a:r>
            <a:endParaRPr lang="en-US" sz="1300" dirty="0"/>
          </a:p>
        </p:txBody>
      </p:sp>
      <p:sp>
        <p:nvSpPr>
          <p:cNvPr id="10" name="Text 8"/>
          <p:cNvSpPr/>
          <p:nvPr/>
        </p:nvSpPr>
        <p:spPr>
          <a:xfrm>
            <a:off x="812800" y="4309963"/>
            <a:ext cx="533704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h1–h6, p, div, ul, ol, li, table, form, header, section</a:t>
            </a:r>
            <a:endParaRPr lang="en-US" sz="1300" dirty="0"/>
          </a:p>
        </p:txBody>
      </p:sp>
      <p:sp>
        <p:nvSpPr>
          <p:cNvPr id="11" name="Text 9"/>
          <p:cNvSpPr/>
          <p:nvPr/>
        </p:nvSpPr>
        <p:spPr>
          <a:xfrm>
            <a:off x="6197600" y="1981101"/>
            <a:ext cx="533704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02E"/>
                </a:solidFill>
                <a:latin typeface="IBM Plex Sans" pitchFamily="34" charset="0"/>
                <a:ea typeface="IBM Plex Sans" pitchFamily="34" charset="-122"/>
                <a:cs typeface="IBM Plex Sans" pitchFamily="34" charset="-120"/>
              </a:rPr>
              <a:t>Inline</a:t>
            </a:r>
            <a:endParaRPr lang="en-US" sz="1800" dirty="0"/>
          </a:p>
        </p:txBody>
      </p:sp>
      <p:sp>
        <p:nvSpPr>
          <p:cNvPr id="12" name="Text 10"/>
          <p:cNvSpPr/>
          <p:nvPr/>
        </p:nvSpPr>
        <p:spPr>
          <a:xfrm>
            <a:off x="6197600" y="2356941"/>
            <a:ext cx="533704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467"/>
                </a:solidFill>
                <a:latin typeface="IBM Plex Sans" pitchFamily="34" charset="0"/>
                <a:ea typeface="IBM Plex Sans" pitchFamily="34" charset="-122"/>
                <a:cs typeface="IBM Plex Sans" pitchFamily="34" charset="-120"/>
              </a:rPr>
              <a:t>Flows inside a line of text, only as wide as its content</a:t>
            </a:r>
            <a:endParaRPr lang="en-US" sz="1300" dirty="0"/>
          </a:p>
        </p:txBody>
      </p:sp>
      <p:sp>
        <p:nvSpPr>
          <p:cNvPr id="13" name="Text 11"/>
          <p:cNvSpPr/>
          <p:nvPr/>
        </p:nvSpPr>
        <p:spPr>
          <a:xfrm>
            <a:off x="6200775" y="2692797"/>
            <a:ext cx="5175250" cy="1022350"/>
          </a:xfrm>
          <a:prstGeom prst="roundRect">
            <a:avLst>
              <a:gd name="adj" fmla="val 9627"/>
            </a:avLst>
          </a:prstGeom>
          <a:solidFill>
            <a:srgbClr val="FFFDF9"/>
          </a:solidFill>
          <a:ln w="6350">
            <a:solidFill>
              <a:srgbClr val="E4E0D8"/>
            </a:solidFill>
            <a:prstDash val="solid"/>
          </a:ln>
        </p:spPr>
        <p:txBody>
          <a:bodyPr wrap="square" lIns="101347" tIns="101347" rIns="0" bIns="75947" rtlCol="0" anchor="t">
            <a:normAutofit/>
          </a:bodyPr>
          <a:lstStyle/>
          <a:p>
            <a:pPr algn="l" indent="0" marL="0">
              <a:lnSpc>
                <a:spcPts val="3000"/>
              </a:lnSpc>
              <a:buNone/>
            </a:pPr>
            <a:r>
              <a:rPr lang="en-US" sz="1500" dirty="0">
                <a:solidFill>
                  <a:srgbClr val="1F2A37"/>
                </a:solidFill>
                <a:latin typeface="IBM Plex Sans" pitchFamily="34" charset="0"/>
                <a:ea typeface="IBM Plex Sans" pitchFamily="34" charset="-122"/>
                <a:cs typeface="IBM Plex Sans" pitchFamily="34" charset="-120"/>
              </a:rPr>
              <a:t>Read the </a:t>
            </a:r>
            <a:r>
              <a:rPr lang="en-US" sz="1500" dirty="0">
                <a:solidFill>
                  <a:srgbClr val="1D4ED8"/>
                </a:solidFill>
                <a:latin typeface="IBM Plex Sans" pitchFamily="34" charset="0"/>
                <a:ea typeface="IBM Plex Sans" pitchFamily="34" charset="-122"/>
                <a:cs typeface="IBM Plex Sans" pitchFamily="34" charset="-120"/>
              </a:rPr>
              <a:t>a (link)</a:t>
            </a:r>
            <a:r>
              <a:rPr lang="en-US" sz="1500" dirty="0">
                <a:solidFill>
                  <a:srgbClr val="1F2A37"/>
                </a:solidFill>
                <a:latin typeface="IBM Plex Sans" pitchFamily="34" charset="0"/>
                <a:ea typeface="IBM Plex Sans" pitchFamily="34" charset="-122"/>
                <a:cs typeface="IBM Plex Sans" pitchFamily="34" charset="-120"/>
              </a:rPr>
              <a:t> and note the </a:t>
            </a:r>
            <a:r>
              <a:rPr lang="en-US" sz="1500" b="1" dirty="0">
                <a:solidFill>
                  <a:srgbClr val="1F2A37"/>
                </a:solidFill>
                <a:latin typeface="IBM Plex Sans" pitchFamily="34" charset="0"/>
                <a:ea typeface="IBM Plex Sans" pitchFamily="34" charset="-122"/>
                <a:cs typeface="IBM Plex Sans" pitchFamily="34" charset="-120"/>
              </a:rPr>
              <a:t>strong</a:t>
            </a:r>
            <a:r>
              <a:rPr lang="en-US" sz="1500" dirty="0">
                <a:solidFill>
                  <a:srgbClr val="1F2A37"/>
                </a:solidFill>
                <a:latin typeface="IBM Plex Sans" pitchFamily="34" charset="0"/>
                <a:ea typeface="IBM Plex Sans" pitchFamily="34" charset="-122"/>
                <a:cs typeface="IBM Plex Sans" pitchFamily="34" charset="-120"/>
              </a:rPr>
              <a:t> words, the </a:t>
            </a:r>
            <a:r>
              <a:rPr lang="en-US" sz="1500" i="1" dirty="0">
                <a:solidFill>
                  <a:srgbClr val="1F2A37"/>
                </a:solidFill>
                <a:latin typeface="IBM Plex Sans" pitchFamily="34" charset="0"/>
                <a:ea typeface="IBM Plex Sans" pitchFamily="34" charset="-122"/>
                <a:cs typeface="IBM Plex Sans" pitchFamily="34" charset="-120"/>
              </a:rPr>
              <a:t>em</a:t>
            </a:r>
            <a:r>
              <a:rPr lang="en-US" sz="1500" dirty="0">
                <a:solidFill>
                  <a:srgbClr val="1F2A37"/>
                </a:solidFill>
                <a:latin typeface="IBM Plex Sans" pitchFamily="34" charset="0"/>
                <a:ea typeface="IBM Plex Sans" pitchFamily="34" charset="-122"/>
                <a:cs typeface="IBM Plex Sans" pitchFamily="34" charset="-120"/>
              </a:rPr>
              <a:t> words and a </a:t>
            </a:r>
            <a:r>
              <a:rPr lang="en-US" sz="1500" dirty="0">
                <a:solidFill>
                  <a:srgbClr val="C2410C"/>
                </a:solidFill>
                <a:latin typeface="IBM Plex Sans" pitchFamily="34" charset="0"/>
                <a:ea typeface="IBM Plex Sans" pitchFamily="34" charset="-122"/>
                <a:cs typeface="IBM Plex Sans" pitchFamily="34" charset="-120"/>
              </a:rPr>
              <a:t>span</a:t>
            </a:r>
            <a:r>
              <a:rPr lang="en-US" sz="1500" dirty="0">
                <a:solidFill>
                  <a:srgbClr val="1F2A37"/>
                </a:solidFill>
                <a:latin typeface="IBM Plex Sans" pitchFamily="34" charset="0"/>
                <a:ea typeface="IBM Plex Sans" pitchFamily="34" charset="-122"/>
                <a:cs typeface="IBM Plex Sans" pitchFamily="34" charset="-120"/>
              </a:rPr>
              <a:t> — all on one line.</a:t>
            </a:r>
            <a:endParaRPr lang="en-US" sz="1500" dirty="0"/>
          </a:p>
        </p:txBody>
      </p:sp>
      <p:sp>
        <p:nvSpPr>
          <p:cNvPr id="14" name="Text 12"/>
          <p:cNvSpPr/>
          <p:nvPr/>
        </p:nvSpPr>
        <p:spPr>
          <a:xfrm>
            <a:off x="6197600" y="3819922"/>
            <a:ext cx="5337048"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a, span, strong, em, img, input, br, code, label</a:t>
            </a:r>
            <a:endParaRPr lang="en-US" sz="1300" dirty="0"/>
          </a:p>
        </p:txBody>
      </p:sp>
      <p:sp>
        <p:nvSpPr>
          <p:cNvPr id="15" name="Text 13"/>
          <p:cNvSpPr/>
          <p:nvPr/>
        </p:nvSpPr>
        <p:spPr>
          <a:xfrm>
            <a:off x="812800" y="4795044"/>
            <a:ext cx="1088339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467"/>
                </a:solidFill>
                <a:latin typeface="IBM Plex Sans" pitchFamily="34" charset="0"/>
                <a:ea typeface="IBM Plex Sans" pitchFamily="34" charset="-122"/>
                <a:cs typeface="IBM Plex Sans" pitchFamily="34" charset="-120"/>
              </a:rPr>
              <a:t>HTML5 formally calls these </a:t>
            </a:r>
            <a:r>
              <a:rPr lang="en-US" sz="1300" b="1" dirty="0">
                <a:solidFill>
                  <a:srgbClr val="475467"/>
                </a:solidFill>
                <a:latin typeface="IBM Plex Sans" pitchFamily="34" charset="0"/>
                <a:ea typeface="IBM Plex Sans" pitchFamily="34" charset="-122"/>
                <a:cs typeface="IBM Plex Sans" pitchFamily="34" charset="-120"/>
              </a:rPr>
              <a:t>flow</a:t>
            </a:r>
            <a:r>
              <a:rPr lang="en-US" sz="1300" dirty="0">
                <a:solidFill>
                  <a:srgbClr val="475467"/>
                </a:solidFill>
                <a:latin typeface="IBM Plex Sans" pitchFamily="34" charset="0"/>
                <a:ea typeface="IBM Plex Sans" pitchFamily="34" charset="-122"/>
                <a:cs typeface="IBM Plex Sans" pitchFamily="34" charset="-120"/>
              </a:rPr>
              <a:t> and </a:t>
            </a:r>
            <a:r>
              <a:rPr lang="en-US" sz="1300" b="1" dirty="0">
                <a:solidFill>
                  <a:srgbClr val="475467"/>
                </a:solidFill>
                <a:latin typeface="IBM Plex Sans" pitchFamily="34" charset="0"/>
                <a:ea typeface="IBM Plex Sans" pitchFamily="34" charset="-122"/>
                <a:cs typeface="IBM Plex Sans" pitchFamily="34" charset="-120"/>
              </a:rPr>
              <a:t>phrasing</a:t>
            </a:r>
            <a:r>
              <a:rPr lang="en-US" sz="1300" dirty="0">
                <a:solidFill>
                  <a:srgbClr val="475467"/>
                </a:solidFill>
                <a:latin typeface="IBM Plex Sans" pitchFamily="34" charset="0"/>
                <a:ea typeface="IBM Plex Sans" pitchFamily="34" charset="-122"/>
                <a:cs typeface="IBM Plex Sans" pitchFamily="34" charset="-120"/>
              </a:rPr>
              <a:t> content; CSS </a:t>
            </a:r>
            <a:r>
              <a:rPr lang="en-US" sz="1300" b="1" dirty="0">
                <a:solidFill>
                  <a:srgbClr val="475467"/>
                </a:solidFill>
                <a:latin typeface="IBM Plex Sans" pitchFamily="34" charset="0"/>
                <a:ea typeface="IBM Plex Sans" pitchFamily="34" charset="-122"/>
                <a:cs typeface="IBM Plex Sans" pitchFamily="34" charset="-120"/>
              </a:rPr>
              <a:t>display</a:t>
            </a:r>
            <a:r>
              <a:rPr lang="en-US" sz="1300" dirty="0">
                <a:solidFill>
                  <a:srgbClr val="475467"/>
                </a:solidFill>
                <a:latin typeface="IBM Plex Sans" pitchFamily="34" charset="0"/>
                <a:ea typeface="IBM Plex Sans" pitchFamily="34" charset="-122"/>
                <a:cs typeface="IBM Plex Sans" pitchFamily="34" charset="-120"/>
              </a:rPr>
              <a:t> can change how any element is drawn.</a:t>
            </a:r>
            <a:endParaRPr lang="en-US" sz="13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1 · Lecture 1 — HTML Foundations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THEORY</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Syntax rules and professional conventions</a:t>
            </a:r>
            <a:endParaRPr lang="en-US" sz="3200" dirty="0"/>
          </a:p>
        </p:txBody>
      </p:sp>
      <p:sp>
        <p:nvSpPr>
          <p:cNvPr id="4" name="Shape 2"/>
          <p:cNvSpPr/>
          <p:nvPr/>
        </p:nvSpPr>
        <p:spPr>
          <a:xfrm>
            <a:off x="815975" y="1984276"/>
            <a:ext cx="3414117" cy="1418431"/>
          </a:xfrm>
          <a:prstGeom prst="roundRect">
            <a:avLst>
              <a:gd name="adj" fmla="val 6939"/>
            </a:avLst>
          </a:prstGeom>
          <a:solidFill>
            <a:srgbClr val="FFFDF9"/>
          </a:solidFill>
          <a:ln w="6350">
            <a:solidFill>
              <a:srgbClr val="E4E0D8"/>
            </a:solidFill>
            <a:prstDash val="solid"/>
          </a:ln>
        </p:spPr>
      </p:sp>
      <p:sp>
        <p:nvSpPr>
          <p:cNvPr id="5" name="Text 3"/>
          <p:cNvSpPr/>
          <p:nvPr/>
        </p:nvSpPr>
        <p:spPr>
          <a:xfrm>
            <a:off x="996950" y="2165251"/>
            <a:ext cx="314373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C2410C"/>
                </a:solidFill>
                <a:latin typeface="IBM Plex Sans" pitchFamily="34" charset="0"/>
                <a:ea typeface="IBM Plex Sans" pitchFamily="34" charset="-122"/>
                <a:cs typeface="IBM Plex Sans" pitchFamily="34" charset="-120"/>
              </a:rPr>
              <a:t>Comments</a:t>
            </a:r>
            <a:endParaRPr lang="en-US" sz="1500" dirty="0"/>
          </a:p>
        </p:txBody>
      </p:sp>
      <p:sp>
        <p:nvSpPr>
          <p:cNvPr id="6" name="Text 4"/>
          <p:cNvSpPr/>
          <p:nvPr/>
        </p:nvSpPr>
        <p:spPr>
          <a:xfrm>
            <a:off x="996950" y="2470051"/>
            <a:ext cx="31437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75467"/>
                </a:solidFill>
                <a:latin typeface="IBM Plex Mono" pitchFamily="49" charset="0"/>
                <a:ea typeface="IBM Plex Mono" pitchFamily="49" charset="-122"/>
                <a:cs typeface="IBM Plex Mono" pitchFamily="49" charset="-120"/>
              </a:rPr>
              <a:t>&lt;!-- note to self --&gt;</a:t>
            </a:r>
            <a:endParaRPr lang="en-US" sz="1200" dirty="0"/>
          </a:p>
        </p:txBody>
      </p:sp>
      <p:sp>
        <p:nvSpPr>
          <p:cNvPr id="7" name="Text 5"/>
          <p:cNvSpPr/>
          <p:nvPr/>
        </p:nvSpPr>
        <p:spPr>
          <a:xfrm>
            <a:off x="996950" y="2759571"/>
            <a:ext cx="3143732"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Never shown, but visible in View Source. No passwords!</a:t>
            </a:r>
            <a:endParaRPr lang="en-US" sz="1300" dirty="0"/>
          </a:p>
        </p:txBody>
      </p:sp>
      <p:sp>
        <p:nvSpPr>
          <p:cNvPr id="8" name="Shape 6"/>
          <p:cNvSpPr/>
          <p:nvPr/>
        </p:nvSpPr>
        <p:spPr>
          <a:xfrm>
            <a:off x="4388842" y="1984276"/>
            <a:ext cx="3414216" cy="1418431"/>
          </a:xfrm>
          <a:prstGeom prst="roundRect">
            <a:avLst>
              <a:gd name="adj" fmla="val 6939"/>
            </a:avLst>
          </a:prstGeom>
          <a:solidFill>
            <a:srgbClr val="FFFDF9"/>
          </a:solidFill>
          <a:ln w="6350">
            <a:solidFill>
              <a:srgbClr val="E4E0D8"/>
            </a:solidFill>
            <a:prstDash val="solid"/>
          </a:ln>
        </p:spPr>
      </p:sp>
      <p:sp>
        <p:nvSpPr>
          <p:cNvPr id="9" name="Text 7"/>
          <p:cNvSpPr/>
          <p:nvPr/>
        </p:nvSpPr>
        <p:spPr>
          <a:xfrm>
            <a:off x="4569817" y="2165251"/>
            <a:ext cx="314383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C2410C"/>
                </a:solidFill>
                <a:latin typeface="IBM Plex Sans" pitchFamily="34" charset="0"/>
                <a:ea typeface="IBM Plex Sans" pitchFamily="34" charset="-122"/>
                <a:cs typeface="IBM Plex Sans" pitchFamily="34" charset="-120"/>
              </a:rPr>
              <a:t>Whitespace collapses</a:t>
            </a:r>
            <a:endParaRPr lang="en-US" sz="1500" dirty="0"/>
          </a:p>
        </p:txBody>
      </p:sp>
      <p:sp>
        <p:nvSpPr>
          <p:cNvPr id="10" name="Text 8"/>
          <p:cNvSpPr/>
          <p:nvPr/>
        </p:nvSpPr>
        <p:spPr>
          <a:xfrm>
            <a:off x="4569817" y="2470051"/>
            <a:ext cx="3143834"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Many spaces, tabs and new lines display as </a:t>
            </a:r>
            <a:r>
              <a:rPr lang="en-US" sz="1300" b="1" dirty="0">
                <a:solidFill>
                  <a:srgbClr val="1F2A37"/>
                </a:solidFill>
                <a:latin typeface="IBM Plex Sans" pitchFamily="34" charset="0"/>
                <a:ea typeface="IBM Plex Sans" pitchFamily="34" charset="-122"/>
                <a:cs typeface="IBM Plex Sans" pitchFamily="34" charset="-120"/>
              </a:rPr>
              <a:t>one space</a:t>
            </a:r>
            <a:r>
              <a:rPr lang="en-US" sz="1300" dirty="0">
                <a:solidFill>
                  <a:srgbClr val="1F2A37"/>
                </a:solidFill>
                <a:latin typeface="IBM Plex Sans" pitchFamily="34" charset="0"/>
                <a:ea typeface="IBM Plex Sans" pitchFamily="34" charset="-122"/>
                <a:cs typeface="IBM Plex Sans" pitchFamily="34" charset="-120"/>
              </a:rPr>
              <a:t>. Use elements, not the Enter key, to lay out text.</a:t>
            </a:r>
            <a:endParaRPr lang="en-US" sz="1300" dirty="0"/>
          </a:p>
        </p:txBody>
      </p:sp>
      <p:sp>
        <p:nvSpPr>
          <p:cNvPr id="11" name="Shape 9"/>
          <p:cNvSpPr/>
          <p:nvPr/>
        </p:nvSpPr>
        <p:spPr>
          <a:xfrm>
            <a:off x="7961809" y="1984276"/>
            <a:ext cx="3414216" cy="1418431"/>
          </a:xfrm>
          <a:prstGeom prst="roundRect">
            <a:avLst>
              <a:gd name="adj" fmla="val 6939"/>
            </a:avLst>
          </a:prstGeom>
          <a:solidFill>
            <a:srgbClr val="FFFDF9"/>
          </a:solidFill>
          <a:ln w="6350">
            <a:solidFill>
              <a:srgbClr val="E4E0D8"/>
            </a:solidFill>
            <a:prstDash val="solid"/>
          </a:ln>
        </p:spPr>
      </p:sp>
      <p:sp>
        <p:nvSpPr>
          <p:cNvPr id="12" name="Text 10"/>
          <p:cNvSpPr/>
          <p:nvPr/>
        </p:nvSpPr>
        <p:spPr>
          <a:xfrm>
            <a:off x="8142784" y="2165251"/>
            <a:ext cx="314383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C2410C"/>
                </a:solidFill>
                <a:latin typeface="IBM Plex Sans" pitchFamily="34" charset="0"/>
                <a:ea typeface="IBM Plex Sans" pitchFamily="34" charset="-122"/>
                <a:cs typeface="IBM Plex Sans" pitchFamily="34" charset="-120"/>
              </a:rPr>
              <a:t>Lowercase</a:t>
            </a:r>
            <a:endParaRPr lang="en-US" sz="1500" dirty="0"/>
          </a:p>
        </p:txBody>
      </p:sp>
      <p:sp>
        <p:nvSpPr>
          <p:cNvPr id="13" name="Text 11"/>
          <p:cNvSpPr/>
          <p:nvPr/>
        </p:nvSpPr>
        <p:spPr>
          <a:xfrm>
            <a:off x="8142784" y="2470051"/>
            <a:ext cx="314383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Tags are case-insensitive, but the convention is lowercase: &lt;p&gt;, not &lt;P&gt;.</a:t>
            </a:r>
            <a:endParaRPr lang="en-US" sz="1300" dirty="0"/>
          </a:p>
        </p:txBody>
      </p:sp>
      <p:sp>
        <p:nvSpPr>
          <p:cNvPr id="14" name="Shape 12"/>
          <p:cNvSpPr/>
          <p:nvPr/>
        </p:nvSpPr>
        <p:spPr>
          <a:xfrm>
            <a:off x="815975" y="3561457"/>
            <a:ext cx="3414117" cy="1128911"/>
          </a:xfrm>
          <a:prstGeom prst="roundRect">
            <a:avLst>
              <a:gd name="adj" fmla="val 8719"/>
            </a:avLst>
          </a:prstGeom>
          <a:solidFill>
            <a:srgbClr val="FFFDF9"/>
          </a:solidFill>
          <a:ln w="6350">
            <a:solidFill>
              <a:srgbClr val="E4E0D8"/>
            </a:solidFill>
            <a:prstDash val="solid"/>
          </a:ln>
        </p:spPr>
      </p:sp>
      <p:sp>
        <p:nvSpPr>
          <p:cNvPr id="15" name="Text 13"/>
          <p:cNvSpPr/>
          <p:nvPr/>
        </p:nvSpPr>
        <p:spPr>
          <a:xfrm>
            <a:off x="996950" y="3742432"/>
            <a:ext cx="314373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C2410C"/>
                </a:solidFill>
                <a:latin typeface="IBM Plex Sans" pitchFamily="34" charset="0"/>
                <a:ea typeface="IBM Plex Sans" pitchFamily="34" charset="-122"/>
                <a:cs typeface="IBM Plex Sans" pitchFamily="34" charset="-120"/>
              </a:rPr>
              <a:t>Quote values</a:t>
            </a:r>
            <a:endParaRPr lang="en-US" sz="1500" dirty="0"/>
          </a:p>
        </p:txBody>
      </p:sp>
      <p:sp>
        <p:nvSpPr>
          <p:cNvPr id="16" name="Text 14"/>
          <p:cNvSpPr/>
          <p:nvPr/>
        </p:nvSpPr>
        <p:spPr>
          <a:xfrm>
            <a:off x="996950" y="4047232"/>
            <a:ext cx="3143732"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Always use quotes: class="intro". Unquoted values break on spaces.</a:t>
            </a:r>
            <a:endParaRPr lang="en-US" sz="1300" dirty="0"/>
          </a:p>
        </p:txBody>
      </p:sp>
      <p:sp>
        <p:nvSpPr>
          <p:cNvPr id="17" name="Shape 15"/>
          <p:cNvSpPr/>
          <p:nvPr/>
        </p:nvSpPr>
        <p:spPr>
          <a:xfrm>
            <a:off x="4388842" y="3561457"/>
            <a:ext cx="3414216" cy="1128911"/>
          </a:xfrm>
          <a:prstGeom prst="roundRect">
            <a:avLst>
              <a:gd name="adj" fmla="val 8719"/>
            </a:avLst>
          </a:prstGeom>
          <a:solidFill>
            <a:srgbClr val="FFFDF9"/>
          </a:solidFill>
          <a:ln w="6350">
            <a:solidFill>
              <a:srgbClr val="E4E0D8"/>
            </a:solidFill>
            <a:prstDash val="solid"/>
          </a:ln>
        </p:spPr>
      </p:sp>
      <p:sp>
        <p:nvSpPr>
          <p:cNvPr id="18" name="Text 16"/>
          <p:cNvSpPr/>
          <p:nvPr/>
        </p:nvSpPr>
        <p:spPr>
          <a:xfrm>
            <a:off x="4569817" y="3742432"/>
            <a:ext cx="314383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C2410C"/>
                </a:solidFill>
                <a:latin typeface="IBM Plex Sans" pitchFamily="34" charset="0"/>
                <a:ea typeface="IBM Plex Sans" pitchFamily="34" charset="-122"/>
                <a:cs typeface="IBM Plex Sans" pitchFamily="34" charset="-120"/>
              </a:rPr>
              <a:t>Indent children</a:t>
            </a:r>
            <a:endParaRPr lang="en-US" sz="1500" dirty="0"/>
          </a:p>
        </p:txBody>
      </p:sp>
      <p:sp>
        <p:nvSpPr>
          <p:cNvPr id="19" name="Text 17"/>
          <p:cNvSpPr/>
          <p:nvPr/>
        </p:nvSpPr>
        <p:spPr>
          <a:xfrm>
            <a:off x="4569817" y="4047232"/>
            <a:ext cx="314383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Two spaces per nesting level so structure is visible at a glance.</a:t>
            </a:r>
            <a:endParaRPr lang="en-US" sz="1300" dirty="0"/>
          </a:p>
        </p:txBody>
      </p:sp>
      <p:sp>
        <p:nvSpPr>
          <p:cNvPr id="20" name="Shape 18"/>
          <p:cNvSpPr/>
          <p:nvPr/>
        </p:nvSpPr>
        <p:spPr>
          <a:xfrm>
            <a:off x="7961809" y="3561457"/>
            <a:ext cx="3414216" cy="1128911"/>
          </a:xfrm>
          <a:prstGeom prst="roundRect">
            <a:avLst>
              <a:gd name="adj" fmla="val 8719"/>
            </a:avLst>
          </a:prstGeom>
          <a:solidFill>
            <a:srgbClr val="FFFDF9"/>
          </a:solidFill>
          <a:ln w="6350">
            <a:solidFill>
              <a:srgbClr val="E4E0D8"/>
            </a:solidFill>
            <a:prstDash val="solid"/>
          </a:ln>
        </p:spPr>
      </p:sp>
      <p:sp>
        <p:nvSpPr>
          <p:cNvPr id="21" name="Text 19"/>
          <p:cNvSpPr/>
          <p:nvPr/>
        </p:nvSpPr>
        <p:spPr>
          <a:xfrm>
            <a:off x="8142784" y="3742432"/>
            <a:ext cx="314383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C2410C"/>
                </a:solidFill>
                <a:latin typeface="IBM Plex Sans" pitchFamily="34" charset="0"/>
                <a:ea typeface="IBM Plex Sans" pitchFamily="34" charset="-122"/>
                <a:cs typeface="IBM Plex Sans" pitchFamily="34" charset="-120"/>
              </a:rPr>
              <a:t>File names</a:t>
            </a:r>
            <a:endParaRPr lang="en-US" sz="1500" dirty="0"/>
          </a:p>
        </p:txBody>
      </p:sp>
      <p:sp>
        <p:nvSpPr>
          <p:cNvPr id="22" name="Text 20"/>
          <p:cNvSpPr/>
          <p:nvPr/>
        </p:nvSpPr>
        <p:spPr>
          <a:xfrm>
            <a:off x="8142784" y="4047232"/>
            <a:ext cx="3143834"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lowercase, no spaces: about-us.html. Home page = index.html.</a:t>
            </a:r>
            <a:endParaRPr lang="en-US" sz="1300" dirty="0"/>
          </a:p>
        </p:txBody>
      </p:sp>
      <p:sp>
        <p:nvSpPr>
          <p:cNvPr id="23" name="Text 2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1 · Lecture 1 — HTML Foundations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PART A · THEORY</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Global attributes work on every element</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93801"/>
          <a:ext cx="10553700" cy="3087688"/>
        </p:xfrm>
        <a:graphic>
          <a:graphicData uri="http://schemas.openxmlformats.org/drawingml/2006/table">
            <a:tbl>
              <a:tblPr/>
              <a:tblGrid>
                <a:gridCol w="1688592"/>
                <a:gridCol w="4643628"/>
                <a:gridCol w="4221480"/>
              </a:tblGrid>
              <a:tr h="385961">
                <a:tc>
                  <a:txBody>
                    <a:bodyPr/>
                    <a:lstStyle/>
                    <a:p>
                      <a:pPr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Attribute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Purpose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Example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r>
              <a:tr h="385961">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id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Unique name for one element (once per page)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&lt;section id="contact"&gt;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class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Group name, reusable on many elements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&lt;p class="note warning"&gt;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title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Tooltip / advisory text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&lt;abbr title="…"&gt;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lang, dir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Language and text direction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&lt;p lang="ur" dir="rtl"&gt;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hidden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Element is not displayed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&lt;div hidden&gt;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data-*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Custom data for JavaScript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&lt;li data-price="450"&gt;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85961">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style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Inline CSS (avoid; use a stylesheet)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&lt;p style="color:red"&gt;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1 · Lecture 1 — HTML Foundations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C2410C"/>
        </a:solidFill>
      </p:bgPr>
    </p:bg>
    <p:spTree>
      <p:nvGrpSpPr>
        <p:cNvPr id="1" name=""/>
        <p:cNvGrpSpPr/>
        <p:nvPr/>
      </p:nvGrpSpPr>
      <p:grpSpPr>
        <a:xfrm>
          <a:off x="0" y="0"/>
          <a:ext cx="0" cy="0"/>
          <a:chOff x="0" y="0"/>
          <a:chExt cx="0" cy="0"/>
        </a:xfrm>
      </p:grpSpPr>
      <p:sp>
        <p:nvSpPr>
          <p:cNvPr id="2" name="Text 0"/>
          <p:cNvSpPr/>
          <p:nvPr/>
        </p:nvSpPr>
        <p:spPr>
          <a:xfrm>
            <a:off x="812800" y="223778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FF8F1"/>
                </a:solidFill>
                <a:latin typeface="IBM Plex Sans" pitchFamily="34" charset="0"/>
                <a:ea typeface="IBM Plex Sans" pitchFamily="34" charset="-122"/>
                <a:cs typeface="IBM Plex Sans" pitchFamily="34" charset="-120"/>
              </a:rPr>
              <a:t>0:55 – 1:05</a:t>
            </a:r>
            <a:endParaRPr lang="en-US" sz="1400" dirty="0"/>
          </a:p>
        </p:txBody>
      </p:sp>
      <p:sp>
        <p:nvSpPr>
          <p:cNvPr id="3" name="Text 1"/>
          <p:cNvSpPr/>
          <p:nvPr>
            <p:ph type="title"/>
          </p:nvPr>
        </p:nvSpPr>
        <p:spPr>
          <a:xfrm>
            <a:off x="812800" y="2689820"/>
            <a:ext cx="10883392" cy="1041400"/>
          </a:xfrm>
          <a:prstGeom prst="rect">
            <a:avLst/>
          </a:prstGeom>
          <a:noFill/>
          <a:ln/>
        </p:spPr>
        <p:txBody>
          <a:bodyPr wrap="square" lIns="0" tIns="0" rIns="0" bIns="0" rtlCol="0" anchor="t">
            <a:normAutofit/>
          </a:bodyPr>
          <a:lstStyle/>
          <a:p>
            <a:pPr algn="l" indent="0" marL="0">
              <a:lnSpc>
                <a:spcPts val="8000"/>
              </a:lnSpc>
              <a:buNone/>
            </a:pPr>
            <a:r>
              <a:rPr lang="en-US" sz="8000" b="1" i="0" dirty="0">
                <a:solidFill>
                  <a:srgbClr val="FFF8F1"/>
                </a:solidFill>
                <a:latin typeface="IBM Plex Sans" pitchFamily="34" charset="0"/>
                <a:ea typeface="IBM Plex Sans" pitchFamily="34" charset="-122"/>
                <a:cs typeface="IBM Plex Sans" pitchFamily="34" charset="-120"/>
              </a:rPr>
              <a:t>Break · 10 min</a:t>
            </a:r>
            <a:endParaRPr lang="en-US" sz="8000" dirty="0"/>
          </a:p>
        </p:txBody>
      </p:sp>
      <p:sp>
        <p:nvSpPr>
          <p:cNvPr id="4" name="Text 2"/>
          <p:cNvSpPr/>
          <p:nvPr/>
        </p:nvSpPr>
        <p:spPr>
          <a:xfrm>
            <a:off x="812800" y="3909020"/>
            <a:ext cx="10883392" cy="7366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FFF8F1"/>
                </a:solidFill>
                <a:latin typeface="IBM Plex Sans" pitchFamily="34" charset="0"/>
                <a:ea typeface="IBM Plex Sans" pitchFamily="34" charset="-122"/>
                <a:cs typeface="IBM Plex Sans" pitchFamily="34" charset="-120"/>
              </a:rPr>
              <a:t>When we return: open VS Code and Chrome.</a:t>
            </a:r>
            <a:endParaRPr lang="en-US" sz="2000" dirty="0"/>
          </a:p>
          <a:p>
            <a:pPr algn="l" indent="0" marL="0">
              <a:lnSpc>
                <a:spcPts val="2800"/>
              </a:lnSpc>
              <a:buNone/>
            </a:pPr>
            <a:r>
              <a:rPr lang="en-US" sz="2000" dirty="0">
                <a:solidFill>
                  <a:srgbClr val="FFF8F1"/>
                </a:solidFill>
                <a:latin typeface="IBM Plex Sans" pitchFamily="34" charset="0"/>
                <a:ea typeface="IBM Plex Sans" pitchFamily="34" charset="-122"/>
                <a:cs typeface="IBM Plex Sans" pitchFamily="34" charset="-120"/>
              </a:rPr>
              <a:t>Create a folder called web-lab1 on your desktop.</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4ED8"/>
                </a:solidFill>
                <a:latin typeface="IBM Plex Sans" pitchFamily="34" charset="0"/>
                <a:ea typeface="IBM Plex Sans" pitchFamily="34" charset="-122"/>
                <a:cs typeface="IBM Plex Sans" pitchFamily="34" charset="-120"/>
              </a:rPr>
              <a:t>PART B · HANDS-ON</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Your web developer toolkit</a:t>
            </a:r>
            <a:endParaRPr lang="en-US" sz="3200" dirty="0"/>
          </a:p>
        </p:txBody>
      </p:sp>
      <p:sp>
        <p:nvSpPr>
          <p:cNvPr id="4" name="Shape 2"/>
          <p:cNvSpPr/>
          <p:nvPr/>
        </p:nvSpPr>
        <p:spPr>
          <a:xfrm>
            <a:off x="815975" y="1984276"/>
            <a:ext cx="5200650" cy="1169491"/>
          </a:xfrm>
          <a:prstGeom prst="roundRect">
            <a:avLst>
              <a:gd name="adj" fmla="val 8416"/>
            </a:avLst>
          </a:prstGeom>
          <a:solidFill>
            <a:srgbClr val="FFFDF9"/>
          </a:solidFill>
          <a:ln w="6350">
            <a:solidFill>
              <a:srgbClr val="E4E0D8"/>
            </a:solidFill>
            <a:prstDash val="solid"/>
          </a:ln>
        </p:spPr>
      </p:sp>
      <p:pic>
        <p:nvPicPr>
          <p:cNvPr id="5" name="Image 0" descr="Code">    </p:cNvPr>
          <p:cNvPicPr>
            <a:picLocks noChangeAspect="1"/>
          </p:cNvPicPr>
          <p:nvPr/>
        </p:nvPicPr>
        <p:blipFill>
          <a:blip r:embed="rId1"/>
          <a:srcRect l="0" r="0" t="0" b="0"/>
          <a:stretch/>
        </p:blipFill>
        <p:spPr>
          <a:xfrm>
            <a:off x="1022350" y="2190651"/>
            <a:ext cx="355600" cy="355600"/>
          </a:xfrm>
          <a:prstGeom prst="rect">
            <a:avLst/>
          </a:prstGeom>
        </p:spPr>
      </p:pic>
      <p:sp>
        <p:nvSpPr>
          <p:cNvPr id="6" name="Text 3"/>
          <p:cNvSpPr/>
          <p:nvPr/>
        </p:nvSpPr>
        <p:spPr>
          <a:xfrm>
            <a:off x="1530350" y="2190651"/>
            <a:ext cx="440829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2A37"/>
                </a:solidFill>
                <a:latin typeface="IBM Plex Sans" pitchFamily="34" charset="0"/>
                <a:ea typeface="IBM Plex Sans" pitchFamily="34" charset="-122"/>
                <a:cs typeface="IBM Plex Sans" pitchFamily="34" charset="-120"/>
              </a:rPr>
              <a:t>VS Code + extensions</a:t>
            </a:r>
            <a:endParaRPr lang="en-US" sz="1600" dirty="0"/>
          </a:p>
        </p:txBody>
      </p:sp>
      <p:sp>
        <p:nvSpPr>
          <p:cNvPr id="7" name="Text 4"/>
          <p:cNvSpPr/>
          <p:nvPr/>
        </p:nvSpPr>
        <p:spPr>
          <a:xfrm>
            <a:off x="1530350" y="2485231"/>
            <a:ext cx="440829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Live Server (auto-reload), Prettier (formatting), HTMLHint (warnings)</a:t>
            </a:r>
            <a:endParaRPr lang="en-US" sz="1300" dirty="0"/>
          </a:p>
        </p:txBody>
      </p:sp>
      <p:sp>
        <p:nvSpPr>
          <p:cNvPr id="8" name="Shape 5"/>
          <p:cNvSpPr/>
          <p:nvPr/>
        </p:nvSpPr>
        <p:spPr>
          <a:xfrm>
            <a:off x="6175375" y="1984276"/>
            <a:ext cx="5200650" cy="1169491"/>
          </a:xfrm>
          <a:prstGeom prst="roundRect">
            <a:avLst>
              <a:gd name="adj" fmla="val 8416"/>
            </a:avLst>
          </a:prstGeom>
          <a:solidFill>
            <a:srgbClr val="FFFDF9"/>
          </a:solidFill>
          <a:ln w="6350">
            <a:solidFill>
              <a:srgbClr val="E4E0D8"/>
            </a:solidFill>
            <a:prstDash val="solid"/>
          </a:ln>
        </p:spPr>
      </p:sp>
      <p:pic>
        <p:nvPicPr>
          <p:cNvPr id="9" name="Image 1" descr="Search">    </p:cNvPr>
          <p:cNvPicPr>
            <a:picLocks noChangeAspect="1"/>
          </p:cNvPicPr>
          <p:nvPr/>
        </p:nvPicPr>
        <p:blipFill>
          <a:blip r:embed="rId2"/>
          <a:srcRect l="0" r="0" t="0" b="0"/>
          <a:stretch/>
        </p:blipFill>
        <p:spPr>
          <a:xfrm>
            <a:off x="6381750" y="2190651"/>
            <a:ext cx="355600" cy="355600"/>
          </a:xfrm>
          <a:prstGeom prst="rect">
            <a:avLst/>
          </a:prstGeom>
        </p:spPr>
      </p:pic>
      <p:sp>
        <p:nvSpPr>
          <p:cNvPr id="10" name="Text 6"/>
          <p:cNvSpPr/>
          <p:nvPr/>
        </p:nvSpPr>
        <p:spPr>
          <a:xfrm>
            <a:off x="6889750" y="2190651"/>
            <a:ext cx="440829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2A37"/>
                </a:solidFill>
                <a:latin typeface="IBM Plex Sans" pitchFamily="34" charset="0"/>
                <a:ea typeface="IBM Plex Sans" pitchFamily="34" charset="-122"/>
                <a:cs typeface="IBM Plex Sans" pitchFamily="34" charset="-120"/>
              </a:rPr>
              <a:t>Chrome DevTools</a:t>
            </a:r>
            <a:endParaRPr lang="en-US" sz="1600" dirty="0"/>
          </a:p>
        </p:txBody>
      </p:sp>
      <p:sp>
        <p:nvSpPr>
          <p:cNvPr id="11" name="Text 7"/>
          <p:cNvSpPr/>
          <p:nvPr/>
        </p:nvSpPr>
        <p:spPr>
          <a:xfrm>
            <a:off x="6889750" y="2485231"/>
            <a:ext cx="440829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F12 or Ctrl+Shift+I · Elements, Console, Network tabs</a:t>
            </a:r>
            <a:endParaRPr lang="en-US" sz="1300" dirty="0"/>
          </a:p>
        </p:txBody>
      </p:sp>
      <p:sp>
        <p:nvSpPr>
          <p:cNvPr id="12" name="Shape 8"/>
          <p:cNvSpPr/>
          <p:nvPr/>
        </p:nvSpPr>
        <p:spPr>
          <a:xfrm>
            <a:off x="815975" y="3312517"/>
            <a:ext cx="5200650" cy="1393130"/>
          </a:xfrm>
          <a:prstGeom prst="roundRect">
            <a:avLst>
              <a:gd name="adj" fmla="val 7065"/>
            </a:avLst>
          </a:prstGeom>
          <a:solidFill>
            <a:srgbClr val="FFFDF9"/>
          </a:solidFill>
          <a:ln w="6350">
            <a:solidFill>
              <a:srgbClr val="E4E0D8"/>
            </a:solidFill>
            <a:prstDash val="solid"/>
          </a:ln>
        </p:spPr>
      </p:sp>
      <p:pic>
        <p:nvPicPr>
          <p:cNvPr id="13" name="Image 2" descr="Lightning">    </p:cNvPr>
          <p:cNvPicPr>
            <a:picLocks noChangeAspect="1"/>
          </p:cNvPicPr>
          <p:nvPr/>
        </p:nvPicPr>
        <p:blipFill>
          <a:blip r:embed="rId3"/>
          <a:srcRect l="0" r="0" t="0" b="0"/>
          <a:stretch/>
        </p:blipFill>
        <p:spPr>
          <a:xfrm>
            <a:off x="1022350" y="3518892"/>
            <a:ext cx="355600" cy="355600"/>
          </a:xfrm>
          <a:prstGeom prst="rect">
            <a:avLst/>
          </a:prstGeom>
        </p:spPr>
      </p:pic>
      <p:sp>
        <p:nvSpPr>
          <p:cNvPr id="14" name="Text 9"/>
          <p:cNvSpPr/>
          <p:nvPr/>
        </p:nvSpPr>
        <p:spPr>
          <a:xfrm>
            <a:off x="1530350" y="3518892"/>
            <a:ext cx="440829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2A37"/>
                </a:solidFill>
                <a:latin typeface="IBM Plex Sans" pitchFamily="34" charset="0"/>
                <a:ea typeface="IBM Plex Sans" pitchFamily="34" charset="-122"/>
                <a:cs typeface="IBM Plex Sans" pitchFamily="34" charset="-120"/>
              </a:rPr>
              <a:t>Emmet shortcuts</a:t>
            </a:r>
            <a:endParaRPr lang="en-US" sz="1600" dirty="0"/>
          </a:p>
        </p:txBody>
      </p:sp>
      <p:sp>
        <p:nvSpPr>
          <p:cNvPr id="15" name="Text 10"/>
          <p:cNvSpPr/>
          <p:nvPr/>
        </p:nvSpPr>
        <p:spPr>
          <a:xfrm>
            <a:off x="1530350" y="3813473"/>
            <a:ext cx="4408297"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F2A37"/>
                </a:solidFill>
                <a:latin typeface="IBM Plex Mono" pitchFamily="49" charset="0"/>
                <a:ea typeface="IBM Plex Mono" pitchFamily="49" charset="-122"/>
                <a:cs typeface="IBM Plex Mono" pitchFamily="49" charset="-120"/>
              </a:rPr>
              <a:t>! → skeleton</a:t>
            </a:r>
            <a:endParaRPr lang="en-US" sz="1200" dirty="0"/>
          </a:p>
          <a:p>
            <a:pPr algn="l" indent="0" marL="0">
              <a:lnSpc>
                <a:spcPts val="1800"/>
              </a:lnSpc>
              <a:buNone/>
            </a:pPr>
            <a:r>
              <a:rPr lang="en-US" sz="1200" dirty="0">
                <a:solidFill>
                  <a:srgbClr val="1F2A37"/>
                </a:solidFill>
                <a:latin typeface="IBM Plex Mono" pitchFamily="49" charset="0"/>
                <a:ea typeface="IBM Plex Mono" pitchFamily="49" charset="-122"/>
                <a:cs typeface="IBM Plex Mono" pitchFamily="49" charset="-120"/>
              </a:rPr>
              <a:t>ul&gt;li*3 → list of 3</a:t>
            </a:r>
            <a:endParaRPr lang="en-US" sz="1200" dirty="0"/>
          </a:p>
          <a:p>
            <a:pPr algn="l" indent="0" marL="0">
              <a:lnSpc>
                <a:spcPts val="1800"/>
              </a:lnSpc>
              <a:buNone/>
            </a:pPr>
            <a:r>
              <a:rPr lang="en-US" sz="1200" dirty="0">
                <a:solidFill>
                  <a:srgbClr val="1F2A37"/>
                </a:solidFill>
                <a:latin typeface="IBM Plex Mono" pitchFamily="49" charset="0"/>
                <a:ea typeface="IBM Plex Mono" pitchFamily="49" charset="-122"/>
                <a:cs typeface="IBM Plex Mono" pitchFamily="49" charset="-120"/>
              </a:rPr>
              <a:t>p.intro → class="intro"</a:t>
            </a:r>
            <a:endParaRPr lang="en-US" sz="1200" dirty="0"/>
          </a:p>
        </p:txBody>
      </p:sp>
      <p:sp>
        <p:nvSpPr>
          <p:cNvPr id="16" name="Shape 11"/>
          <p:cNvSpPr/>
          <p:nvPr/>
        </p:nvSpPr>
        <p:spPr>
          <a:xfrm>
            <a:off x="6175375" y="3312517"/>
            <a:ext cx="5200650" cy="1393130"/>
          </a:xfrm>
          <a:prstGeom prst="roundRect">
            <a:avLst>
              <a:gd name="adj" fmla="val 7065"/>
            </a:avLst>
          </a:prstGeom>
          <a:solidFill>
            <a:srgbClr val="FFFDF9"/>
          </a:solidFill>
          <a:ln w="6350">
            <a:solidFill>
              <a:srgbClr val="E4E0D8"/>
            </a:solidFill>
            <a:prstDash val="solid"/>
          </a:ln>
        </p:spPr>
      </p:sp>
      <p:pic>
        <p:nvPicPr>
          <p:cNvPr id="17" name="Image 3" descr="Database">    </p:cNvPr>
          <p:cNvPicPr>
            <a:picLocks noChangeAspect="1"/>
          </p:cNvPicPr>
          <p:nvPr/>
        </p:nvPicPr>
        <p:blipFill>
          <a:blip r:embed="rId4"/>
          <a:srcRect l="0" r="0" t="0" b="0"/>
          <a:stretch/>
        </p:blipFill>
        <p:spPr>
          <a:xfrm>
            <a:off x="6381750" y="3518892"/>
            <a:ext cx="355600" cy="355600"/>
          </a:xfrm>
          <a:prstGeom prst="rect">
            <a:avLst/>
          </a:prstGeom>
        </p:spPr>
      </p:pic>
      <p:sp>
        <p:nvSpPr>
          <p:cNvPr id="18" name="Text 12"/>
          <p:cNvSpPr/>
          <p:nvPr/>
        </p:nvSpPr>
        <p:spPr>
          <a:xfrm>
            <a:off x="6889750" y="3518892"/>
            <a:ext cx="4408297"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2A37"/>
                </a:solidFill>
                <a:latin typeface="IBM Plex Sans" pitchFamily="34" charset="0"/>
                <a:ea typeface="IBM Plex Sans" pitchFamily="34" charset="-122"/>
                <a:cs typeface="IBM Plex Sans" pitchFamily="34" charset="-120"/>
              </a:rPr>
              <a:t>Project folder</a:t>
            </a:r>
            <a:endParaRPr lang="en-US" sz="1600" dirty="0"/>
          </a:p>
        </p:txBody>
      </p:sp>
      <p:sp>
        <p:nvSpPr>
          <p:cNvPr id="19" name="Text 13"/>
          <p:cNvSpPr/>
          <p:nvPr/>
        </p:nvSpPr>
        <p:spPr>
          <a:xfrm>
            <a:off x="6889750" y="3813473"/>
            <a:ext cx="4408297" cy="7112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F2A37"/>
                </a:solidFill>
                <a:latin typeface="IBM Plex Mono" pitchFamily="49" charset="0"/>
                <a:ea typeface="IBM Plex Mono" pitchFamily="49" charset="-122"/>
                <a:cs typeface="IBM Plex Mono" pitchFamily="49" charset="-120"/>
              </a:rPr>
              <a:t>web-lab1/</a:t>
            </a:r>
            <a:endParaRPr lang="en-US" sz="1200" dirty="0"/>
          </a:p>
          <a:p>
            <a:pPr algn="l" indent="0" marL="0">
              <a:lnSpc>
                <a:spcPts val="1800"/>
              </a:lnSpc>
              <a:buNone/>
            </a:pPr>
            <a:r>
              <a:rPr lang="en-US" sz="1200" dirty="0">
                <a:solidFill>
                  <a:srgbClr val="1F2A37"/>
                </a:solidFill>
                <a:latin typeface="IBM Plex Mono" pitchFamily="49" charset="0"/>
                <a:ea typeface="IBM Plex Mono" pitchFamily="49" charset="-122"/>
                <a:cs typeface="IBM Plex Mono" pitchFamily="49" charset="-120"/>
              </a:rPr>
              <a:t>├─ index.html</a:t>
            </a:r>
            <a:endParaRPr lang="en-US" sz="1200" dirty="0"/>
          </a:p>
          <a:p>
            <a:pPr algn="l" indent="0" marL="0">
              <a:lnSpc>
                <a:spcPts val="1800"/>
              </a:lnSpc>
              <a:buNone/>
            </a:pPr>
            <a:r>
              <a:rPr lang="en-US" sz="1200" dirty="0">
                <a:solidFill>
                  <a:srgbClr val="1F2A37"/>
                </a:solidFill>
                <a:latin typeface="IBM Plex Mono" pitchFamily="49" charset="0"/>
                <a:ea typeface="IBM Plex Mono" pitchFamily="49" charset="-122"/>
                <a:cs typeface="IBM Plex Mono" pitchFamily="49" charset="-120"/>
              </a:rPr>
              <a:t>├─ css/   └─ images/</a:t>
            </a:r>
            <a:endParaRPr lang="en-US" sz="1200" dirty="0"/>
          </a:p>
        </p:txBody>
      </p:sp>
      <p:sp>
        <p:nvSpPr>
          <p:cNvPr id="20"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1 · Lecture 1 — HTML Foundations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4ED8"/>
                </a:solidFill>
                <a:latin typeface="IBM Plex Sans" pitchFamily="34" charset="0"/>
                <a:ea typeface="IBM Plex Sans" pitchFamily="34" charset="-122"/>
                <a:cs typeface="IBM Plex Sans" pitchFamily="34" charset="-120"/>
              </a:rPr>
              <a:t>PART B · GUIDED DEMO · 10 MIN</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Building a page, step by step</a:t>
            </a:r>
            <a:endParaRPr lang="en-US" sz="3200" dirty="0"/>
          </a:p>
        </p:txBody>
      </p:sp>
      <p:sp>
        <p:nvSpPr>
          <p:cNvPr id="4" name="Shape 2"/>
          <p:cNvSpPr/>
          <p:nvPr/>
        </p:nvSpPr>
        <p:spPr>
          <a:xfrm>
            <a:off x="815975" y="1984276"/>
            <a:ext cx="2007791" cy="2165052"/>
          </a:xfrm>
          <a:prstGeom prst="roundRect">
            <a:avLst>
              <a:gd name="adj" fmla="val 4902"/>
            </a:avLst>
          </a:prstGeom>
          <a:solidFill>
            <a:srgbClr val="FFFDF9"/>
          </a:solidFill>
          <a:ln w="6350">
            <a:solidFill>
              <a:srgbClr val="E4E0D8"/>
            </a:solidFill>
            <a:prstDash val="solid"/>
          </a:ln>
        </p:spPr>
      </p:sp>
      <p:sp>
        <p:nvSpPr>
          <p:cNvPr id="5" name="Text 3"/>
          <p:cNvSpPr/>
          <p:nvPr/>
        </p:nvSpPr>
        <p:spPr>
          <a:xfrm>
            <a:off x="996950" y="2165251"/>
            <a:ext cx="1696641"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C2410C"/>
                </a:solidFill>
                <a:latin typeface="IBM Plex Sans" pitchFamily="34" charset="0"/>
                <a:ea typeface="IBM Plex Sans" pitchFamily="34" charset="-122"/>
                <a:cs typeface="IBM Plex Sans" pitchFamily="34" charset="-120"/>
              </a:rPr>
              <a:t>1</a:t>
            </a:r>
            <a:endParaRPr lang="en-US" sz="2800" dirty="0"/>
          </a:p>
        </p:txBody>
      </p:sp>
      <p:sp>
        <p:nvSpPr>
          <p:cNvPr id="6" name="Text 4"/>
          <p:cNvSpPr/>
          <p:nvPr/>
        </p:nvSpPr>
        <p:spPr>
          <a:xfrm>
            <a:off x="996950" y="2739231"/>
            <a:ext cx="182364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A37"/>
                </a:solidFill>
                <a:latin typeface="IBM Plex Sans" pitchFamily="34" charset="0"/>
                <a:ea typeface="IBM Plex Sans" pitchFamily="34" charset="-122"/>
                <a:cs typeface="IBM Plex Sans" pitchFamily="34" charset="-120"/>
              </a:rPr>
              <a:t>Start with content</a:t>
            </a:r>
            <a:endParaRPr lang="en-US" sz="1500" dirty="0"/>
          </a:p>
        </p:txBody>
      </p:sp>
      <p:sp>
        <p:nvSpPr>
          <p:cNvPr id="7" name="Text 5"/>
          <p:cNvSpPr/>
          <p:nvPr/>
        </p:nvSpPr>
        <p:spPr>
          <a:xfrm>
            <a:off x="996950" y="3044031"/>
            <a:ext cx="1696641"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Type plain text into index.html. Open it: one blob of text.</a:t>
            </a:r>
            <a:endParaRPr lang="en-US" sz="1300" dirty="0"/>
          </a:p>
        </p:txBody>
      </p:sp>
      <p:sp>
        <p:nvSpPr>
          <p:cNvPr id="8" name="Shape 6"/>
          <p:cNvSpPr/>
          <p:nvPr/>
        </p:nvSpPr>
        <p:spPr>
          <a:xfrm>
            <a:off x="2957116" y="1984276"/>
            <a:ext cx="2007890" cy="2165052"/>
          </a:xfrm>
          <a:prstGeom prst="roundRect">
            <a:avLst>
              <a:gd name="adj" fmla="val 4902"/>
            </a:avLst>
          </a:prstGeom>
          <a:solidFill>
            <a:srgbClr val="FFFDF9"/>
          </a:solidFill>
          <a:ln w="6350">
            <a:solidFill>
              <a:srgbClr val="E4E0D8"/>
            </a:solidFill>
            <a:prstDash val="solid"/>
          </a:ln>
        </p:spPr>
      </p:sp>
      <p:sp>
        <p:nvSpPr>
          <p:cNvPr id="9" name="Text 7"/>
          <p:cNvSpPr/>
          <p:nvPr/>
        </p:nvSpPr>
        <p:spPr>
          <a:xfrm>
            <a:off x="3138091" y="2165251"/>
            <a:ext cx="1696740"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C2410C"/>
                </a:solidFill>
                <a:latin typeface="IBM Plex Sans" pitchFamily="34" charset="0"/>
                <a:ea typeface="IBM Plex Sans" pitchFamily="34" charset="-122"/>
                <a:cs typeface="IBM Plex Sans" pitchFamily="34" charset="-120"/>
              </a:rPr>
              <a:t>2</a:t>
            </a:r>
            <a:endParaRPr lang="en-US" sz="2800" dirty="0"/>
          </a:p>
        </p:txBody>
      </p:sp>
      <p:sp>
        <p:nvSpPr>
          <p:cNvPr id="10" name="Text 8"/>
          <p:cNvSpPr/>
          <p:nvPr/>
        </p:nvSpPr>
        <p:spPr>
          <a:xfrm>
            <a:off x="3138091" y="2739231"/>
            <a:ext cx="169674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A37"/>
                </a:solidFill>
                <a:latin typeface="IBM Plex Sans" pitchFamily="34" charset="0"/>
                <a:ea typeface="IBM Plex Sans" pitchFamily="34" charset="-122"/>
                <a:cs typeface="IBM Plex Sans" pitchFamily="34" charset="-120"/>
              </a:rPr>
              <a:t>Add structure</a:t>
            </a:r>
            <a:endParaRPr lang="en-US" sz="1500" dirty="0"/>
          </a:p>
        </p:txBody>
      </p:sp>
      <p:sp>
        <p:nvSpPr>
          <p:cNvPr id="11" name="Text 9"/>
          <p:cNvSpPr/>
          <p:nvPr/>
        </p:nvSpPr>
        <p:spPr>
          <a:xfrm>
            <a:off x="3138091" y="3044031"/>
            <a:ext cx="1696740"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Wrap it in DOCTYPE, html, head, title and body.</a:t>
            </a:r>
            <a:endParaRPr lang="en-US" sz="1300" dirty="0"/>
          </a:p>
        </p:txBody>
      </p:sp>
      <p:sp>
        <p:nvSpPr>
          <p:cNvPr id="12" name="Shape 10"/>
          <p:cNvSpPr/>
          <p:nvPr/>
        </p:nvSpPr>
        <p:spPr>
          <a:xfrm>
            <a:off x="5098355" y="1984276"/>
            <a:ext cx="2007890" cy="2165052"/>
          </a:xfrm>
          <a:prstGeom prst="roundRect">
            <a:avLst>
              <a:gd name="adj" fmla="val 4902"/>
            </a:avLst>
          </a:prstGeom>
          <a:solidFill>
            <a:srgbClr val="FFFDF9"/>
          </a:solidFill>
          <a:ln w="6350">
            <a:solidFill>
              <a:srgbClr val="E4E0D8"/>
            </a:solidFill>
            <a:prstDash val="solid"/>
          </a:ln>
        </p:spPr>
      </p:sp>
      <p:sp>
        <p:nvSpPr>
          <p:cNvPr id="13" name="Text 11"/>
          <p:cNvSpPr/>
          <p:nvPr/>
        </p:nvSpPr>
        <p:spPr>
          <a:xfrm>
            <a:off x="5279330" y="2165251"/>
            <a:ext cx="1696740"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C2410C"/>
                </a:solidFill>
                <a:latin typeface="IBM Plex Sans" pitchFamily="34" charset="0"/>
                <a:ea typeface="IBM Plex Sans" pitchFamily="34" charset="-122"/>
                <a:cs typeface="IBM Plex Sans" pitchFamily="34" charset="-120"/>
              </a:rPr>
              <a:t>3</a:t>
            </a:r>
            <a:endParaRPr lang="en-US" sz="2800" dirty="0"/>
          </a:p>
        </p:txBody>
      </p:sp>
      <p:sp>
        <p:nvSpPr>
          <p:cNvPr id="14" name="Text 12"/>
          <p:cNvSpPr/>
          <p:nvPr/>
        </p:nvSpPr>
        <p:spPr>
          <a:xfrm>
            <a:off x="5279330" y="2739231"/>
            <a:ext cx="169674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A37"/>
                </a:solidFill>
                <a:latin typeface="IBM Plex Sans" pitchFamily="34" charset="0"/>
                <a:ea typeface="IBM Plex Sans" pitchFamily="34" charset="-122"/>
                <a:cs typeface="IBM Plex Sans" pitchFamily="34" charset="-120"/>
              </a:rPr>
              <a:t>Mark up text</a:t>
            </a:r>
            <a:endParaRPr lang="en-US" sz="1500" dirty="0"/>
          </a:p>
        </p:txBody>
      </p:sp>
      <p:sp>
        <p:nvSpPr>
          <p:cNvPr id="15" name="Text 13"/>
          <p:cNvSpPr/>
          <p:nvPr/>
        </p:nvSpPr>
        <p:spPr>
          <a:xfrm>
            <a:off x="5279330" y="3044031"/>
            <a:ext cx="1696740"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Add h1, h2 and p so the browser knows what each part is.</a:t>
            </a:r>
            <a:endParaRPr lang="en-US" sz="1300" dirty="0"/>
          </a:p>
        </p:txBody>
      </p:sp>
      <p:sp>
        <p:nvSpPr>
          <p:cNvPr id="16" name="Shape 14"/>
          <p:cNvSpPr/>
          <p:nvPr/>
        </p:nvSpPr>
        <p:spPr>
          <a:xfrm>
            <a:off x="7239595" y="1984276"/>
            <a:ext cx="2007890" cy="2165052"/>
          </a:xfrm>
          <a:prstGeom prst="roundRect">
            <a:avLst>
              <a:gd name="adj" fmla="val 4902"/>
            </a:avLst>
          </a:prstGeom>
          <a:solidFill>
            <a:srgbClr val="FFFDF9"/>
          </a:solidFill>
          <a:ln w="6350">
            <a:solidFill>
              <a:srgbClr val="E4E0D8"/>
            </a:solidFill>
            <a:prstDash val="solid"/>
          </a:ln>
        </p:spPr>
      </p:sp>
      <p:sp>
        <p:nvSpPr>
          <p:cNvPr id="17" name="Text 15"/>
          <p:cNvSpPr/>
          <p:nvPr/>
        </p:nvSpPr>
        <p:spPr>
          <a:xfrm>
            <a:off x="7420570" y="2165251"/>
            <a:ext cx="1696740"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C2410C"/>
                </a:solidFill>
                <a:latin typeface="IBM Plex Sans" pitchFamily="34" charset="0"/>
                <a:ea typeface="IBM Plex Sans" pitchFamily="34" charset="-122"/>
                <a:cs typeface="IBM Plex Sans" pitchFamily="34" charset="-120"/>
              </a:rPr>
              <a:t>4</a:t>
            </a:r>
            <a:endParaRPr lang="en-US" sz="2800" dirty="0"/>
          </a:p>
        </p:txBody>
      </p:sp>
      <p:sp>
        <p:nvSpPr>
          <p:cNvPr id="18" name="Text 16"/>
          <p:cNvSpPr/>
          <p:nvPr/>
        </p:nvSpPr>
        <p:spPr>
          <a:xfrm>
            <a:off x="7420570" y="2739231"/>
            <a:ext cx="169674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A37"/>
                </a:solidFill>
                <a:latin typeface="IBM Plex Sans" pitchFamily="34" charset="0"/>
                <a:ea typeface="IBM Plex Sans" pitchFamily="34" charset="-122"/>
                <a:cs typeface="IBM Plex Sans" pitchFamily="34" charset="-120"/>
              </a:rPr>
              <a:t>Add an image</a:t>
            </a:r>
            <a:endParaRPr lang="en-US" sz="1500" dirty="0"/>
          </a:p>
        </p:txBody>
      </p:sp>
      <p:sp>
        <p:nvSpPr>
          <p:cNvPr id="19" name="Text 17"/>
          <p:cNvSpPr/>
          <p:nvPr/>
        </p:nvSpPr>
        <p:spPr>
          <a:xfrm>
            <a:off x="7420570" y="3044031"/>
            <a:ext cx="1696740" cy="94972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&lt;img src="images/me.jpg" alt="…"&gt; — details in L5.</a:t>
            </a:r>
            <a:endParaRPr lang="en-US" sz="1300" dirty="0"/>
          </a:p>
        </p:txBody>
      </p:sp>
      <p:sp>
        <p:nvSpPr>
          <p:cNvPr id="20" name="Shape 18"/>
          <p:cNvSpPr/>
          <p:nvPr/>
        </p:nvSpPr>
        <p:spPr>
          <a:xfrm>
            <a:off x="9377660" y="1981101"/>
            <a:ext cx="2001540" cy="2171402"/>
          </a:xfrm>
          <a:prstGeom prst="roundRect">
            <a:avLst>
              <a:gd name="adj" fmla="val 5076"/>
            </a:avLst>
          </a:prstGeom>
          <a:solidFill>
            <a:srgbClr val="16202E"/>
          </a:solidFill>
          <a:ln/>
        </p:spPr>
      </p:sp>
      <p:sp>
        <p:nvSpPr>
          <p:cNvPr id="21" name="Text 19"/>
          <p:cNvSpPr/>
          <p:nvPr/>
        </p:nvSpPr>
        <p:spPr>
          <a:xfrm>
            <a:off x="9555460" y="2158901"/>
            <a:ext cx="1696740"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F9E64"/>
                </a:solidFill>
                <a:latin typeface="IBM Plex Sans" pitchFamily="34" charset="0"/>
                <a:ea typeface="IBM Plex Sans" pitchFamily="34" charset="-122"/>
                <a:cs typeface="IBM Plex Sans" pitchFamily="34" charset="-120"/>
              </a:rPr>
              <a:t>5</a:t>
            </a:r>
            <a:endParaRPr lang="en-US" sz="2800" dirty="0"/>
          </a:p>
        </p:txBody>
      </p:sp>
      <p:sp>
        <p:nvSpPr>
          <p:cNvPr id="22" name="Text 20"/>
          <p:cNvSpPr/>
          <p:nvPr/>
        </p:nvSpPr>
        <p:spPr>
          <a:xfrm>
            <a:off x="9555460" y="2732881"/>
            <a:ext cx="169674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7F5F0"/>
                </a:solidFill>
                <a:latin typeface="IBM Plex Sans" pitchFamily="34" charset="0"/>
                <a:ea typeface="IBM Plex Sans" pitchFamily="34" charset="-122"/>
                <a:cs typeface="IBM Plex Sans" pitchFamily="34" charset="-120"/>
              </a:rPr>
              <a:t>Style it</a:t>
            </a:r>
            <a:endParaRPr lang="en-US" sz="1500" dirty="0"/>
          </a:p>
        </p:txBody>
      </p:sp>
      <p:sp>
        <p:nvSpPr>
          <p:cNvPr id="23" name="Text 21"/>
          <p:cNvSpPr/>
          <p:nvPr/>
        </p:nvSpPr>
        <p:spPr>
          <a:xfrm>
            <a:off x="9555460" y="3037681"/>
            <a:ext cx="1696740"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4E0"/>
                </a:solidFill>
                <a:latin typeface="IBM Plex Sans" pitchFamily="34" charset="0"/>
                <a:ea typeface="IBM Plex Sans" pitchFamily="34" charset="-122"/>
                <a:cs typeface="IBM Plex Sans" pitchFamily="34" charset="-120"/>
              </a:rPr>
              <a:t>A preview of CSS: one &lt;style&gt; rule changes the look.</a:t>
            </a:r>
            <a:endParaRPr lang="en-US" sz="1300" dirty="0"/>
          </a:p>
        </p:txBody>
      </p:sp>
      <p:sp>
        <p:nvSpPr>
          <p:cNvPr id="24" name="Text 22"/>
          <p:cNvSpPr/>
          <p:nvPr/>
        </p:nvSpPr>
        <p:spPr>
          <a:xfrm>
            <a:off x="812800" y="4406503"/>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467"/>
                </a:solidFill>
                <a:latin typeface="IBM Plex Sans" pitchFamily="34" charset="0"/>
                <a:ea typeface="IBM Plex Sans" pitchFamily="34" charset="-122"/>
                <a:cs typeface="IBM Plex Sans" pitchFamily="34" charset="-120"/>
              </a:rPr>
              <a:t>Save → refresh → inspect, after </a:t>
            </a:r>
            <a:r>
              <a:rPr lang="en-US" sz="1400" b="1" dirty="0">
                <a:solidFill>
                  <a:srgbClr val="475467"/>
                </a:solidFill>
                <a:latin typeface="IBM Plex Sans" pitchFamily="34" charset="0"/>
                <a:ea typeface="IBM Plex Sans" pitchFamily="34" charset="-122"/>
                <a:cs typeface="IBM Plex Sans" pitchFamily="34" charset="-120"/>
              </a:rPr>
              <a:t>every</a:t>
            </a:r>
            <a:r>
              <a:rPr lang="en-US" sz="1400" dirty="0">
                <a:solidFill>
                  <a:srgbClr val="475467"/>
                </a:solidFill>
                <a:latin typeface="IBM Plex Sans" pitchFamily="34" charset="0"/>
                <a:ea typeface="IBM Plex Sans" pitchFamily="34" charset="-122"/>
                <a:cs typeface="IBM Plex Sans" pitchFamily="34" charset="-120"/>
              </a:rPr>
              <a:t> step. This is the workflow professionals use.</a:t>
            </a:r>
            <a:endParaRPr lang="en-US" sz="1400" dirty="0"/>
          </a:p>
        </p:txBody>
      </p:sp>
      <p:sp>
        <p:nvSpPr>
          <p:cNvPr id="25" name="Text 2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1 · Lecture 1 — HTML Foundations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CE8D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4ED8"/>
                </a:solidFill>
                <a:latin typeface="IBM Plex Sans" pitchFamily="34" charset="0"/>
                <a:ea typeface="IBM Plex Sans" pitchFamily="34" charset="-122"/>
                <a:cs typeface="IBM Plex Sans" pitchFamily="34" charset="-120"/>
              </a:rPr>
              <a:t>LAB 1 · 25 MIN · INDIVIDUAL</a:t>
            </a:r>
            <a:endParaRPr lang="en-US" sz="1200" dirty="0"/>
          </a:p>
        </p:txBody>
      </p:sp>
      <p:sp>
        <p:nvSpPr>
          <p:cNvPr id="3" name="Text 1"/>
          <p:cNvSpPr/>
          <p:nvPr>
            <p:ph type="title"/>
          </p:nvPr>
        </p:nvSpPr>
        <p:spPr>
          <a:xfrm>
            <a:off x="812800" y="12547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Build your “About Me” page</a:t>
            </a:r>
            <a:endParaRPr lang="en-US" sz="3200" dirty="0"/>
          </a:p>
        </p:txBody>
      </p:sp>
      <p:sp>
        <p:nvSpPr>
          <p:cNvPr id="4" name="Text 2"/>
          <p:cNvSpPr/>
          <p:nvPr/>
        </p:nvSpPr>
        <p:spPr>
          <a:xfrm>
            <a:off x="812800" y="1930301"/>
            <a:ext cx="5974747"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1.</a:t>
            </a:r>
            <a:r>
              <a:rPr lang="en-US" sz="1400" dirty="0">
                <a:solidFill>
                  <a:srgbClr val="1F2A37"/>
                </a:solidFill>
                <a:latin typeface="IBM Plex Sans" pitchFamily="34" charset="0"/>
                <a:ea typeface="IBM Plex Sans" pitchFamily="34" charset="-122"/>
                <a:cs typeface="IBM Plex Sans" pitchFamily="34" charset="-120"/>
              </a:rPr>
              <a:t> In web-lab1, create index.html with the full HTML5 skeleton (type it — no Emmet).</a:t>
            </a:r>
            <a:endParaRPr lang="en-US" sz="1400" dirty="0"/>
          </a:p>
        </p:txBody>
      </p:sp>
      <p:sp>
        <p:nvSpPr>
          <p:cNvPr id="5" name="Text 3"/>
          <p:cNvSpPr/>
          <p:nvPr/>
        </p:nvSpPr>
        <p:spPr>
          <a:xfrm>
            <a:off x="812800" y="2529582"/>
            <a:ext cx="5974747"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2.</a:t>
            </a:r>
            <a:r>
              <a:rPr lang="en-US" sz="1400" dirty="0">
                <a:solidFill>
                  <a:srgbClr val="1F2A37"/>
                </a:solidFill>
                <a:latin typeface="IBM Plex Sans" pitchFamily="34" charset="0"/>
                <a:ea typeface="IBM Plex Sans" pitchFamily="34" charset="-122"/>
                <a:cs typeface="IBM Plex Sans" pitchFamily="34" charset="-120"/>
              </a:rPr>
              <a:t> Set lang="en", charset UTF-8, viewport, and the title “Your Name – About Me”.</a:t>
            </a:r>
            <a:endParaRPr lang="en-US" sz="1400" dirty="0"/>
          </a:p>
        </p:txBody>
      </p:sp>
      <p:sp>
        <p:nvSpPr>
          <p:cNvPr id="6" name="Text 4"/>
          <p:cNvSpPr/>
          <p:nvPr/>
        </p:nvSpPr>
        <p:spPr>
          <a:xfrm>
            <a:off x="812800" y="3128863"/>
            <a:ext cx="5974747"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3.</a:t>
            </a:r>
            <a:r>
              <a:rPr lang="en-US" sz="1400" dirty="0">
                <a:solidFill>
                  <a:srgbClr val="1F2A37"/>
                </a:solidFill>
                <a:latin typeface="IBM Plex Sans" pitchFamily="34" charset="0"/>
                <a:ea typeface="IBM Plex Sans" pitchFamily="34" charset="-122"/>
                <a:cs typeface="IBM Plex Sans" pitchFamily="34" charset="-120"/>
              </a:rPr>
              <a:t> Body: an h1 with your name; h2 sections </a:t>
            </a:r>
            <a:r>
              <a:rPr lang="en-US" sz="1400" i="1" dirty="0">
                <a:solidFill>
                  <a:srgbClr val="1F2A37"/>
                </a:solidFill>
                <a:latin typeface="IBM Plex Sans" pitchFamily="34" charset="0"/>
                <a:ea typeface="IBM Plex Sans" pitchFamily="34" charset="-122"/>
                <a:cs typeface="IBM Plex Sans" pitchFamily="34" charset="-120"/>
              </a:rPr>
              <a:t>Education</a:t>
            </a:r>
            <a:r>
              <a:rPr lang="en-US" sz="1400" dirty="0">
                <a:solidFill>
                  <a:srgbClr val="1F2A37"/>
                </a:solidFill>
                <a:latin typeface="IBM Plex Sans" pitchFamily="34" charset="0"/>
                <a:ea typeface="IBM Plex Sans" pitchFamily="34" charset="-122"/>
                <a:cs typeface="IBM Plex Sans" pitchFamily="34" charset="-120"/>
              </a:rPr>
              <a:t>, </a:t>
            </a:r>
            <a:r>
              <a:rPr lang="en-US" sz="1400" i="1" dirty="0">
                <a:solidFill>
                  <a:srgbClr val="1F2A37"/>
                </a:solidFill>
                <a:latin typeface="IBM Plex Sans" pitchFamily="34" charset="0"/>
                <a:ea typeface="IBM Plex Sans" pitchFamily="34" charset="-122"/>
                <a:cs typeface="IBM Plex Sans" pitchFamily="34" charset="-120"/>
              </a:rPr>
              <a:t>Skills</a:t>
            </a:r>
            <a:r>
              <a:rPr lang="en-US" sz="1400" dirty="0">
                <a:solidFill>
                  <a:srgbClr val="1F2A37"/>
                </a:solidFill>
                <a:latin typeface="IBM Plex Sans" pitchFamily="34" charset="0"/>
                <a:ea typeface="IBM Plex Sans" pitchFamily="34" charset="-122"/>
                <a:cs typeface="IBM Plex Sans" pitchFamily="34" charset="-120"/>
              </a:rPr>
              <a:t>, </a:t>
            </a:r>
            <a:r>
              <a:rPr lang="en-US" sz="1400" i="1" dirty="0">
                <a:solidFill>
                  <a:srgbClr val="1F2A37"/>
                </a:solidFill>
                <a:latin typeface="IBM Plex Sans" pitchFamily="34" charset="0"/>
                <a:ea typeface="IBM Plex Sans" pitchFamily="34" charset="-122"/>
                <a:cs typeface="IBM Plex Sans" pitchFamily="34" charset="-120"/>
              </a:rPr>
              <a:t>Hobbies</a:t>
            </a:r>
            <a:r>
              <a:rPr lang="en-US" sz="1400" dirty="0">
                <a:solidFill>
                  <a:srgbClr val="1F2A37"/>
                </a:solidFill>
                <a:latin typeface="IBM Plex Sans" pitchFamily="34" charset="0"/>
                <a:ea typeface="IBM Plex Sans" pitchFamily="34" charset="-122"/>
                <a:cs typeface="IBM Plex Sans" pitchFamily="34" charset="-120"/>
              </a:rPr>
              <a:t>, each with a paragraph.</a:t>
            </a:r>
            <a:endParaRPr lang="en-US" sz="1400" dirty="0"/>
          </a:p>
        </p:txBody>
      </p:sp>
      <p:sp>
        <p:nvSpPr>
          <p:cNvPr id="7" name="Text 5"/>
          <p:cNvSpPr/>
          <p:nvPr/>
        </p:nvSpPr>
        <p:spPr>
          <a:xfrm>
            <a:off x="812800" y="3728145"/>
            <a:ext cx="597474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4.</a:t>
            </a:r>
            <a:r>
              <a:rPr lang="en-US" sz="1400" dirty="0">
                <a:solidFill>
                  <a:srgbClr val="1F2A37"/>
                </a:solidFill>
                <a:latin typeface="IBM Plex Sans" pitchFamily="34" charset="0"/>
                <a:ea typeface="IBM Plex Sans" pitchFamily="34" charset="-122"/>
                <a:cs typeface="IBM Plex Sans" pitchFamily="34" charset="-120"/>
              </a:rPr>
              <a:t> Add a comment at the top with your student ID and the date.</a:t>
            </a:r>
            <a:endParaRPr lang="en-US" sz="1400" dirty="0"/>
          </a:p>
        </p:txBody>
      </p:sp>
      <p:sp>
        <p:nvSpPr>
          <p:cNvPr id="8" name="Text 6"/>
          <p:cNvSpPr/>
          <p:nvPr/>
        </p:nvSpPr>
        <p:spPr>
          <a:xfrm>
            <a:off x="812800" y="4078585"/>
            <a:ext cx="597474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2A37"/>
                </a:solidFill>
                <a:latin typeface="IBM Plex Sans" pitchFamily="34" charset="0"/>
                <a:ea typeface="IBM Plex Sans" pitchFamily="34" charset="-122"/>
                <a:cs typeface="IBM Plex Sans" pitchFamily="34" charset="-120"/>
              </a:rPr>
              <a:t>5.</a:t>
            </a:r>
            <a:r>
              <a:rPr lang="en-US" sz="1400" dirty="0">
                <a:solidFill>
                  <a:srgbClr val="1F2A37"/>
                </a:solidFill>
                <a:latin typeface="IBM Plex Sans" pitchFamily="34" charset="0"/>
                <a:ea typeface="IBM Plex Sans" pitchFamily="34" charset="-122"/>
                <a:cs typeface="IBM Plex Sans" pitchFamily="34" charset="-120"/>
              </a:rPr>
              <a:t> Validate at validator.w3.org until there are zero errors.</a:t>
            </a:r>
            <a:endParaRPr lang="en-US" sz="1400" dirty="0"/>
          </a:p>
        </p:txBody>
      </p:sp>
      <p:sp>
        <p:nvSpPr>
          <p:cNvPr id="9" name="Shape 7"/>
          <p:cNvSpPr/>
          <p:nvPr/>
        </p:nvSpPr>
        <p:spPr>
          <a:xfrm>
            <a:off x="6819900" y="1933476"/>
            <a:ext cx="4556125" cy="2129433"/>
          </a:xfrm>
          <a:prstGeom prst="roundRect">
            <a:avLst>
              <a:gd name="adj" fmla="val 4622"/>
            </a:avLst>
          </a:prstGeom>
          <a:solidFill>
            <a:srgbClr val="FFFDF9"/>
          </a:solidFill>
          <a:ln w="6350">
            <a:solidFill>
              <a:srgbClr val="D9D3C7"/>
            </a:solidFill>
            <a:prstDash val="solid"/>
          </a:ln>
        </p:spPr>
      </p:sp>
      <p:sp>
        <p:nvSpPr>
          <p:cNvPr id="10" name="Text 8"/>
          <p:cNvSpPr/>
          <p:nvPr/>
        </p:nvSpPr>
        <p:spPr>
          <a:xfrm>
            <a:off x="7026275" y="2139851"/>
            <a:ext cx="426767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02E"/>
                </a:solidFill>
                <a:latin typeface="IBM Plex Sans" pitchFamily="34" charset="0"/>
                <a:ea typeface="IBM Plex Sans" pitchFamily="34" charset="-122"/>
                <a:cs typeface="IBM Plex Sans" pitchFamily="34" charset="-120"/>
              </a:rPr>
              <a:t>Submit on LMS</a:t>
            </a:r>
            <a:endParaRPr lang="en-US" sz="1600" dirty="0"/>
          </a:p>
        </p:txBody>
      </p:sp>
      <p:sp>
        <p:nvSpPr>
          <p:cNvPr id="11" name="Text 9"/>
          <p:cNvSpPr/>
          <p:nvPr/>
        </p:nvSpPr>
        <p:spPr>
          <a:xfrm>
            <a:off x="7026275" y="2485231"/>
            <a:ext cx="4267676"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index.html + a screenshot of the “No errors” validator result</a:t>
            </a:r>
            <a:endParaRPr lang="en-US" sz="1300" dirty="0"/>
          </a:p>
        </p:txBody>
      </p:sp>
      <p:sp>
        <p:nvSpPr>
          <p:cNvPr id="12" name="Text 10"/>
          <p:cNvSpPr/>
          <p:nvPr/>
        </p:nvSpPr>
        <p:spPr>
          <a:xfrm>
            <a:off x="7026275" y="3048992"/>
            <a:ext cx="426767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C2410C"/>
                </a:solidFill>
                <a:latin typeface="IBM Plex Sans" pitchFamily="34" charset="0"/>
                <a:ea typeface="IBM Plex Sans" pitchFamily="34" charset="-122"/>
                <a:cs typeface="IBM Plex Sans" pitchFamily="34" charset="-120"/>
              </a:rPr>
              <a:t>Stretch goal</a:t>
            </a:r>
            <a:endParaRPr lang="en-US" sz="1600" dirty="0"/>
          </a:p>
        </p:txBody>
      </p:sp>
      <p:sp>
        <p:nvSpPr>
          <p:cNvPr id="13" name="Text 11"/>
          <p:cNvSpPr/>
          <p:nvPr/>
        </p:nvSpPr>
        <p:spPr>
          <a:xfrm>
            <a:off x="7026275" y="3394373"/>
            <a:ext cx="4267676"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Add a second page, contact.html, and use DevTools to change your h1 text live.</a:t>
            </a:r>
            <a:endParaRPr lang="en-US" sz="1300" dirty="0"/>
          </a:p>
        </p:txBody>
      </p:sp>
      <p:sp>
        <p:nvSpPr>
          <p:cNvPr id="14"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1 · Lecture 1 — HTML Foundations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4ED8"/>
                </a:solidFill>
                <a:latin typeface="IBM Plex Sans" pitchFamily="34" charset="0"/>
                <a:ea typeface="IBM Plex Sans" pitchFamily="34" charset="-122"/>
                <a:cs typeface="IBM Plex Sans" pitchFamily="34" charset="-120"/>
              </a:rPr>
              <a:t>PART B · DEBUGGING</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When good pages go bad</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93801"/>
          <a:ext cx="10553700" cy="2235398"/>
        </p:xfrm>
        <a:graphic>
          <a:graphicData uri="http://schemas.openxmlformats.org/drawingml/2006/table">
            <a:tbl>
              <a:tblPr/>
              <a:tblGrid>
                <a:gridCol w="3588258"/>
                <a:gridCol w="3799332"/>
                <a:gridCol w="3166110"/>
              </a:tblGrid>
              <a:tr h="372566">
                <a:tc>
                  <a:txBody>
                    <a:bodyPr/>
                    <a:lstStyle/>
                    <a:p>
                      <a:pPr indent="0" marL="0">
                        <a:lnSpc>
                          <a:spcPts val="1890"/>
                        </a:lnSpc>
                        <a:buNone/>
                      </a:pPr>
                      <a:r>
                        <a:rPr lang="en-US" sz="1350" b="1" dirty="0">
                          <a:solidFill>
                            <a:srgbClr val="1F2A37"/>
                          </a:solidFill>
                          <a:latin typeface="IBM Plex Sans" pitchFamily="34" charset="0"/>
                          <a:ea typeface="IBM Plex Sans" pitchFamily="34" charset="-122"/>
                          <a:cs typeface="IBM Plex Sans" pitchFamily="34" charset="-120"/>
                        </a:rPr>
                        <a:t>Mistake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1890"/>
                        </a:lnSpc>
                        <a:buNone/>
                      </a:pPr>
                      <a:r>
                        <a:rPr lang="en-US" sz="1350" b="1" dirty="0">
                          <a:solidFill>
                            <a:srgbClr val="1F2A37"/>
                          </a:solidFill>
                          <a:latin typeface="IBM Plex Sans" pitchFamily="34" charset="0"/>
                          <a:ea typeface="IBM Plex Sans" pitchFamily="34" charset="-122"/>
                          <a:cs typeface="IBM Plex Sans" pitchFamily="34" charset="-120"/>
                        </a:rPr>
                        <a:t>What you see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c>
                  <a:txBody>
                    <a:bodyPr/>
                    <a:lstStyle/>
                    <a:p>
                      <a:pPr indent="0" marL="0">
                        <a:lnSpc>
                          <a:spcPts val="1890"/>
                        </a:lnSpc>
                        <a:buNone/>
                      </a:pPr>
                      <a:r>
                        <a:rPr lang="en-US" sz="1350" b="1" dirty="0">
                          <a:solidFill>
                            <a:srgbClr val="1F2A37"/>
                          </a:solidFill>
                          <a:latin typeface="IBM Plex Sans" pitchFamily="34" charset="0"/>
                          <a:ea typeface="IBM Plex Sans" pitchFamily="34" charset="-122"/>
                          <a:cs typeface="IBM Plex Sans" pitchFamily="34" charset="-120"/>
                        </a:rPr>
                        <a:t>Fix</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E"/>
                    </a:solidFill>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Missing &lt;/h1&gt; or &lt;/strong&gt;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The rest of the page becomes huge or bold</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Close every element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Missing closing quote: href="a.html&gt;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Text vanishes, link swallows content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Check quote pairs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Typo: &lt;pargraph&gt;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Ignored, treated as unknown</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Validator spots it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Saved as index.html.txt</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Browser shows raw code</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Show file extensions</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72566">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Edited, but page unchanged</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Old version still shown</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90"/>
                        </a:lnSpc>
                        <a:buNone/>
                      </a:pPr>
                      <a:r>
                        <a:rPr lang="en-US" sz="1350" dirty="0">
                          <a:solidFill>
                            <a:srgbClr val="1F2A37"/>
                          </a:solidFill>
                          <a:latin typeface="IBM Plex Sans" pitchFamily="34" charset="0"/>
                          <a:ea typeface="IBM Plex Sans" pitchFamily="34" charset="-122"/>
                          <a:cs typeface="IBM Plex Sans" pitchFamily="34" charset="-120"/>
                        </a:rPr>
                        <a:t>Save, then hard refresh Ctrl+F5</a:t>
                      </a:r>
                      <a:endParaRPr lang="en-US" sz="1350" dirty="0">
                        <a:latin typeface="IBM Plex Sans" charset="0"/>
                        <a:ea typeface="IBM Plex Sans" charset="0"/>
                        <a:cs typeface="IBM Plex Sans" charset="0"/>
                      </a:endParaRPr>
                    </a:p>
                  </a:txBody>
                  <a:tcPr marL="60007" marR="60007" marT="60007" marB="60007"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5" name="Text 2"/>
          <p:cNvSpPr/>
          <p:nvPr/>
        </p:nvSpPr>
        <p:spPr>
          <a:xfrm>
            <a:off x="812800" y="448319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75467"/>
                </a:solidFill>
                <a:latin typeface="IBM Plex Sans" pitchFamily="34" charset="0"/>
                <a:ea typeface="IBM Plex Sans" pitchFamily="34" charset="-122"/>
                <a:cs typeface="IBM Plex Sans" pitchFamily="34" charset="-120"/>
              </a:rPr>
              <a:t>Debug loop:</a:t>
            </a:r>
            <a:r>
              <a:rPr lang="en-US" sz="1400" dirty="0">
                <a:solidFill>
                  <a:srgbClr val="475467"/>
                </a:solidFill>
                <a:latin typeface="IBM Plex Sans" pitchFamily="34" charset="0"/>
                <a:ea typeface="IBM Plex Sans" pitchFamily="34" charset="-122"/>
                <a:cs typeface="IBM Plex Sans" pitchFamily="34" charset="-120"/>
              </a:rPr>
              <a:t> View Source (what you wrote) → Inspect (what the browser built) → compare.</a:t>
            </a:r>
            <a:endParaRPr lang="en-US" sz="14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1 · Lecture 1 — HTML Foundations</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4ED8"/>
                </a:solidFill>
                <a:latin typeface="IBM Plex Sans" pitchFamily="34" charset="0"/>
                <a:ea typeface="IBM Plex Sans" pitchFamily="34" charset="-122"/>
                <a:cs typeface="IBM Plex Sans" pitchFamily="34" charset="-120"/>
              </a:rPr>
              <a:t>PART B · QUALITY</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Validate: let the standard check your work</a:t>
            </a:r>
            <a:endParaRPr lang="en-US" sz="3200" dirty="0"/>
          </a:p>
        </p:txBody>
      </p:sp>
      <p:sp>
        <p:nvSpPr>
          <p:cNvPr id="4" name="Text 2"/>
          <p:cNvSpPr/>
          <p:nvPr/>
        </p:nvSpPr>
        <p:spPr>
          <a:xfrm>
            <a:off x="812800" y="1981101"/>
            <a:ext cx="4996942"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2A37"/>
                </a:solidFill>
                <a:latin typeface="IBM Plex Sans" pitchFamily="34" charset="0"/>
                <a:ea typeface="IBM Plex Sans" pitchFamily="34" charset="-122"/>
                <a:cs typeface="IBM Plex Sans" pitchFamily="34" charset="-120"/>
              </a:rPr>
              <a:t>validator.w3.org</a:t>
            </a:r>
            <a:r>
              <a:rPr lang="en-US" sz="1500" dirty="0">
                <a:solidFill>
                  <a:srgbClr val="1F2A37"/>
                </a:solidFill>
                <a:latin typeface="IBM Plex Sans" pitchFamily="34" charset="0"/>
                <a:ea typeface="IBM Plex Sans" pitchFamily="34" charset="-122"/>
                <a:cs typeface="IBM Plex Sans" pitchFamily="34" charset="-120"/>
              </a:rPr>
              <a:t> — check by URL, file upload or direct input.</a:t>
            </a:r>
            <a:endParaRPr lang="en-US" sz="1500" dirty="0"/>
          </a:p>
        </p:txBody>
      </p:sp>
      <p:sp>
        <p:nvSpPr>
          <p:cNvPr id="5" name="Text 3"/>
          <p:cNvSpPr/>
          <p:nvPr/>
        </p:nvSpPr>
        <p:spPr>
          <a:xfrm>
            <a:off x="812800" y="2641501"/>
            <a:ext cx="4996942"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F2A37"/>
                </a:solidFill>
                <a:latin typeface="IBM Plex Sans" pitchFamily="34" charset="0"/>
                <a:ea typeface="IBM Plex Sans" pitchFamily="34" charset="-122"/>
                <a:cs typeface="IBM Plex Sans" pitchFamily="34" charset="-120"/>
              </a:rPr>
              <a:t>Valid HTML renders consistently across browsers, is easier for screen readers and search engines, and is easier to debug.</a:t>
            </a:r>
            <a:endParaRPr lang="en-US" sz="1400" dirty="0"/>
          </a:p>
        </p:txBody>
      </p:sp>
      <p:sp>
        <p:nvSpPr>
          <p:cNvPr id="6" name="Text 4"/>
          <p:cNvSpPr/>
          <p:nvPr/>
        </p:nvSpPr>
        <p:spPr>
          <a:xfrm>
            <a:off x="812800" y="3515023"/>
            <a:ext cx="499694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75467"/>
                </a:solidFill>
                <a:latin typeface="IBM Plex Sans" pitchFamily="34" charset="0"/>
                <a:ea typeface="IBM Plex Sans" pitchFamily="34" charset="-122"/>
                <a:cs typeface="IBM Plex Sans" pitchFamily="34" charset="-120"/>
              </a:rPr>
              <a:t>Fix the </a:t>
            </a:r>
            <a:r>
              <a:rPr lang="en-US" sz="1400" b="1" dirty="0">
                <a:solidFill>
                  <a:srgbClr val="475467"/>
                </a:solidFill>
                <a:latin typeface="IBM Plex Sans" pitchFamily="34" charset="0"/>
                <a:ea typeface="IBM Plex Sans" pitchFamily="34" charset="-122"/>
                <a:cs typeface="IBM Plex Sans" pitchFamily="34" charset="-120"/>
              </a:rPr>
              <a:t>first</a:t>
            </a:r>
            <a:r>
              <a:rPr lang="en-US" sz="1400" dirty="0">
                <a:solidFill>
                  <a:srgbClr val="475467"/>
                </a:solidFill>
                <a:latin typeface="IBM Plex Sans" pitchFamily="34" charset="0"/>
                <a:ea typeface="IBM Plex Sans" pitchFamily="34" charset="-122"/>
                <a:cs typeface="IBM Plex Sans" pitchFamily="34" charset="-120"/>
              </a:rPr>
              <a:t> error first; one missing tag can cause ten messages.</a:t>
            </a:r>
            <a:endParaRPr lang="en-US" sz="1400" dirty="0"/>
          </a:p>
        </p:txBody>
      </p:sp>
      <p:sp>
        <p:nvSpPr>
          <p:cNvPr id="7" name="Text 5"/>
          <p:cNvSpPr/>
          <p:nvPr/>
        </p:nvSpPr>
        <p:spPr>
          <a:xfrm>
            <a:off x="5921375" y="1984276"/>
            <a:ext cx="5454650" cy="773311"/>
          </a:xfrm>
          <a:prstGeom prst="roundRect">
            <a:avLst>
              <a:gd name="adj" fmla="val 12728"/>
            </a:avLst>
          </a:prstGeom>
          <a:solidFill>
            <a:srgbClr val="FEF3F2"/>
          </a:solidFill>
          <a:ln w="6350">
            <a:solidFill>
              <a:srgbClr val="FDA29B"/>
            </a:solidFill>
            <a:prstDash val="solid"/>
          </a:ln>
        </p:spPr>
        <p:txBody>
          <a:bodyPr wrap="square" lIns="152147" tIns="126747" rIns="0" bIns="101347" rtlCol="0" anchor="t">
            <a:normAutofit/>
          </a:bodyPr>
          <a:lstStyle/>
          <a:p>
            <a:pPr algn="l" indent="0" marL="0">
              <a:lnSpc>
                <a:spcPts val="1820"/>
              </a:lnSpc>
              <a:buNone/>
            </a:pPr>
            <a:r>
              <a:rPr lang="en-US" sz="1300" b="1" dirty="0">
                <a:solidFill>
                  <a:srgbClr val="7A271A"/>
                </a:solidFill>
                <a:latin typeface="IBM Plex Sans" pitchFamily="34" charset="0"/>
                <a:ea typeface="IBM Plex Sans" pitchFamily="34" charset="-122"/>
                <a:cs typeface="IBM Plex Sans" pitchFamily="34" charset="-120"/>
              </a:rPr>
              <a:t>Error:</a:t>
            </a:r>
            <a:r>
              <a:rPr lang="en-US" sz="1300" dirty="0">
                <a:solidFill>
                  <a:srgbClr val="7A271A"/>
                </a:solidFill>
                <a:latin typeface="IBM Plex Sans" pitchFamily="34" charset="0"/>
                <a:ea typeface="IBM Plex Sans" pitchFamily="34" charset="-122"/>
                <a:cs typeface="IBM Plex Sans" pitchFamily="34" charset="-120"/>
              </a:rPr>
              <a:t> End tag p seen, but there were open elements.</a:t>
            </a:r>
            <a:endParaRPr lang="en-US" sz="1300" dirty="0"/>
          </a:p>
          <a:p>
            <a:pPr algn="l" indent="0" marL="0">
              <a:lnSpc>
                <a:spcPts val="1820"/>
              </a:lnSpc>
              <a:buNone/>
            </a:pPr>
            <a:r>
              <a:rPr lang="en-US" sz="1300" dirty="0">
                <a:solidFill>
                  <a:srgbClr val="7A271A"/>
                </a:solidFill>
                <a:latin typeface="IBM Plex Sans" pitchFamily="34" charset="0"/>
                <a:ea typeface="IBM Plex Sans" pitchFamily="34" charset="-122"/>
                <a:cs typeface="IBM Plex Sans" pitchFamily="34" charset="-120"/>
              </a:rPr>
              <a:t>From line 9, column 26</a:t>
            </a:r>
            <a:endParaRPr lang="en-US" sz="1300" dirty="0"/>
          </a:p>
        </p:txBody>
      </p:sp>
      <p:sp>
        <p:nvSpPr>
          <p:cNvPr id="8" name="Text 6"/>
          <p:cNvSpPr/>
          <p:nvPr/>
        </p:nvSpPr>
        <p:spPr>
          <a:xfrm>
            <a:off x="5921375" y="2865537"/>
            <a:ext cx="5454650" cy="542230"/>
          </a:xfrm>
          <a:prstGeom prst="roundRect">
            <a:avLst>
              <a:gd name="adj" fmla="val 18152"/>
            </a:avLst>
          </a:prstGeom>
          <a:solidFill>
            <a:srgbClr val="FFFAEB"/>
          </a:solidFill>
          <a:ln w="6350">
            <a:solidFill>
              <a:srgbClr val="FEC84B"/>
            </a:solidFill>
            <a:prstDash val="solid"/>
          </a:ln>
        </p:spPr>
        <p:txBody>
          <a:bodyPr wrap="square" lIns="152147" tIns="126747" rIns="0" bIns="101347" rtlCol="0" anchor="t">
            <a:normAutofit/>
          </a:bodyPr>
          <a:lstStyle/>
          <a:p>
            <a:pPr algn="l" indent="0" marL="0">
              <a:lnSpc>
                <a:spcPts val="1820"/>
              </a:lnSpc>
              <a:buNone/>
            </a:pPr>
            <a:r>
              <a:rPr lang="en-US" sz="1300" b="1" dirty="0">
                <a:solidFill>
                  <a:srgbClr val="7A2E0E"/>
                </a:solidFill>
                <a:latin typeface="IBM Plex Sans" pitchFamily="34" charset="0"/>
                <a:ea typeface="IBM Plex Sans" pitchFamily="34" charset="-122"/>
                <a:cs typeface="IBM Plex Sans" pitchFamily="34" charset="-120"/>
              </a:rPr>
              <a:t>Warning:</a:t>
            </a:r>
            <a:r>
              <a:rPr lang="en-US" sz="1300" dirty="0">
                <a:solidFill>
                  <a:srgbClr val="7A2E0E"/>
                </a:solidFill>
                <a:latin typeface="IBM Plex Sans" pitchFamily="34" charset="0"/>
                <a:ea typeface="IBM Plex Sans" pitchFamily="34" charset="-122"/>
                <a:cs typeface="IBM Plex Sans" pitchFamily="34" charset="-120"/>
              </a:rPr>
              <a:t> Consider adding a lang attribute to the html start tag.</a:t>
            </a:r>
            <a:endParaRPr lang="en-US" sz="1300" dirty="0"/>
          </a:p>
        </p:txBody>
      </p:sp>
      <p:sp>
        <p:nvSpPr>
          <p:cNvPr id="9" name="Text 7"/>
          <p:cNvSpPr/>
          <p:nvPr/>
        </p:nvSpPr>
        <p:spPr>
          <a:xfrm>
            <a:off x="5921375" y="3515717"/>
            <a:ext cx="5454650" cy="542230"/>
          </a:xfrm>
          <a:prstGeom prst="roundRect">
            <a:avLst>
              <a:gd name="adj" fmla="val 18152"/>
            </a:avLst>
          </a:prstGeom>
          <a:solidFill>
            <a:srgbClr val="ECFDF3"/>
          </a:solidFill>
          <a:ln w="6350">
            <a:solidFill>
              <a:srgbClr val="75E0A7"/>
            </a:solidFill>
            <a:prstDash val="solid"/>
          </a:ln>
        </p:spPr>
        <p:txBody>
          <a:bodyPr wrap="square" lIns="152147" tIns="126747" rIns="0" bIns="101347" rtlCol="0" anchor="t">
            <a:normAutofit/>
          </a:bodyPr>
          <a:lstStyle/>
          <a:p>
            <a:pPr algn="l" indent="0" marL="0">
              <a:lnSpc>
                <a:spcPts val="1820"/>
              </a:lnSpc>
              <a:buNone/>
            </a:pPr>
            <a:r>
              <a:rPr lang="en-US" sz="1300" b="1" dirty="0">
                <a:solidFill>
                  <a:srgbClr val="074D31"/>
                </a:solidFill>
                <a:latin typeface="IBM Plex Sans" pitchFamily="34" charset="0"/>
                <a:ea typeface="IBM Plex Sans" pitchFamily="34" charset="-122"/>
                <a:cs typeface="IBM Plex Sans" pitchFamily="34" charset="-120"/>
              </a:rPr>
              <a:t>Document checking completed.</a:t>
            </a:r>
            <a:r>
              <a:rPr lang="en-US" sz="1300" dirty="0">
                <a:solidFill>
                  <a:srgbClr val="074D31"/>
                </a:solidFill>
                <a:latin typeface="IBM Plex Sans" pitchFamily="34" charset="0"/>
                <a:ea typeface="IBM Plex Sans" pitchFamily="34" charset="-122"/>
                <a:cs typeface="IBM Plex Sans" pitchFamily="34" charset="-120"/>
              </a:rPr>
              <a:t> No errors or warnings to show.</a:t>
            </a:r>
            <a:endParaRPr lang="en-US" sz="1300" dirty="0"/>
          </a:p>
        </p:txBody>
      </p:sp>
      <p:sp>
        <p:nvSpPr>
          <p:cNvPr id="10"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1 · Lecture 1 — HTML Foundations</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6202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9E64"/>
                </a:solidFill>
                <a:latin typeface="IBM Plex Sans" pitchFamily="34" charset="0"/>
                <a:ea typeface="IBM Plex Sans" pitchFamily="34" charset="-122"/>
                <a:cs typeface="IBM Plex Sans" pitchFamily="34" charset="-120"/>
              </a:rPr>
              <a:t>QUICK CHECK · 5 MIN</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7F5F0"/>
                </a:solidFill>
                <a:latin typeface="IBM Plex Sans" pitchFamily="34" charset="0"/>
                <a:ea typeface="IBM Plex Sans" pitchFamily="34" charset="-122"/>
                <a:cs typeface="IBM Plex Sans" pitchFamily="34" charset="-120"/>
              </a:rPr>
              <a:t>Five questions — answer on paper</a:t>
            </a:r>
            <a:endParaRPr lang="en-US" sz="3200" dirty="0"/>
          </a:p>
        </p:txBody>
      </p:sp>
      <p:sp>
        <p:nvSpPr>
          <p:cNvPr id="4" name="Text 2"/>
          <p:cNvSpPr/>
          <p:nvPr/>
        </p:nvSpPr>
        <p:spPr>
          <a:xfrm>
            <a:off x="812800" y="198110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9E64"/>
                </a:solidFill>
                <a:latin typeface="IBM Plex Sans" pitchFamily="34" charset="0"/>
                <a:ea typeface="IBM Plex Sans" pitchFamily="34" charset="-122"/>
                <a:cs typeface="IBM Plex Sans" pitchFamily="34" charset="-120"/>
              </a:rPr>
              <a:t>1.</a:t>
            </a:r>
            <a:r>
              <a:rPr lang="en-US" sz="1500" dirty="0">
                <a:solidFill>
                  <a:srgbClr val="F7F5F0"/>
                </a:solidFill>
                <a:latin typeface="IBM Plex Sans" pitchFamily="34" charset="0"/>
                <a:ea typeface="IBM Plex Sans" pitchFamily="34" charset="-122"/>
                <a:cs typeface="IBM Plex Sans" pitchFamily="34" charset="-120"/>
              </a:rPr>
              <a:t> Which is a void element? (a) p (b) br (c) div (d) span</a:t>
            </a:r>
            <a:endParaRPr lang="en-US" sz="1500" dirty="0"/>
          </a:p>
        </p:txBody>
      </p:sp>
      <p:sp>
        <p:nvSpPr>
          <p:cNvPr id="5" name="Text 3"/>
          <p:cNvSpPr/>
          <p:nvPr/>
        </p:nvSpPr>
        <p:spPr>
          <a:xfrm>
            <a:off x="812800" y="237480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9E64"/>
                </a:solidFill>
                <a:latin typeface="IBM Plex Sans" pitchFamily="34" charset="0"/>
                <a:ea typeface="IBM Plex Sans" pitchFamily="34" charset="-122"/>
                <a:cs typeface="IBM Plex Sans" pitchFamily="34" charset="-120"/>
              </a:rPr>
              <a:t>2.</a:t>
            </a:r>
            <a:r>
              <a:rPr lang="en-US" sz="1500" dirty="0">
                <a:solidFill>
                  <a:srgbClr val="F7F5F0"/>
                </a:solidFill>
                <a:latin typeface="IBM Plex Sans" pitchFamily="34" charset="0"/>
                <a:ea typeface="IBM Plex Sans" pitchFamily="34" charset="-122"/>
                <a:cs typeface="IBM Plex Sans" pitchFamily="34" charset="-120"/>
              </a:rPr>
              <a:t> What happens if you leave out &lt;!DOCTYPE html&gt;?</a:t>
            </a:r>
            <a:endParaRPr lang="en-US" sz="1500" dirty="0"/>
          </a:p>
        </p:txBody>
      </p:sp>
      <p:sp>
        <p:nvSpPr>
          <p:cNvPr id="6" name="Text 4"/>
          <p:cNvSpPr/>
          <p:nvPr/>
        </p:nvSpPr>
        <p:spPr>
          <a:xfrm>
            <a:off x="812800" y="276850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9E64"/>
                </a:solidFill>
                <a:latin typeface="IBM Plex Sans" pitchFamily="34" charset="0"/>
                <a:ea typeface="IBM Plex Sans" pitchFamily="34" charset="-122"/>
                <a:cs typeface="IBM Plex Sans" pitchFamily="34" charset="-120"/>
              </a:rPr>
              <a:t>3.</a:t>
            </a:r>
            <a:r>
              <a:rPr lang="en-US" sz="1500" dirty="0">
                <a:solidFill>
                  <a:srgbClr val="F7F5F0"/>
                </a:solidFill>
                <a:latin typeface="IBM Plex Sans" pitchFamily="34" charset="0"/>
                <a:ea typeface="IBM Plex Sans" pitchFamily="34" charset="-122"/>
                <a:cs typeface="IBM Plex Sans" pitchFamily="34" charset="-120"/>
              </a:rPr>
              <a:t> Which element’s text appears in the browser tab?</a:t>
            </a:r>
            <a:endParaRPr lang="en-US" sz="1500" dirty="0"/>
          </a:p>
        </p:txBody>
      </p:sp>
      <p:sp>
        <p:nvSpPr>
          <p:cNvPr id="7" name="Text 5"/>
          <p:cNvSpPr/>
          <p:nvPr/>
        </p:nvSpPr>
        <p:spPr>
          <a:xfrm>
            <a:off x="812800" y="316220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9E64"/>
                </a:solidFill>
                <a:latin typeface="IBM Plex Sans" pitchFamily="34" charset="0"/>
                <a:ea typeface="IBM Plex Sans" pitchFamily="34" charset="-122"/>
                <a:cs typeface="IBM Plex Sans" pitchFamily="34" charset="-120"/>
              </a:rPr>
              <a:t>4.</a:t>
            </a:r>
            <a:r>
              <a:rPr lang="en-US" sz="1500" dirty="0">
                <a:solidFill>
                  <a:srgbClr val="F7F5F0"/>
                </a:solidFill>
                <a:latin typeface="IBM Plex Sans" pitchFamily="34" charset="0"/>
                <a:ea typeface="IBM Plex Sans" pitchFamily="34" charset="-122"/>
                <a:cs typeface="IBM Plex Sans" pitchFamily="34" charset="-120"/>
              </a:rPr>
              <a:t> Tag, element or attribute: what is href in &lt;a href="x.html"&gt;?</a:t>
            </a:r>
            <a:endParaRPr lang="en-US" sz="1500" dirty="0"/>
          </a:p>
        </p:txBody>
      </p:sp>
      <p:sp>
        <p:nvSpPr>
          <p:cNvPr id="8" name="Text 6"/>
          <p:cNvSpPr/>
          <p:nvPr/>
        </p:nvSpPr>
        <p:spPr>
          <a:xfrm>
            <a:off x="812800" y="355590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9E64"/>
                </a:solidFill>
                <a:latin typeface="IBM Plex Sans" pitchFamily="34" charset="0"/>
                <a:ea typeface="IBM Plex Sans" pitchFamily="34" charset="-122"/>
                <a:cs typeface="IBM Plex Sans" pitchFamily="34" charset="-120"/>
              </a:rPr>
              <a:t>5.</a:t>
            </a:r>
            <a:r>
              <a:rPr lang="en-US" sz="1500" dirty="0">
                <a:solidFill>
                  <a:srgbClr val="F7F5F0"/>
                </a:solidFill>
                <a:latin typeface="IBM Plex Sans" pitchFamily="34" charset="0"/>
                <a:ea typeface="IBM Plex Sans" pitchFamily="34" charset="-122"/>
                <a:cs typeface="IBM Plex Sans" pitchFamily="34" charset="-120"/>
              </a:rPr>
              <a:t> Find and fix the error: </a:t>
            </a:r>
            <a:r>
              <a:rPr lang="en-US" sz="1500" dirty="0">
                <a:solidFill>
                  <a:srgbClr val="FF9E64"/>
                </a:solidFill>
                <a:latin typeface="IBM Plex Sans" pitchFamily="34" charset="0"/>
                <a:ea typeface="IBM Plex Sans" pitchFamily="34" charset="-122"/>
                <a:cs typeface="IBM Plex Sans" pitchFamily="34" charset="-120"/>
              </a:rPr>
              <a:t>&lt;p&gt;Hello &lt;b&gt;world&lt;/p&gt;&lt;/b&gt;</a:t>
            </a:r>
            <a:endParaRPr lang="en-US" sz="1500" dirty="0"/>
          </a:p>
        </p:txBody>
      </p:sp>
      <p:sp>
        <p:nvSpPr>
          <p:cNvPr id="9"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C3"/>
                </a:solidFill>
                <a:latin typeface="IBM Plex Sans" pitchFamily="34" charset="0"/>
                <a:ea typeface="IBM Plex Sans" pitchFamily="34" charset="-122"/>
                <a:cs typeface="IBM Plex Sans" pitchFamily="34" charset="-120"/>
              </a:rPr>
              <a:t>CSC-312 Web Engineering · Week 1 · Lecture 1 — HTML Foundations</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WRAP-UP</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Key takeaways</a:t>
            </a:r>
            <a:endParaRPr lang="en-US" sz="3200" dirty="0"/>
          </a:p>
        </p:txBody>
      </p:sp>
      <p:sp>
        <p:nvSpPr>
          <p:cNvPr id="4" name="Shape 2"/>
          <p:cNvSpPr/>
          <p:nvPr/>
        </p:nvSpPr>
        <p:spPr>
          <a:xfrm>
            <a:off x="831850" y="1981101"/>
            <a:ext cx="0" cy="584200"/>
          </a:xfrm>
          <a:prstGeom prst="line">
            <a:avLst/>
          </a:prstGeom>
          <a:noFill/>
          <a:ln w="38100">
            <a:solidFill>
              <a:srgbClr val="C2410C"/>
            </a:solidFill>
            <a:prstDash val="solid"/>
          </a:ln>
        </p:spPr>
      </p:sp>
      <p:sp>
        <p:nvSpPr>
          <p:cNvPr id="5" name="Text 3"/>
          <p:cNvSpPr/>
          <p:nvPr/>
        </p:nvSpPr>
        <p:spPr>
          <a:xfrm>
            <a:off x="1003300" y="2006501"/>
            <a:ext cx="508850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HTML describes </a:t>
            </a:r>
            <a:r>
              <a:rPr lang="en-US" sz="1500" b="1" dirty="0">
                <a:solidFill>
                  <a:srgbClr val="1F2A37"/>
                </a:solidFill>
                <a:latin typeface="IBM Plex Sans" pitchFamily="34" charset="0"/>
                <a:ea typeface="IBM Plex Sans" pitchFamily="34" charset="-122"/>
                <a:cs typeface="IBM Plex Sans" pitchFamily="34" charset="-120"/>
              </a:rPr>
              <a:t>structure and meaning</a:t>
            </a:r>
            <a:r>
              <a:rPr lang="en-US" sz="1500" dirty="0">
                <a:solidFill>
                  <a:srgbClr val="1F2A37"/>
                </a:solidFill>
                <a:latin typeface="IBM Plex Sans" pitchFamily="34" charset="0"/>
                <a:ea typeface="IBM Plex Sans" pitchFamily="34" charset="-122"/>
                <a:cs typeface="IBM Plex Sans" pitchFamily="34" charset="-120"/>
              </a:rPr>
              <a:t>; CSS styles it; JS adds behaviour.</a:t>
            </a:r>
            <a:endParaRPr lang="en-US" sz="1500" dirty="0"/>
          </a:p>
        </p:txBody>
      </p:sp>
      <p:sp>
        <p:nvSpPr>
          <p:cNvPr id="6" name="Shape 4"/>
          <p:cNvSpPr/>
          <p:nvPr/>
        </p:nvSpPr>
        <p:spPr>
          <a:xfrm>
            <a:off x="6267450" y="1981101"/>
            <a:ext cx="0" cy="584200"/>
          </a:xfrm>
          <a:prstGeom prst="line">
            <a:avLst/>
          </a:prstGeom>
          <a:noFill/>
          <a:ln w="38100">
            <a:solidFill>
              <a:srgbClr val="C2410C"/>
            </a:solidFill>
            <a:prstDash val="solid"/>
          </a:ln>
        </p:spPr>
      </p:sp>
      <p:sp>
        <p:nvSpPr>
          <p:cNvPr id="7" name="Text 5"/>
          <p:cNvSpPr/>
          <p:nvPr/>
        </p:nvSpPr>
        <p:spPr>
          <a:xfrm>
            <a:off x="6438900" y="2006501"/>
            <a:ext cx="508850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An </a:t>
            </a:r>
            <a:r>
              <a:rPr lang="en-US" sz="1500" b="1" dirty="0">
                <a:solidFill>
                  <a:srgbClr val="1F2A37"/>
                </a:solidFill>
                <a:latin typeface="IBM Plex Sans" pitchFamily="34" charset="0"/>
                <a:ea typeface="IBM Plex Sans" pitchFamily="34" charset="-122"/>
                <a:cs typeface="IBM Plex Sans" pitchFamily="34" charset="-120"/>
              </a:rPr>
              <a:t>element</a:t>
            </a:r>
            <a:r>
              <a:rPr lang="en-US" sz="1500" dirty="0">
                <a:solidFill>
                  <a:srgbClr val="1F2A37"/>
                </a:solidFill>
                <a:latin typeface="IBM Plex Sans" pitchFamily="34" charset="0"/>
                <a:ea typeface="IBM Plex Sans" pitchFamily="34" charset="-122"/>
                <a:cs typeface="IBM Plex Sans" pitchFamily="34" charset="-120"/>
              </a:rPr>
              <a:t> = opening tag + content + closing tag; attributes live in the opening tag.</a:t>
            </a:r>
            <a:endParaRPr lang="en-US" sz="1500" dirty="0"/>
          </a:p>
        </p:txBody>
      </p:sp>
      <p:sp>
        <p:nvSpPr>
          <p:cNvPr id="8" name="Shape 6"/>
          <p:cNvSpPr/>
          <p:nvPr/>
        </p:nvSpPr>
        <p:spPr>
          <a:xfrm>
            <a:off x="831850" y="2692301"/>
            <a:ext cx="0" cy="317500"/>
          </a:xfrm>
          <a:prstGeom prst="line">
            <a:avLst/>
          </a:prstGeom>
          <a:noFill/>
          <a:ln w="38100">
            <a:solidFill>
              <a:srgbClr val="C2410C"/>
            </a:solidFill>
            <a:prstDash val="solid"/>
          </a:ln>
        </p:spPr>
      </p:sp>
      <p:sp>
        <p:nvSpPr>
          <p:cNvPr id="9" name="Text 7"/>
          <p:cNvSpPr/>
          <p:nvPr/>
        </p:nvSpPr>
        <p:spPr>
          <a:xfrm>
            <a:off x="1003300" y="2717701"/>
            <a:ext cx="5088509"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2A37"/>
                </a:solidFill>
                <a:latin typeface="IBM Plex Sans" pitchFamily="34" charset="0"/>
                <a:ea typeface="IBM Plex Sans" pitchFamily="34" charset="-122"/>
                <a:cs typeface="IBM Plex Sans" pitchFamily="34" charset="-120"/>
              </a:rPr>
              <a:t>Void elements</a:t>
            </a:r>
            <a:r>
              <a:rPr lang="en-US" sz="1500" dirty="0">
                <a:solidFill>
                  <a:srgbClr val="1F2A37"/>
                </a:solidFill>
                <a:latin typeface="IBM Plex Sans" pitchFamily="34" charset="0"/>
                <a:ea typeface="IBM Plex Sans" pitchFamily="34" charset="-122"/>
                <a:cs typeface="IBM Plex Sans" pitchFamily="34" charset="-120"/>
              </a:rPr>
              <a:t> (br, img, meta, input) have no closing tag.</a:t>
            </a:r>
            <a:endParaRPr lang="en-US" sz="1500" dirty="0"/>
          </a:p>
        </p:txBody>
      </p:sp>
      <p:sp>
        <p:nvSpPr>
          <p:cNvPr id="10" name="Shape 8"/>
          <p:cNvSpPr/>
          <p:nvPr/>
        </p:nvSpPr>
        <p:spPr>
          <a:xfrm>
            <a:off x="6267450" y="2692301"/>
            <a:ext cx="0" cy="317500"/>
          </a:xfrm>
          <a:prstGeom prst="line">
            <a:avLst/>
          </a:prstGeom>
          <a:noFill/>
          <a:ln w="38100">
            <a:solidFill>
              <a:srgbClr val="C2410C"/>
            </a:solidFill>
            <a:prstDash val="solid"/>
          </a:ln>
        </p:spPr>
      </p:sp>
      <p:sp>
        <p:nvSpPr>
          <p:cNvPr id="11" name="Text 9"/>
          <p:cNvSpPr/>
          <p:nvPr/>
        </p:nvSpPr>
        <p:spPr>
          <a:xfrm>
            <a:off x="6438900" y="2717701"/>
            <a:ext cx="508850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Nest correctly: </a:t>
            </a:r>
            <a:r>
              <a:rPr lang="en-US" sz="1500" b="1" dirty="0">
                <a:solidFill>
                  <a:srgbClr val="1F2A37"/>
                </a:solidFill>
                <a:latin typeface="IBM Plex Sans" pitchFamily="34" charset="0"/>
                <a:ea typeface="IBM Plex Sans" pitchFamily="34" charset="-122"/>
                <a:cs typeface="IBM Plex Sans" pitchFamily="34" charset="-120"/>
              </a:rPr>
              <a:t>last opened, first closed</a:t>
            </a:r>
            <a:r>
              <a:rPr lang="en-US" sz="1500" dirty="0">
                <a:solidFill>
                  <a:srgbClr val="1F2A37"/>
                </a:solidFill>
                <a:latin typeface="IBM Plex Sans" pitchFamily="34" charset="0"/>
                <a:ea typeface="IBM Plex Sans" pitchFamily="34" charset="-122"/>
                <a:cs typeface="IBM Plex Sans" pitchFamily="34" charset="-120"/>
              </a:rPr>
              <a:t>.</a:t>
            </a:r>
            <a:endParaRPr lang="en-US" sz="1500" dirty="0"/>
          </a:p>
        </p:txBody>
      </p:sp>
      <p:sp>
        <p:nvSpPr>
          <p:cNvPr id="12" name="Shape 10"/>
          <p:cNvSpPr/>
          <p:nvPr/>
        </p:nvSpPr>
        <p:spPr>
          <a:xfrm>
            <a:off x="831850" y="3136801"/>
            <a:ext cx="0" cy="584200"/>
          </a:xfrm>
          <a:prstGeom prst="line">
            <a:avLst/>
          </a:prstGeom>
          <a:noFill/>
          <a:ln w="38100">
            <a:solidFill>
              <a:srgbClr val="C2410C"/>
            </a:solidFill>
            <a:prstDash val="solid"/>
          </a:ln>
        </p:spPr>
      </p:sp>
      <p:sp>
        <p:nvSpPr>
          <p:cNvPr id="13" name="Text 11"/>
          <p:cNvSpPr/>
          <p:nvPr/>
        </p:nvSpPr>
        <p:spPr>
          <a:xfrm>
            <a:off x="1003300" y="3162201"/>
            <a:ext cx="508850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Every page: DOCTYPE → html → head (charset, viewport, title) + body.</a:t>
            </a:r>
            <a:endParaRPr lang="en-US" sz="1500" dirty="0"/>
          </a:p>
        </p:txBody>
      </p:sp>
      <p:sp>
        <p:nvSpPr>
          <p:cNvPr id="14" name="Shape 12"/>
          <p:cNvSpPr/>
          <p:nvPr/>
        </p:nvSpPr>
        <p:spPr>
          <a:xfrm>
            <a:off x="6267450" y="3136801"/>
            <a:ext cx="0" cy="584200"/>
          </a:xfrm>
          <a:prstGeom prst="line">
            <a:avLst/>
          </a:prstGeom>
          <a:noFill/>
          <a:ln w="38100">
            <a:solidFill>
              <a:srgbClr val="C2410C"/>
            </a:solidFill>
            <a:prstDash val="solid"/>
          </a:ln>
        </p:spPr>
      </p:sp>
      <p:sp>
        <p:nvSpPr>
          <p:cNvPr id="15" name="Text 13"/>
          <p:cNvSpPr/>
          <p:nvPr/>
        </p:nvSpPr>
        <p:spPr>
          <a:xfrm>
            <a:off x="6438900" y="3162201"/>
            <a:ext cx="508850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F2A37"/>
                </a:solidFill>
                <a:latin typeface="IBM Plex Sans" pitchFamily="34" charset="0"/>
                <a:ea typeface="IBM Plex Sans" pitchFamily="34" charset="-122"/>
                <a:cs typeface="IBM Plex Sans" pitchFamily="34" charset="-120"/>
              </a:rPr>
              <a:t>The browser builds a </a:t>
            </a:r>
            <a:r>
              <a:rPr lang="en-US" sz="1500" b="1" dirty="0">
                <a:solidFill>
                  <a:srgbClr val="1F2A37"/>
                </a:solidFill>
                <a:latin typeface="IBM Plex Sans" pitchFamily="34" charset="0"/>
                <a:ea typeface="IBM Plex Sans" pitchFamily="34" charset="-122"/>
                <a:cs typeface="IBM Plex Sans" pitchFamily="34" charset="-120"/>
              </a:rPr>
              <a:t>DOM tree</a:t>
            </a:r>
            <a:r>
              <a:rPr lang="en-US" sz="1500" dirty="0">
                <a:solidFill>
                  <a:srgbClr val="1F2A37"/>
                </a:solidFill>
                <a:latin typeface="IBM Plex Sans" pitchFamily="34" charset="0"/>
                <a:ea typeface="IBM Plex Sans" pitchFamily="34" charset="-122"/>
                <a:cs typeface="IBM Plex Sans" pitchFamily="34" charset="-120"/>
              </a:rPr>
              <a:t>; validate so every browser builds the same one.</a:t>
            </a:r>
            <a:endParaRPr lang="en-US" sz="15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1 · Lecture 1 — HTML Foundations</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2410C"/>
                </a:solidFill>
                <a:latin typeface="IBM Plex Sans" pitchFamily="34" charset="0"/>
                <a:ea typeface="IBM Plex Sans" pitchFamily="34" charset="-122"/>
                <a:cs typeface="IBM Plex Sans" pitchFamily="34" charset="-120"/>
              </a:rPr>
              <a:t>BEFORE NEXT LECTURE</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6202E"/>
                </a:solidFill>
                <a:latin typeface="IBM Plex Sans" pitchFamily="34" charset="0"/>
                <a:ea typeface="IBM Plex Sans" pitchFamily="34" charset="-122"/>
                <a:cs typeface="IBM Plex Sans" pitchFamily="34" charset="-120"/>
              </a:rPr>
              <a:t>Homework &amp; preparation</a:t>
            </a:r>
            <a:endParaRPr lang="en-US" sz="3200" dirty="0"/>
          </a:p>
        </p:txBody>
      </p:sp>
      <p:sp>
        <p:nvSpPr>
          <p:cNvPr id="4" name="Shape 2"/>
          <p:cNvSpPr/>
          <p:nvPr/>
        </p:nvSpPr>
        <p:spPr>
          <a:xfrm>
            <a:off x="815975" y="1984276"/>
            <a:ext cx="3418384" cy="1857772"/>
          </a:xfrm>
          <a:prstGeom prst="roundRect">
            <a:avLst>
              <a:gd name="adj" fmla="val 5298"/>
            </a:avLst>
          </a:prstGeom>
          <a:solidFill>
            <a:srgbClr val="FFFDF9"/>
          </a:solidFill>
          <a:ln w="6350">
            <a:solidFill>
              <a:srgbClr val="E4E0D8"/>
            </a:solidFill>
            <a:prstDash val="solid"/>
          </a:ln>
        </p:spPr>
      </p:sp>
      <p:pic>
        <p:nvPicPr>
          <p:cNvPr id="5" name="Image 0" descr="Book">    </p:cNvPr>
          <p:cNvPicPr>
            <a:picLocks noChangeAspect="1"/>
          </p:cNvPicPr>
          <p:nvPr/>
        </p:nvPicPr>
        <p:blipFill>
          <a:blip r:embed="rId1"/>
          <a:srcRect l="0" r="0" t="0" b="0"/>
          <a:stretch/>
        </p:blipFill>
        <p:spPr>
          <a:xfrm>
            <a:off x="1022350" y="2190651"/>
            <a:ext cx="304800" cy="304800"/>
          </a:xfrm>
          <a:prstGeom prst="rect">
            <a:avLst/>
          </a:prstGeom>
        </p:spPr>
      </p:pic>
      <p:sp>
        <p:nvSpPr>
          <p:cNvPr id="6" name="Text 3"/>
          <p:cNvSpPr/>
          <p:nvPr/>
        </p:nvSpPr>
        <p:spPr>
          <a:xfrm>
            <a:off x="1022350" y="2597051"/>
            <a:ext cx="309580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2A37"/>
                </a:solidFill>
                <a:latin typeface="IBM Plex Sans" pitchFamily="34" charset="0"/>
                <a:ea typeface="IBM Plex Sans" pitchFamily="34" charset="-122"/>
                <a:cs typeface="IBM Plex Sans" pitchFamily="34" charset="-120"/>
              </a:rPr>
              <a:t>Read</a:t>
            </a:r>
            <a:endParaRPr lang="en-US" sz="1600" dirty="0"/>
          </a:p>
        </p:txBody>
      </p:sp>
      <p:sp>
        <p:nvSpPr>
          <p:cNvPr id="7" name="Text 4"/>
          <p:cNvSpPr/>
          <p:nvPr/>
        </p:nvSpPr>
        <p:spPr>
          <a:xfrm>
            <a:off x="1022350" y="2942431"/>
            <a:ext cx="3095803" cy="718641"/>
          </a:xfrm>
          <a:prstGeom prst="rect">
            <a:avLst/>
          </a:prstGeom>
          <a:noFill/>
          <a:ln/>
        </p:spPr>
        <p:txBody>
          <a:bodyPr wrap="square" lIns="0" tIns="0" rIns="0" bIns="0" rtlCol="0" anchor="t">
            <a:normAutofit/>
          </a:bodyPr>
          <a:lstStyle/>
          <a:p>
            <a:pPr algn="l" indent="0" marL="0">
              <a:lnSpc>
                <a:spcPts val="1820"/>
              </a:lnSpc>
              <a:buNone/>
            </a:pPr>
            <a:r>
              <a:rPr lang="en-US" sz="1300" i="1" dirty="0">
                <a:solidFill>
                  <a:srgbClr val="1F2A37"/>
                </a:solidFill>
                <a:latin typeface="IBM Plex Sans" pitchFamily="34" charset="0"/>
                <a:ea typeface="IBM Plex Sans" pitchFamily="34" charset="-122"/>
                <a:cs typeface="IBM Plex Sans" pitchFamily="34" charset="-120"/>
              </a:rPr>
              <a:t>Learning Web Design</a:t>
            </a:r>
            <a:r>
              <a:rPr lang="en-US" sz="1300" dirty="0">
                <a:solidFill>
                  <a:srgbClr val="1F2A37"/>
                </a:solidFill>
                <a:latin typeface="IBM Plex Sans" pitchFamily="34" charset="0"/>
                <a:ea typeface="IBM Plex Sans" pitchFamily="34" charset="-122"/>
                <a:cs typeface="IBM Plex Sans" pitchFamily="34" charset="-120"/>
              </a:rPr>
              <a:t> (Robbins, 5th ed.)</a:t>
            </a:r>
            <a:endParaRPr lang="en-US" sz="1300" dirty="0"/>
          </a:p>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Ch. 2 How the Web Works</a:t>
            </a:r>
            <a:endParaRPr lang="en-US" sz="1300" dirty="0"/>
          </a:p>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Ch. 4 Creating a Simple Page</a:t>
            </a:r>
            <a:endParaRPr lang="en-US" sz="1300" dirty="0"/>
          </a:p>
        </p:txBody>
      </p:sp>
      <p:sp>
        <p:nvSpPr>
          <p:cNvPr id="8" name="Shape 5"/>
          <p:cNvSpPr/>
          <p:nvPr/>
        </p:nvSpPr>
        <p:spPr>
          <a:xfrm>
            <a:off x="4393109" y="1984276"/>
            <a:ext cx="3418483" cy="1857772"/>
          </a:xfrm>
          <a:prstGeom prst="roundRect">
            <a:avLst>
              <a:gd name="adj" fmla="val 5298"/>
            </a:avLst>
          </a:prstGeom>
          <a:solidFill>
            <a:srgbClr val="FFFDF9"/>
          </a:solidFill>
          <a:ln w="6350">
            <a:solidFill>
              <a:srgbClr val="E4E0D8"/>
            </a:solidFill>
            <a:prstDash val="solid"/>
          </a:ln>
        </p:spPr>
      </p:sp>
      <p:pic>
        <p:nvPicPr>
          <p:cNvPr id="9" name="Image 1" descr="Wrench">    </p:cNvPr>
          <p:cNvPicPr>
            <a:picLocks noChangeAspect="1"/>
          </p:cNvPicPr>
          <p:nvPr/>
        </p:nvPicPr>
        <p:blipFill>
          <a:blip r:embed="rId2"/>
          <a:srcRect l="0" r="0" t="0" b="0"/>
          <a:stretch/>
        </p:blipFill>
        <p:spPr>
          <a:xfrm>
            <a:off x="4599484" y="2190651"/>
            <a:ext cx="304800" cy="304800"/>
          </a:xfrm>
          <a:prstGeom prst="rect">
            <a:avLst/>
          </a:prstGeom>
        </p:spPr>
      </p:pic>
      <p:sp>
        <p:nvSpPr>
          <p:cNvPr id="10" name="Text 6"/>
          <p:cNvSpPr/>
          <p:nvPr/>
        </p:nvSpPr>
        <p:spPr>
          <a:xfrm>
            <a:off x="4599484" y="2597051"/>
            <a:ext cx="309590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2A37"/>
                </a:solidFill>
                <a:latin typeface="IBM Plex Sans" pitchFamily="34" charset="0"/>
                <a:ea typeface="IBM Plex Sans" pitchFamily="34" charset="-122"/>
                <a:cs typeface="IBM Plex Sans" pitchFamily="34" charset="-120"/>
              </a:rPr>
              <a:t>Practise</a:t>
            </a:r>
            <a:endParaRPr lang="en-US" sz="1600" dirty="0"/>
          </a:p>
        </p:txBody>
      </p:sp>
      <p:sp>
        <p:nvSpPr>
          <p:cNvPr id="11" name="Text 7"/>
          <p:cNvSpPr/>
          <p:nvPr/>
        </p:nvSpPr>
        <p:spPr>
          <a:xfrm>
            <a:off x="4599484" y="2942431"/>
            <a:ext cx="3095905"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IBM Plex Sans" pitchFamily="34" charset="0"/>
                <a:ea typeface="IBM Plex Sans" pitchFamily="34" charset="-122"/>
                <a:cs typeface="IBM Plex Sans" pitchFamily="34" charset="-120"/>
              </a:rPr>
              <a:t>Finish Lab 1 and the stretch goal. Rewrite the HTML5 skeleton from memory three times.</a:t>
            </a:r>
            <a:endParaRPr lang="en-US" sz="1300" dirty="0"/>
          </a:p>
        </p:txBody>
      </p:sp>
      <p:sp>
        <p:nvSpPr>
          <p:cNvPr id="12" name="Shape 8"/>
          <p:cNvSpPr/>
          <p:nvPr/>
        </p:nvSpPr>
        <p:spPr>
          <a:xfrm>
            <a:off x="7967166" y="1981101"/>
            <a:ext cx="3412034" cy="1864122"/>
          </a:xfrm>
          <a:prstGeom prst="roundRect">
            <a:avLst>
              <a:gd name="adj" fmla="val 5450"/>
            </a:avLst>
          </a:prstGeom>
          <a:solidFill>
            <a:srgbClr val="16202E"/>
          </a:solidFill>
          <a:ln/>
        </p:spPr>
      </p:sp>
      <p:pic>
        <p:nvPicPr>
          <p:cNvPr id="13" name="Image 2" descr="Lightbulb">    </p:cNvPr>
          <p:cNvPicPr>
            <a:picLocks noChangeAspect="1"/>
          </p:cNvPicPr>
          <p:nvPr/>
        </p:nvPicPr>
        <p:blipFill>
          <a:blip r:embed="rId3"/>
          <a:srcRect l="0" r="0" t="0" b="0"/>
          <a:stretch/>
        </p:blipFill>
        <p:spPr>
          <a:xfrm>
            <a:off x="8170366" y="2184301"/>
            <a:ext cx="304800" cy="304800"/>
          </a:xfrm>
          <a:prstGeom prst="rect">
            <a:avLst/>
          </a:prstGeom>
        </p:spPr>
      </p:pic>
      <p:sp>
        <p:nvSpPr>
          <p:cNvPr id="14" name="Text 9"/>
          <p:cNvSpPr/>
          <p:nvPr/>
        </p:nvSpPr>
        <p:spPr>
          <a:xfrm>
            <a:off x="8170366" y="2590701"/>
            <a:ext cx="309580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5F0"/>
                </a:solidFill>
                <a:latin typeface="IBM Plex Sans" pitchFamily="34" charset="0"/>
                <a:ea typeface="IBM Plex Sans" pitchFamily="34" charset="-122"/>
                <a:cs typeface="IBM Plex Sans" pitchFamily="34" charset="-120"/>
              </a:rPr>
              <a:t>Next: Lecture 2</a:t>
            </a:r>
            <a:endParaRPr lang="en-US" sz="1600" dirty="0"/>
          </a:p>
        </p:txBody>
      </p:sp>
      <p:sp>
        <p:nvSpPr>
          <p:cNvPr id="15" name="Text 10"/>
          <p:cNvSpPr/>
          <p:nvPr/>
        </p:nvSpPr>
        <p:spPr>
          <a:xfrm>
            <a:off x="8170366" y="2936081"/>
            <a:ext cx="3095803"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4E0"/>
                </a:solidFill>
                <a:latin typeface="IBM Plex Sans" pitchFamily="34" charset="0"/>
                <a:ea typeface="IBM Plex Sans" pitchFamily="34" charset="-122"/>
                <a:cs typeface="IBM Plex Sans" pitchFamily="34" charset="-120"/>
              </a:rPr>
              <a:t>Marking Up Text — headings, paragraphs, quotations, inline semantics and character entities</a:t>
            </a:r>
            <a:endParaRPr lang="en-US" sz="1300" dirty="0"/>
          </a:p>
        </p:txBody>
      </p:sp>
      <p:sp>
        <p:nvSpPr>
          <p:cNvPr id="16"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67085"/>
                </a:solidFill>
                <a:latin typeface="IBM Plex Sans" pitchFamily="34" charset="0"/>
                <a:ea typeface="IBM Plex Sans" pitchFamily="34" charset="-122"/>
                <a:cs typeface="IBM Plex Sans" pitchFamily="34" charset="-120"/>
              </a:rPr>
              <a:t>CSC-312 Web Engineering · Week 1 · Lecture 1 — HTML Foundations</a:t>
            </a:r>
            <a:endParaRPr lang="en-US" sz="1200" dirty="0"/>
          </a:p>
        </p:txBody>
      </p:sp>
    </p:spTree>
  </p:cSld>
  <p:clrMapOvr>
    <a:masterClrMapping/>
  </p:clrMapOvr>
</p:sld>
</file>

<file path=ppt/theme/theme1.xml><?xml version="1.0" encoding="utf-8"?>
<a:theme xmlns:a="http://schemas.openxmlformats.org/drawingml/2006/main" name="HTML W1·L1 – Foundations &amp; Document Structure">
  <a:themeElements>
    <a:clrScheme name="HTML W1·L1 – Foundations &amp; Document Structure">
      <a:dk1>
        <a:srgbClr val="16202E"/>
      </a:dk1>
      <a:lt1>
        <a:srgbClr val="F7F5F0"/>
      </a:lt1>
      <a:dk2>
        <a:srgbClr val="4E555F"/>
      </a:dk2>
      <a:lt2>
        <a:srgbClr val="E1E0DD"/>
      </a:lt2>
      <a:accent1>
        <a:srgbClr val="C2410C"/>
      </a:accent1>
      <a:accent2>
        <a:srgbClr val="1D4ED8"/>
      </a:accent2>
      <a:accent3>
        <a:srgbClr val="FF9E64"/>
      </a:accent3>
      <a:accent4>
        <a:srgbClr val="3F7A1E"/>
      </a:accent4>
      <a:accent5>
        <a:srgbClr val="B42318"/>
      </a:accent5>
      <a:accent6>
        <a:srgbClr val="7A271A"/>
      </a:accent6>
      <a:hlink>
        <a:srgbClr val="0563C1"/>
      </a:hlink>
      <a:folHlink>
        <a:srgbClr val="954F72"/>
      </a:folHlink>
    </a:clrScheme>
    <a:fontScheme name="HTML W1·L1 – Foundations &amp; Document Structure">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HTML W1·L1 – Foundations &amp; Document Structure</dc:title>
  <dc:subject/>
  <dc:creator/>
  <cp:lastModifiedBy/>
  <cp:revision>1</cp:revision>
  <dcterms:created xsi:type="dcterms:W3CDTF">2026-10-24T07:30:55Z</dcterms:created>
  <dcterms:modified xsi:type="dcterms:W3CDTF">2026-10-24T07:30:55Z</dcterms:modified>
</cp:coreProperties>
</file>